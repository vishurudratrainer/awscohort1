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360" r:id="rId2"/>
    <p:sldId id="361" r:id="rId3"/>
    <p:sldId id="364" r:id="rId4"/>
    <p:sldId id="363" r:id="rId5"/>
    <p:sldId id="369" r:id="rId6"/>
    <p:sldId id="366" r:id="rId7"/>
    <p:sldId id="367" r:id="rId8"/>
    <p:sldId id="395" r:id="rId9"/>
    <p:sldId id="368" r:id="rId10"/>
    <p:sldId id="429" r:id="rId11"/>
    <p:sldId id="371" r:id="rId12"/>
    <p:sldId id="372" r:id="rId13"/>
    <p:sldId id="373" r:id="rId14"/>
    <p:sldId id="374" r:id="rId15"/>
    <p:sldId id="375" r:id="rId16"/>
    <p:sldId id="376" r:id="rId17"/>
    <p:sldId id="388" r:id="rId18"/>
    <p:sldId id="378" r:id="rId19"/>
    <p:sldId id="396" r:id="rId20"/>
    <p:sldId id="397" r:id="rId21"/>
    <p:sldId id="379" r:id="rId22"/>
    <p:sldId id="398" r:id="rId23"/>
    <p:sldId id="387" r:id="rId24"/>
    <p:sldId id="381" r:id="rId25"/>
    <p:sldId id="422" r:id="rId26"/>
    <p:sldId id="430" r:id="rId27"/>
    <p:sldId id="382" r:id="rId28"/>
    <p:sldId id="383" r:id="rId29"/>
    <p:sldId id="389" r:id="rId30"/>
    <p:sldId id="391" r:id="rId31"/>
    <p:sldId id="392" r:id="rId32"/>
    <p:sldId id="393" r:id="rId33"/>
    <p:sldId id="394" r:id="rId34"/>
    <p:sldId id="416" r:id="rId35"/>
    <p:sldId id="417" r:id="rId36"/>
    <p:sldId id="423" r:id="rId37"/>
    <p:sldId id="424" r:id="rId38"/>
    <p:sldId id="425" r:id="rId39"/>
    <p:sldId id="399" r:id="rId40"/>
    <p:sldId id="400" r:id="rId41"/>
    <p:sldId id="402" r:id="rId42"/>
    <p:sldId id="403" r:id="rId43"/>
    <p:sldId id="404" r:id="rId44"/>
    <p:sldId id="407" r:id="rId45"/>
    <p:sldId id="408" r:id="rId46"/>
    <p:sldId id="418" r:id="rId47"/>
    <p:sldId id="419" r:id="rId48"/>
    <p:sldId id="420" r:id="rId49"/>
    <p:sldId id="421" r:id="rId50"/>
    <p:sldId id="40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EA171-A68D-4EE8-88A2-C9EC59BC1932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25C4B-B556-4FC5-A4FD-0E30505A1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97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608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257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565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1992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840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100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Provider provides resources</a:t>
            </a:r>
          </a:p>
          <a:p>
            <a:r>
              <a:rPr lang="en-US" dirty="0"/>
              <a:t>Every module must specify a provider</a:t>
            </a:r>
          </a:p>
          <a:p>
            <a:endParaRPr lang="en-US" dirty="0"/>
          </a:p>
          <a:p>
            <a:r>
              <a:rPr lang="en-US" dirty="0"/>
              <a:t>Documentation on resources provided by providers - https://registry.terraform.io/browse/providers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194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23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085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8658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188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2872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859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7335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432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422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0722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2 is only a name used to identify the resource within the Terraform module and has no significance in the real infrastructure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539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3679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can specify </a:t>
            </a:r>
            <a:r>
              <a:rPr lang="en-GB" dirty="0" err="1"/>
              <a:t>tfvar</a:t>
            </a:r>
            <a:r>
              <a:rPr lang="en-GB" dirty="0"/>
              <a:t> file name using the below CLI option</a:t>
            </a:r>
          </a:p>
          <a:p>
            <a:r>
              <a:rPr lang="en-GB" dirty="0"/>
              <a:t>terraform apply -var-file="</a:t>
            </a:r>
            <a:r>
              <a:rPr lang="en-GB" dirty="0" err="1"/>
              <a:t>testing.tfvars</a:t>
            </a:r>
            <a:r>
              <a:rPr lang="en-GB" dirty="0"/>
              <a:t>“</a:t>
            </a:r>
          </a:p>
          <a:p>
            <a:endParaRPr lang="en-GB" dirty="0"/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Terraform searches the environment of its own process for environment variables named </a:t>
            </a:r>
            <a:r>
              <a:rPr lang="en-US" dirty="0"/>
              <a:t>TF_VAR_</a:t>
            </a:r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followed by the name of a declared variable.</a:t>
            </a:r>
          </a:p>
          <a:p>
            <a:endParaRPr lang="en-US" sz="3200" b="0" i="0" dirty="0">
              <a:effectLst/>
              <a:latin typeface="+mj-lt"/>
              <a:ea typeface="+mj-ea"/>
              <a:cs typeface="+mj-cs"/>
              <a:sym typeface="Helvetica Neue"/>
            </a:endParaRP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Terraform loads variables in the following order, with later sources taking precedence over earlier ones:</a:t>
            </a: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Environment variables</a:t>
            </a: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The </a:t>
            </a:r>
            <a:r>
              <a:rPr lang="en-US" sz="3200" b="0" i="0" dirty="0" err="1">
                <a:effectLst/>
                <a:latin typeface="+mj-lt"/>
                <a:ea typeface="+mj-ea"/>
                <a:cs typeface="+mj-cs"/>
                <a:sym typeface="Helvetica Neue"/>
              </a:rPr>
              <a:t>terraform.tfvars</a:t>
            </a:r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file, if present.</a:t>
            </a: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The </a:t>
            </a:r>
            <a:r>
              <a:rPr lang="en-US" sz="3200" b="0" i="0" dirty="0" err="1">
                <a:effectLst/>
                <a:latin typeface="+mj-lt"/>
                <a:ea typeface="+mj-ea"/>
                <a:cs typeface="+mj-cs"/>
                <a:sym typeface="Helvetica Neue"/>
              </a:rPr>
              <a:t>terraform.tfvars.json</a:t>
            </a:r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file, if present.</a:t>
            </a: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Any *.</a:t>
            </a:r>
            <a:r>
              <a:rPr lang="en-US" sz="3200" b="0" i="0" dirty="0" err="1">
                <a:effectLst/>
                <a:latin typeface="+mj-lt"/>
                <a:ea typeface="+mj-ea"/>
                <a:cs typeface="+mj-cs"/>
                <a:sym typeface="Helvetica Neue"/>
              </a:rPr>
              <a:t>auto.tfvars</a:t>
            </a:r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or *.</a:t>
            </a:r>
            <a:r>
              <a:rPr lang="en-US" sz="3200" b="0" i="0" dirty="0" err="1">
                <a:effectLst/>
                <a:latin typeface="+mj-lt"/>
                <a:ea typeface="+mj-ea"/>
                <a:cs typeface="+mj-cs"/>
                <a:sym typeface="Helvetica Neue"/>
              </a:rPr>
              <a:t>auto.tfvars.json</a:t>
            </a:r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files, processed in lexical order of their filenames.</a:t>
            </a: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Any -var and -var-file options on the command line, in the order they are provided. (This includes variables set by a Terraform Cloud workspace.)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3648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302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8660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Local values can be helpful to avoid repeating the same values or expressions multiple times in a configuration, but if overused they can also make a configuration hard to read by future maintainers by hiding the actual values used.</a:t>
            </a:r>
          </a:p>
          <a:p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Use local values only in moderation, in situations where a single value or result is used in many places </a:t>
            </a:r>
            <a:r>
              <a:rPr lang="en-US" sz="3200" b="0" i="1" dirty="0">
                <a:effectLst/>
                <a:latin typeface="+mj-lt"/>
                <a:ea typeface="+mj-ea"/>
                <a:cs typeface="+mj-cs"/>
                <a:sym typeface="Helvetica Neue"/>
              </a:rPr>
              <a:t>and</a:t>
            </a:r>
            <a:r>
              <a:rPr lang="en-US" sz="3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that value is likely to be changed in future. The ability to easily change the value in a central place is the key advantage of local values.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1047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51163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91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55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CIDRSUBNET works - https://medium.com/@ntwobike/how-cidrsubnet-works-in-terraform-f6ccd8e1838f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2761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930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5064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23171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1625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Meta-arguments for resources - </a:t>
            </a:r>
            <a:r>
              <a:rPr lang="en-US" dirty="0" err="1"/>
              <a:t>depends_on</a:t>
            </a:r>
            <a:r>
              <a:rPr lang="en-US" dirty="0"/>
              <a:t>, count </a:t>
            </a:r>
            <a:r>
              <a:rPr lang="en-US" dirty="0" err="1"/>
              <a:t>etc</a:t>
            </a:r>
            <a:r>
              <a:rPr lang="en-US" dirty="0"/>
              <a:t>, - apply across all resource types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7782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depends_on</a:t>
            </a:r>
            <a:r>
              <a:rPr lang="en-US" dirty="0"/>
              <a:t> is used when there is no explicit reference in the configuration implying a dependency</a:t>
            </a:r>
          </a:p>
          <a:p>
            <a:r>
              <a:rPr lang="en-US" dirty="0"/>
              <a:t>count - has only one property index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2986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using set in </a:t>
            </a:r>
            <a:r>
              <a:rPr lang="en-US" dirty="0" err="1"/>
              <a:t>for_each</a:t>
            </a:r>
            <a:endParaRPr lang="en-US" dirty="0"/>
          </a:p>
          <a:p>
            <a:endParaRPr lang="en-US" dirty="0"/>
          </a:p>
          <a:p>
            <a:r>
              <a:rPr lang="en-US" dirty="0">
                <a:effectLst/>
              </a:rPr>
              <a:t>resource</a:t>
            </a:r>
            <a:r>
              <a:rPr lang="en-US" dirty="0"/>
              <a:t> 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</a:t>
            </a:r>
            <a:r>
              <a:rPr lang="en-US" sz="3200" dirty="0" err="1">
                <a:effectLst/>
                <a:latin typeface="+mj-lt"/>
                <a:ea typeface="+mj-ea"/>
                <a:cs typeface="+mj-cs"/>
                <a:sym typeface="Helvetica Neue"/>
              </a:rPr>
              <a:t>aws_iam_user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</a:t>
            </a:r>
            <a:r>
              <a:rPr lang="en-US" dirty="0"/>
              <a:t> 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"the-accounts"</a:t>
            </a:r>
            <a:r>
              <a:rPr lang="en-US" dirty="0"/>
              <a:t> </a:t>
            </a:r>
            <a:r>
              <a:rPr lang="en-US" dirty="0">
                <a:effectLst/>
              </a:rPr>
              <a:t>{</a:t>
            </a:r>
            <a:r>
              <a:rPr lang="en-US" dirty="0"/>
              <a:t> </a:t>
            </a:r>
          </a:p>
          <a:p>
            <a:r>
              <a:rPr lang="en-US" dirty="0" err="1">
                <a:effectLst/>
              </a:rPr>
              <a:t>for_each</a:t>
            </a:r>
            <a:r>
              <a:rPr lang="en-US" dirty="0"/>
              <a:t> </a:t>
            </a:r>
            <a:r>
              <a:rPr lang="en-US" sz="3200" b="1" dirty="0">
                <a:effectLst/>
                <a:latin typeface="+mj-lt"/>
                <a:ea typeface="+mj-ea"/>
                <a:cs typeface="+mj-cs"/>
                <a:sym typeface="Helvetica Neue"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toset</a:t>
            </a:r>
            <a:r>
              <a:rPr lang="en-US" dirty="0">
                <a:effectLst/>
              </a:rPr>
              <a:t>(</a:t>
            </a:r>
            <a:r>
              <a:rPr lang="en-US" dirty="0"/>
              <a:t> </a:t>
            </a:r>
            <a:r>
              <a:rPr lang="en-US" dirty="0">
                <a:effectLst/>
              </a:rPr>
              <a:t>[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"Todd"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"James"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"Alice"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"Dottie"</a:t>
            </a:r>
            <a:r>
              <a:rPr lang="en-US" dirty="0">
                <a:effectLst/>
              </a:rPr>
              <a:t>]</a:t>
            </a:r>
            <a:r>
              <a:rPr lang="en-US" dirty="0"/>
              <a:t> </a:t>
            </a:r>
            <a:r>
              <a:rPr lang="en-US" dirty="0">
                <a:effectLst/>
              </a:rPr>
              <a:t>)</a:t>
            </a:r>
            <a:r>
              <a:rPr lang="en-US" dirty="0"/>
              <a:t> </a:t>
            </a:r>
          </a:p>
          <a:p>
            <a:r>
              <a:rPr lang="en-US" sz="3200" dirty="0">
                <a:effectLst/>
                <a:latin typeface="+mj-lt"/>
                <a:ea typeface="+mj-ea"/>
                <a:cs typeface="+mj-cs"/>
                <a:sym typeface="Helvetica Neue"/>
              </a:rPr>
              <a:t>name</a:t>
            </a:r>
            <a:r>
              <a:rPr lang="en-US" dirty="0"/>
              <a:t> </a:t>
            </a:r>
            <a:r>
              <a:rPr lang="en-US" sz="3200" b="1" dirty="0">
                <a:effectLst/>
                <a:latin typeface="+mj-lt"/>
                <a:ea typeface="+mj-ea"/>
                <a:cs typeface="+mj-cs"/>
                <a:sym typeface="Helvetica Neue"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each.</a:t>
            </a:r>
            <a:r>
              <a:rPr lang="en-US" sz="3200" b="1" dirty="0" err="1">
                <a:effectLst/>
                <a:latin typeface="+mj-lt"/>
                <a:ea typeface="+mj-ea"/>
                <a:cs typeface="+mj-cs"/>
                <a:sym typeface="Helvetica Neue"/>
              </a:rPr>
              <a:t>key</a:t>
            </a:r>
            <a:r>
              <a:rPr lang="en-US" dirty="0"/>
              <a:t> </a:t>
            </a:r>
          </a:p>
          <a:p>
            <a:r>
              <a:rPr lang="en-US" dirty="0">
                <a:effectLst/>
              </a:rPr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95554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98698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442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60959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97841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8970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40566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07765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4757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9722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51902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6697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0231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60496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84873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https://www.terraform.io/docs/language/modules/sources.html</a:t>
            </a:r>
          </a:p>
        </p:txBody>
      </p:sp>
    </p:spTree>
    <p:extLst>
      <p:ext uri="{BB962C8B-B14F-4D97-AF65-F5344CB8AC3E}">
        <p14:creationId xmlns:p14="http://schemas.microsoft.com/office/powerpoint/2010/main" val="31235092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1543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62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DCF2-72DE-1A7F-8C04-A2351FDBA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F990C-CEDC-F866-E5F4-631A1E6F8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38968-E59E-4BE9-680C-D06D142B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FCC2D-29AB-A9AC-CCD7-23063C0C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00AE1-2A60-ADD6-4A14-C87C89FF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18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6FD7-C404-FCA8-24AB-F659CB96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4BB26-3240-E371-54C5-F49281B4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16250-71DC-B0BC-CFE1-7FF81A9B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4A243-2587-9AEE-56CC-E1F5775C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DE7A4-425E-3A99-D3A9-E98ACD4A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2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33D1-208F-3425-8340-1D7D071E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FDED4-4996-2EBC-6214-5608978FA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44CEC-85F3-8BA9-9D34-FCCFCAD8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BC69C-52E7-D927-2C19-79966857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CCB7-F168-00E3-45BD-8CCE5EC8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1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9D4D-D8FB-E974-E5C8-76D7CDE7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AAFEC-8EAD-59A3-8B76-915EFD94C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DB6E9-7D9C-1DEB-408E-EAC8EFAD5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D9B22-C408-4A14-EBE4-6438978E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6AFB3-BB06-8181-DC91-E56CA985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59427-7B32-7552-1A2E-0B9BA28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0B0D-42FD-B0A5-143B-7984B3D6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8283A-94FB-9B8B-6B45-DA09B6AC0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CC2BD-ADC3-2F48-D9F4-006EA7805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EFE2C-D282-F9DE-7D95-027D1FE12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F621E-F6FD-0A60-D2E6-E6BDE3150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4C028-3BBA-3A81-DBAD-8F39A5E1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BA47D-6A8E-B8A7-9669-5C109A84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E0AF4-A18D-C24B-D634-03366B87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2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066F-55B8-4E98-8026-2198764D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0425C-4A2E-79FE-1BF4-90334797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21FBF-BD1B-4AB5-5A1A-79CD29BA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D12B0-8019-041C-FDF9-BED76715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5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19BB0-CD96-593A-122F-A988D6E6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7D0A0-9BFC-0CC6-17C5-5E87F20C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C56D6-BFC9-4CF2-BBF3-753863A2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39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69A9-68E9-94AB-6C81-FEF8C0FA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24754-4183-989D-B77A-A1CCF0248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AA490-6D2B-DE7C-B89D-5ABB1F20C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4BD4D-66E9-954C-6813-AB10D97D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350CC-863C-F8E0-8FBD-88C6A87F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2AD96-B6DB-4A4F-AE5C-A091D35D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7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2068-5CFA-494F-076E-D729077A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7370D-87E3-DBAC-66E3-BBBCA06E3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DD2F1-4BA4-933A-F32F-AB821E532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D2F01-37B5-52DE-1AB8-95F4F068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24F09-09A7-A96F-4A7C-80541614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10D4B-EEE4-BCA5-3D66-EC9CB23F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8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681F-8AF1-5FD6-BD51-5A77CC5C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15A97-6EEF-798D-2D50-7C744B510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47C0E-0648-8D19-223D-D32822B6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A321-29A3-542C-F7A6-C2DC4845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1EF05-3DCC-83D1-E258-BAC190F9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49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1825F-928C-E6CC-3269-4733C6212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65D67-2F79-802E-964B-8CE5D1678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58961-8DE6-6F04-524E-00544222C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EE866-2995-ED31-3E0F-8DFAC6D5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CE46-7C14-360D-796C-163B1C59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588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/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4418" y="1520825"/>
            <a:ext cx="10001249" cy="4392612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6517054" algn="r"/>
              </a:tabLst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176A1AB-311D-2547-95D6-7B8112289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418" y="408469"/>
            <a:ext cx="10001249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7108C24-5B72-3A44-B49B-5DEC49EAF450}"/>
              </a:ext>
            </a:extLst>
          </p:cNvPr>
          <p:cNvSpPr txBox="1">
            <a:spLocks/>
          </p:cNvSpPr>
          <p:nvPr userDrawn="1"/>
        </p:nvSpPr>
        <p:spPr>
          <a:xfrm>
            <a:off x="624418" y="6255021"/>
            <a:ext cx="12240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C44AFF9-BFFE-FB49-BE41-133AEB96A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0132" y="6255020"/>
            <a:ext cx="3024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400"/>
              </a:lnSpc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&lt;Document title - footer text&gt;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87808-6EDE-FC4F-88AC-F09292B095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6748" t="76748"/>
          <a:stretch/>
        </p:blipFill>
        <p:spPr>
          <a:xfrm>
            <a:off x="9357112" y="5263376"/>
            <a:ext cx="2834887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66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5C1813C-9BD3-BC46-824B-80BC29735D3F}"/>
              </a:ext>
            </a:extLst>
          </p:cNvPr>
          <p:cNvSpPr txBox="1">
            <a:spLocks/>
          </p:cNvSpPr>
          <p:nvPr userDrawn="1"/>
        </p:nvSpPr>
        <p:spPr>
          <a:xfrm>
            <a:off x="624418" y="6255021"/>
            <a:ext cx="12240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43D90-77C0-4740-BDE5-5FE4973C4B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418" y="374043"/>
            <a:ext cx="10001249" cy="648000"/>
          </a:xfrm>
        </p:spPr>
        <p:txBody>
          <a:bodyPr/>
          <a:lstStyle>
            <a:lvl1pPr>
              <a:lnSpc>
                <a:spcPts val="5000"/>
              </a:lnSpc>
              <a:defRPr sz="4200"/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CC203D-9826-704F-A811-341B9EB2C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0132" y="6255020"/>
            <a:ext cx="3024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400"/>
              </a:lnSpc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&lt;Document title - footer text&gt;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0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AC1DF-B4A8-3B1B-2FF9-CAD81113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13164-C1CC-863F-5D7E-E693875DC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274F-892C-06D1-23BB-27FF85980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6EA1B-03C1-45DA-9412-5D0DB640ED5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49859-AEDC-76D4-C926-C8A918C91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543BC-E45A-0385-E5EB-6292E75B5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047FC-FCEE-4FFE-8EAC-33B547125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47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aform.io/docs/language/expressions/index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aform.io/docs/language/meta-arguments/depends_on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Infrastructure as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3782E-D08A-4E18-BAFE-C279A586A4D4}"/>
              </a:ext>
            </a:extLst>
          </p:cNvPr>
          <p:cNvSpPr txBox="1"/>
          <p:nvPr/>
        </p:nvSpPr>
        <p:spPr>
          <a:xfrm>
            <a:off x="396507" y="1368733"/>
            <a:ext cx="1129475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50" b="1" u="sng" dirty="0">
                <a:solidFill>
                  <a:prstClr val="black"/>
                </a:solidFill>
                <a:latin typeface="Calibri" panose="020F0502020204030204"/>
              </a:rPr>
              <a:t>Definition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: Provisioning infrastructure through </a:t>
            </a:r>
            <a:r>
              <a:rPr lang="en-US" sz="1650" u="sng" dirty="0">
                <a:solidFill>
                  <a:prstClr val="black"/>
                </a:solidFill>
                <a:latin typeface="Calibri" panose="020F0502020204030204"/>
              </a:rPr>
              <a:t>software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to achieve </a:t>
            </a:r>
            <a:r>
              <a:rPr lang="en-US" sz="1650" u="sng" dirty="0">
                <a:solidFill>
                  <a:prstClr val="black"/>
                </a:solidFill>
                <a:latin typeface="Calibri" panose="020F0502020204030204"/>
              </a:rPr>
              <a:t>consistent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and </a:t>
            </a:r>
            <a:r>
              <a:rPr lang="en-US" sz="1650" u="sng" dirty="0">
                <a:solidFill>
                  <a:prstClr val="black"/>
                </a:solidFill>
                <a:latin typeface="Calibri" panose="020F0502020204030204"/>
              </a:rPr>
              <a:t>predictable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environment</a:t>
            </a:r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B73E500-5E25-4253-BBD3-CF763EA6B312}"/>
              </a:ext>
            </a:extLst>
          </p:cNvPr>
          <p:cNvSpPr/>
          <p:nvPr/>
        </p:nvSpPr>
        <p:spPr>
          <a:xfrm>
            <a:off x="432949" y="2059269"/>
            <a:ext cx="2420026" cy="647414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Defined in code</a:t>
            </a: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2DCC8D6-0B05-4794-8474-32407E2BFAAB}"/>
              </a:ext>
            </a:extLst>
          </p:cNvPr>
          <p:cNvSpPr/>
          <p:nvPr/>
        </p:nvSpPr>
        <p:spPr>
          <a:xfrm>
            <a:off x="432949" y="2842432"/>
            <a:ext cx="2420026" cy="647414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Source Control</a:t>
            </a: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035D365-DC9F-4248-BDB2-67D9353F84F3}"/>
              </a:ext>
            </a:extLst>
          </p:cNvPr>
          <p:cNvSpPr/>
          <p:nvPr/>
        </p:nvSpPr>
        <p:spPr>
          <a:xfrm>
            <a:off x="432949" y="3659521"/>
            <a:ext cx="2420026" cy="647414"/>
          </a:xfrm>
          <a:prstGeom prst="rect">
            <a:avLst/>
          </a:prstGeom>
          <a:solidFill>
            <a:srgbClr val="70AD47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Declarative or Imperative</a:t>
            </a: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4CE49DC-2B81-4AC9-B51D-F89E983979AF}"/>
              </a:ext>
            </a:extLst>
          </p:cNvPr>
          <p:cNvSpPr/>
          <p:nvPr/>
        </p:nvSpPr>
        <p:spPr>
          <a:xfrm>
            <a:off x="432949" y="4476610"/>
            <a:ext cx="2420026" cy="647414"/>
          </a:xfrm>
          <a:prstGeom prst="rect">
            <a:avLst/>
          </a:prstGeom>
          <a:solidFill>
            <a:srgbClr val="A5A5A5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Idempotent</a:t>
            </a: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9454AAB-3424-435A-848D-7ED0DCF0F3EF}"/>
              </a:ext>
            </a:extLst>
          </p:cNvPr>
          <p:cNvSpPr/>
          <p:nvPr/>
        </p:nvSpPr>
        <p:spPr>
          <a:xfrm>
            <a:off x="432949" y="5293700"/>
            <a:ext cx="2420026" cy="647414"/>
          </a:xfrm>
          <a:prstGeom prst="rect">
            <a:avLst/>
          </a:prstGeom>
          <a:solidFill>
            <a:srgbClr val="ED7D31">
              <a:lumMod val="5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Push or Pull</a:t>
            </a: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76C240-D248-4E8E-B1F4-3A68157F2A9C}"/>
              </a:ext>
            </a:extLst>
          </p:cNvPr>
          <p:cNvSpPr txBox="1"/>
          <p:nvPr/>
        </p:nvSpPr>
        <p:spPr>
          <a:xfrm>
            <a:off x="2987667" y="2100004"/>
            <a:ext cx="34127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srgbClr val="4472C4"/>
                </a:solidFill>
                <a:latin typeface="Calibri" panose="020F0502020204030204"/>
              </a:rPr>
              <a:t>Typically a configuration language – e.g. YAML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4472C4"/>
                </a:solidFill>
                <a:latin typeface="Calibri" panose="020F0502020204030204"/>
              </a:rPr>
              <a:t>(Terraform uses HCL)</a:t>
            </a:r>
            <a:endParaRPr lang="en-GB" sz="1350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77C81D-CB4C-4627-8053-550DC249EC3E}"/>
              </a:ext>
            </a:extLst>
          </p:cNvPr>
          <p:cNvSpPr txBox="1"/>
          <p:nvPr/>
        </p:nvSpPr>
        <p:spPr>
          <a:xfrm>
            <a:off x="2993755" y="3012868"/>
            <a:ext cx="35712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srgbClr val="ED7D31"/>
                </a:solidFill>
                <a:latin typeface="Calibri" panose="020F0502020204030204"/>
              </a:rPr>
              <a:t>Typically a GIT repository like GitHub / </a:t>
            </a:r>
            <a:r>
              <a:rPr lang="en-US" sz="1350" dirty="0" err="1">
                <a:solidFill>
                  <a:srgbClr val="ED7D31"/>
                </a:solidFill>
                <a:latin typeface="Calibri" panose="020F0502020204030204"/>
              </a:rPr>
              <a:t>BitBucket</a:t>
            </a:r>
            <a:endParaRPr lang="en-GB" sz="1350" dirty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56238A-AAFE-4AAE-BBDB-F2A07221355E}"/>
              </a:ext>
            </a:extLst>
          </p:cNvPr>
          <p:cNvSpPr txBox="1"/>
          <p:nvPr/>
        </p:nvSpPr>
        <p:spPr>
          <a:xfrm>
            <a:off x="2993755" y="3714352"/>
            <a:ext cx="35994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srgbClr val="70AD47"/>
                </a:solidFill>
                <a:latin typeface="Calibri" panose="020F0502020204030204"/>
              </a:rPr>
              <a:t>Declarative – Describe end state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70AD47"/>
                </a:solidFill>
                <a:latin typeface="Calibri" panose="020F0502020204030204"/>
              </a:rPr>
              <a:t>Imperative – Specify the steps to reach end state</a:t>
            </a:r>
            <a:endParaRPr lang="en-GB" sz="1350" dirty="0">
              <a:solidFill>
                <a:srgbClr val="70AD47"/>
              </a:solidFill>
              <a:latin typeface="Calibri" panose="020F0502020204030204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6344C6-5ECA-4453-9D79-15A467614652}"/>
              </a:ext>
            </a:extLst>
          </p:cNvPr>
          <p:cNvSpPr txBox="1"/>
          <p:nvPr/>
        </p:nvSpPr>
        <p:spPr>
          <a:xfrm>
            <a:off x="2993754" y="4549367"/>
            <a:ext cx="409746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End state does not change if the same code is executed </a:t>
            </a:r>
          </a:p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multiple times</a:t>
            </a:r>
            <a:endParaRPr lang="en-GB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12B46D-9E4A-467D-9539-396346C7BC00}"/>
              </a:ext>
            </a:extLst>
          </p:cNvPr>
          <p:cNvSpPr txBox="1"/>
          <p:nvPr/>
        </p:nvSpPr>
        <p:spPr>
          <a:xfrm>
            <a:off x="2993754" y="5365507"/>
            <a:ext cx="486473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srgbClr val="ED7D31">
                    <a:lumMod val="50000"/>
                  </a:srgbClr>
                </a:solidFill>
                <a:latin typeface="Calibri" panose="020F0502020204030204"/>
              </a:rPr>
              <a:t>Is configuration pushed to the target or pulled by an agent running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ED7D31">
                    <a:lumMod val="50000"/>
                  </a:srgbClr>
                </a:solidFill>
                <a:latin typeface="Calibri" panose="020F0502020204030204"/>
              </a:rPr>
              <a:t>on the target (Terraform uses Push)</a:t>
            </a:r>
            <a:endParaRPr lang="en-GB" sz="1350" dirty="0">
              <a:solidFill>
                <a:srgbClr val="ED7D31">
                  <a:lumMod val="50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1031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What is Terraform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887525" y="1441863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Open Source Infrastructure as Code software tool from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HashiCorp</a:t>
            </a: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Written in GOLANG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Uses Declarative Configuration written in HCL (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HashiCorp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Configuration Language)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JSON syntax also supported but rarely used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a consistent CLI workflow to manage cloud services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all major cloud providers such as AWS, Azure, GCP, Alibaba Cloud, VMWare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Integrates smoothly with CICD tools like Jenkins</a:t>
            </a:r>
          </a:p>
        </p:txBody>
      </p:sp>
    </p:spTree>
    <p:extLst>
      <p:ext uri="{BB962C8B-B14F-4D97-AF65-F5344CB8AC3E}">
        <p14:creationId xmlns:p14="http://schemas.microsoft.com/office/powerpoint/2010/main" val="1889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Getting started with Terraform provisioning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765463" y="1773426"/>
            <a:ext cx="5488880" cy="3918842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 components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Providers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Source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 workflow of PLAN and APPLY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1: Provisioning a web server in default VPC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52651" cy="39188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17406" y="3341914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76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1: Launch a web server in default VPC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109277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Provision an EC2 web server displaying a Hello World page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Region: us-east-1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VPC: Default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EC2 instance type: t2.micro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AMI: Amazon Linux 2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group: Allow traffic to port 80 from internet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Data: Install httpd server and show a Hello page. Script below:</a:t>
            </a:r>
          </a:p>
          <a:p>
            <a:pPr lvl="1"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952224" y="4849581"/>
            <a:ext cx="9574261" cy="1475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yum -y install httpd</a:t>
            </a: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enable httpd</a:t>
            </a: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 httpd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 '&lt;html&gt;&lt;h1&gt;Hello World&lt;/h1&gt;&lt;/html&gt;' &gt;/var/www/html/index.html</a:t>
            </a:r>
          </a:p>
        </p:txBody>
      </p:sp>
    </p:spTree>
    <p:extLst>
      <p:ext uri="{BB962C8B-B14F-4D97-AF65-F5344CB8AC3E}">
        <p14:creationId xmlns:p14="http://schemas.microsoft.com/office/powerpoint/2010/main" val="326503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Key points to note for all lab assignments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272685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 up on AWS for a free tier account if you don’t already have one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 access key and secret key for your account with necessary privileges (if you are using root credentials, exercise caution)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Remember to destroy the resources after every lab to avoid incurring charges on AWS (despite this you may incur some small costs especially if your free tier has expired)</a:t>
            </a:r>
          </a:p>
          <a:p>
            <a:pPr>
              <a:lnSpc>
                <a:spcPct val="150000"/>
              </a:lnSpc>
            </a:pPr>
            <a:r>
              <a:rPr lang="en-US" sz="2100" b="1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Disconnect from VPN before running the terraform commands</a:t>
            </a:r>
            <a:endParaRPr lang="en-US" sz="1900" b="1" u="sng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33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components</a:t>
            </a:r>
          </a:p>
        </p:txBody>
      </p:sp>
      <p:pic>
        <p:nvPicPr>
          <p:cNvPr id="3" name="Graphic 2" descr="Web design">
            <a:extLst>
              <a:ext uri="{FF2B5EF4-FFF2-40B4-BE49-F238E27FC236}">
                <a16:creationId xmlns:a16="http://schemas.microsoft.com/office/drawing/2014/main" id="{2DF2E89D-B124-42E4-9E35-3A897EEB2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0766" y="2316303"/>
            <a:ext cx="1327198" cy="1327198"/>
          </a:xfrm>
          <a:prstGeom prst="rect">
            <a:avLst/>
          </a:prstGeom>
        </p:spPr>
      </p:pic>
      <p:pic>
        <p:nvPicPr>
          <p:cNvPr id="7" name="Graphic 6" descr="Puzzle">
            <a:extLst>
              <a:ext uri="{FF2B5EF4-FFF2-40B4-BE49-F238E27FC236}">
                <a16:creationId xmlns:a16="http://schemas.microsoft.com/office/drawing/2014/main" id="{9843EAEF-4080-4C77-96EC-6A0FCE376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5749" y="2460108"/>
            <a:ext cx="956143" cy="956143"/>
          </a:xfrm>
          <a:prstGeom prst="rect">
            <a:avLst/>
          </a:prstGeom>
        </p:spPr>
      </p:pic>
      <p:pic>
        <p:nvPicPr>
          <p:cNvPr id="13" name="Graphic 12" descr="Laptop">
            <a:extLst>
              <a:ext uri="{FF2B5EF4-FFF2-40B4-BE49-F238E27FC236}">
                <a16:creationId xmlns:a16="http://schemas.microsoft.com/office/drawing/2014/main" id="{0067F48A-E18A-40F0-B3DB-FA694EF87C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857" y="2238185"/>
            <a:ext cx="1431429" cy="1431429"/>
          </a:xfrm>
          <a:prstGeom prst="rect">
            <a:avLst/>
          </a:prstGeom>
        </p:spPr>
      </p:pic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662022C4-DF54-4C71-9FB5-E597BA97CD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9212" y="2382399"/>
            <a:ext cx="1143000" cy="1143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2A7EC0-7039-4BA3-A86F-CFE13C6CBF1E}"/>
              </a:ext>
            </a:extLst>
          </p:cNvPr>
          <p:cNvSpPr txBox="1"/>
          <p:nvPr/>
        </p:nvSpPr>
        <p:spPr>
          <a:xfrm>
            <a:off x="87170" y="3919398"/>
            <a:ext cx="11930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Terraform EXE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CB8EF7-C1DB-44A9-9339-06667A84B6E8}"/>
              </a:ext>
            </a:extLst>
          </p:cNvPr>
          <p:cNvSpPr txBox="1"/>
          <p:nvPr/>
        </p:nvSpPr>
        <p:spPr>
          <a:xfrm>
            <a:off x="2685021" y="3902246"/>
            <a:ext cx="149758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Configuration files</a:t>
            </a:r>
          </a:p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(written in HCL)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859EEC-4348-43F5-8CD3-CD2EC3987110}"/>
              </a:ext>
            </a:extLst>
          </p:cNvPr>
          <p:cNvSpPr txBox="1"/>
          <p:nvPr/>
        </p:nvSpPr>
        <p:spPr>
          <a:xfrm>
            <a:off x="5419297" y="3902245"/>
            <a:ext cx="240713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Plug-ins</a:t>
            </a:r>
          </a:p>
          <a:p>
            <a:pPr algn="ctr"/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(to connect to Cloud providers)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991F2-F0E4-41B1-82AE-0C789182978C}"/>
              </a:ext>
            </a:extLst>
          </p:cNvPr>
          <p:cNvSpPr txBox="1"/>
          <p:nvPr/>
        </p:nvSpPr>
        <p:spPr>
          <a:xfrm>
            <a:off x="9020253" y="3902245"/>
            <a:ext cx="241822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Terraform State</a:t>
            </a:r>
          </a:p>
          <a:p>
            <a:pPr algn="ctr"/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(Stores the provisioned details)</a:t>
            </a:r>
          </a:p>
        </p:txBody>
      </p:sp>
    </p:spTree>
    <p:extLst>
      <p:ext uri="{BB962C8B-B14F-4D97-AF65-F5344CB8AC3E}">
        <p14:creationId xmlns:p14="http://schemas.microsoft.com/office/powerpoint/2010/main" val="101276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Variables and Providers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272685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2FFE74-45AE-40B1-ADC6-81511E552335}"/>
              </a:ext>
            </a:extLst>
          </p:cNvPr>
          <p:cNvSpPr/>
          <p:nvPr/>
        </p:nvSpPr>
        <p:spPr>
          <a:xfrm>
            <a:off x="432949" y="1915886"/>
            <a:ext cx="8221194" cy="17090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aws_access_key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{}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aws_secret_key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{}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aws_region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default = "us-east-1"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25AC0-163B-490B-B45E-CAD12C24B81B}"/>
              </a:ext>
            </a:extLst>
          </p:cNvPr>
          <p:cNvSpPr/>
          <p:nvPr/>
        </p:nvSpPr>
        <p:spPr>
          <a:xfrm>
            <a:off x="356748" y="4610101"/>
            <a:ext cx="8221194" cy="17090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access_key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var.aws_access_key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secret_key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var.aws_secret_key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region =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var.aws_region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4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Providers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C682B70-565D-45CA-A303-E3AF5AAAFB72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0169738" cy="46500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 for IaaS, PaaS and SaaS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Created by Community and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HashiCorp</a:t>
            </a: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Source and written in GOLANG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Comprise Resources and Data Sources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also create multiple instances of the same provider – e.g. for provisioning in different AWS regions</a:t>
            </a:r>
          </a:p>
        </p:txBody>
      </p:sp>
    </p:spTree>
    <p:extLst>
      <p:ext uri="{BB962C8B-B14F-4D97-AF65-F5344CB8AC3E}">
        <p14:creationId xmlns:p14="http://schemas.microsoft.com/office/powerpoint/2010/main" val="299721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Data sources, Resources and Outputs 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022190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Source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2FFE74-45AE-40B1-ADC6-81511E552335}"/>
              </a:ext>
            </a:extLst>
          </p:cNvPr>
          <p:cNvSpPr/>
          <p:nvPr/>
        </p:nvSpPr>
        <p:spPr>
          <a:xfrm>
            <a:off x="356748" y="1513118"/>
            <a:ext cx="8221194" cy="1426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aws_ami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alx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most_recent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owners = ["amazon"]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filter {}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25AC0-163B-490B-B45E-CAD12C24B81B}"/>
              </a:ext>
            </a:extLst>
          </p:cNvPr>
          <p:cNvSpPr/>
          <p:nvPr/>
        </p:nvSpPr>
        <p:spPr>
          <a:xfrm>
            <a:off x="356748" y="3513715"/>
            <a:ext cx="8221194" cy="1246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aws_instance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webserver"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ami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data.aws_ami.alx.id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instance_type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"t3.micro"	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CFCEC-BD45-4D84-8275-2A0939619BB0}"/>
              </a:ext>
            </a:extLst>
          </p:cNvPr>
          <p:cNvSpPr/>
          <p:nvPr/>
        </p:nvSpPr>
        <p:spPr>
          <a:xfrm>
            <a:off x="356748" y="5355648"/>
            <a:ext cx="8221194" cy="914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aws_public_ip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 =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aws_instance.webserver.public_dns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84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The Terraform workflow</a:t>
            </a:r>
          </a:p>
        </p:txBody>
      </p:sp>
      <p:sp>
        <p:nvSpPr>
          <p:cNvPr id="2" name="Arrow: Striped Right 1">
            <a:extLst>
              <a:ext uri="{FF2B5EF4-FFF2-40B4-BE49-F238E27FC236}">
                <a16:creationId xmlns:a16="http://schemas.microsoft.com/office/drawing/2014/main" id="{E10E68AC-6A3D-4DB6-8F3B-9FE609C95285}"/>
              </a:ext>
            </a:extLst>
          </p:cNvPr>
          <p:cNvSpPr/>
          <p:nvPr/>
        </p:nvSpPr>
        <p:spPr>
          <a:xfrm>
            <a:off x="1410160" y="2445745"/>
            <a:ext cx="1377108" cy="129999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INIT</a:t>
            </a:r>
            <a:endParaRPr lang="en-GB" sz="1600" b="1" dirty="0"/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E7E3A83A-BAD5-4F7E-A7B0-3B1087E788E6}"/>
              </a:ext>
            </a:extLst>
          </p:cNvPr>
          <p:cNvSpPr/>
          <p:nvPr/>
        </p:nvSpPr>
        <p:spPr>
          <a:xfrm>
            <a:off x="4936487" y="2445745"/>
            <a:ext cx="1377108" cy="129999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PLAN</a:t>
            </a:r>
            <a:endParaRPr lang="en-GB" sz="1600" b="1" dirty="0"/>
          </a:p>
        </p:txBody>
      </p:sp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A876C621-6D0B-453E-942C-3E139BAB99FD}"/>
              </a:ext>
            </a:extLst>
          </p:cNvPr>
          <p:cNvSpPr/>
          <p:nvPr/>
        </p:nvSpPr>
        <p:spPr>
          <a:xfrm>
            <a:off x="8668440" y="2445745"/>
            <a:ext cx="1377108" cy="129999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APPLY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85039C-272B-43EA-9395-129C4BC000AF}"/>
              </a:ext>
            </a:extLst>
          </p:cNvPr>
          <p:cNvSpPr txBox="1"/>
          <p:nvPr/>
        </p:nvSpPr>
        <p:spPr>
          <a:xfrm>
            <a:off x="269934" y="4169880"/>
            <a:ext cx="2981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Download provider plug-in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Setup module references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0763B-2BE0-4FF5-9581-BA12F5E74BE5}"/>
              </a:ext>
            </a:extLst>
          </p:cNvPr>
          <p:cNvSpPr txBox="1"/>
          <p:nvPr/>
        </p:nvSpPr>
        <p:spPr>
          <a:xfrm>
            <a:off x="3756453" y="4164384"/>
            <a:ext cx="373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Compare configuration to state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Compute changes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08500-7900-4D05-A880-9222CE899819}"/>
              </a:ext>
            </a:extLst>
          </p:cNvPr>
          <p:cNvSpPr txBox="1"/>
          <p:nvPr/>
        </p:nvSpPr>
        <p:spPr>
          <a:xfrm>
            <a:off x="7708944" y="4142346"/>
            <a:ext cx="31044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Execute changes as per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Provision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Update State file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87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State management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765463" y="1773426"/>
            <a:ext cx="5488880" cy="39188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 State file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 Plan Process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2: Adding a new VPC and provisioning a web server in a public subnet within that VPC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52651" cy="39188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17406" y="3341914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338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state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JSON format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 metadata and resource mappings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Locking is used to ensure consistency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location – Can be local or remote (AWS, Azure, NFS, Terraform Cloud)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Workspaces (to be covered later) – Each workspace will have its own state file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Important notes: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Never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edit the State file manually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using Terraform, avoid making independent manual changes to the Cloud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207376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State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85569-55DA-494C-971C-23FFC8020B10}"/>
              </a:ext>
            </a:extLst>
          </p:cNvPr>
          <p:cNvSpPr/>
          <p:nvPr/>
        </p:nvSpPr>
        <p:spPr>
          <a:xfrm>
            <a:off x="296636" y="2023660"/>
            <a:ext cx="7644251" cy="34616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"version": 4,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terraform_version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"0.14.4",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"serial": 36,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"lineage": "9a79bcec-dcd7-c57b-b4b6-1f9a67708e45",            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"outputs": {},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"resources": []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440EC4-DA93-4D1C-B5A6-822490AEA109}"/>
              </a:ext>
            </a:extLst>
          </p:cNvPr>
          <p:cNvSpPr/>
          <p:nvPr/>
        </p:nvSpPr>
        <p:spPr>
          <a:xfrm>
            <a:off x="362954" y="2900878"/>
            <a:ext cx="2993572" cy="31030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1E13CB-99BE-4C70-9F31-2F2234DAA9EE}"/>
              </a:ext>
            </a:extLst>
          </p:cNvPr>
          <p:cNvSpPr/>
          <p:nvPr/>
        </p:nvSpPr>
        <p:spPr>
          <a:xfrm>
            <a:off x="296636" y="3512804"/>
            <a:ext cx="2993572" cy="3103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612229-A9F7-46B1-B2E6-4212F8122593}"/>
              </a:ext>
            </a:extLst>
          </p:cNvPr>
          <p:cNvSpPr/>
          <p:nvPr/>
        </p:nvSpPr>
        <p:spPr>
          <a:xfrm>
            <a:off x="296636" y="3882789"/>
            <a:ext cx="2993572" cy="3103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742463-2B53-4450-BB70-7DA8EDB87641}"/>
              </a:ext>
            </a:extLst>
          </p:cNvPr>
          <p:cNvCxnSpPr/>
          <p:nvPr/>
        </p:nvCxnSpPr>
        <p:spPr>
          <a:xfrm>
            <a:off x="3310879" y="3056031"/>
            <a:ext cx="4973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FAC70C-7259-446F-AF89-FA6C8F5EAF78}"/>
              </a:ext>
            </a:extLst>
          </p:cNvPr>
          <p:cNvCxnSpPr/>
          <p:nvPr/>
        </p:nvCxnSpPr>
        <p:spPr>
          <a:xfrm>
            <a:off x="3356526" y="3667956"/>
            <a:ext cx="4973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EA7C0C8-6E74-455E-9083-C7E1A61DD6C6}"/>
              </a:ext>
            </a:extLst>
          </p:cNvPr>
          <p:cNvSpPr txBox="1"/>
          <p:nvPr/>
        </p:nvSpPr>
        <p:spPr>
          <a:xfrm>
            <a:off x="8308485" y="2900481"/>
            <a:ext cx="32855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Incremented with every change to state</a:t>
            </a:r>
          </a:p>
          <a:p>
            <a:endParaRPr lang="en-GB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047E18-5643-4CC8-9654-18AB60F4B43F}"/>
              </a:ext>
            </a:extLst>
          </p:cNvPr>
          <p:cNvSpPr txBox="1"/>
          <p:nvPr/>
        </p:nvSpPr>
        <p:spPr>
          <a:xfrm>
            <a:off x="8308485" y="3506373"/>
            <a:ext cx="31225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 from terraform configuration</a:t>
            </a:r>
            <a:endParaRPr lang="en-GB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238CB-C73A-4E5A-BF4A-45D7632A39A3}"/>
              </a:ext>
            </a:extLst>
          </p:cNvPr>
          <p:cNvSpPr txBox="1"/>
          <p:nvPr/>
        </p:nvSpPr>
        <p:spPr>
          <a:xfrm>
            <a:off x="8284029" y="3850617"/>
            <a:ext cx="3582840" cy="402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 generated or data sources pulled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56F1F0-E1C9-4639-9552-E10A7B0BA3B8}"/>
              </a:ext>
            </a:extLst>
          </p:cNvPr>
          <p:cNvCxnSpPr/>
          <p:nvPr/>
        </p:nvCxnSpPr>
        <p:spPr>
          <a:xfrm>
            <a:off x="3290208" y="4047335"/>
            <a:ext cx="4973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038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Planning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B5990ED7-29F9-4ADE-B8F9-B4AE5A87EE3E}"/>
              </a:ext>
            </a:extLst>
          </p:cNvPr>
          <p:cNvSpPr/>
          <p:nvPr/>
        </p:nvSpPr>
        <p:spPr>
          <a:xfrm>
            <a:off x="729343" y="1915885"/>
            <a:ext cx="2307772" cy="1513115"/>
          </a:xfrm>
          <a:prstGeom prst="chevron">
            <a:avLst>
              <a:gd name="adj" fmla="val 32734"/>
            </a:avLst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Inspect State</a:t>
            </a:r>
            <a:endParaRPr lang="en-GB" sz="135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86957454-3C8E-493B-8886-D06D00111C8F}"/>
              </a:ext>
            </a:extLst>
          </p:cNvPr>
          <p:cNvSpPr/>
          <p:nvPr/>
        </p:nvSpPr>
        <p:spPr>
          <a:xfrm>
            <a:off x="3265715" y="1915885"/>
            <a:ext cx="2579914" cy="1513115"/>
          </a:xfrm>
          <a:prstGeom prst="chevron">
            <a:avLst>
              <a:gd name="adj" fmla="val 32734"/>
            </a:avLst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Dependency Graph</a:t>
            </a:r>
            <a:endParaRPr lang="en-GB" sz="135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6CF5DAA-CC7C-477A-B48F-8C44F13F8567}"/>
              </a:ext>
            </a:extLst>
          </p:cNvPr>
          <p:cNvSpPr/>
          <p:nvPr/>
        </p:nvSpPr>
        <p:spPr>
          <a:xfrm>
            <a:off x="5845629" y="1910443"/>
            <a:ext cx="2579914" cy="1513115"/>
          </a:xfrm>
          <a:prstGeom prst="chevron">
            <a:avLst>
              <a:gd name="adj" fmla="val 32734"/>
            </a:avLst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Additions, Updates and Deletions</a:t>
            </a:r>
            <a:endParaRPr lang="en-GB" sz="135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FA9532AF-EB7B-4E84-A910-C90D0223E191}"/>
              </a:ext>
            </a:extLst>
          </p:cNvPr>
          <p:cNvSpPr/>
          <p:nvPr/>
        </p:nvSpPr>
        <p:spPr>
          <a:xfrm>
            <a:off x="8425542" y="1905000"/>
            <a:ext cx="2579914" cy="1513115"/>
          </a:xfrm>
          <a:prstGeom prst="chevron">
            <a:avLst>
              <a:gd name="adj" fmla="val 32734"/>
            </a:avLst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 in parallel</a:t>
            </a:r>
            <a:endParaRPr lang="en-GB" sz="135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947CC-650C-40AC-A76F-C1A9D92DA063}"/>
              </a:ext>
            </a:extLst>
          </p:cNvPr>
          <p:cNvSpPr txBox="1"/>
          <p:nvPr/>
        </p:nvSpPr>
        <p:spPr>
          <a:xfrm>
            <a:off x="729343" y="3907972"/>
            <a:ext cx="1698172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Inspect the state file and compare to the desired configuration</a:t>
            </a: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0EFDB-8C83-472C-A657-D17E9CF7FCC0}"/>
              </a:ext>
            </a:extLst>
          </p:cNvPr>
          <p:cNvSpPr txBox="1"/>
          <p:nvPr/>
        </p:nvSpPr>
        <p:spPr>
          <a:xfrm>
            <a:off x="3265715" y="3907972"/>
            <a:ext cx="1698172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Identify dependency between resources – E.g. EC2 might depend on a subnet creation</a:t>
            </a: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D9EF3-7512-4101-8774-D725FE32F79B}"/>
              </a:ext>
            </a:extLst>
          </p:cNvPr>
          <p:cNvSpPr txBox="1"/>
          <p:nvPr/>
        </p:nvSpPr>
        <p:spPr>
          <a:xfrm>
            <a:off x="5802087" y="3847233"/>
            <a:ext cx="1698172" cy="7848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Compute the list of resources to add, update and delete</a:t>
            </a: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DD40FF-5BF6-40AB-A488-EA3A8C6C2EED}"/>
              </a:ext>
            </a:extLst>
          </p:cNvPr>
          <p:cNvSpPr txBox="1"/>
          <p:nvPr/>
        </p:nvSpPr>
        <p:spPr>
          <a:xfrm>
            <a:off x="8338458" y="3847234"/>
            <a:ext cx="1698172" cy="1246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Terraform “Apply” uses parallel execution to optimize resource provisioning time</a:t>
            </a: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7FA5D-A9B6-47AF-8DB7-653D9C27EBB5}"/>
              </a:ext>
            </a:extLst>
          </p:cNvPr>
          <p:cNvSpPr txBox="1"/>
          <p:nvPr/>
        </p:nvSpPr>
        <p:spPr>
          <a:xfrm>
            <a:off x="2612572" y="6074228"/>
            <a:ext cx="47442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Note:- Good practice to store Plan output for reviews/approvals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294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2: Add a new VPC for hosting the web server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109277"/>
            <a:ext cx="10169738" cy="4101701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Add a new VPC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Name: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vpc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CIDR Block: 10.0.0.0/16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 assignment of public DNS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Subnet name: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mysubnet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Subnet CIDR: 10.0.1.0/24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 auto public IP and DNS assignment to EC2 instances in the subnet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Internet gateway called “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igw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attached to VPC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 table called “rt” with public route to internet via “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igw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Following new resources need to be created</a:t>
            </a: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432949" y="5329619"/>
            <a:ext cx="9574261" cy="1475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aws_vpc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vpc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aws_internet_gateway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igw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aws_subnet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mysubnet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aws_route_table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rtb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aws_route_table_association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rta-mysubnet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"{}</a:t>
            </a:r>
          </a:p>
        </p:txBody>
      </p:sp>
    </p:spTree>
    <p:extLst>
      <p:ext uri="{BB962C8B-B14F-4D97-AF65-F5344CB8AC3E}">
        <p14:creationId xmlns:p14="http://schemas.microsoft.com/office/powerpoint/2010/main" val="2176907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2: </a:t>
            </a:r>
            <a:r>
              <a:rPr lang="en-US" sz="2850" dirty="0" err="1">
                <a:solidFill>
                  <a:schemeClr val="tx2"/>
                </a:solidFill>
              </a:rPr>
              <a:t>Contd</a:t>
            </a:r>
            <a:r>
              <a:rPr lang="en-US" sz="2850" dirty="0">
                <a:solidFill>
                  <a:schemeClr val="tx2"/>
                </a:solidFill>
              </a:rPr>
              <a:t>…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109277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Provision an EC2 web server displaying a Hello World page in the subnet “</a:t>
            </a:r>
            <a:r>
              <a:rPr 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mysubnet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Region: us-east-1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VPC: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vpc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Subnet: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mysubnet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EC2 instance type: t3.micro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AMI: Amazon Linux 2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group: Allow traffic to port 80 from internet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Data: Install httpd server and show a Hello page. Script below:</a:t>
            </a:r>
          </a:p>
          <a:p>
            <a:pPr lvl="1"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952224" y="4849581"/>
            <a:ext cx="9574261" cy="1475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yum -y install httpd</a:t>
            </a: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enable httpd</a:t>
            </a: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 httpd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 '&lt;html&gt;&lt;h1&gt;Hello World&lt;/h1&gt;&lt;/html&gt;' &gt;/var/www/html/index.html</a:t>
            </a:r>
          </a:p>
        </p:txBody>
      </p:sp>
    </p:spTree>
    <p:extLst>
      <p:ext uri="{BB962C8B-B14F-4D97-AF65-F5344CB8AC3E}">
        <p14:creationId xmlns:p14="http://schemas.microsoft.com/office/powerpoint/2010/main" val="4015323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syntax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765463" y="1773426"/>
            <a:ext cx="5488880" cy="39188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Blocks and arguments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– Input, Output, Local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3: Use Terraform Console to try various functions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52651" cy="39188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17406" y="3341914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120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syntax – Blocks and arguments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636538" y="1306276"/>
            <a:ext cx="9574261" cy="23730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Basic Block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Block_type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label_one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label_two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key = value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embedded _block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key2 = value2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1E9D2-E779-42E1-8FE7-27726D0D3859}"/>
              </a:ext>
            </a:extLst>
          </p:cNvPr>
          <p:cNvSpPr/>
          <p:nvPr/>
        </p:nvSpPr>
        <p:spPr>
          <a:xfrm>
            <a:off x="636538" y="3820999"/>
            <a:ext cx="9574261" cy="2525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#Example block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aws_route_table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route_table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vpc_id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"id189972299"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route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cidr_block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"0.0.0.0/0"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gateway_id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"id127880876"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1551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variables - types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0169738" cy="4650087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Variables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 as parameters, so users can customize behavior without editing the source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declared in root module, value is set via .</a:t>
            </a:r>
            <a:r>
              <a:rPr lang="en-US" sz="17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tfvars</a:t>
            </a: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/ -var command line option / environment variables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declared in child module, must be passed from calling module in module block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not change value during execution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Values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like return values of a module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root module, outputs can be seen on CLI after running apply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child module, outputs return subset of resource properties to parent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Values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a convenience feature for assigning a short name to an expression so that it can be used multiple times within the module</a:t>
            </a:r>
          </a:p>
        </p:txBody>
      </p:sp>
    </p:spTree>
    <p:extLst>
      <p:ext uri="{BB962C8B-B14F-4D97-AF65-F5344CB8AC3E}">
        <p14:creationId xmlns:p14="http://schemas.microsoft.com/office/powerpoint/2010/main" val="301673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input variables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0169738" cy="4846030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 variable is declared with the keyword variable and typically comprises a type, description and default value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	mixture of keywords and constructors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Keywords – string, number, bool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Constructors – list(&lt;type&gt;), map(&lt;type&gt;), set(&lt;type&gt;) etc.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value is optional but should be set if there is no value injected while running. Default value has to be a literal and cannot reference other objects 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 is accessed by prefixing var – e.g.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var.availability_zone_names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[0]</a:t>
            </a:r>
          </a:p>
          <a:p>
            <a:r>
              <a:rPr lang="en-GB" sz="1900" dirty="0">
                <a:latin typeface="Calibri" panose="020F0502020204030204" pitchFamily="34" charset="0"/>
                <a:cs typeface="Calibri" panose="020F0502020204030204" pitchFamily="34" charset="0"/>
              </a:rPr>
              <a:t>One can specify </a:t>
            </a:r>
            <a:r>
              <a:rPr lang="en-GB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tfvar</a:t>
            </a:r>
            <a:r>
              <a:rPr lang="en-GB" sz="1900" dirty="0">
                <a:latin typeface="Calibri" panose="020F0502020204030204" pitchFamily="34" charset="0"/>
                <a:cs typeface="Calibri" panose="020F0502020204030204" pitchFamily="34" charset="0"/>
              </a:rPr>
              <a:t> file name using the below CLI option - </a:t>
            </a:r>
            <a:r>
              <a:rPr lang="en-GB" sz="190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terraform apply -var-file="</a:t>
            </a:r>
            <a:r>
              <a:rPr lang="en-GB" sz="1900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testing.tfvars</a:t>
            </a:r>
            <a:r>
              <a:rPr lang="en-GB" sz="190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D7CA3-E838-4E51-9F32-197A8941A889}"/>
              </a:ext>
            </a:extLst>
          </p:cNvPr>
          <p:cNvSpPr/>
          <p:nvPr/>
        </p:nvSpPr>
        <p:spPr>
          <a:xfrm>
            <a:off x="538566" y="1807142"/>
            <a:ext cx="9574261" cy="143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#Example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availability_zone_names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type    = list(string)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default = ["us-west-1a"]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151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input variable – various object types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432949" y="1336752"/>
            <a:ext cx="9574261" cy="3596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#Different value types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= "hello"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 = 6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= false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= ["item1","item2"]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 = {name = "Tom", age = 28,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is_Employed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937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output values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369714"/>
            <a:ext cx="10169738" cy="46500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output value exported by a module must be declared using an output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 immediately after the output keyword is the name of the output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value argument takes an expression whose result is to be returned to the user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 are only rendered when Terraform applies your plan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optionally include a description as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D7CA3-E838-4E51-9F32-197A8941A889}"/>
              </a:ext>
            </a:extLst>
          </p:cNvPr>
          <p:cNvSpPr/>
          <p:nvPr/>
        </p:nvSpPr>
        <p:spPr>
          <a:xfrm>
            <a:off x="538566" y="2133714"/>
            <a:ext cx="9574261" cy="12952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#Example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instance_ip_addr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value =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aws_instance.server.private_ip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528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local values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27883" y="1199256"/>
            <a:ext cx="10997052" cy="46500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set of related local values can be declared together in a single locals block: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expressions in local values are not limited to literal constants; they can also reference other values in the module in order to transform or combine them, including variables, resource attributes, or other local values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a local value is declared, you can reference it in expressions as local.&lt;NAME&gt;.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D7CA3-E838-4E51-9F32-197A8941A889}"/>
              </a:ext>
            </a:extLst>
          </p:cNvPr>
          <p:cNvSpPr/>
          <p:nvPr/>
        </p:nvSpPr>
        <p:spPr>
          <a:xfrm>
            <a:off x="500190" y="1703340"/>
            <a:ext cx="9574261" cy="1344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5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#Example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locals {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5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service_name</a:t>
            </a:r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"aXess"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owner        = "Academy team"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5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1D16F-615A-4C92-AEAA-292F4E09AEAE}"/>
              </a:ext>
            </a:extLst>
          </p:cNvPr>
          <p:cNvSpPr/>
          <p:nvPr/>
        </p:nvSpPr>
        <p:spPr>
          <a:xfrm>
            <a:off x="538566" y="4762670"/>
            <a:ext cx="9574261" cy="16599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locals {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Common tags to be assigned to all resources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5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common_tags</a:t>
            </a:r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Service = </a:t>
            </a:r>
            <a:r>
              <a:rPr lang="en-US" sz="15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local.service_name</a:t>
            </a:r>
            <a:endParaRPr lang="en-US" sz="15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Owner   = </a:t>
            </a:r>
            <a:r>
              <a:rPr lang="en-US" sz="15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local.owner</a:t>
            </a:r>
            <a:endParaRPr lang="en-US" sz="15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GB" sz="15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333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syntax – 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432949" y="1336751"/>
            <a:ext cx="11051480" cy="4966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#Strings, numbers and bools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local.count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the value</a:t>
            </a:r>
          </a:p>
          <a:p>
            <a:endParaRPr lang="en-US" sz="13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#Lists and Maps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local.MyList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 </a:t>
            </a:r>
            <a:r>
              <a:rPr lang="en-US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element 3</a:t>
            </a:r>
          </a:p>
          <a:p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local.MyMap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["name"] </a:t>
            </a:r>
            <a:r>
              <a:rPr lang="en-US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value for key "name"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#Resource values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vpc_id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aws_vpc.vpc.id </a:t>
            </a:r>
            <a:r>
              <a:rPr lang="en-US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the VPC Id</a:t>
            </a:r>
          </a:p>
          <a:p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data.aws_availability_zones.available.names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</a:t>
            </a:r>
            <a:r>
              <a:rPr lang="en-US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the first AZ</a:t>
            </a:r>
          </a:p>
          <a:p>
            <a:endParaRPr lang="en-US" sz="135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#Interpolations – Primarily to concatenate values</a:t>
            </a:r>
          </a:p>
          <a:p>
            <a:endParaRPr lang="en-US" sz="13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"webserver-${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var.projectname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endParaRPr lang="en-US" sz="135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3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151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Expressions in Terraform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1032430" cy="46500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Expressions are used to refer to or compute values within a configuration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Literals, support for heredoc expressions, escape sequences, interpolation, whitespace stripping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References to values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Resources, child modules, input and output variables, locals, data sources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Conditional expressions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expression, splat expression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blocks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https://www.terraform.io/docs/language/expressions/index.html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more details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77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Examples of expressions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1032430" cy="46500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"Hello, ${var.name}”    </a:t>
            </a:r>
            <a:r>
              <a:rPr lang="en-US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Interpolation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var.a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!= "" ?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var.a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"default-a”         </a:t>
            </a:r>
            <a:r>
              <a:rPr lang="en-US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Conditional expression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[for s in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var.list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upper(s) if s != ""]    </a:t>
            </a:r>
            <a:r>
              <a:rPr lang="en-US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for loop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var.list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[*].id           </a:t>
            </a:r>
            <a:r>
              <a:rPr lang="en-US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splat expression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&lt;&lt;EOT                </a:t>
            </a:r>
            <a:r>
              <a:rPr lang="en-US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heredoc expression</a:t>
            </a:r>
          </a:p>
          <a:p>
            <a:pPr marL="609585" lvl="1" indent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hello</a:t>
            </a:r>
          </a:p>
          <a:p>
            <a:pPr marL="609585" lvl="1" indent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World</a:t>
            </a:r>
          </a:p>
          <a:p>
            <a:pPr marL="609585" lvl="1" indent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EOT</a:t>
            </a:r>
          </a:p>
        </p:txBody>
      </p:sp>
    </p:spTree>
    <p:extLst>
      <p:ext uri="{BB962C8B-B14F-4D97-AF65-F5344CB8AC3E}">
        <p14:creationId xmlns:p14="http://schemas.microsoft.com/office/powerpoint/2010/main" val="2974927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syntax –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E173C1-E8DA-4515-A48C-2573F5EC7921}"/>
              </a:ext>
            </a:extLst>
          </p:cNvPr>
          <p:cNvSpPr/>
          <p:nvPr/>
        </p:nvSpPr>
        <p:spPr>
          <a:xfrm>
            <a:off x="653143" y="1611086"/>
            <a:ext cx="2786744" cy="1028701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Numeric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min, floor, abs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A47EED-92A5-4C73-9CC4-4CEB3DF4273E}"/>
              </a:ext>
            </a:extLst>
          </p:cNvPr>
          <p:cNvSpPr/>
          <p:nvPr/>
        </p:nvSpPr>
        <p:spPr>
          <a:xfrm>
            <a:off x="4087585" y="1611086"/>
            <a:ext cx="2786744" cy="102870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upper, split, replace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8AF7E0-7662-4868-8E29-B9474784888B}"/>
              </a:ext>
            </a:extLst>
          </p:cNvPr>
          <p:cNvSpPr/>
          <p:nvPr/>
        </p:nvSpPr>
        <p:spPr>
          <a:xfrm>
            <a:off x="7522028" y="1611086"/>
            <a:ext cx="2786744" cy="10287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Collection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concat</a:t>
            </a:r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merge, slice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2ED7A-FB51-4C76-9801-31BEA632FF06}"/>
              </a:ext>
            </a:extLst>
          </p:cNvPr>
          <p:cNvSpPr/>
          <p:nvPr/>
        </p:nvSpPr>
        <p:spPr>
          <a:xfrm>
            <a:off x="653143" y="3096987"/>
            <a:ext cx="2786744" cy="10287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Filesystem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file,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dirname</a:t>
            </a:r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abspath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8B2FD-58F4-405B-8A1E-5593C573BDA1}"/>
              </a:ext>
            </a:extLst>
          </p:cNvPr>
          <p:cNvSpPr/>
          <p:nvPr/>
        </p:nvSpPr>
        <p:spPr>
          <a:xfrm>
            <a:off x="4087585" y="3096987"/>
            <a:ext cx="2786744" cy="10287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network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cidrsubnet</a:t>
            </a:r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cidrhost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5571AA-F853-4BB2-B033-B6CF13D56429}"/>
              </a:ext>
            </a:extLst>
          </p:cNvPr>
          <p:cNvSpPr/>
          <p:nvPr/>
        </p:nvSpPr>
        <p:spPr>
          <a:xfrm>
            <a:off x="7522028" y="3096987"/>
            <a:ext cx="2786744" cy="10287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 and time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Timestamp,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formatdate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8D31D-6989-44A7-B331-75CCA0322E88}"/>
              </a:ext>
            </a:extLst>
          </p:cNvPr>
          <p:cNvSpPr/>
          <p:nvPr/>
        </p:nvSpPr>
        <p:spPr>
          <a:xfrm>
            <a:off x="653143" y="4561246"/>
            <a:ext cx="2786744" cy="1028701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Encoding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base64encode,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jsonencode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D7D6F8-9892-4F67-8197-F2FCAC805F1E}"/>
              </a:ext>
            </a:extLst>
          </p:cNvPr>
          <p:cNvSpPr/>
          <p:nvPr/>
        </p:nvSpPr>
        <p:spPr>
          <a:xfrm>
            <a:off x="4087585" y="4582887"/>
            <a:ext cx="2786744" cy="1028701"/>
          </a:xfrm>
          <a:prstGeom prst="rect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Hash and Crypto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sha1,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bcrypt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2AE67A-555D-4786-8E67-8B821592F737}"/>
              </a:ext>
            </a:extLst>
          </p:cNvPr>
          <p:cNvSpPr/>
          <p:nvPr/>
        </p:nvSpPr>
        <p:spPr>
          <a:xfrm>
            <a:off x="7522028" y="4582887"/>
            <a:ext cx="2786744" cy="1028701"/>
          </a:xfrm>
          <a:prstGeom prst="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 conversion</a:t>
            </a:r>
          </a:p>
          <a:p>
            <a:pPr algn="ctr"/>
            <a:endParaRPr lang="en-US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tobool</a:t>
            </a:r>
            <a:r>
              <a:rPr lang="en-US" sz="16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5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tostring</a:t>
            </a:r>
            <a:endParaRPr lang="en-GB" sz="16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66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syntax – functions examples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432949" y="1256204"/>
            <a:ext cx="9574261" cy="2767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Example of collection manipulation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amis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type = "map"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default =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us-east-1 = "ami-1234"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us-west-1 = "ami-4567"	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ami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lookup(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var.amis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"us-east-1", "error") </a:t>
            </a:r>
            <a:r>
              <a:rPr lang="en-GB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ami-1234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FEF39-713F-450A-8AC5-8A9906ECABEC}"/>
              </a:ext>
            </a:extLst>
          </p:cNvPr>
          <p:cNvSpPr/>
          <p:nvPr/>
        </p:nvSpPr>
        <p:spPr>
          <a:xfrm>
            <a:off x="432948" y="4090837"/>
            <a:ext cx="9574261" cy="21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Networking example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network_info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default = "10.1.0.0/16"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cidr_block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cidrsubnet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(var.network_info,8,0) </a:t>
            </a:r>
            <a:r>
              <a:rPr lang="en-GB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10.1.0.0/24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host_ip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cidrhost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(var.network_info,5) </a:t>
            </a:r>
            <a:r>
              <a:rPr lang="en-GB" sz="135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10.1.0.5</a:t>
            </a:r>
          </a:p>
        </p:txBody>
      </p:sp>
    </p:spTree>
    <p:extLst>
      <p:ext uri="{BB962C8B-B14F-4D97-AF65-F5344CB8AC3E}">
        <p14:creationId xmlns:p14="http://schemas.microsoft.com/office/powerpoint/2010/main" val="2239111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3: practice functions using Terraform console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109277"/>
            <a:ext cx="10169738" cy="5541895"/>
          </a:xfrm>
          <a:prstGeom prst="rect">
            <a:avLst/>
          </a:prstGeom>
        </p:spPr>
        <p:txBody>
          <a:bodyPr vert="horz" lIns="0" tIns="0" rIns="0" bIns="0" rtlCol="0">
            <a:normAutofit fontScale="70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min function to find the minimum of 53, 45, 23 and 34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abs function to find the absolute value of -4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format function to print Hello World ! by inserting "World" into "Hello %s!"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split function to split the words in "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foo,bar,horn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 based on comma separator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substr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function to print first 4 characters from "hello world"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concat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function to concatenate two lists - ["a",""] and ["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b","c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"]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merge function to merge two maps - {a="b", c="d"} and {e="f", c="z"}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slice function to print first three items of the list ["a", "b", "c", "d"]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 current timestamp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formatdate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print the following date in MMM DD,YYYY format 2018-01-02T23:12:01Z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cidrsubnet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function to create the subnet 172.18.0.0/16 from the n/w address - 172.16.0.0/12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tostring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function to convert the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true to a string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609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Resource Meta-Arguments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765463" y="1773426"/>
            <a:ext cx="5488880" cy="39188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depends_on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each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52651" cy="24492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17406" y="3341914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811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Resource Arguments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E173C1-E8DA-4515-A48C-2573F5EC7921}"/>
              </a:ext>
            </a:extLst>
          </p:cNvPr>
          <p:cNvSpPr/>
          <p:nvPr/>
        </p:nvSpPr>
        <p:spPr>
          <a:xfrm>
            <a:off x="1908444" y="1937658"/>
            <a:ext cx="3374572" cy="1491343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depends_on</a:t>
            </a:r>
            <a:endParaRPr lang="en-GB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A47EED-92A5-4C73-9CC4-4CEB3DF4273E}"/>
              </a:ext>
            </a:extLst>
          </p:cNvPr>
          <p:cNvSpPr/>
          <p:nvPr/>
        </p:nvSpPr>
        <p:spPr>
          <a:xfrm>
            <a:off x="6318124" y="1933514"/>
            <a:ext cx="3374572" cy="149134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endParaRPr lang="en-GB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8AF7E0-7662-4868-8E29-B9474784888B}"/>
              </a:ext>
            </a:extLst>
          </p:cNvPr>
          <p:cNvSpPr/>
          <p:nvPr/>
        </p:nvSpPr>
        <p:spPr>
          <a:xfrm>
            <a:off x="1908444" y="3799115"/>
            <a:ext cx="3374572" cy="14913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for_each</a:t>
            </a:r>
            <a:endParaRPr lang="en-GB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2ED7A-FB51-4C76-9801-31BEA632FF06}"/>
              </a:ext>
            </a:extLst>
          </p:cNvPr>
          <p:cNvSpPr/>
          <p:nvPr/>
        </p:nvSpPr>
        <p:spPr>
          <a:xfrm>
            <a:off x="6318124" y="3799115"/>
            <a:ext cx="3374572" cy="14913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provider</a:t>
            </a:r>
            <a:endParaRPr lang="en-GB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59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count and </a:t>
            </a:r>
            <a:r>
              <a:rPr lang="en-US" sz="2850" dirty="0" err="1">
                <a:solidFill>
                  <a:schemeClr val="tx2"/>
                </a:solidFill>
              </a:rPr>
              <a:t>depends_on</a:t>
            </a:r>
            <a:endParaRPr lang="en-US" sz="285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432949" y="1336752"/>
            <a:ext cx="11051480" cy="31895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aws_instance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"webservers" {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count = 2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tags {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Name = "webserver-${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count.index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depends_on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[aws_iam_role_policy.allow_s3]</a:t>
            </a:r>
          </a:p>
          <a:p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 </a:t>
            </a:r>
            <a:r>
              <a:rPr lang="en-US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here</a:t>
            </a:r>
            <a:r>
              <a:rPr lang="en-US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the full explanation of </a:t>
            </a:r>
            <a:r>
              <a:rPr lang="en-US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depends_on</a:t>
            </a:r>
            <a:endParaRPr lang="en-US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B8A45-AA34-4344-A682-ABAD360A3AF9}"/>
              </a:ext>
            </a:extLst>
          </p:cNvPr>
          <p:cNvSpPr txBox="1"/>
          <p:nvPr/>
        </p:nvSpPr>
        <p:spPr>
          <a:xfrm>
            <a:off x="283030" y="4778829"/>
            <a:ext cx="1145177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The above configuration will create two EC2 instances with following tags – “webserver-1” and “webserver-2”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To refer to the individual instance within Terraform, syntax used –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aws_instance.webservers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[0]</a:t>
            </a:r>
          </a:p>
          <a:p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The EC2 instance creation “depends on” the availability of the IAM policy that allows S3 access. Hence terraform will ensure that the policy creation happens earlier than the EC2 creation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112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 err="1">
                <a:solidFill>
                  <a:schemeClr val="tx2"/>
                </a:solidFill>
              </a:rPr>
              <a:t>For_each</a:t>
            </a:r>
            <a:endParaRPr lang="en-US" sz="285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432949" y="1336752"/>
            <a:ext cx="11051480" cy="26909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"aws_s3_bucket"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mybuckets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for_each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external = "public-read"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internal = "private"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bucket = "${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each.key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}-${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var.bucket_suffix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acl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each.value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B8A45-AA34-4344-A682-ABAD360A3AF9}"/>
              </a:ext>
            </a:extLst>
          </p:cNvPr>
          <p:cNvSpPr txBox="1"/>
          <p:nvPr/>
        </p:nvSpPr>
        <p:spPr>
          <a:xfrm>
            <a:off x="370115" y="4027715"/>
            <a:ext cx="11451771" cy="1618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 the example above,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for_each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will execute twice – once for each of the key-value pairs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 the first iteration,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each.key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returns “external” and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each.value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returns “public-read”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 the second iteration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each.key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returns “internal” and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each.value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returns “private”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To refer to the individual resource instance, syntax – aws_s3_bucket.mybuckets[“external”]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For_each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can take either maps or sets. If you have list, convert to a set using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toset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function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641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provider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B8A45-AA34-4344-A682-ABAD360A3AF9}"/>
              </a:ext>
            </a:extLst>
          </p:cNvPr>
          <p:cNvSpPr txBox="1"/>
          <p:nvPr/>
        </p:nvSpPr>
        <p:spPr>
          <a:xfrm>
            <a:off x="260387" y="1510199"/>
            <a:ext cx="11451771" cy="294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Specifies which provider configuration to use for a resource, overriding </a:t>
            </a:r>
            <a:r>
              <a:rPr lang="en-US" sz="2100" dirty="0" err="1"/>
              <a:t>Terraform's</a:t>
            </a:r>
            <a:r>
              <a:rPr lang="en-US" sz="2100" dirty="0"/>
              <a:t> default behavior of selecting one based on the resource type name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Possible to create multiple configurations for a single provider (usually to manage resources in different regions of multi-region services). 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Each provider can have one default configuration, and any number of alternate configurations that include an extra name segment (or "alias").</a:t>
            </a:r>
            <a:endParaRPr lang="en-GB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389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provider e.g.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CDAD-1AF1-4838-8A1A-E8271286A15F}"/>
              </a:ext>
            </a:extLst>
          </p:cNvPr>
          <p:cNvSpPr/>
          <p:nvPr/>
        </p:nvSpPr>
        <p:spPr>
          <a:xfrm>
            <a:off x="273454" y="1067316"/>
            <a:ext cx="11051480" cy="52445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default configuration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region = "us-east-1"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alternate configuration, whose alias is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europe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alias  =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europe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region = "eu-west-1"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aws_instance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"example" {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This "provider" meta-argument selects the AWS provider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configuration whose alias is 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europe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rather than the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default configuration.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provider = 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aws.europe</a:t>
            </a:r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...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51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Handling multiple environments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991140"/>
            <a:ext cx="5423565" cy="3201347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Considerations for multiple environments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Managing through state files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Terraform workspaces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Provision dev and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uat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environments using workspaces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Managing secrets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991140"/>
            <a:ext cx="152651" cy="32013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159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Multiple Environment Considerations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C682B70-565D-45CA-A303-E3AF5AAAFB72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0169738" cy="46500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Commonalities and differences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Abstractions and reuse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levels of access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Decisions 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 to store State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manage variable values for different environments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 to store the credentials for each environment</a:t>
            </a:r>
          </a:p>
        </p:txBody>
      </p:sp>
    </p:spTree>
    <p:extLst>
      <p:ext uri="{BB962C8B-B14F-4D97-AF65-F5344CB8AC3E}">
        <p14:creationId xmlns:p14="http://schemas.microsoft.com/office/powerpoint/2010/main" val="1380079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Managing multiple environments using different state files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185003-435A-407D-9A03-0089E595943A}"/>
              </a:ext>
            </a:extLst>
          </p:cNvPr>
          <p:cNvCxnSpPr/>
          <p:nvPr/>
        </p:nvCxnSpPr>
        <p:spPr>
          <a:xfrm>
            <a:off x="1861457" y="1524000"/>
            <a:ext cx="0" cy="3287486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9E3699-F4E3-4689-A6FF-C4A5CB20DF35}"/>
              </a:ext>
            </a:extLst>
          </p:cNvPr>
          <p:cNvCxnSpPr>
            <a:cxnSpLocks/>
          </p:cNvCxnSpPr>
          <p:nvPr/>
        </p:nvCxnSpPr>
        <p:spPr>
          <a:xfrm>
            <a:off x="1861457" y="2041071"/>
            <a:ext cx="1050471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7C0DA9-04A3-42E1-B3A7-922101FE9BDB}"/>
              </a:ext>
            </a:extLst>
          </p:cNvPr>
          <p:cNvCxnSpPr>
            <a:cxnSpLocks/>
          </p:cNvCxnSpPr>
          <p:nvPr/>
        </p:nvCxnSpPr>
        <p:spPr>
          <a:xfrm>
            <a:off x="1861457" y="2906486"/>
            <a:ext cx="1050471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84CB81-D2F4-4B93-A442-431530F68C41}"/>
              </a:ext>
            </a:extLst>
          </p:cNvPr>
          <p:cNvCxnSpPr>
            <a:cxnSpLocks/>
          </p:cNvCxnSpPr>
          <p:nvPr/>
        </p:nvCxnSpPr>
        <p:spPr>
          <a:xfrm>
            <a:off x="1861457" y="3766457"/>
            <a:ext cx="1050471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9D1107-F994-4336-A0AF-1659AE15B35A}"/>
              </a:ext>
            </a:extLst>
          </p:cNvPr>
          <p:cNvGrpSpPr/>
          <p:nvPr/>
        </p:nvGrpSpPr>
        <p:grpSpPr>
          <a:xfrm>
            <a:off x="2258786" y="4376057"/>
            <a:ext cx="527954" cy="549729"/>
            <a:chOff x="3011714" y="5834742"/>
            <a:chExt cx="703939" cy="732972"/>
          </a:xfrm>
        </p:grpSpPr>
        <p:sp>
          <p:nvSpPr>
            <p:cNvPr id="5" name="Rectangle: Folded Corner 4">
              <a:extLst>
                <a:ext uri="{FF2B5EF4-FFF2-40B4-BE49-F238E27FC236}">
                  <a16:creationId xmlns:a16="http://schemas.microsoft.com/office/drawing/2014/main" id="{D9B97993-0E0C-4C79-A6CF-52F534FD7C2B}"/>
                </a:ext>
              </a:extLst>
            </p:cNvPr>
            <p:cNvSpPr/>
            <p:nvPr/>
          </p:nvSpPr>
          <p:spPr>
            <a:xfrm>
              <a:off x="3011714" y="58347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Rectangle: Folded Corner 12">
              <a:extLst>
                <a:ext uri="{FF2B5EF4-FFF2-40B4-BE49-F238E27FC236}">
                  <a16:creationId xmlns:a16="http://schemas.microsoft.com/office/drawing/2014/main" id="{67AD81BB-D8A7-4A0B-B3C3-062A51A103CC}"/>
                </a:ext>
              </a:extLst>
            </p:cNvPr>
            <p:cNvSpPr/>
            <p:nvPr/>
          </p:nvSpPr>
          <p:spPr>
            <a:xfrm>
              <a:off x="3164114" y="59871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E72703-8DA3-42A0-AD5F-BB3ACDC6868D}"/>
              </a:ext>
            </a:extLst>
          </p:cNvPr>
          <p:cNvGrpSpPr/>
          <p:nvPr/>
        </p:nvGrpSpPr>
        <p:grpSpPr>
          <a:xfrm>
            <a:off x="3624943" y="3826328"/>
            <a:ext cx="527954" cy="549729"/>
            <a:chOff x="3011714" y="5834742"/>
            <a:chExt cx="703939" cy="732972"/>
          </a:xfrm>
        </p:grpSpPr>
        <p:sp>
          <p:nvSpPr>
            <p:cNvPr id="15" name="Rectangle: Folded Corner 14">
              <a:extLst>
                <a:ext uri="{FF2B5EF4-FFF2-40B4-BE49-F238E27FC236}">
                  <a16:creationId xmlns:a16="http://schemas.microsoft.com/office/drawing/2014/main" id="{2091F36C-97B4-417A-9179-69D61CFB74B8}"/>
                </a:ext>
              </a:extLst>
            </p:cNvPr>
            <p:cNvSpPr/>
            <p:nvPr/>
          </p:nvSpPr>
          <p:spPr>
            <a:xfrm>
              <a:off x="3011714" y="58347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6" name="Rectangle: Folded Corner 15">
              <a:extLst>
                <a:ext uri="{FF2B5EF4-FFF2-40B4-BE49-F238E27FC236}">
                  <a16:creationId xmlns:a16="http://schemas.microsoft.com/office/drawing/2014/main" id="{E651828C-842F-4154-9E10-C7BCE9D3853F}"/>
                </a:ext>
              </a:extLst>
            </p:cNvPr>
            <p:cNvSpPr/>
            <p:nvPr/>
          </p:nvSpPr>
          <p:spPr>
            <a:xfrm>
              <a:off x="3164114" y="59871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4EB203F-9793-4B19-BC71-E0EF5A111F88}"/>
              </a:ext>
            </a:extLst>
          </p:cNvPr>
          <p:cNvGrpSpPr/>
          <p:nvPr/>
        </p:nvGrpSpPr>
        <p:grpSpPr>
          <a:xfrm>
            <a:off x="3624943" y="2879271"/>
            <a:ext cx="527954" cy="549729"/>
            <a:chOff x="3011714" y="5834742"/>
            <a:chExt cx="703939" cy="732972"/>
          </a:xfrm>
        </p:grpSpPr>
        <p:sp>
          <p:nvSpPr>
            <p:cNvPr id="18" name="Rectangle: Folded Corner 17">
              <a:extLst>
                <a:ext uri="{FF2B5EF4-FFF2-40B4-BE49-F238E27FC236}">
                  <a16:creationId xmlns:a16="http://schemas.microsoft.com/office/drawing/2014/main" id="{64A2441E-C7B2-4368-92A5-E8787C940BB0}"/>
                </a:ext>
              </a:extLst>
            </p:cNvPr>
            <p:cNvSpPr/>
            <p:nvPr/>
          </p:nvSpPr>
          <p:spPr>
            <a:xfrm>
              <a:off x="3011714" y="58347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9" name="Rectangle: Folded Corner 18">
              <a:extLst>
                <a:ext uri="{FF2B5EF4-FFF2-40B4-BE49-F238E27FC236}">
                  <a16:creationId xmlns:a16="http://schemas.microsoft.com/office/drawing/2014/main" id="{9779E794-DBCD-40B4-87A4-DF01FFFA200C}"/>
                </a:ext>
              </a:extLst>
            </p:cNvPr>
            <p:cNvSpPr/>
            <p:nvPr/>
          </p:nvSpPr>
          <p:spPr>
            <a:xfrm>
              <a:off x="3164114" y="59871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F620D5-71BA-4CE3-A35D-C4FAF53B1D17}"/>
              </a:ext>
            </a:extLst>
          </p:cNvPr>
          <p:cNvGrpSpPr/>
          <p:nvPr/>
        </p:nvGrpSpPr>
        <p:grpSpPr>
          <a:xfrm>
            <a:off x="3624943" y="1997528"/>
            <a:ext cx="527954" cy="549729"/>
            <a:chOff x="3011714" y="5834742"/>
            <a:chExt cx="703939" cy="732972"/>
          </a:xfrm>
        </p:grpSpPr>
        <p:sp>
          <p:nvSpPr>
            <p:cNvPr id="21" name="Rectangle: Folded Corner 20">
              <a:extLst>
                <a:ext uri="{FF2B5EF4-FFF2-40B4-BE49-F238E27FC236}">
                  <a16:creationId xmlns:a16="http://schemas.microsoft.com/office/drawing/2014/main" id="{CFC619CA-DD5D-45E1-A3C7-6F6FD95281C2}"/>
                </a:ext>
              </a:extLst>
            </p:cNvPr>
            <p:cNvSpPr/>
            <p:nvPr/>
          </p:nvSpPr>
          <p:spPr>
            <a:xfrm>
              <a:off x="3011714" y="58347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2" name="Rectangle: Folded Corner 21">
              <a:extLst>
                <a:ext uri="{FF2B5EF4-FFF2-40B4-BE49-F238E27FC236}">
                  <a16:creationId xmlns:a16="http://schemas.microsoft.com/office/drawing/2014/main" id="{40884699-AF2E-48E9-A825-79A4D06F9471}"/>
                </a:ext>
              </a:extLst>
            </p:cNvPr>
            <p:cNvSpPr/>
            <p:nvPr/>
          </p:nvSpPr>
          <p:spPr>
            <a:xfrm>
              <a:off x="3164114" y="59871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6B9122A-535F-4F9E-8FC1-9BC291C4F74C}"/>
              </a:ext>
            </a:extLst>
          </p:cNvPr>
          <p:cNvSpPr txBox="1"/>
          <p:nvPr/>
        </p:nvSpPr>
        <p:spPr>
          <a:xfrm>
            <a:off x="2949560" y="1867946"/>
            <a:ext cx="4451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dev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B7503-7858-402E-8712-50934431CAB0}"/>
              </a:ext>
            </a:extLst>
          </p:cNvPr>
          <p:cNvSpPr txBox="1"/>
          <p:nvPr/>
        </p:nvSpPr>
        <p:spPr>
          <a:xfrm>
            <a:off x="2922509" y="2726601"/>
            <a:ext cx="4694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UAT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464FFA-3FAC-42D5-BF06-386F9210C6B3}"/>
              </a:ext>
            </a:extLst>
          </p:cNvPr>
          <p:cNvSpPr txBox="1"/>
          <p:nvPr/>
        </p:nvSpPr>
        <p:spPr>
          <a:xfrm>
            <a:off x="2949561" y="3585256"/>
            <a:ext cx="5223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prod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519E33-E670-41B6-9EB1-FE6AC1DBD994}"/>
              </a:ext>
            </a:extLst>
          </p:cNvPr>
          <p:cNvSpPr txBox="1"/>
          <p:nvPr/>
        </p:nvSpPr>
        <p:spPr>
          <a:xfrm>
            <a:off x="2534345" y="4826767"/>
            <a:ext cx="12427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main_config.tf</a:t>
            </a:r>
          </a:p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common.tfvars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E91559-4ECC-4E96-B61C-AE21E08884F5}"/>
              </a:ext>
            </a:extLst>
          </p:cNvPr>
          <p:cNvSpPr txBox="1"/>
          <p:nvPr/>
        </p:nvSpPr>
        <p:spPr>
          <a:xfrm>
            <a:off x="4267198" y="2087168"/>
            <a:ext cx="86203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dev.tfvars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dev.state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5DD65D-DA64-405E-AD2C-C0E865813F4F}"/>
              </a:ext>
            </a:extLst>
          </p:cNvPr>
          <p:cNvSpPr txBox="1"/>
          <p:nvPr/>
        </p:nvSpPr>
        <p:spPr>
          <a:xfrm>
            <a:off x="4267198" y="2993572"/>
            <a:ext cx="8513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uat.tfvars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uat.state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DB7D59-1D01-4F07-9D2E-F35E1F1B4B52}"/>
              </a:ext>
            </a:extLst>
          </p:cNvPr>
          <p:cNvSpPr txBox="1"/>
          <p:nvPr/>
        </p:nvSpPr>
        <p:spPr>
          <a:xfrm>
            <a:off x="4223842" y="4043711"/>
            <a:ext cx="952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prod.tfvars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prod.state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B18C8D-2A9A-42F8-9BC4-89DDC4EE13CB}"/>
              </a:ext>
            </a:extLst>
          </p:cNvPr>
          <p:cNvSpPr/>
          <p:nvPr/>
        </p:nvSpPr>
        <p:spPr>
          <a:xfrm>
            <a:off x="5427425" y="1850570"/>
            <a:ext cx="6599222" cy="1317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terraform plan -state=".\dev\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dev.state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-var-file="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common.tfvars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-var-file=".\dev\</a:t>
            </a:r>
            <a:r>
              <a:rPr lang="en-GB" sz="13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dev.tfvars</a:t>
            </a:r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613302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Managing multiple environments using workspaces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817AB4E1-0C33-41B1-A15C-394396CB5E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839" y="398925"/>
            <a:ext cx="1196192" cy="50287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185003-435A-407D-9A03-0089E595943A}"/>
              </a:ext>
            </a:extLst>
          </p:cNvPr>
          <p:cNvCxnSpPr/>
          <p:nvPr/>
        </p:nvCxnSpPr>
        <p:spPr>
          <a:xfrm>
            <a:off x="1212866" y="1542186"/>
            <a:ext cx="0" cy="3287486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9E3699-F4E3-4689-A6FF-C4A5CB20DF35}"/>
              </a:ext>
            </a:extLst>
          </p:cNvPr>
          <p:cNvCxnSpPr>
            <a:cxnSpLocks/>
          </p:cNvCxnSpPr>
          <p:nvPr/>
        </p:nvCxnSpPr>
        <p:spPr>
          <a:xfrm>
            <a:off x="1212866" y="2059257"/>
            <a:ext cx="587828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7C0DA9-04A3-42E1-B3A7-922101FE9BDB}"/>
              </a:ext>
            </a:extLst>
          </p:cNvPr>
          <p:cNvCxnSpPr>
            <a:cxnSpLocks/>
          </p:cNvCxnSpPr>
          <p:nvPr/>
        </p:nvCxnSpPr>
        <p:spPr>
          <a:xfrm>
            <a:off x="2023848" y="3261589"/>
            <a:ext cx="602449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84CB81-D2F4-4B93-A442-431530F68C41}"/>
              </a:ext>
            </a:extLst>
          </p:cNvPr>
          <p:cNvCxnSpPr>
            <a:cxnSpLocks/>
          </p:cNvCxnSpPr>
          <p:nvPr/>
        </p:nvCxnSpPr>
        <p:spPr>
          <a:xfrm>
            <a:off x="2023848" y="3937532"/>
            <a:ext cx="602449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9D1107-F994-4336-A0AF-1659AE15B35A}"/>
              </a:ext>
            </a:extLst>
          </p:cNvPr>
          <p:cNvGrpSpPr/>
          <p:nvPr/>
        </p:nvGrpSpPr>
        <p:grpSpPr>
          <a:xfrm>
            <a:off x="1610194" y="4394243"/>
            <a:ext cx="527954" cy="549729"/>
            <a:chOff x="3011714" y="5834742"/>
            <a:chExt cx="703939" cy="732972"/>
          </a:xfrm>
        </p:grpSpPr>
        <p:sp>
          <p:nvSpPr>
            <p:cNvPr id="5" name="Rectangle: Folded Corner 4">
              <a:extLst>
                <a:ext uri="{FF2B5EF4-FFF2-40B4-BE49-F238E27FC236}">
                  <a16:creationId xmlns:a16="http://schemas.microsoft.com/office/drawing/2014/main" id="{D9B97993-0E0C-4C79-A6CF-52F534FD7C2B}"/>
                </a:ext>
              </a:extLst>
            </p:cNvPr>
            <p:cNvSpPr/>
            <p:nvPr/>
          </p:nvSpPr>
          <p:spPr>
            <a:xfrm>
              <a:off x="3011714" y="58347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Rectangle: Folded Corner 12">
              <a:extLst>
                <a:ext uri="{FF2B5EF4-FFF2-40B4-BE49-F238E27FC236}">
                  <a16:creationId xmlns:a16="http://schemas.microsoft.com/office/drawing/2014/main" id="{67AD81BB-D8A7-4A0B-B3C3-062A51A103CC}"/>
                </a:ext>
              </a:extLst>
            </p:cNvPr>
            <p:cNvSpPr/>
            <p:nvPr/>
          </p:nvSpPr>
          <p:spPr>
            <a:xfrm>
              <a:off x="3164114" y="5987142"/>
              <a:ext cx="551539" cy="580572"/>
            </a:xfrm>
            <a:prstGeom prst="foldedCorner">
              <a:avLst>
                <a:gd name="adj" fmla="val 4035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40884699-AF2E-48E9-A825-79A4D06F9471}"/>
              </a:ext>
            </a:extLst>
          </p:cNvPr>
          <p:cNvSpPr/>
          <p:nvPr/>
        </p:nvSpPr>
        <p:spPr>
          <a:xfrm>
            <a:off x="3198886" y="3185929"/>
            <a:ext cx="332159" cy="304920"/>
          </a:xfrm>
          <a:prstGeom prst="foldedCorner">
            <a:avLst>
              <a:gd name="adj" fmla="val 403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B9122A-535F-4F9E-8FC1-9BC291C4F74C}"/>
              </a:ext>
            </a:extLst>
          </p:cNvPr>
          <p:cNvSpPr txBox="1"/>
          <p:nvPr/>
        </p:nvSpPr>
        <p:spPr>
          <a:xfrm>
            <a:off x="1834778" y="1864360"/>
            <a:ext cx="152291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 err="1">
                <a:latin typeface="Calibri" panose="020F0502020204030204" pitchFamily="34" charset="0"/>
                <a:cs typeface="Calibri" panose="020F0502020204030204" pitchFamily="34" charset="0"/>
              </a:rPr>
              <a:t>terraform.tfstate.d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B7503-7858-402E-8712-50934431CAB0}"/>
              </a:ext>
            </a:extLst>
          </p:cNvPr>
          <p:cNvSpPr txBox="1"/>
          <p:nvPr/>
        </p:nvSpPr>
        <p:spPr>
          <a:xfrm>
            <a:off x="2641364" y="3098425"/>
            <a:ext cx="4694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UAT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464FFA-3FAC-42D5-BF06-386F9210C6B3}"/>
              </a:ext>
            </a:extLst>
          </p:cNvPr>
          <p:cNvSpPr txBox="1"/>
          <p:nvPr/>
        </p:nvSpPr>
        <p:spPr>
          <a:xfrm>
            <a:off x="2618896" y="3764407"/>
            <a:ext cx="5223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prod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519E33-E670-41B6-9EB1-FE6AC1DBD994}"/>
              </a:ext>
            </a:extLst>
          </p:cNvPr>
          <p:cNvSpPr txBox="1"/>
          <p:nvPr/>
        </p:nvSpPr>
        <p:spPr>
          <a:xfrm>
            <a:off x="1885754" y="4844953"/>
            <a:ext cx="12427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main_config.tf</a:t>
            </a:r>
          </a:p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common.tfvars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E91559-4ECC-4E96-B61C-AE21E08884F5}"/>
              </a:ext>
            </a:extLst>
          </p:cNvPr>
          <p:cNvSpPr txBox="1"/>
          <p:nvPr/>
        </p:nvSpPr>
        <p:spPr>
          <a:xfrm>
            <a:off x="3531045" y="3324428"/>
            <a:ext cx="1360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terraform.tfstate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B18C8D-2A9A-42F8-9BC4-89DDC4EE13CB}"/>
              </a:ext>
            </a:extLst>
          </p:cNvPr>
          <p:cNvSpPr/>
          <p:nvPr/>
        </p:nvSpPr>
        <p:spPr>
          <a:xfrm>
            <a:off x="5184182" y="3937532"/>
            <a:ext cx="6599222" cy="2602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#create a workspace</a:t>
            </a:r>
          </a:p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terraform workspace new development</a:t>
            </a: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#this creates subfolders and also switches context to the workspace</a:t>
            </a:r>
          </a:p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terraform plan –out </a:t>
            </a:r>
            <a:r>
              <a:rPr lang="en-GB" sz="13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dev.tfplan</a:t>
            </a:r>
            <a:endParaRPr lang="en-GB" sz="13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terraform apply </a:t>
            </a:r>
            <a:r>
              <a:rPr lang="en-GB" sz="135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dev.tfplan</a:t>
            </a:r>
            <a:endParaRPr lang="en-GB" sz="13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#this will create the resources and create the state file under the respective workspace sub folder</a:t>
            </a: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35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12A86E-DE65-4B8E-90EC-AB4B92780375}"/>
              </a:ext>
            </a:extLst>
          </p:cNvPr>
          <p:cNvCxnSpPr>
            <a:cxnSpLocks/>
          </p:cNvCxnSpPr>
          <p:nvPr/>
        </p:nvCxnSpPr>
        <p:spPr>
          <a:xfrm>
            <a:off x="2023848" y="2614428"/>
            <a:ext cx="602449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A442EF-344D-4F5C-BD62-F835FD022171}"/>
              </a:ext>
            </a:extLst>
          </p:cNvPr>
          <p:cNvCxnSpPr>
            <a:cxnSpLocks/>
          </p:cNvCxnSpPr>
          <p:nvPr/>
        </p:nvCxnSpPr>
        <p:spPr>
          <a:xfrm>
            <a:off x="2023848" y="2232381"/>
            <a:ext cx="0" cy="1746108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621D84B-DE88-44D2-B25A-F69A52C2C096}"/>
              </a:ext>
            </a:extLst>
          </p:cNvPr>
          <p:cNvSpPr txBox="1"/>
          <p:nvPr/>
        </p:nvSpPr>
        <p:spPr>
          <a:xfrm>
            <a:off x="2626297" y="2441303"/>
            <a:ext cx="11376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A7FB21-07C7-4D27-A5B2-DF0F9C89FD0E}"/>
              </a:ext>
            </a:extLst>
          </p:cNvPr>
          <p:cNvSpPr txBox="1"/>
          <p:nvPr/>
        </p:nvSpPr>
        <p:spPr>
          <a:xfrm>
            <a:off x="4224865" y="2848159"/>
            <a:ext cx="1360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terraform.tfstate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: Folded Corner 39">
            <a:extLst>
              <a:ext uri="{FF2B5EF4-FFF2-40B4-BE49-F238E27FC236}">
                <a16:creationId xmlns:a16="http://schemas.microsoft.com/office/drawing/2014/main" id="{9BA23CBD-6370-407D-966A-2F8DB422DE41}"/>
              </a:ext>
            </a:extLst>
          </p:cNvPr>
          <p:cNvSpPr/>
          <p:nvPr/>
        </p:nvSpPr>
        <p:spPr>
          <a:xfrm>
            <a:off x="3167229" y="4020424"/>
            <a:ext cx="332159" cy="304920"/>
          </a:xfrm>
          <a:prstGeom prst="foldedCorner">
            <a:avLst>
              <a:gd name="adj" fmla="val 403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8929872F-FDBB-422D-AD69-6FBAF41E03E0}"/>
              </a:ext>
            </a:extLst>
          </p:cNvPr>
          <p:cNvSpPr/>
          <p:nvPr/>
        </p:nvSpPr>
        <p:spPr>
          <a:xfrm>
            <a:off x="3906491" y="2713327"/>
            <a:ext cx="332159" cy="304920"/>
          </a:xfrm>
          <a:prstGeom prst="foldedCorner">
            <a:avLst>
              <a:gd name="adj" fmla="val 403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9FD0F3-5AFB-40EB-9EA3-4B43E6F8C43F}"/>
              </a:ext>
            </a:extLst>
          </p:cNvPr>
          <p:cNvSpPr txBox="1"/>
          <p:nvPr/>
        </p:nvSpPr>
        <p:spPr>
          <a:xfrm>
            <a:off x="3058648" y="4330162"/>
            <a:ext cx="1360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terraform.tfstate</a:t>
            </a:r>
            <a:endParaRPr lang="en-GB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609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4: Use workspaces to create dev and </a:t>
            </a:r>
            <a:r>
              <a:rPr lang="en-US" sz="2850" dirty="0" err="1">
                <a:solidFill>
                  <a:schemeClr val="tx2"/>
                </a:solidFill>
              </a:rPr>
              <a:t>uat</a:t>
            </a:r>
            <a:r>
              <a:rPr lang="en-US" sz="2850" dirty="0">
                <a:solidFill>
                  <a:schemeClr val="tx2"/>
                </a:solidFill>
              </a:rPr>
              <a:t> environments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109277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Create configuration scripts using workspaces to achieve the following: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6B41DE5-9577-4BAB-A44D-5C2068A6BF41}"/>
              </a:ext>
            </a:extLst>
          </p:cNvPr>
          <p:cNvGraphicFramePr>
            <a:graphicFrameLocks noGrp="1"/>
          </p:cNvGraphicFramePr>
          <p:nvPr/>
        </p:nvGraphicFramePr>
        <p:xfrm>
          <a:off x="651903" y="1826500"/>
          <a:ext cx="8821839" cy="248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2948">
                  <a:extLst>
                    <a:ext uri="{9D8B030D-6E8A-4147-A177-3AD203B41FA5}">
                      <a16:colId xmlns:a16="http://schemas.microsoft.com/office/drawing/2014/main" val="2220598288"/>
                    </a:ext>
                  </a:extLst>
                </a:gridCol>
                <a:gridCol w="4508891">
                  <a:extLst>
                    <a:ext uri="{9D8B030D-6E8A-4147-A177-3AD203B41FA5}">
                      <a16:colId xmlns:a16="http://schemas.microsoft.com/office/drawing/2014/main" val="227750133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Development</a:t>
                      </a:r>
                      <a:endParaRPr lang="en-GB" sz="14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UAT</a:t>
                      </a:r>
                      <a:endParaRPr lang="en-GB" sz="14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638231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VPC CIDR: 10.0.0.0/16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VPC Tagged with name “development-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vpc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public subnet tagged with name “development-subnet1”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Internet Gateway tagged with name “development-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igw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Route table tagged with name “development-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rtb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 with public route to internet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Route table association associating the route table to the public subnet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VPC CIDR: 10.1.0.0/16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VPC Tagged with name “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uat-vpc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public subnets tagged with name “uat-subnet1” and “uat-subnet2” created in AZ1 and AZ2 respectively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Internet Gateway tagged with name “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uat-igw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Route table tagged with name “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uat-rtb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 with public route to internet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Two Route table associations associating the route table to both the public subnets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2643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549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Secrets Options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C682B70-565D-45CA-A303-E3AF5AAAFB72}"/>
              </a:ext>
            </a:extLst>
          </p:cNvPr>
          <p:cNvSpPr txBox="1">
            <a:spLocks/>
          </p:cNvSpPr>
          <p:nvPr/>
        </p:nvSpPr>
        <p:spPr>
          <a:xfrm>
            <a:off x="351787" y="3995181"/>
            <a:ext cx="10169738" cy="16437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file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Either stored within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tfvars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or injected as a command line argument using -var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variables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Stored in specific environment variables in Power Shell or Linux Bash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Secrets Management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Makes use of a vault management service to provision temporary credentials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60BF5-3100-4837-829F-A15ACB7379ED}"/>
              </a:ext>
            </a:extLst>
          </p:cNvPr>
          <p:cNvSpPr/>
          <p:nvPr/>
        </p:nvSpPr>
        <p:spPr>
          <a:xfrm>
            <a:off x="602159" y="1937658"/>
            <a:ext cx="2641785" cy="112122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file</a:t>
            </a:r>
            <a:endParaRPr lang="en-GB" sz="19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45A1D-0B76-4756-82B4-3EA1AB52A5E6}"/>
              </a:ext>
            </a:extLst>
          </p:cNvPr>
          <p:cNvSpPr/>
          <p:nvPr/>
        </p:nvSpPr>
        <p:spPr>
          <a:xfrm>
            <a:off x="4120724" y="1924020"/>
            <a:ext cx="2641785" cy="111584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variables</a:t>
            </a:r>
            <a:endParaRPr lang="en-GB" sz="19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0E0DC2-0D40-4768-9BB7-248EF0262ACE}"/>
              </a:ext>
            </a:extLst>
          </p:cNvPr>
          <p:cNvSpPr/>
          <p:nvPr/>
        </p:nvSpPr>
        <p:spPr>
          <a:xfrm>
            <a:off x="7503701" y="1924021"/>
            <a:ext cx="2641787" cy="11212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5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Secrets Management</a:t>
            </a:r>
            <a:endParaRPr lang="en-GB" sz="195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984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Environment Variables [E.g. from AWS]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C682B70-565D-45CA-A303-E3AF5AAAFB72}"/>
              </a:ext>
            </a:extLst>
          </p:cNvPr>
          <p:cNvSpPr txBox="1">
            <a:spLocks/>
          </p:cNvSpPr>
          <p:nvPr/>
        </p:nvSpPr>
        <p:spPr>
          <a:xfrm>
            <a:off x="356748" y="1369713"/>
            <a:ext cx="10169738" cy="4650087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9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AWS_ACCESS_KEY_ID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9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AWS_SECRET_ACCESS_KEY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9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AWS_SHARED_CREDENTIALS_FILE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9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AWS_PROFILE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#Power Shell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FF9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$env: AWS_ACCESS_KEY_ID = "AAAFGGJ45769700GHY"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#Linux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FF9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 AWS_ACCESS_KEY_ID="AAAFGGJ45769700GHY"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266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E51C7F-B1BC-4BBA-A40F-F195558E9A44}"/>
              </a:ext>
            </a:extLst>
          </p:cNvPr>
          <p:cNvSpPr/>
          <p:nvPr/>
        </p:nvSpPr>
        <p:spPr>
          <a:xfrm>
            <a:off x="8644261" y="1828802"/>
            <a:ext cx="1643744" cy="2671439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35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AWS</a:t>
            </a:r>
            <a:endParaRPr lang="en-GB" sz="135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Using a vault (e.g. Terraform Vault)</a:t>
            </a:r>
          </a:p>
        </p:txBody>
      </p:sp>
      <p:pic>
        <p:nvPicPr>
          <p:cNvPr id="3" name="Graphic 2" descr="Single gear">
            <a:extLst>
              <a:ext uri="{FF2B5EF4-FFF2-40B4-BE49-F238E27FC236}">
                <a16:creationId xmlns:a16="http://schemas.microsoft.com/office/drawing/2014/main" id="{69A907AB-AFFA-4C77-8981-C2B79B8FA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2085" y="2324018"/>
            <a:ext cx="963386" cy="963386"/>
          </a:xfrm>
          <a:prstGeom prst="rect">
            <a:avLst/>
          </a:prstGeom>
        </p:spPr>
      </p:pic>
      <p:pic>
        <p:nvPicPr>
          <p:cNvPr id="10" name="Graphic 9" descr="Safe">
            <a:extLst>
              <a:ext uri="{FF2B5EF4-FFF2-40B4-BE49-F238E27FC236}">
                <a16:creationId xmlns:a16="http://schemas.microsoft.com/office/drawing/2014/main" id="{AFD2B3A4-42B0-48D2-8B69-C129F38FB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9640" y="2283197"/>
            <a:ext cx="1074044" cy="1074044"/>
          </a:xfrm>
          <a:prstGeom prst="rect">
            <a:avLst/>
          </a:prstGeom>
        </p:spPr>
      </p:pic>
      <p:pic>
        <p:nvPicPr>
          <p:cNvPr id="13" name="Graphic 12" descr="Syncing cloud">
            <a:extLst>
              <a:ext uri="{FF2B5EF4-FFF2-40B4-BE49-F238E27FC236}">
                <a16:creationId xmlns:a16="http://schemas.microsoft.com/office/drawing/2014/main" id="{602FE738-E5C0-409C-B185-0F8F720DC5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9098" y="2269287"/>
            <a:ext cx="1054071" cy="1054071"/>
          </a:xfrm>
          <a:prstGeom prst="rect">
            <a:avLst/>
          </a:prstGeom>
        </p:spPr>
      </p:pic>
      <p:pic>
        <p:nvPicPr>
          <p:cNvPr id="15" name="Graphic 14" descr="Employee badge">
            <a:extLst>
              <a:ext uri="{FF2B5EF4-FFF2-40B4-BE49-F238E27FC236}">
                <a16:creationId xmlns:a16="http://schemas.microsoft.com/office/drawing/2014/main" id="{7E8E47D5-F367-423F-8355-BF90F10040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23233" y="3668466"/>
            <a:ext cx="685800" cy="685800"/>
          </a:xfrm>
          <a:prstGeom prst="rect">
            <a:avLst/>
          </a:prstGeom>
        </p:spPr>
      </p:pic>
      <p:pic>
        <p:nvPicPr>
          <p:cNvPr id="17" name="Graphic 16" descr="Hourglass">
            <a:extLst>
              <a:ext uri="{FF2B5EF4-FFF2-40B4-BE49-F238E27FC236}">
                <a16:creationId xmlns:a16="http://schemas.microsoft.com/office/drawing/2014/main" id="{6468880E-E728-4198-BAD9-3F35361184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10508" y="3781950"/>
            <a:ext cx="685800" cy="6858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0C31AA-41C2-4E6C-930D-594E9531D981}"/>
              </a:ext>
            </a:extLst>
          </p:cNvPr>
          <p:cNvSpPr/>
          <p:nvPr/>
        </p:nvSpPr>
        <p:spPr>
          <a:xfrm>
            <a:off x="831835" y="1861219"/>
            <a:ext cx="1643744" cy="2673481"/>
          </a:xfrm>
          <a:prstGeom prst="roundRect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35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</a:t>
            </a:r>
            <a:endParaRPr lang="en-GB" sz="135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5B2040E-A018-406E-8FF8-946528D8B77A}"/>
              </a:ext>
            </a:extLst>
          </p:cNvPr>
          <p:cNvSpPr/>
          <p:nvPr/>
        </p:nvSpPr>
        <p:spPr>
          <a:xfrm>
            <a:off x="4631536" y="1826761"/>
            <a:ext cx="1643744" cy="2671439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35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Vault</a:t>
            </a:r>
            <a:endParaRPr lang="en-GB" sz="135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Graphic 20" descr="Employee badge">
            <a:extLst>
              <a:ext uri="{FF2B5EF4-FFF2-40B4-BE49-F238E27FC236}">
                <a16:creationId xmlns:a16="http://schemas.microsoft.com/office/drawing/2014/main" id="{9E8233DB-DE2B-4657-AD6C-E7B93B6FF1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0530" y="3668466"/>
            <a:ext cx="685800" cy="6858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BDCA61-2399-46FF-9A58-7CFEE82DEE2D}"/>
              </a:ext>
            </a:extLst>
          </p:cNvPr>
          <p:cNvCxnSpPr/>
          <p:nvPr/>
        </p:nvCxnSpPr>
        <p:spPr>
          <a:xfrm>
            <a:off x="2656199" y="2820219"/>
            <a:ext cx="17090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AE16ACE-9D61-44DD-8E61-DE5413970860}"/>
              </a:ext>
            </a:extLst>
          </p:cNvPr>
          <p:cNvCxnSpPr/>
          <p:nvPr/>
        </p:nvCxnSpPr>
        <p:spPr>
          <a:xfrm>
            <a:off x="6591385" y="2820219"/>
            <a:ext cx="17090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BD2141-96F8-49E4-B3BB-304828027FF2}"/>
              </a:ext>
            </a:extLst>
          </p:cNvPr>
          <p:cNvCxnSpPr>
            <a:cxnSpLocks/>
          </p:cNvCxnSpPr>
          <p:nvPr/>
        </p:nvCxnSpPr>
        <p:spPr>
          <a:xfrm flipH="1">
            <a:off x="6674620" y="4011366"/>
            <a:ext cx="162582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FDB2A8-EF68-45E0-B119-E1BA061BCF44}"/>
              </a:ext>
            </a:extLst>
          </p:cNvPr>
          <p:cNvCxnSpPr>
            <a:cxnSpLocks/>
          </p:cNvCxnSpPr>
          <p:nvPr/>
        </p:nvCxnSpPr>
        <p:spPr>
          <a:xfrm>
            <a:off x="9466133" y="3186471"/>
            <a:ext cx="0" cy="5954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D11A88-3393-4ECA-B77F-1E5F58F546E0}"/>
              </a:ext>
            </a:extLst>
          </p:cNvPr>
          <p:cNvCxnSpPr>
            <a:cxnSpLocks/>
          </p:cNvCxnSpPr>
          <p:nvPr/>
        </p:nvCxnSpPr>
        <p:spPr>
          <a:xfrm flipH="1">
            <a:off x="2739434" y="4011366"/>
            <a:ext cx="162582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4105108-76E7-4EAE-8A81-1FF01AAC860A}"/>
              </a:ext>
            </a:extLst>
          </p:cNvPr>
          <p:cNvSpPr txBox="1"/>
          <p:nvPr/>
        </p:nvSpPr>
        <p:spPr>
          <a:xfrm>
            <a:off x="2685245" y="2352217"/>
            <a:ext cx="179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1. Request credentials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to run configuration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14E2EF-CD00-4822-8976-1E81BF8FDA69}"/>
              </a:ext>
            </a:extLst>
          </p:cNvPr>
          <p:cNvSpPr txBox="1"/>
          <p:nvPr/>
        </p:nvSpPr>
        <p:spPr>
          <a:xfrm>
            <a:off x="6614537" y="2336294"/>
            <a:ext cx="179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2. Request temporary credentials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90082F-0D7F-400A-85D2-E91C5F9C1434}"/>
              </a:ext>
            </a:extLst>
          </p:cNvPr>
          <p:cNvSpPr txBox="1"/>
          <p:nvPr/>
        </p:nvSpPr>
        <p:spPr>
          <a:xfrm>
            <a:off x="9645728" y="3193318"/>
            <a:ext cx="179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3. Create temporary credentials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FF42D3-5671-4A4C-B7C6-61FE6A00AEE5}"/>
              </a:ext>
            </a:extLst>
          </p:cNvPr>
          <p:cNvSpPr txBox="1"/>
          <p:nvPr/>
        </p:nvSpPr>
        <p:spPr>
          <a:xfrm>
            <a:off x="6636204" y="4127957"/>
            <a:ext cx="179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4. Return temporary credentials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472634-AB4A-4B44-B430-F26A63363A30}"/>
              </a:ext>
            </a:extLst>
          </p:cNvPr>
          <p:cNvSpPr txBox="1"/>
          <p:nvPr/>
        </p:nvSpPr>
        <p:spPr>
          <a:xfrm>
            <a:off x="4679456" y="4566538"/>
            <a:ext cx="179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5. Assign a lease to the credentials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7B968B-856F-4DD1-92AE-5FB62D108130}"/>
              </a:ext>
            </a:extLst>
          </p:cNvPr>
          <p:cNvSpPr txBox="1"/>
          <p:nvPr/>
        </p:nvSpPr>
        <p:spPr>
          <a:xfrm>
            <a:off x="2643785" y="4161453"/>
            <a:ext cx="179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6. Return credentials to execute configuration</a:t>
            </a: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10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Terraform modules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460663" y="1991140"/>
            <a:ext cx="5423565" cy="32013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 of Modules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 of a Module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of Parent and Child Module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991140"/>
            <a:ext cx="152651" cy="32013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4235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Overview of Modules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272685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Modules are containers for multiple resources that are used together.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Promotes code reuse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Modules can reside locally or in a remote location such as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BitBucket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7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 has a registry with useful modules contributed by the community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Root Module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the main module that can invoke 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 modules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possible to version modules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Provider Inheritance – child modules can inherit provider from parent or parent can explicitly dictate which providers are available for use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 modules can be called multiple times within the same configuration</a:t>
            </a:r>
          </a:p>
          <a:p>
            <a:pPr lvl="1"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4822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Using Modules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32949" y="1272685"/>
            <a:ext cx="10169738" cy="4312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 Blocks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for calling a child module from parent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 source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Describes how to specify the source attribute in Module block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 arguments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 arguments that can be used in the module block –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depends_on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count, provider,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for_each</a:t>
            </a: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5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Module blocks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-63278" y="1310930"/>
            <a:ext cx="11490082" cy="46114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for calling a child module with specific values for its input variables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 after the “module” keyword is a name used to refer to the module instance in the calling module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</a:t>
            </a:r>
          </a:p>
          <a:p>
            <a:pPr lvl="2">
              <a:lnSpc>
                <a:spcPct val="150000"/>
              </a:lnSpc>
            </a:pPr>
            <a:r>
              <a:rPr lang="en-US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location of the module</a:t>
            </a:r>
          </a:p>
          <a:p>
            <a:pPr lvl="2">
              <a:lnSpc>
                <a:spcPct val="150000"/>
              </a:lnSpc>
            </a:pPr>
            <a:r>
              <a:rPr lang="en-US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only supported for modules sourced from registries</a:t>
            </a:r>
          </a:p>
          <a:p>
            <a:pPr lvl="2">
              <a:lnSpc>
                <a:spcPct val="150000"/>
              </a:lnSpc>
            </a:pPr>
            <a:r>
              <a:rPr lang="en-US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variables</a:t>
            </a:r>
          </a:p>
          <a:p>
            <a:pPr lvl="2">
              <a:lnSpc>
                <a:spcPct val="150000"/>
              </a:lnSpc>
            </a:pPr>
            <a:r>
              <a:rPr lang="en-US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Meta-arguments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lvl="1">
              <a:lnSpc>
                <a:spcPct val="150000"/>
              </a:lnSpc>
            </a:pP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116FA-1B26-4529-AA56-1F76DFEE3ABB}"/>
              </a:ext>
            </a:extLst>
          </p:cNvPr>
          <p:cNvSpPr/>
          <p:nvPr/>
        </p:nvSpPr>
        <p:spPr>
          <a:xfrm>
            <a:off x="6876088" y="4794318"/>
            <a:ext cx="4448846" cy="1505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9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#Create module bucket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“</a:t>
            </a:r>
            <a:r>
              <a:rPr lang="en-GB" sz="19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testbucket</a:t>
            </a:r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"</a:t>
            </a:r>
            <a:r>
              <a:rPr lang="en-GB" sz="19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MyBucket</a:t>
            </a:r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 = ".\\Modules\\s3"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8336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Module sources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-63278" y="1310929"/>
            <a:ext cx="11490082" cy="4970999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source argument in a module block tells Terraform where to find the source code for the desired child module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this during the module installation step of terraform 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download to local working area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Several sources supported: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paths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Terraform Registry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Bitbucket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Generic Git, Mercurial repositories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 URLs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S3 buckets</a:t>
            </a:r>
          </a:p>
          <a:p>
            <a:pPr marL="457189" lvl="1" indent="0">
              <a:lnSpc>
                <a:spcPct val="150000"/>
              </a:lnSpc>
              <a:buNone/>
            </a:pP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9711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Module providers meta-argument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-63278" y="1310929"/>
            <a:ext cx="11490082" cy="4970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Specifies which provider configurations from parent are available for the child module to use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unspecified, all “default” provider configurations from parent are available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 is a map</a:t>
            </a:r>
          </a:p>
          <a:p>
            <a:pPr lvl="2">
              <a:lnSpc>
                <a:spcPct val="150000"/>
              </a:lnSpc>
            </a:pPr>
            <a:r>
              <a:rPr lang="en-US" sz="190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– provider name in child module</a:t>
            </a:r>
          </a:p>
          <a:p>
            <a:pPr lvl="2">
              <a:lnSpc>
                <a:spcPct val="150000"/>
              </a:lnSpc>
            </a:pPr>
            <a:r>
              <a:rPr lang="en-US" sz="190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– alias name from parent</a:t>
            </a:r>
          </a:p>
          <a:p>
            <a:pPr lvl="2">
              <a:lnSpc>
                <a:spcPct val="150000"/>
              </a:lnSpc>
            </a:pPr>
            <a:endParaRPr lang="en-US" sz="190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lvl="1" indent="0">
              <a:lnSpc>
                <a:spcPct val="150000"/>
              </a:lnSpc>
              <a:buNone/>
            </a:pPr>
            <a:endParaRPr lang="en-US" sz="2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4B02D-B982-4B5A-B2A1-8E417CAAA9C5}"/>
              </a:ext>
            </a:extLst>
          </p:cNvPr>
          <p:cNvSpPr/>
          <p:nvPr/>
        </p:nvSpPr>
        <p:spPr>
          <a:xfrm>
            <a:off x="6425185" y="2652272"/>
            <a:ext cx="4448846" cy="403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GB" sz="19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</a:t>
            </a:r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region = "us-west-1"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GB" sz="195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aws</a:t>
            </a:r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950" dirty="0">
                <a:solidFill>
                  <a:schemeClr val="tx2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alias  = "usw2"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region = "us-west-2"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"example" {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source    = "./example"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950" dirty="0">
                <a:solidFill>
                  <a:schemeClr val="tx2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providers = {</a:t>
            </a:r>
          </a:p>
          <a:p>
            <a:r>
              <a:rPr lang="en-GB" sz="1950" dirty="0">
                <a:solidFill>
                  <a:schemeClr val="tx2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950" dirty="0" err="1">
                <a:solidFill>
                  <a:schemeClr val="tx2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aws</a:t>
            </a:r>
            <a:r>
              <a:rPr lang="en-GB" sz="1950" dirty="0">
                <a:solidFill>
                  <a:schemeClr val="tx2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aws.usw2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950" dirty="0">
                <a:solidFill>
                  <a:schemeClr val="tx2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GB" sz="195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1785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Components of a Module</a:t>
            </a:r>
          </a:p>
        </p:txBody>
      </p:sp>
      <p:pic>
        <p:nvPicPr>
          <p:cNvPr id="3" name="Graphic 2" descr="Circles with arrows">
            <a:extLst>
              <a:ext uri="{FF2B5EF4-FFF2-40B4-BE49-F238E27FC236}">
                <a16:creationId xmlns:a16="http://schemas.microsoft.com/office/drawing/2014/main" id="{2A2DF470-B110-4695-90B7-826C12BAE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1050" y="2430234"/>
            <a:ext cx="1983922" cy="1983922"/>
          </a:xfrm>
          <a:prstGeom prst="rect">
            <a:avLst/>
          </a:prstGeom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8970581B-4E11-452F-B04A-81A56D267182}"/>
              </a:ext>
            </a:extLst>
          </p:cNvPr>
          <p:cNvSpPr/>
          <p:nvPr/>
        </p:nvSpPr>
        <p:spPr>
          <a:xfrm>
            <a:off x="7954735" y="2854776"/>
            <a:ext cx="1649186" cy="1045028"/>
          </a:xfrm>
          <a:prstGeom prst="downArrowCallou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1587C235-4DDF-4E71-9FE8-0452F04C3030}"/>
              </a:ext>
            </a:extLst>
          </p:cNvPr>
          <p:cNvSpPr/>
          <p:nvPr/>
        </p:nvSpPr>
        <p:spPr>
          <a:xfrm>
            <a:off x="1719944" y="2577192"/>
            <a:ext cx="1491343" cy="1355272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3E6CD-4DF8-40FE-80C9-E30AAC909D35}"/>
              </a:ext>
            </a:extLst>
          </p:cNvPr>
          <p:cNvSpPr txBox="1"/>
          <p:nvPr/>
        </p:nvSpPr>
        <p:spPr>
          <a:xfrm>
            <a:off x="1402858" y="4528453"/>
            <a:ext cx="18478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Input variables</a:t>
            </a:r>
            <a:endParaRPr lang="en-GB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5E914-144C-4858-BD7C-A4FA788738A7}"/>
              </a:ext>
            </a:extLst>
          </p:cNvPr>
          <p:cNvSpPr txBox="1"/>
          <p:nvPr/>
        </p:nvSpPr>
        <p:spPr>
          <a:xfrm>
            <a:off x="4946297" y="4528453"/>
            <a:ext cx="13134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endParaRPr lang="en-GB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A7C49-0568-450F-8DA1-650AFB908F8F}"/>
              </a:ext>
            </a:extLst>
          </p:cNvPr>
          <p:cNvSpPr txBox="1"/>
          <p:nvPr/>
        </p:nvSpPr>
        <p:spPr>
          <a:xfrm>
            <a:off x="7884268" y="4528453"/>
            <a:ext cx="175644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Output values</a:t>
            </a:r>
            <a:endParaRPr lang="en-GB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51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4196</Words>
  <Application>Microsoft Office PowerPoint</Application>
  <PresentationFormat>Widescreen</PresentationFormat>
  <Paragraphs>633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Office Theme</vt:lpstr>
      <vt:lpstr>Infrastructure as Code</vt:lpstr>
      <vt:lpstr>What is Terraform</vt:lpstr>
      <vt:lpstr>Getting started with Terraform provisioning</vt:lpstr>
      <vt:lpstr>Assignment 1: Launch a web server in default VPC</vt:lpstr>
      <vt:lpstr>Key points to note for all lab assignments</vt:lpstr>
      <vt:lpstr>Terraform components</vt:lpstr>
      <vt:lpstr>Variables and Providers</vt:lpstr>
      <vt:lpstr>Terraform Providers</vt:lpstr>
      <vt:lpstr>Data sources, Resources and Outputs </vt:lpstr>
      <vt:lpstr>The Terraform workflow</vt:lpstr>
      <vt:lpstr>State management</vt:lpstr>
      <vt:lpstr>Terraform state</vt:lpstr>
      <vt:lpstr>State file</vt:lpstr>
      <vt:lpstr>Terraform Planning</vt:lpstr>
      <vt:lpstr>Assignment 2: Add a new VPC for hosting the web server</vt:lpstr>
      <vt:lpstr>Assignment 2: Contd…</vt:lpstr>
      <vt:lpstr>Terraform syntax</vt:lpstr>
      <vt:lpstr>Terraform syntax – Blocks and arguments</vt:lpstr>
      <vt:lpstr>Terraform variables - types</vt:lpstr>
      <vt:lpstr>Terraform input variables</vt:lpstr>
      <vt:lpstr>Terraform input variable – various object types</vt:lpstr>
      <vt:lpstr>Terraform output values</vt:lpstr>
      <vt:lpstr>Terraform local values</vt:lpstr>
      <vt:lpstr>Terraform syntax – References</vt:lpstr>
      <vt:lpstr>Expressions in Terraform</vt:lpstr>
      <vt:lpstr>Examples of expressions</vt:lpstr>
      <vt:lpstr>Terraform syntax – functions</vt:lpstr>
      <vt:lpstr>Terraform syntax – functions examples</vt:lpstr>
      <vt:lpstr>Assignment 3: practice functions using Terraform console</vt:lpstr>
      <vt:lpstr>Resource Meta-Arguments</vt:lpstr>
      <vt:lpstr>Resource Arguments</vt:lpstr>
      <vt:lpstr>count and depends_on</vt:lpstr>
      <vt:lpstr>For_each</vt:lpstr>
      <vt:lpstr>provider</vt:lpstr>
      <vt:lpstr>provider e.g.</vt:lpstr>
      <vt:lpstr>Handling multiple environments</vt:lpstr>
      <vt:lpstr>Multiple Environment Considerations</vt:lpstr>
      <vt:lpstr>Managing multiple environments using different state files</vt:lpstr>
      <vt:lpstr>Managing multiple environments using workspaces</vt:lpstr>
      <vt:lpstr>Assignment 4: Use workspaces to create dev and uat environments</vt:lpstr>
      <vt:lpstr>Secrets Options</vt:lpstr>
      <vt:lpstr>Environment Variables [E.g. from AWS]</vt:lpstr>
      <vt:lpstr>Using a vault (e.g. Terraform Vault)</vt:lpstr>
      <vt:lpstr>Terraform modules</vt:lpstr>
      <vt:lpstr>Overview of Modules</vt:lpstr>
      <vt:lpstr>Using Modules</vt:lpstr>
      <vt:lpstr>Module blocks</vt:lpstr>
      <vt:lpstr>Module sources</vt:lpstr>
      <vt:lpstr>Module providers meta-argument</vt:lpstr>
      <vt:lpstr>Components of a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rudra</dc:creator>
  <cp:lastModifiedBy>vishwa rudra</cp:lastModifiedBy>
  <cp:revision>5</cp:revision>
  <dcterms:created xsi:type="dcterms:W3CDTF">2026-06-06T11:25:05Z</dcterms:created>
  <dcterms:modified xsi:type="dcterms:W3CDTF">2026-06-06T11:31:32Z</dcterms:modified>
</cp:coreProperties>
</file>