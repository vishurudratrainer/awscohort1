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394" r:id="rId3"/>
    <p:sldId id="410" r:id="rId4"/>
    <p:sldId id="417" r:id="rId5"/>
    <p:sldId id="408" r:id="rId6"/>
    <p:sldId id="400" r:id="rId7"/>
    <p:sldId id="420" r:id="rId8"/>
    <p:sldId id="422" r:id="rId9"/>
    <p:sldId id="424" r:id="rId10"/>
    <p:sldId id="402" r:id="rId11"/>
    <p:sldId id="412" r:id="rId12"/>
    <p:sldId id="423" r:id="rId13"/>
    <p:sldId id="427" r:id="rId14"/>
    <p:sldId id="413" r:id="rId15"/>
    <p:sldId id="416" r:id="rId16"/>
    <p:sldId id="428" r:id="rId17"/>
    <p:sldId id="418" r:id="rId18"/>
    <p:sldId id="419" r:id="rId19"/>
    <p:sldId id="41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6" d="100"/>
          <a:sy n="86" d="100"/>
        </p:scale>
        <p:origin x="56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6B81C7-7B38-46E8-B3F3-F437900087FC}" type="datetimeFigureOut">
              <a:rPr lang="en-IN" smtClean="0"/>
              <a:t>29-08-2023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44A6CA-D1FE-4CC2-ADB9-681B200D1F79}" type="slidenum">
              <a:rPr lang="en-IN" smtClean="0"/>
              <a:t>‹#›</a:t>
            </a:fld>
            <a:endParaRPr lang="en-IN"/>
          </a:p>
        </p:txBody>
      </p:sp>
    </p:spTree>
    <p:extLst>
      <p:ext uri="{BB962C8B-B14F-4D97-AF65-F5344CB8AC3E}">
        <p14:creationId xmlns:p14="http://schemas.microsoft.com/office/powerpoint/2010/main" val="16721650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learning.oreilly.com/library/view/docker-up/9781492036722/ch02.html#figure02-1" TargetMode="External"/><Relationship Id="rId2" Type="http://schemas.openxmlformats.org/officeDocument/2006/relationships/slide" Target="../slides/slide17.xml"/><Relationship Id="rId1" Type="http://schemas.openxmlformats.org/officeDocument/2006/relationships/notesMaster" Target="../notesMasters/notesMaster1.xml"/><Relationship Id="rId4" Type="http://schemas.openxmlformats.org/officeDocument/2006/relationships/hyperlink" Target="http://bit.ly/2C6F46C"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5F3102E-6C56-4F81-B30B-581BE2EC6691}" type="slidenum">
              <a:rPr lang="en-GB" smtClean="0"/>
              <a:t>14</a:t>
            </a:fld>
            <a:endParaRPr lang="en-GB"/>
          </a:p>
        </p:txBody>
      </p:sp>
    </p:spTree>
    <p:extLst>
      <p:ext uri="{BB962C8B-B14F-4D97-AF65-F5344CB8AC3E}">
        <p14:creationId xmlns:p14="http://schemas.microsoft.com/office/powerpoint/2010/main" val="40383896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Even though Docker containers are largely made up of processes running on the host system itself, they usually behave quite differently from other processes at the network layer.</a:t>
            </a:r>
            <a:r>
              <a:rPr lang="en-US" sz="1200" kern="1200" dirty="0">
                <a:solidFill>
                  <a:schemeClr val="tx1"/>
                </a:solidFill>
                <a:effectLst/>
                <a:latin typeface="+mn-lt"/>
                <a:ea typeface="+mn-ea"/>
                <a:cs typeface="+mn-cs"/>
              </a:rPr>
              <a:t> </a:t>
            </a:r>
            <a:r>
              <a:rPr lang="en-GB" sz="1200" kern="1200" dirty="0">
                <a:solidFill>
                  <a:schemeClr val="tx1"/>
                </a:solidFill>
                <a:effectLst/>
                <a:latin typeface="+mn-lt"/>
                <a:ea typeface="+mn-ea"/>
                <a:cs typeface="+mn-cs"/>
              </a:rPr>
              <a:t>Docker initially supported a single networking model, but now supports a robust assortment of configurations that handle most application requirements. Most people run their containers in the default configuration, called</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bridge mode</a:t>
            </a:r>
            <a:r>
              <a:rPr lang="en-GB" sz="1200" kern="1200" dirty="0">
                <a:solidFill>
                  <a:schemeClr val="tx1"/>
                </a:solidFill>
                <a:effectLst/>
                <a:latin typeface="+mn-lt"/>
                <a:ea typeface="+mn-ea"/>
                <a:cs typeface="+mn-cs"/>
              </a:rPr>
              <a:t>. So let’s take a look at how it works.</a:t>
            </a:r>
          </a:p>
          <a:p>
            <a:r>
              <a:rPr lang="en-GB" sz="1200" kern="1200" dirty="0">
                <a:solidFill>
                  <a:schemeClr val="tx1"/>
                </a:solidFill>
                <a:effectLst/>
                <a:latin typeface="+mn-lt"/>
                <a:ea typeface="+mn-ea"/>
                <a:cs typeface="+mn-cs"/>
              </a:rPr>
              <a:t>To understand bridge mode, it’s easiest to think of each of your Docker containers as behaving like a host on a private network.</a:t>
            </a:r>
            <a:r>
              <a:rPr lang="en-US" sz="1200" kern="1200" dirty="0">
                <a:solidFill>
                  <a:schemeClr val="tx1"/>
                </a:solidFill>
                <a:effectLst/>
                <a:latin typeface="+mn-lt"/>
                <a:ea typeface="+mn-ea"/>
                <a:cs typeface="+mn-cs"/>
              </a:rPr>
              <a:t> The Docker server acts as a virtual bridge and the containers are clients behind it. A bridge is just a network device that repeats traffic from one side to another. So you can think of it like a mini–virtual network with each container acting like a host attached to that network.</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The actual implementation, as shown in</a:t>
            </a:r>
            <a:r>
              <a:rPr lang="en-US" sz="1200"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hlinkClick r:id="rId3"/>
              </a:rPr>
              <a:t>Figure 2-4</a:t>
            </a:r>
            <a:r>
              <a:rPr lang="en-GB" sz="1200" kern="1200" dirty="0">
                <a:solidFill>
                  <a:schemeClr val="tx1"/>
                </a:solidFill>
                <a:effectLst/>
                <a:latin typeface="+mn-lt"/>
                <a:ea typeface="+mn-ea"/>
                <a:cs typeface="+mn-cs"/>
              </a:rPr>
              <a:t>, is that each container has its own virtual Ethernet interface connected to the Docker bridge and its own IP address allocated to the virtual interface. Docker lets you bind and expose individual or groups of ports on the host to the container so that the outside world can reach your container on those ports. That traffic passes over a proxy that is also part of the Docker daemon before getting to the container.</a:t>
            </a:r>
          </a:p>
          <a:p>
            <a:r>
              <a:rPr lang="en-GB" sz="1200" kern="1200" dirty="0">
                <a:solidFill>
                  <a:schemeClr val="tx1"/>
                </a:solidFill>
                <a:effectLst/>
                <a:latin typeface="+mn-lt"/>
                <a:ea typeface="+mn-ea"/>
                <a:cs typeface="+mn-cs"/>
              </a:rPr>
              <a:t>Docker allocates the private subnet from an unused</a:t>
            </a:r>
            <a:r>
              <a:rPr lang="en-US" sz="1200"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hlinkClick r:id="rId4"/>
              </a:rPr>
              <a:t>RFC 1918</a:t>
            </a:r>
            <a:r>
              <a:rPr lang="en-US" sz="1200" kern="1200" dirty="0">
                <a:solidFill>
                  <a:schemeClr val="tx1"/>
                </a:solidFill>
                <a:effectLst/>
                <a:latin typeface="+mn-lt"/>
                <a:ea typeface="+mn-ea"/>
                <a:cs typeface="+mn-cs"/>
              </a:rPr>
              <a:t> </a:t>
            </a:r>
            <a:r>
              <a:rPr lang="en-GB" sz="1200" kern="1200" dirty="0">
                <a:solidFill>
                  <a:schemeClr val="tx1"/>
                </a:solidFill>
                <a:effectLst/>
                <a:latin typeface="+mn-lt"/>
                <a:ea typeface="+mn-ea"/>
                <a:cs typeface="+mn-cs"/>
              </a:rPr>
              <a:t>private subnet block. It detects which network blocks are unused on the host and allocates one of those to the virtual network. That is bridged to the host’s local network through an interface on the server called</a:t>
            </a:r>
            <a:r>
              <a:rPr lang="en-US" sz="1200" kern="1200" dirty="0">
                <a:solidFill>
                  <a:schemeClr val="tx1"/>
                </a:solidFill>
                <a:effectLst/>
                <a:latin typeface="+mn-lt"/>
                <a:ea typeface="+mn-ea"/>
                <a:cs typeface="+mn-cs"/>
              </a:rPr>
              <a:t> docker0</a:t>
            </a:r>
            <a:r>
              <a:rPr lang="en-GB" sz="1200" kern="1200" dirty="0">
                <a:solidFill>
                  <a:schemeClr val="tx1"/>
                </a:solidFill>
                <a:effectLst/>
                <a:latin typeface="+mn-lt"/>
                <a:ea typeface="+mn-ea"/>
                <a:cs typeface="+mn-cs"/>
              </a:rPr>
              <a:t>. This means that all of the containers are on a network together and can talk to each other directly. But to get to the host or the outside world, they go over the</a:t>
            </a:r>
            <a:r>
              <a:rPr lang="en-US" sz="1200" kern="1200" dirty="0">
                <a:solidFill>
                  <a:schemeClr val="tx1"/>
                </a:solidFill>
                <a:effectLst/>
                <a:latin typeface="+mn-lt"/>
                <a:ea typeface="+mn-ea"/>
                <a:cs typeface="+mn-cs"/>
              </a:rPr>
              <a:t> docker0 </a:t>
            </a:r>
            <a:r>
              <a:rPr lang="en-GB" sz="1200" kern="1200" dirty="0">
                <a:solidFill>
                  <a:schemeClr val="tx1"/>
                </a:solidFill>
                <a:effectLst/>
                <a:latin typeface="+mn-lt"/>
                <a:ea typeface="+mn-ea"/>
                <a:cs typeface="+mn-cs"/>
              </a:rPr>
              <a:t>virtual bridge interface. As we mentioned, inbound traffic goes over the proxy. This proxy is fairly high performance but can be limiting if you run high-throughput applications in containers.</a:t>
            </a:r>
          </a:p>
          <a:p>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17</a:t>
            </a:fld>
            <a:endParaRPr lang="en-GB"/>
          </a:p>
        </p:txBody>
      </p:sp>
    </p:spTree>
    <p:extLst>
      <p:ext uri="{BB962C8B-B14F-4D97-AF65-F5344CB8AC3E}">
        <p14:creationId xmlns:p14="http://schemas.microsoft.com/office/powerpoint/2010/main" val="38631104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5F3102E-6C56-4F81-B30B-581BE2EC6691}" type="slidenum">
              <a:rPr lang="en-GB" smtClean="0"/>
              <a:t>19</a:t>
            </a:fld>
            <a:endParaRPr lang="en-GB"/>
          </a:p>
        </p:txBody>
      </p:sp>
    </p:spTree>
    <p:extLst>
      <p:ext uri="{BB962C8B-B14F-4D97-AF65-F5344CB8AC3E}">
        <p14:creationId xmlns:p14="http://schemas.microsoft.com/office/powerpoint/2010/main" val="41661181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955D0-922A-B26E-4F46-B7AC8318C98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760B235-F26F-AAD0-A0A9-9F28388F74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E124400-3604-D866-925C-F3B20C21A4D3}"/>
              </a:ext>
            </a:extLst>
          </p:cNvPr>
          <p:cNvSpPr>
            <a:spLocks noGrp="1"/>
          </p:cNvSpPr>
          <p:nvPr>
            <p:ph type="dt" sz="half" idx="10"/>
          </p:nvPr>
        </p:nvSpPr>
        <p:spPr/>
        <p:txBody>
          <a:bodyPr/>
          <a:lstStyle/>
          <a:p>
            <a:fld id="{BB552103-C899-4046-87DC-1A976662B6E7}" type="datetimeFigureOut">
              <a:rPr lang="en-IN" smtClean="0"/>
              <a:t>29-08-2023</a:t>
            </a:fld>
            <a:endParaRPr lang="en-IN"/>
          </a:p>
        </p:txBody>
      </p:sp>
      <p:sp>
        <p:nvSpPr>
          <p:cNvPr id="5" name="Footer Placeholder 4">
            <a:extLst>
              <a:ext uri="{FF2B5EF4-FFF2-40B4-BE49-F238E27FC236}">
                <a16:creationId xmlns:a16="http://schemas.microsoft.com/office/drawing/2014/main" id="{F8D54E53-7A90-E461-19F3-7458915046A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BBCD373-D9A7-AEBD-6D4A-F8F40F6B286C}"/>
              </a:ext>
            </a:extLst>
          </p:cNvPr>
          <p:cNvSpPr>
            <a:spLocks noGrp="1"/>
          </p:cNvSpPr>
          <p:nvPr>
            <p:ph type="sldNum" sz="quarter" idx="12"/>
          </p:nvPr>
        </p:nvSpPr>
        <p:spPr/>
        <p:txBody>
          <a:bodyPr/>
          <a:lstStyle/>
          <a:p>
            <a:fld id="{1710A3F8-4788-45EC-A8DA-E40C32945B40}" type="slidenum">
              <a:rPr lang="en-IN" smtClean="0"/>
              <a:t>‹#›</a:t>
            </a:fld>
            <a:endParaRPr lang="en-IN"/>
          </a:p>
        </p:txBody>
      </p:sp>
    </p:spTree>
    <p:extLst>
      <p:ext uri="{BB962C8B-B14F-4D97-AF65-F5344CB8AC3E}">
        <p14:creationId xmlns:p14="http://schemas.microsoft.com/office/powerpoint/2010/main" val="7001680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4BFD3-4D92-EE08-C152-55DA29BA374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F173D47-D84A-1D1A-7D8B-FE1CCE3DDCF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27D73F1-02A2-0055-82F5-66F8013B3964}"/>
              </a:ext>
            </a:extLst>
          </p:cNvPr>
          <p:cNvSpPr>
            <a:spLocks noGrp="1"/>
          </p:cNvSpPr>
          <p:nvPr>
            <p:ph type="dt" sz="half" idx="10"/>
          </p:nvPr>
        </p:nvSpPr>
        <p:spPr/>
        <p:txBody>
          <a:bodyPr/>
          <a:lstStyle/>
          <a:p>
            <a:fld id="{BB552103-C899-4046-87DC-1A976662B6E7}" type="datetimeFigureOut">
              <a:rPr lang="en-IN" smtClean="0"/>
              <a:t>29-08-2023</a:t>
            </a:fld>
            <a:endParaRPr lang="en-IN"/>
          </a:p>
        </p:txBody>
      </p:sp>
      <p:sp>
        <p:nvSpPr>
          <p:cNvPr id="5" name="Footer Placeholder 4">
            <a:extLst>
              <a:ext uri="{FF2B5EF4-FFF2-40B4-BE49-F238E27FC236}">
                <a16:creationId xmlns:a16="http://schemas.microsoft.com/office/drawing/2014/main" id="{4CB993A1-7164-696C-DAF5-E0F2616200F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87D4EA1-D956-F53C-2A38-A3679E89D2E7}"/>
              </a:ext>
            </a:extLst>
          </p:cNvPr>
          <p:cNvSpPr>
            <a:spLocks noGrp="1"/>
          </p:cNvSpPr>
          <p:nvPr>
            <p:ph type="sldNum" sz="quarter" idx="12"/>
          </p:nvPr>
        </p:nvSpPr>
        <p:spPr/>
        <p:txBody>
          <a:bodyPr/>
          <a:lstStyle/>
          <a:p>
            <a:fld id="{1710A3F8-4788-45EC-A8DA-E40C32945B40}" type="slidenum">
              <a:rPr lang="en-IN" smtClean="0"/>
              <a:t>‹#›</a:t>
            </a:fld>
            <a:endParaRPr lang="en-IN"/>
          </a:p>
        </p:txBody>
      </p:sp>
    </p:spTree>
    <p:extLst>
      <p:ext uri="{BB962C8B-B14F-4D97-AF65-F5344CB8AC3E}">
        <p14:creationId xmlns:p14="http://schemas.microsoft.com/office/powerpoint/2010/main" val="3576498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9FEE9-4750-BC1B-A351-5A273274461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D6DC598-8FC7-1B6C-91DE-CB5C17B9FF4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71B5740-B5E1-8D18-C615-60D8B2C73123}"/>
              </a:ext>
            </a:extLst>
          </p:cNvPr>
          <p:cNvSpPr>
            <a:spLocks noGrp="1"/>
          </p:cNvSpPr>
          <p:nvPr>
            <p:ph type="dt" sz="half" idx="10"/>
          </p:nvPr>
        </p:nvSpPr>
        <p:spPr/>
        <p:txBody>
          <a:bodyPr/>
          <a:lstStyle/>
          <a:p>
            <a:fld id="{BB552103-C899-4046-87DC-1A976662B6E7}" type="datetimeFigureOut">
              <a:rPr lang="en-IN" smtClean="0"/>
              <a:t>29-08-2023</a:t>
            </a:fld>
            <a:endParaRPr lang="en-IN"/>
          </a:p>
        </p:txBody>
      </p:sp>
      <p:sp>
        <p:nvSpPr>
          <p:cNvPr id="5" name="Footer Placeholder 4">
            <a:extLst>
              <a:ext uri="{FF2B5EF4-FFF2-40B4-BE49-F238E27FC236}">
                <a16:creationId xmlns:a16="http://schemas.microsoft.com/office/drawing/2014/main" id="{889C37EC-910D-8E76-34F7-4437F717781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F15F241-1074-63D7-BFFC-683F4B33B317}"/>
              </a:ext>
            </a:extLst>
          </p:cNvPr>
          <p:cNvSpPr>
            <a:spLocks noGrp="1"/>
          </p:cNvSpPr>
          <p:nvPr>
            <p:ph type="sldNum" sz="quarter" idx="12"/>
          </p:nvPr>
        </p:nvSpPr>
        <p:spPr/>
        <p:txBody>
          <a:bodyPr/>
          <a:lstStyle/>
          <a:p>
            <a:fld id="{1710A3F8-4788-45EC-A8DA-E40C32945B40}" type="slidenum">
              <a:rPr lang="en-IN" smtClean="0"/>
              <a:t>‹#›</a:t>
            </a:fld>
            <a:endParaRPr lang="en-IN"/>
          </a:p>
        </p:txBody>
      </p:sp>
    </p:spTree>
    <p:extLst>
      <p:ext uri="{BB962C8B-B14F-4D97-AF65-F5344CB8AC3E}">
        <p14:creationId xmlns:p14="http://schemas.microsoft.com/office/powerpoint/2010/main" val="4936548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FDC02-043D-B06A-7F38-0ED589745F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59CCC79-0D68-D4CD-5AAB-DFAAEA041AC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A31685A-6BDE-673D-BD77-A28EE8EF808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294C107-33F9-5FED-DBA8-061DFF8ECF32}"/>
              </a:ext>
            </a:extLst>
          </p:cNvPr>
          <p:cNvSpPr>
            <a:spLocks noGrp="1"/>
          </p:cNvSpPr>
          <p:nvPr>
            <p:ph type="dt" sz="half" idx="10"/>
          </p:nvPr>
        </p:nvSpPr>
        <p:spPr/>
        <p:txBody>
          <a:bodyPr/>
          <a:lstStyle/>
          <a:p>
            <a:fld id="{BB552103-C899-4046-87DC-1A976662B6E7}" type="datetimeFigureOut">
              <a:rPr lang="en-IN" smtClean="0"/>
              <a:t>29-08-2023</a:t>
            </a:fld>
            <a:endParaRPr lang="en-IN"/>
          </a:p>
        </p:txBody>
      </p:sp>
      <p:sp>
        <p:nvSpPr>
          <p:cNvPr id="6" name="Footer Placeholder 5">
            <a:extLst>
              <a:ext uri="{FF2B5EF4-FFF2-40B4-BE49-F238E27FC236}">
                <a16:creationId xmlns:a16="http://schemas.microsoft.com/office/drawing/2014/main" id="{6CA88F06-A830-CD2B-6371-30FC282948D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57EBD0F-BDC3-D066-6420-A9A988A45A0D}"/>
              </a:ext>
            </a:extLst>
          </p:cNvPr>
          <p:cNvSpPr>
            <a:spLocks noGrp="1"/>
          </p:cNvSpPr>
          <p:nvPr>
            <p:ph type="sldNum" sz="quarter" idx="12"/>
          </p:nvPr>
        </p:nvSpPr>
        <p:spPr/>
        <p:txBody>
          <a:bodyPr/>
          <a:lstStyle/>
          <a:p>
            <a:fld id="{1710A3F8-4788-45EC-A8DA-E40C32945B40}" type="slidenum">
              <a:rPr lang="en-IN" smtClean="0"/>
              <a:t>‹#›</a:t>
            </a:fld>
            <a:endParaRPr lang="en-IN"/>
          </a:p>
        </p:txBody>
      </p:sp>
    </p:spTree>
    <p:extLst>
      <p:ext uri="{BB962C8B-B14F-4D97-AF65-F5344CB8AC3E}">
        <p14:creationId xmlns:p14="http://schemas.microsoft.com/office/powerpoint/2010/main" val="37330438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F5608-3080-E3A2-F204-A808483E1B6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835F532-D7E7-AF6E-40ED-0DF46F1E649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FB05EBD-CD7B-2E72-6C37-A1643E742C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3CE2B3A-7FE0-EDBC-4F62-69082B50C6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3AAD401-66EF-EEC3-CBE9-37F8281660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90E4109-162E-C29C-E0DB-F4B3F65259E7}"/>
              </a:ext>
            </a:extLst>
          </p:cNvPr>
          <p:cNvSpPr>
            <a:spLocks noGrp="1"/>
          </p:cNvSpPr>
          <p:nvPr>
            <p:ph type="dt" sz="half" idx="10"/>
          </p:nvPr>
        </p:nvSpPr>
        <p:spPr/>
        <p:txBody>
          <a:bodyPr/>
          <a:lstStyle/>
          <a:p>
            <a:fld id="{BB552103-C899-4046-87DC-1A976662B6E7}" type="datetimeFigureOut">
              <a:rPr lang="en-IN" smtClean="0"/>
              <a:t>29-08-2023</a:t>
            </a:fld>
            <a:endParaRPr lang="en-IN"/>
          </a:p>
        </p:txBody>
      </p:sp>
      <p:sp>
        <p:nvSpPr>
          <p:cNvPr id="8" name="Footer Placeholder 7">
            <a:extLst>
              <a:ext uri="{FF2B5EF4-FFF2-40B4-BE49-F238E27FC236}">
                <a16:creationId xmlns:a16="http://schemas.microsoft.com/office/drawing/2014/main" id="{AE25DDA2-1B79-4973-DF60-F5297B6F4DE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6DEB65D-EEB2-8489-CFED-00D7C3254442}"/>
              </a:ext>
            </a:extLst>
          </p:cNvPr>
          <p:cNvSpPr>
            <a:spLocks noGrp="1"/>
          </p:cNvSpPr>
          <p:nvPr>
            <p:ph type="sldNum" sz="quarter" idx="12"/>
          </p:nvPr>
        </p:nvSpPr>
        <p:spPr/>
        <p:txBody>
          <a:bodyPr/>
          <a:lstStyle/>
          <a:p>
            <a:fld id="{1710A3F8-4788-45EC-A8DA-E40C32945B40}" type="slidenum">
              <a:rPr lang="en-IN" smtClean="0"/>
              <a:t>‹#›</a:t>
            </a:fld>
            <a:endParaRPr lang="en-IN"/>
          </a:p>
        </p:txBody>
      </p:sp>
    </p:spTree>
    <p:extLst>
      <p:ext uri="{BB962C8B-B14F-4D97-AF65-F5344CB8AC3E}">
        <p14:creationId xmlns:p14="http://schemas.microsoft.com/office/powerpoint/2010/main" val="20156119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A61BF-2BC2-97C8-4633-D92C848DB88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FD60901-2B96-A9C3-3725-1E692367BCE7}"/>
              </a:ext>
            </a:extLst>
          </p:cNvPr>
          <p:cNvSpPr>
            <a:spLocks noGrp="1"/>
          </p:cNvSpPr>
          <p:nvPr>
            <p:ph type="dt" sz="half" idx="10"/>
          </p:nvPr>
        </p:nvSpPr>
        <p:spPr/>
        <p:txBody>
          <a:bodyPr/>
          <a:lstStyle/>
          <a:p>
            <a:fld id="{BB552103-C899-4046-87DC-1A976662B6E7}" type="datetimeFigureOut">
              <a:rPr lang="en-IN" smtClean="0"/>
              <a:t>29-08-2023</a:t>
            </a:fld>
            <a:endParaRPr lang="en-IN"/>
          </a:p>
        </p:txBody>
      </p:sp>
      <p:sp>
        <p:nvSpPr>
          <p:cNvPr id="4" name="Footer Placeholder 3">
            <a:extLst>
              <a:ext uri="{FF2B5EF4-FFF2-40B4-BE49-F238E27FC236}">
                <a16:creationId xmlns:a16="http://schemas.microsoft.com/office/drawing/2014/main" id="{438C3881-5E5B-6880-1522-F2373A10BBE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C25B4E2-C6CD-B2E2-EA4A-4BFBB62EB775}"/>
              </a:ext>
            </a:extLst>
          </p:cNvPr>
          <p:cNvSpPr>
            <a:spLocks noGrp="1"/>
          </p:cNvSpPr>
          <p:nvPr>
            <p:ph type="sldNum" sz="quarter" idx="12"/>
          </p:nvPr>
        </p:nvSpPr>
        <p:spPr/>
        <p:txBody>
          <a:bodyPr/>
          <a:lstStyle/>
          <a:p>
            <a:fld id="{1710A3F8-4788-45EC-A8DA-E40C32945B40}" type="slidenum">
              <a:rPr lang="en-IN" smtClean="0"/>
              <a:t>‹#›</a:t>
            </a:fld>
            <a:endParaRPr lang="en-IN"/>
          </a:p>
        </p:txBody>
      </p:sp>
    </p:spTree>
    <p:extLst>
      <p:ext uri="{BB962C8B-B14F-4D97-AF65-F5344CB8AC3E}">
        <p14:creationId xmlns:p14="http://schemas.microsoft.com/office/powerpoint/2010/main" val="2284675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46E83D6-C72E-5F77-BDAE-696CD6901EFE}"/>
              </a:ext>
            </a:extLst>
          </p:cNvPr>
          <p:cNvSpPr>
            <a:spLocks noGrp="1"/>
          </p:cNvSpPr>
          <p:nvPr>
            <p:ph type="dt" sz="half" idx="10"/>
          </p:nvPr>
        </p:nvSpPr>
        <p:spPr/>
        <p:txBody>
          <a:bodyPr/>
          <a:lstStyle/>
          <a:p>
            <a:fld id="{BB552103-C899-4046-87DC-1A976662B6E7}" type="datetimeFigureOut">
              <a:rPr lang="en-IN" smtClean="0"/>
              <a:t>29-08-2023</a:t>
            </a:fld>
            <a:endParaRPr lang="en-IN"/>
          </a:p>
        </p:txBody>
      </p:sp>
      <p:sp>
        <p:nvSpPr>
          <p:cNvPr id="3" name="Footer Placeholder 2">
            <a:extLst>
              <a:ext uri="{FF2B5EF4-FFF2-40B4-BE49-F238E27FC236}">
                <a16:creationId xmlns:a16="http://schemas.microsoft.com/office/drawing/2014/main" id="{E0707E0B-1B73-5DBA-B057-4FB1C7AC1F1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CD9F73C-0F31-28F4-CE04-6A6F1DAC9EE7}"/>
              </a:ext>
            </a:extLst>
          </p:cNvPr>
          <p:cNvSpPr>
            <a:spLocks noGrp="1"/>
          </p:cNvSpPr>
          <p:nvPr>
            <p:ph type="sldNum" sz="quarter" idx="12"/>
          </p:nvPr>
        </p:nvSpPr>
        <p:spPr/>
        <p:txBody>
          <a:bodyPr/>
          <a:lstStyle/>
          <a:p>
            <a:fld id="{1710A3F8-4788-45EC-A8DA-E40C32945B40}" type="slidenum">
              <a:rPr lang="en-IN" smtClean="0"/>
              <a:t>‹#›</a:t>
            </a:fld>
            <a:endParaRPr lang="en-IN"/>
          </a:p>
        </p:txBody>
      </p:sp>
    </p:spTree>
    <p:extLst>
      <p:ext uri="{BB962C8B-B14F-4D97-AF65-F5344CB8AC3E}">
        <p14:creationId xmlns:p14="http://schemas.microsoft.com/office/powerpoint/2010/main" val="21149958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4C93C-C33B-5A0A-5116-6B52D81904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DFDA518-9CBF-C543-EECE-EA698571A98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63A5B29-81DD-AA54-C91D-62A78E5956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70889D-9C21-CB94-4E78-423FF601F6E7}"/>
              </a:ext>
            </a:extLst>
          </p:cNvPr>
          <p:cNvSpPr>
            <a:spLocks noGrp="1"/>
          </p:cNvSpPr>
          <p:nvPr>
            <p:ph type="dt" sz="half" idx="10"/>
          </p:nvPr>
        </p:nvSpPr>
        <p:spPr/>
        <p:txBody>
          <a:bodyPr/>
          <a:lstStyle/>
          <a:p>
            <a:fld id="{BB552103-C899-4046-87DC-1A976662B6E7}" type="datetimeFigureOut">
              <a:rPr lang="en-IN" smtClean="0"/>
              <a:t>29-08-2023</a:t>
            </a:fld>
            <a:endParaRPr lang="en-IN"/>
          </a:p>
        </p:txBody>
      </p:sp>
      <p:sp>
        <p:nvSpPr>
          <p:cNvPr id="6" name="Footer Placeholder 5">
            <a:extLst>
              <a:ext uri="{FF2B5EF4-FFF2-40B4-BE49-F238E27FC236}">
                <a16:creationId xmlns:a16="http://schemas.microsoft.com/office/drawing/2014/main" id="{FDF8EEF6-4B0B-ED61-D5FA-6587314D9D9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9F1E05E-4052-620C-37A4-92E57D7D2172}"/>
              </a:ext>
            </a:extLst>
          </p:cNvPr>
          <p:cNvSpPr>
            <a:spLocks noGrp="1"/>
          </p:cNvSpPr>
          <p:nvPr>
            <p:ph type="sldNum" sz="quarter" idx="12"/>
          </p:nvPr>
        </p:nvSpPr>
        <p:spPr/>
        <p:txBody>
          <a:bodyPr/>
          <a:lstStyle/>
          <a:p>
            <a:fld id="{1710A3F8-4788-45EC-A8DA-E40C32945B40}" type="slidenum">
              <a:rPr lang="en-IN" smtClean="0"/>
              <a:t>‹#›</a:t>
            </a:fld>
            <a:endParaRPr lang="en-IN"/>
          </a:p>
        </p:txBody>
      </p:sp>
    </p:spTree>
    <p:extLst>
      <p:ext uri="{BB962C8B-B14F-4D97-AF65-F5344CB8AC3E}">
        <p14:creationId xmlns:p14="http://schemas.microsoft.com/office/powerpoint/2010/main" val="13188553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EB441-4574-40B3-DFD6-4CAE410B9B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96984CF-F329-BE9B-67E6-477BCF8E0D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98CA60F-4E5D-A44D-C12C-453B9FA4C5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66C3AD-A14F-801E-D8C7-83959969413B}"/>
              </a:ext>
            </a:extLst>
          </p:cNvPr>
          <p:cNvSpPr>
            <a:spLocks noGrp="1"/>
          </p:cNvSpPr>
          <p:nvPr>
            <p:ph type="dt" sz="half" idx="10"/>
          </p:nvPr>
        </p:nvSpPr>
        <p:spPr/>
        <p:txBody>
          <a:bodyPr/>
          <a:lstStyle/>
          <a:p>
            <a:fld id="{BB552103-C899-4046-87DC-1A976662B6E7}" type="datetimeFigureOut">
              <a:rPr lang="en-IN" smtClean="0"/>
              <a:t>29-08-2023</a:t>
            </a:fld>
            <a:endParaRPr lang="en-IN"/>
          </a:p>
        </p:txBody>
      </p:sp>
      <p:sp>
        <p:nvSpPr>
          <p:cNvPr id="6" name="Footer Placeholder 5">
            <a:extLst>
              <a:ext uri="{FF2B5EF4-FFF2-40B4-BE49-F238E27FC236}">
                <a16:creationId xmlns:a16="http://schemas.microsoft.com/office/drawing/2014/main" id="{45520DAB-DE53-6D9B-5572-A44B3828811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5BF96F6-D511-2D11-7AA7-554F1D1FD89D}"/>
              </a:ext>
            </a:extLst>
          </p:cNvPr>
          <p:cNvSpPr>
            <a:spLocks noGrp="1"/>
          </p:cNvSpPr>
          <p:nvPr>
            <p:ph type="sldNum" sz="quarter" idx="12"/>
          </p:nvPr>
        </p:nvSpPr>
        <p:spPr/>
        <p:txBody>
          <a:bodyPr/>
          <a:lstStyle/>
          <a:p>
            <a:fld id="{1710A3F8-4788-45EC-A8DA-E40C32945B40}" type="slidenum">
              <a:rPr lang="en-IN" smtClean="0"/>
              <a:t>‹#›</a:t>
            </a:fld>
            <a:endParaRPr lang="en-IN"/>
          </a:p>
        </p:txBody>
      </p:sp>
    </p:spTree>
    <p:extLst>
      <p:ext uri="{BB962C8B-B14F-4D97-AF65-F5344CB8AC3E}">
        <p14:creationId xmlns:p14="http://schemas.microsoft.com/office/powerpoint/2010/main" val="32847829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B651F-C278-9578-9EA8-AF07D740370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E283E86-924E-CE9F-54F1-20A1DA5B86C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554A25A-618B-7E5E-2D38-BDA500C11782}"/>
              </a:ext>
            </a:extLst>
          </p:cNvPr>
          <p:cNvSpPr>
            <a:spLocks noGrp="1"/>
          </p:cNvSpPr>
          <p:nvPr>
            <p:ph type="dt" sz="half" idx="10"/>
          </p:nvPr>
        </p:nvSpPr>
        <p:spPr/>
        <p:txBody>
          <a:bodyPr/>
          <a:lstStyle/>
          <a:p>
            <a:fld id="{BB552103-C899-4046-87DC-1A976662B6E7}" type="datetimeFigureOut">
              <a:rPr lang="en-IN" smtClean="0"/>
              <a:t>29-08-2023</a:t>
            </a:fld>
            <a:endParaRPr lang="en-IN"/>
          </a:p>
        </p:txBody>
      </p:sp>
      <p:sp>
        <p:nvSpPr>
          <p:cNvPr id="5" name="Footer Placeholder 4">
            <a:extLst>
              <a:ext uri="{FF2B5EF4-FFF2-40B4-BE49-F238E27FC236}">
                <a16:creationId xmlns:a16="http://schemas.microsoft.com/office/drawing/2014/main" id="{5A2EF33C-E3CD-5C3A-B405-4CC1AEDAA63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F6FDC61-FE02-7B67-53FD-F9B907C55063}"/>
              </a:ext>
            </a:extLst>
          </p:cNvPr>
          <p:cNvSpPr>
            <a:spLocks noGrp="1"/>
          </p:cNvSpPr>
          <p:nvPr>
            <p:ph type="sldNum" sz="quarter" idx="12"/>
          </p:nvPr>
        </p:nvSpPr>
        <p:spPr/>
        <p:txBody>
          <a:bodyPr/>
          <a:lstStyle/>
          <a:p>
            <a:fld id="{1710A3F8-4788-45EC-A8DA-E40C32945B40}" type="slidenum">
              <a:rPr lang="en-IN" smtClean="0"/>
              <a:t>‹#›</a:t>
            </a:fld>
            <a:endParaRPr lang="en-IN"/>
          </a:p>
        </p:txBody>
      </p:sp>
    </p:spTree>
    <p:extLst>
      <p:ext uri="{BB962C8B-B14F-4D97-AF65-F5344CB8AC3E}">
        <p14:creationId xmlns:p14="http://schemas.microsoft.com/office/powerpoint/2010/main" val="37495968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D130CC4-D9C1-10E6-328D-FF08A22D44B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20271D5-DE20-A685-0533-05BCE1E9FED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9B8AA37-2CC5-3990-3882-8361C4F3262C}"/>
              </a:ext>
            </a:extLst>
          </p:cNvPr>
          <p:cNvSpPr>
            <a:spLocks noGrp="1"/>
          </p:cNvSpPr>
          <p:nvPr>
            <p:ph type="dt" sz="half" idx="10"/>
          </p:nvPr>
        </p:nvSpPr>
        <p:spPr/>
        <p:txBody>
          <a:bodyPr/>
          <a:lstStyle/>
          <a:p>
            <a:fld id="{BB552103-C899-4046-87DC-1A976662B6E7}" type="datetimeFigureOut">
              <a:rPr lang="en-IN" smtClean="0"/>
              <a:t>29-08-2023</a:t>
            </a:fld>
            <a:endParaRPr lang="en-IN"/>
          </a:p>
        </p:txBody>
      </p:sp>
      <p:sp>
        <p:nvSpPr>
          <p:cNvPr id="5" name="Footer Placeholder 4">
            <a:extLst>
              <a:ext uri="{FF2B5EF4-FFF2-40B4-BE49-F238E27FC236}">
                <a16:creationId xmlns:a16="http://schemas.microsoft.com/office/drawing/2014/main" id="{717A4787-E6E5-0A0D-DEE5-C2CFCD8FA1E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8C59879-7E96-5A8B-A1C7-A86E0688C2A7}"/>
              </a:ext>
            </a:extLst>
          </p:cNvPr>
          <p:cNvSpPr>
            <a:spLocks noGrp="1"/>
          </p:cNvSpPr>
          <p:nvPr>
            <p:ph type="sldNum" sz="quarter" idx="12"/>
          </p:nvPr>
        </p:nvSpPr>
        <p:spPr/>
        <p:txBody>
          <a:bodyPr/>
          <a:lstStyle/>
          <a:p>
            <a:fld id="{1710A3F8-4788-45EC-A8DA-E40C32945B40}" type="slidenum">
              <a:rPr lang="en-IN" smtClean="0"/>
              <a:t>‹#›</a:t>
            </a:fld>
            <a:endParaRPr lang="en-IN"/>
          </a:p>
        </p:txBody>
      </p:sp>
    </p:spTree>
    <p:extLst>
      <p:ext uri="{BB962C8B-B14F-4D97-AF65-F5344CB8AC3E}">
        <p14:creationId xmlns:p14="http://schemas.microsoft.com/office/powerpoint/2010/main" val="2214456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Heading &amp; 2 Column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5" name="Text Placeholder 2"/>
          <p:cNvSpPr>
            <a:spLocks noGrp="1"/>
          </p:cNvSpPr>
          <p:nvPr>
            <p:ph idx="1"/>
          </p:nvPr>
        </p:nvSpPr>
        <p:spPr>
          <a:xfrm>
            <a:off x="562708" y="1295400"/>
            <a:ext cx="11160369" cy="4847010"/>
          </a:xfrm>
          <a:prstGeom prst="rect">
            <a:avLst/>
          </a:prstGeom>
        </p:spPr>
        <p:txBody>
          <a:bodyPr vert="horz" lIns="0" tIns="0" rIns="0" bIns="0" rtlCol="0">
            <a:normAutofit/>
          </a:bodyPr>
          <a:lstStyle>
            <a:lvl1pPr>
              <a:defRPr>
                <a:latin typeface="Arial Body"/>
              </a:defRPr>
            </a:lvl1pPr>
            <a:lvl2pPr>
              <a:defRPr>
                <a:latin typeface="Arial Body "/>
              </a:defRPr>
            </a:lvl2pPr>
            <a:lvl3pPr>
              <a:defRPr sz="1400">
                <a:latin typeface="Arial Body "/>
              </a:defRPr>
            </a:lvl3pPr>
            <a:lvl4pPr>
              <a:defRPr sz="1200">
                <a:latin typeface="Arial Body "/>
              </a:defRPr>
            </a:lvl4pPr>
            <a:lvl5pPr>
              <a:defRPr sz="1000">
                <a:latin typeface=" Arial body "/>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828153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ntents/Agenda P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6" name="Text Placeholder 2"/>
          <p:cNvSpPr>
            <a:spLocks noGrp="1"/>
          </p:cNvSpPr>
          <p:nvPr>
            <p:ph idx="1" hasCustomPrompt="1"/>
          </p:nvPr>
        </p:nvSpPr>
        <p:spPr>
          <a:xfrm>
            <a:off x="398882" y="1323001"/>
            <a:ext cx="11396612" cy="4847010"/>
          </a:xfrm>
          <a:prstGeom prst="rect">
            <a:avLst/>
          </a:prstGeom>
        </p:spPr>
        <p:txBody>
          <a:bodyPr vert="horz" lIns="0" tIns="72000" rIns="0" bIns="0" rtlCol="0">
            <a:normAutofit/>
          </a:bodyPr>
          <a:lstStyle>
            <a:lvl1pPr marL="328142" marR="0" indent="-328142" algn="l" defTabSz="914400" rtl="0" eaLnBrk="1" fontAlgn="auto" latinLnBrk="0" hangingPunct="1">
              <a:lnSpc>
                <a:spcPct val="130000"/>
              </a:lnSpc>
              <a:spcBef>
                <a:spcPts val="0"/>
              </a:spcBef>
              <a:spcAft>
                <a:spcPts val="0"/>
              </a:spcAft>
              <a:buClr>
                <a:schemeClr val="accent3"/>
              </a:buClr>
              <a:buSzTx/>
              <a:buFont typeface="Arial" panose="020B0604020202020204" pitchFamily="34" charset="0"/>
              <a:buNone/>
              <a:tabLst>
                <a:tab pos="6164618" algn="r"/>
              </a:tabLst>
              <a:defRPr baseline="0">
                <a:solidFill>
                  <a:schemeClr val="accent5"/>
                </a:solidFill>
              </a:defRPr>
            </a:lvl1pPr>
            <a:lvl2pPr marL="457200" indent="0">
              <a:buNone/>
              <a:defRPr/>
            </a:lvl2pPr>
            <a:lvl3pPr marL="914400" indent="0">
              <a:buNone/>
              <a:defRPr/>
            </a:lvl3pPr>
            <a:lvl4pPr marL="1371600" indent="0">
              <a:buNone/>
              <a:defRPr/>
            </a:lvl4pPr>
            <a:lvl5pPr marL="1828800" indent="0">
              <a:buNone/>
              <a:defRPr/>
            </a:lvl5pPr>
          </a:lstStyle>
          <a:p>
            <a:pPr marL="328142" indent="-328142">
              <a:lnSpc>
                <a:spcPct val="130000"/>
              </a:lnSpc>
              <a:spcBef>
                <a:spcPts val="0"/>
              </a:spcBef>
              <a:buNone/>
              <a:tabLst>
                <a:tab pos="6164618" algn="r"/>
              </a:tabLst>
            </a:pPr>
            <a:r>
              <a:rPr lang="en-GB" dirty="0">
                <a:solidFill>
                  <a:srgbClr val="6D6E71"/>
                </a:solidFill>
                <a:latin typeface="Arial" charset="0"/>
              </a:rPr>
              <a:t>Edit Page Title	#</a:t>
            </a:r>
          </a:p>
          <a:p>
            <a:pPr marL="328142" indent="-328142">
              <a:lnSpc>
                <a:spcPct val="130000"/>
              </a:lnSpc>
              <a:spcBef>
                <a:spcPts val="0"/>
              </a:spcBef>
              <a:buNone/>
              <a:tabLst>
                <a:tab pos="6164618" algn="r"/>
              </a:tabLst>
            </a:pPr>
            <a:r>
              <a:rPr lang="en-GB" dirty="0">
                <a:solidFill>
                  <a:srgbClr val="6D6E71"/>
                </a:solidFill>
                <a:latin typeface="Arial" charset="0"/>
              </a:rPr>
              <a:t>Edit Page Title	#</a:t>
            </a:r>
          </a:p>
          <a:p>
            <a:pPr marL="328142" indent="-328142">
              <a:lnSpc>
                <a:spcPct val="130000"/>
              </a:lnSpc>
              <a:spcBef>
                <a:spcPts val="0"/>
              </a:spcBef>
              <a:buNone/>
              <a:tabLst>
                <a:tab pos="6164618" algn="r"/>
              </a:tabLst>
            </a:pPr>
            <a:r>
              <a:rPr lang="en-GB" dirty="0">
                <a:solidFill>
                  <a:srgbClr val="6D6E71"/>
                </a:solidFill>
                <a:latin typeface="Arial" charset="0"/>
              </a:rPr>
              <a:t>Edit Page Title	#</a:t>
            </a:r>
          </a:p>
          <a:p>
            <a:pPr marL="328142" indent="-328142">
              <a:lnSpc>
                <a:spcPct val="130000"/>
              </a:lnSpc>
              <a:spcBef>
                <a:spcPts val="0"/>
              </a:spcBef>
              <a:buNone/>
              <a:tabLst>
                <a:tab pos="6164618" algn="r"/>
              </a:tabLst>
            </a:pPr>
            <a:r>
              <a:rPr lang="en-GB" dirty="0">
                <a:solidFill>
                  <a:srgbClr val="6D6E71"/>
                </a:solidFill>
                <a:latin typeface="Arial" charset="0"/>
              </a:rPr>
              <a:t>Edit Page Title	#</a:t>
            </a:r>
          </a:p>
        </p:txBody>
      </p:sp>
    </p:spTree>
    <p:extLst>
      <p:ext uri="{BB962C8B-B14F-4D97-AF65-F5344CB8AC3E}">
        <p14:creationId xmlns:p14="http://schemas.microsoft.com/office/powerpoint/2010/main" val="681302187"/>
      </p:ext>
    </p:extLst>
  </p:cSld>
  <p:clrMapOvr>
    <a:masterClrMapping/>
  </p:clrMapOvr>
  <p:extLst>
    <p:ext uri="{DCECCB84-F9BA-43D5-87BE-67443E8EF086}">
      <p15:sldGuideLst xmlns:p15="http://schemas.microsoft.com/office/powerpoint/2012/main">
        <p15:guide id="1" orient="horz" pos="2160">
          <p15:clr>
            <a:srgbClr val="FBAE40"/>
          </p15:clr>
        </p15:guide>
        <p15:guide id="2" pos="312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Heading &amp; 1 Column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5" name="Text Placeholder 2"/>
          <p:cNvSpPr>
            <a:spLocks noGrp="1" noChangeAspect="1"/>
          </p:cNvSpPr>
          <p:nvPr>
            <p:ph idx="1"/>
          </p:nvPr>
        </p:nvSpPr>
        <p:spPr>
          <a:xfrm>
            <a:off x="398882" y="1323001"/>
            <a:ext cx="11396612" cy="4847010"/>
          </a:xfrm>
          <a:prstGeom prst="rect">
            <a:avLst/>
          </a:prstGeom>
        </p:spPr>
        <p:txBody>
          <a:bodyPr vert="horz" lIns="0" tIns="0" rIns="0" bIns="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770479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17E7E4-0585-24BF-3262-C855CC621FA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3731727-20FD-3C90-F013-1806763225B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5EB3FB7-3805-560F-F17D-4CC3F140C6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B552103-C899-4046-87DC-1A976662B6E7}" type="datetimeFigureOut">
              <a:rPr lang="en-IN" smtClean="0"/>
              <a:t>29-08-2023</a:t>
            </a:fld>
            <a:endParaRPr lang="en-IN"/>
          </a:p>
        </p:txBody>
      </p:sp>
      <p:sp>
        <p:nvSpPr>
          <p:cNvPr id="5" name="Footer Placeholder 4">
            <a:extLst>
              <a:ext uri="{FF2B5EF4-FFF2-40B4-BE49-F238E27FC236}">
                <a16:creationId xmlns:a16="http://schemas.microsoft.com/office/drawing/2014/main" id="{9339D939-58FF-E054-F270-CEB7E611722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EA7AD9D-FF06-382B-C968-4F7D2FD28B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10A3F8-4788-45EC-A8DA-E40C32945B40}" type="slidenum">
              <a:rPr lang="en-IN" smtClean="0"/>
              <a:t>‹#›</a:t>
            </a:fld>
            <a:endParaRPr lang="en-IN"/>
          </a:p>
        </p:txBody>
      </p:sp>
    </p:spTree>
    <p:extLst>
      <p:ext uri="{BB962C8B-B14F-4D97-AF65-F5344CB8AC3E}">
        <p14:creationId xmlns:p14="http://schemas.microsoft.com/office/powerpoint/2010/main" val="5190169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 id="214748366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tiff"/><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5B38C-6AEF-B4C7-E09C-548B90A465DC}"/>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507CDF8E-F295-50D1-39B0-0DC0B4B42F83}"/>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8071415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CE8B24F-FCFA-49A1-9D32-2F6B33DEFD4D}"/>
              </a:ext>
            </a:extLst>
          </p:cNvPr>
          <p:cNvPicPr>
            <a:picLocks noChangeAspect="1"/>
          </p:cNvPicPr>
          <p:nvPr/>
        </p:nvPicPr>
        <p:blipFill>
          <a:blip r:embed="rId2"/>
          <a:stretch>
            <a:fillRect/>
          </a:stretch>
        </p:blipFill>
        <p:spPr>
          <a:xfrm>
            <a:off x="7620000" y="1371600"/>
            <a:ext cx="1600200" cy="838200"/>
          </a:xfrm>
          <a:prstGeom prst="rect">
            <a:avLst/>
          </a:prstGeom>
        </p:spPr>
      </p:pic>
      <p:sp>
        <p:nvSpPr>
          <p:cNvPr id="2" name="Title 1">
            <a:extLst>
              <a:ext uri="{FF2B5EF4-FFF2-40B4-BE49-F238E27FC236}">
                <a16:creationId xmlns:a16="http://schemas.microsoft.com/office/drawing/2014/main" id="{60A22BE2-EDBB-46E9-BE14-17E88F5DE9D0}"/>
              </a:ext>
            </a:extLst>
          </p:cNvPr>
          <p:cNvSpPr>
            <a:spLocks noGrp="1"/>
          </p:cNvSpPr>
          <p:nvPr>
            <p:ph type="title"/>
          </p:nvPr>
        </p:nvSpPr>
        <p:spPr/>
        <p:txBody>
          <a:bodyPr/>
          <a:lstStyle/>
          <a:p>
            <a:r>
              <a:rPr lang="en-US" dirty="0"/>
              <a:t>Agenda</a:t>
            </a:r>
            <a:endParaRPr lang="en-GB" dirty="0"/>
          </a:p>
        </p:txBody>
      </p:sp>
      <p:sp>
        <p:nvSpPr>
          <p:cNvPr id="3" name="Content Placeholder 2">
            <a:extLst>
              <a:ext uri="{FF2B5EF4-FFF2-40B4-BE49-F238E27FC236}">
                <a16:creationId xmlns:a16="http://schemas.microsoft.com/office/drawing/2014/main" id="{13F8147A-C95E-46AA-9D98-F755AD09857A}"/>
              </a:ext>
            </a:extLst>
          </p:cNvPr>
          <p:cNvSpPr>
            <a:spLocks noGrp="1"/>
          </p:cNvSpPr>
          <p:nvPr>
            <p:ph idx="1"/>
          </p:nvPr>
        </p:nvSpPr>
        <p:spPr>
          <a:xfrm>
            <a:off x="1467092" y="1323001"/>
            <a:ext cx="8896109" cy="4847010"/>
          </a:xfrm>
        </p:spPr>
        <p:txBody>
          <a:bodyPr>
            <a:normAutofit fontScale="62500" lnSpcReduction="20000"/>
          </a:bodyPr>
          <a:lstStyle/>
          <a:p>
            <a:pPr>
              <a:lnSpc>
                <a:spcPct val="200000"/>
              </a:lnSpc>
            </a:pPr>
            <a:r>
              <a:rPr lang="en-US" dirty="0"/>
              <a:t>Introduction to Containerization </a:t>
            </a:r>
          </a:p>
          <a:p>
            <a:pPr>
              <a:lnSpc>
                <a:spcPct val="200000"/>
              </a:lnSpc>
            </a:pPr>
            <a:r>
              <a:rPr lang="en-US" dirty="0"/>
              <a:t>Advantages of Containerization </a:t>
            </a:r>
          </a:p>
          <a:p>
            <a:pPr>
              <a:lnSpc>
                <a:spcPct val="200000"/>
              </a:lnSpc>
            </a:pPr>
            <a:r>
              <a:rPr lang="en-US" dirty="0"/>
              <a:t>Images and Containers</a:t>
            </a:r>
          </a:p>
          <a:p>
            <a:pPr>
              <a:lnSpc>
                <a:spcPct val="200000"/>
              </a:lnSpc>
            </a:pPr>
            <a:r>
              <a:rPr lang="en-US" dirty="0"/>
              <a:t>Container Management Tools – docker ,</a:t>
            </a:r>
            <a:r>
              <a:rPr lang="en-US" dirty="0" err="1"/>
              <a:t>podman</a:t>
            </a:r>
            <a:r>
              <a:rPr lang="en-US" dirty="0"/>
              <a:t> </a:t>
            </a:r>
          </a:p>
          <a:p>
            <a:pPr>
              <a:lnSpc>
                <a:spcPct val="200000"/>
              </a:lnSpc>
            </a:pPr>
            <a:r>
              <a:rPr lang="en-GB" dirty="0"/>
              <a:t>Docker commands </a:t>
            </a:r>
          </a:p>
          <a:p>
            <a:pPr>
              <a:lnSpc>
                <a:spcPct val="200000"/>
              </a:lnSpc>
            </a:pPr>
            <a:r>
              <a:rPr lang="en-GB" dirty="0"/>
              <a:t>Docker Compose </a:t>
            </a:r>
          </a:p>
          <a:p>
            <a:pPr>
              <a:lnSpc>
                <a:spcPct val="200000"/>
              </a:lnSpc>
            </a:pPr>
            <a:r>
              <a:rPr lang="en-GB" dirty="0" err="1"/>
              <a:t>Podman</a:t>
            </a:r>
            <a:r>
              <a:rPr lang="en-GB" dirty="0"/>
              <a:t> Commands </a:t>
            </a:r>
          </a:p>
          <a:p>
            <a:pPr>
              <a:lnSpc>
                <a:spcPct val="200000"/>
              </a:lnSpc>
            </a:pPr>
            <a:r>
              <a:rPr lang="en-GB" dirty="0"/>
              <a:t>Kubernetes </a:t>
            </a:r>
          </a:p>
        </p:txBody>
      </p:sp>
      <p:pic>
        <p:nvPicPr>
          <p:cNvPr id="5" name="Picture 4">
            <a:extLst>
              <a:ext uri="{FF2B5EF4-FFF2-40B4-BE49-F238E27FC236}">
                <a16:creationId xmlns:a16="http://schemas.microsoft.com/office/drawing/2014/main" id="{083E619B-F0D5-4BE3-9A31-5E0916FC2360}"/>
              </a:ext>
            </a:extLst>
          </p:cNvPr>
          <p:cNvPicPr>
            <a:picLocks noChangeAspect="1"/>
          </p:cNvPicPr>
          <p:nvPr/>
        </p:nvPicPr>
        <p:blipFill>
          <a:blip r:embed="rId3"/>
          <a:stretch>
            <a:fillRect/>
          </a:stretch>
        </p:blipFill>
        <p:spPr>
          <a:xfrm>
            <a:off x="8610601" y="1219201"/>
            <a:ext cx="1438275" cy="1114425"/>
          </a:xfrm>
          <a:prstGeom prst="rect">
            <a:avLst/>
          </a:prstGeom>
        </p:spPr>
      </p:pic>
    </p:spTree>
    <p:extLst>
      <p:ext uri="{BB962C8B-B14F-4D97-AF65-F5344CB8AC3E}">
        <p14:creationId xmlns:p14="http://schemas.microsoft.com/office/powerpoint/2010/main" val="19706891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5E276EB-4157-42B1-9F0F-6F9799CA47A8}"/>
              </a:ext>
            </a:extLst>
          </p:cNvPr>
          <p:cNvSpPr>
            <a:spLocks noGrp="1"/>
          </p:cNvSpPr>
          <p:nvPr>
            <p:ph type="title"/>
          </p:nvPr>
        </p:nvSpPr>
        <p:spPr>
          <a:xfrm>
            <a:off x="1761822" y="228600"/>
            <a:ext cx="9259747" cy="702000"/>
          </a:xfrm>
        </p:spPr>
        <p:txBody>
          <a:bodyPr/>
          <a:lstStyle/>
          <a:p>
            <a:r>
              <a:rPr lang="en-US" dirty="0"/>
              <a:t>Introduction to Containerization </a:t>
            </a:r>
            <a:endParaRPr lang="en-GB" dirty="0"/>
          </a:p>
        </p:txBody>
      </p:sp>
      <p:sp>
        <p:nvSpPr>
          <p:cNvPr id="2" name="Content Placeholder 1">
            <a:extLst>
              <a:ext uri="{FF2B5EF4-FFF2-40B4-BE49-F238E27FC236}">
                <a16:creationId xmlns:a16="http://schemas.microsoft.com/office/drawing/2014/main" id="{28A6B82F-23A1-4702-8F16-3E0F530D5343}"/>
              </a:ext>
            </a:extLst>
          </p:cNvPr>
          <p:cNvSpPr>
            <a:spLocks noGrp="1"/>
          </p:cNvSpPr>
          <p:nvPr>
            <p:ph idx="1"/>
          </p:nvPr>
        </p:nvSpPr>
        <p:spPr>
          <a:xfrm>
            <a:off x="1524002" y="1295400"/>
            <a:ext cx="6934199" cy="4847010"/>
          </a:xfrm>
        </p:spPr>
        <p:txBody>
          <a:bodyPr>
            <a:noAutofit/>
          </a:bodyPr>
          <a:lstStyle/>
          <a:p>
            <a:endParaRPr lang="en-US" dirty="0">
              <a:solidFill>
                <a:schemeClr val="tx2"/>
              </a:solidFill>
              <a:latin typeface="Arial Body"/>
            </a:endParaRPr>
          </a:p>
          <a:p>
            <a:r>
              <a:rPr lang="en-US" b="1" dirty="0"/>
              <a:t>Containerization</a:t>
            </a:r>
            <a:r>
              <a:rPr lang="en-US" dirty="0"/>
              <a:t> is the process of packaging software code, its required dependencies, configurations, libraries and other details like setup etc. which can run in a target computing environment in a smooth and efficient manner </a:t>
            </a:r>
          </a:p>
          <a:p>
            <a:r>
              <a:rPr lang="en-US" dirty="0"/>
              <a:t>C</a:t>
            </a:r>
            <a:r>
              <a:rPr lang="en-US" b="1" dirty="0"/>
              <a:t>ontainerization</a:t>
            </a:r>
            <a:r>
              <a:rPr lang="en-US" dirty="0"/>
              <a:t> abstracts an application and its required environment.</a:t>
            </a:r>
          </a:p>
          <a:p>
            <a:r>
              <a:rPr lang="en-US" dirty="0"/>
              <a:t>Frees technology and vendor lock-in </a:t>
            </a:r>
          </a:p>
          <a:p>
            <a:r>
              <a:rPr lang="en-US" dirty="0"/>
              <a:t>Successful in eliminating the conflict of different work environments that affected the productivity and efficiency previously and helps Operations and Development team to collaborate better</a:t>
            </a:r>
          </a:p>
          <a:p>
            <a:endParaRPr lang="en-GB" sz="2400" dirty="0">
              <a:solidFill>
                <a:schemeClr val="tx2"/>
              </a:solidFill>
            </a:endParaRPr>
          </a:p>
        </p:txBody>
      </p:sp>
      <p:pic>
        <p:nvPicPr>
          <p:cNvPr id="1026" name="Picture 2" descr="Image result for containerization images">
            <a:extLst>
              <a:ext uri="{FF2B5EF4-FFF2-40B4-BE49-F238E27FC236}">
                <a16:creationId xmlns:a16="http://schemas.microsoft.com/office/drawing/2014/main" id="{3905A08D-8023-4780-84FA-2BCD45EE0F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34400" y="1524000"/>
            <a:ext cx="2400300" cy="2057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09498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5E276EB-4157-42B1-9F0F-6F9799CA47A8}"/>
              </a:ext>
            </a:extLst>
          </p:cNvPr>
          <p:cNvSpPr>
            <a:spLocks noGrp="1"/>
          </p:cNvSpPr>
          <p:nvPr>
            <p:ph type="title"/>
          </p:nvPr>
        </p:nvSpPr>
        <p:spPr/>
        <p:txBody>
          <a:bodyPr/>
          <a:lstStyle/>
          <a:p>
            <a:r>
              <a:rPr lang="en-US" dirty="0"/>
              <a:t>Containers versus Virtual machines</a:t>
            </a:r>
            <a:endParaRPr lang="en-GB" dirty="0"/>
          </a:p>
        </p:txBody>
      </p:sp>
      <p:sp>
        <p:nvSpPr>
          <p:cNvPr id="9" name="Rectangle 8">
            <a:extLst>
              <a:ext uri="{FF2B5EF4-FFF2-40B4-BE49-F238E27FC236}">
                <a16:creationId xmlns:a16="http://schemas.microsoft.com/office/drawing/2014/main" id="{97469865-2B8E-4908-B906-EAE55109F0BD}"/>
              </a:ext>
            </a:extLst>
          </p:cNvPr>
          <p:cNvSpPr/>
          <p:nvPr/>
        </p:nvSpPr>
        <p:spPr>
          <a:xfrm>
            <a:off x="1467092" y="5943600"/>
            <a:ext cx="3714509" cy="38100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alibri" panose="020F0502020204030204" pitchFamily="34" charset="0"/>
                <a:cs typeface="Calibri" panose="020F0502020204030204" pitchFamily="34" charset="0"/>
              </a:rPr>
              <a:t>Hardware</a:t>
            </a:r>
            <a:endParaRPr lang="en-GB" dirty="0">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545DA2FB-FB09-4863-B03A-F7801958C328}"/>
              </a:ext>
            </a:extLst>
          </p:cNvPr>
          <p:cNvSpPr/>
          <p:nvPr/>
        </p:nvSpPr>
        <p:spPr>
          <a:xfrm>
            <a:off x="1467092" y="5486400"/>
            <a:ext cx="3714509" cy="3810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latin typeface="Calibri" panose="020F0502020204030204" pitchFamily="34" charset="0"/>
                <a:cs typeface="Calibri" panose="020F0502020204030204" pitchFamily="34" charset="0"/>
              </a:rPr>
              <a:t>OS</a:t>
            </a:r>
            <a:endParaRPr lang="en-GB" sz="1600" dirty="0">
              <a:latin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61003ED8-493B-4F67-8F67-5C39F50DA898}"/>
              </a:ext>
            </a:extLst>
          </p:cNvPr>
          <p:cNvSpPr/>
          <p:nvPr/>
        </p:nvSpPr>
        <p:spPr>
          <a:xfrm>
            <a:off x="1472172" y="5029200"/>
            <a:ext cx="3714509" cy="3810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alibri" panose="020F0502020204030204" pitchFamily="34" charset="0"/>
                <a:cs typeface="Calibri" panose="020F0502020204030204" pitchFamily="34" charset="0"/>
              </a:rPr>
              <a:t>Hypervisor</a:t>
            </a:r>
            <a:endParaRPr lang="en-GB" dirty="0">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BF2EBDE5-B189-4C6B-A45E-B7E3188781A9}"/>
              </a:ext>
            </a:extLst>
          </p:cNvPr>
          <p:cNvSpPr/>
          <p:nvPr/>
        </p:nvSpPr>
        <p:spPr>
          <a:xfrm>
            <a:off x="1600200" y="4495800"/>
            <a:ext cx="1611618" cy="3556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Calibri" panose="020F0502020204030204" pitchFamily="34" charset="0"/>
                <a:cs typeface="Calibri" panose="020F0502020204030204" pitchFamily="34" charset="0"/>
              </a:rPr>
              <a:t>OS</a:t>
            </a:r>
            <a:endParaRPr lang="en-GB" sz="1600" dirty="0">
              <a:latin typeface="Calibri" panose="020F0502020204030204" pitchFamily="34" charset="0"/>
              <a:cs typeface="Calibri" panose="020F0502020204030204" pitchFamily="34" charset="0"/>
            </a:endParaRPr>
          </a:p>
        </p:txBody>
      </p:sp>
      <p:sp>
        <p:nvSpPr>
          <p:cNvPr id="13" name="Rectangle 12">
            <a:extLst>
              <a:ext uri="{FF2B5EF4-FFF2-40B4-BE49-F238E27FC236}">
                <a16:creationId xmlns:a16="http://schemas.microsoft.com/office/drawing/2014/main" id="{83776CC6-8440-4D72-AD9C-FCD288FDF007}"/>
              </a:ext>
            </a:extLst>
          </p:cNvPr>
          <p:cNvSpPr/>
          <p:nvPr/>
        </p:nvSpPr>
        <p:spPr>
          <a:xfrm>
            <a:off x="1600201" y="4114800"/>
            <a:ext cx="775394" cy="355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Calibri" panose="020F0502020204030204" pitchFamily="34" charset="0"/>
                <a:cs typeface="Calibri" panose="020F0502020204030204" pitchFamily="34" charset="0"/>
              </a:rPr>
              <a:t>Libs</a:t>
            </a:r>
            <a:endParaRPr lang="en-GB" sz="1600" dirty="0">
              <a:latin typeface="Calibri" panose="020F0502020204030204" pitchFamily="34" charset="0"/>
              <a:cs typeface="Calibri" panose="020F0502020204030204" pitchFamily="34" charset="0"/>
            </a:endParaRPr>
          </a:p>
        </p:txBody>
      </p:sp>
      <p:sp>
        <p:nvSpPr>
          <p:cNvPr id="15" name="Rectangle 14">
            <a:extLst>
              <a:ext uri="{FF2B5EF4-FFF2-40B4-BE49-F238E27FC236}">
                <a16:creationId xmlns:a16="http://schemas.microsoft.com/office/drawing/2014/main" id="{FC665C76-F91A-45E7-8AE5-78D6C0ECC67A}"/>
              </a:ext>
            </a:extLst>
          </p:cNvPr>
          <p:cNvSpPr/>
          <p:nvPr/>
        </p:nvSpPr>
        <p:spPr>
          <a:xfrm>
            <a:off x="2425006" y="4114800"/>
            <a:ext cx="775394" cy="355600"/>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Calibri" panose="020F0502020204030204" pitchFamily="34" charset="0"/>
                <a:cs typeface="Calibri" panose="020F0502020204030204" pitchFamily="34" charset="0"/>
              </a:rPr>
              <a:t>Deps</a:t>
            </a:r>
            <a:endParaRPr lang="en-GB" sz="1600" dirty="0">
              <a:latin typeface="Calibri" panose="020F0502020204030204" pitchFamily="34" charset="0"/>
              <a:cs typeface="Calibri" panose="020F0502020204030204" pitchFamily="34" charset="0"/>
            </a:endParaRPr>
          </a:p>
        </p:txBody>
      </p:sp>
      <p:sp>
        <p:nvSpPr>
          <p:cNvPr id="16" name="Rectangle 15">
            <a:extLst>
              <a:ext uri="{FF2B5EF4-FFF2-40B4-BE49-F238E27FC236}">
                <a16:creationId xmlns:a16="http://schemas.microsoft.com/office/drawing/2014/main" id="{5742AF2A-BA16-4CA7-AEEE-C9940B7EF667}"/>
              </a:ext>
            </a:extLst>
          </p:cNvPr>
          <p:cNvSpPr/>
          <p:nvPr/>
        </p:nvSpPr>
        <p:spPr>
          <a:xfrm>
            <a:off x="1467092" y="3657600"/>
            <a:ext cx="1809509" cy="1295400"/>
          </a:xfrm>
          <a:prstGeom prst="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0">
            <a:extLst>
              <a:ext uri="{FF2B5EF4-FFF2-40B4-BE49-F238E27FC236}">
                <a16:creationId xmlns:a16="http://schemas.microsoft.com/office/drawing/2014/main" id="{650C04F2-F512-47C9-9256-7AA2A009925C}"/>
              </a:ext>
            </a:extLst>
          </p:cNvPr>
          <p:cNvSpPr/>
          <p:nvPr/>
        </p:nvSpPr>
        <p:spPr>
          <a:xfrm>
            <a:off x="1588782" y="3733800"/>
            <a:ext cx="1611618" cy="355600"/>
          </a:xfrm>
          <a:prstGeom prst="rect">
            <a:avLst/>
          </a:prstGeom>
          <a:solidFill>
            <a:schemeClr val="tx2">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Calibri" panose="020F0502020204030204" pitchFamily="34" charset="0"/>
                <a:cs typeface="Calibri" panose="020F0502020204030204" pitchFamily="34" charset="0"/>
              </a:rPr>
              <a:t>Application</a:t>
            </a:r>
            <a:endParaRPr lang="en-GB" sz="1600" dirty="0">
              <a:latin typeface="Calibri" panose="020F0502020204030204" pitchFamily="34" charset="0"/>
              <a:cs typeface="Calibri" panose="020F0502020204030204" pitchFamily="34" charset="0"/>
            </a:endParaRPr>
          </a:p>
        </p:txBody>
      </p:sp>
      <p:sp>
        <p:nvSpPr>
          <p:cNvPr id="22" name="Rectangle 21">
            <a:extLst>
              <a:ext uri="{FF2B5EF4-FFF2-40B4-BE49-F238E27FC236}">
                <a16:creationId xmlns:a16="http://schemas.microsoft.com/office/drawing/2014/main" id="{0746C2C9-8D7C-4745-ACB7-BC5AF1FFA06B}"/>
              </a:ext>
            </a:extLst>
          </p:cNvPr>
          <p:cNvSpPr/>
          <p:nvPr/>
        </p:nvSpPr>
        <p:spPr>
          <a:xfrm>
            <a:off x="3507258" y="4495800"/>
            <a:ext cx="1611618" cy="3556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Calibri" panose="020F0502020204030204" pitchFamily="34" charset="0"/>
                <a:cs typeface="Calibri" panose="020F0502020204030204" pitchFamily="34" charset="0"/>
              </a:rPr>
              <a:t>OS</a:t>
            </a:r>
            <a:endParaRPr lang="en-GB" sz="1600" dirty="0">
              <a:latin typeface="Calibri" panose="020F0502020204030204" pitchFamily="34" charset="0"/>
              <a:cs typeface="Calibri" panose="020F0502020204030204" pitchFamily="34" charset="0"/>
            </a:endParaRPr>
          </a:p>
        </p:txBody>
      </p:sp>
      <p:sp>
        <p:nvSpPr>
          <p:cNvPr id="23" name="Rectangle 22">
            <a:extLst>
              <a:ext uri="{FF2B5EF4-FFF2-40B4-BE49-F238E27FC236}">
                <a16:creationId xmlns:a16="http://schemas.microsoft.com/office/drawing/2014/main" id="{EC618189-EB8D-43B7-80BD-887E86ED9BEB}"/>
              </a:ext>
            </a:extLst>
          </p:cNvPr>
          <p:cNvSpPr/>
          <p:nvPr/>
        </p:nvSpPr>
        <p:spPr>
          <a:xfrm>
            <a:off x="3507259" y="4114800"/>
            <a:ext cx="775394" cy="355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Calibri" panose="020F0502020204030204" pitchFamily="34" charset="0"/>
                <a:cs typeface="Calibri" panose="020F0502020204030204" pitchFamily="34" charset="0"/>
              </a:rPr>
              <a:t>Libs</a:t>
            </a:r>
            <a:endParaRPr lang="en-GB" sz="1600" dirty="0">
              <a:latin typeface="Calibri" panose="020F0502020204030204" pitchFamily="34" charset="0"/>
              <a:cs typeface="Calibri" panose="020F0502020204030204" pitchFamily="34" charset="0"/>
            </a:endParaRPr>
          </a:p>
        </p:txBody>
      </p:sp>
      <p:sp>
        <p:nvSpPr>
          <p:cNvPr id="24" name="Rectangle 23">
            <a:extLst>
              <a:ext uri="{FF2B5EF4-FFF2-40B4-BE49-F238E27FC236}">
                <a16:creationId xmlns:a16="http://schemas.microsoft.com/office/drawing/2014/main" id="{E33D087F-9BC5-47F3-91E9-560F13FCEE31}"/>
              </a:ext>
            </a:extLst>
          </p:cNvPr>
          <p:cNvSpPr/>
          <p:nvPr/>
        </p:nvSpPr>
        <p:spPr>
          <a:xfrm>
            <a:off x="4332064" y="4114800"/>
            <a:ext cx="775394" cy="355600"/>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Calibri" panose="020F0502020204030204" pitchFamily="34" charset="0"/>
                <a:cs typeface="Calibri" panose="020F0502020204030204" pitchFamily="34" charset="0"/>
              </a:rPr>
              <a:t>Deps</a:t>
            </a:r>
            <a:endParaRPr lang="en-GB" sz="1600" dirty="0">
              <a:latin typeface="Calibri" panose="020F0502020204030204" pitchFamily="34" charset="0"/>
              <a:cs typeface="Calibri" panose="020F0502020204030204" pitchFamily="34" charset="0"/>
            </a:endParaRPr>
          </a:p>
        </p:txBody>
      </p:sp>
      <p:sp>
        <p:nvSpPr>
          <p:cNvPr id="25" name="Rectangle 24">
            <a:extLst>
              <a:ext uri="{FF2B5EF4-FFF2-40B4-BE49-F238E27FC236}">
                <a16:creationId xmlns:a16="http://schemas.microsoft.com/office/drawing/2014/main" id="{FC6C48E4-2D49-4054-8E9B-CDC11B7E4A01}"/>
              </a:ext>
            </a:extLst>
          </p:cNvPr>
          <p:cNvSpPr/>
          <p:nvPr/>
        </p:nvSpPr>
        <p:spPr>
          <a:xfrm>
            <a:off x="3374150" y="3657600"/>
            <a:ext cx="1809509" cy="1295400"/>
          </a:xfrm>
          <a:prstGeom prst="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25">
            <a:extLst>
              <a:ext uri="{FF2B5EF4-FFF2-40B4-BE49-F238E27FC236}">
                <a16:creationId xmlns:a16="http://schemas.microsoft.com/office/drawing/2014/main" id="{104AEB68-E300-4699-BA77-49840D15FE24}"/>
              </a:ext>
            </a:extLst>
          </p:cNvPr>
          <p:cNvSpPr/>
          <p:nvPr/>
        </p:nvSpPr>
        <p:spPr>
          <a:xfrm>
            <a:off x="3495840" y="3733800"/>
            <a:ext cx="1611618" cy="355600"/>
          </a:xfrm>
          <a:prstGeom prst="rect">
            <a:avLst/>
          </a:prstGeom>
          <a:solidFill>
            <a:schemeClr val="tx2">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Calibri" panose="020F0502020204030204" pitchFamily="34" charset="0"/>
                <a:cs typeface="Calibri" panose="020F0502020204030204" pitchFamily="34" charset="0"/>
              </a:rPr>
              <a:t>Application</a:t>
            </a:r>
            <a:endParaRPr lang="en-GB" sz="1600" dirty="0">
              <a:latin typeface="Calibri" panose="020F0502020204030204" pitchFamily="34" charset="0"/>
              <a:cs typeface="Calibri" panose="020F0502020204030204" pitchFamily="34" charset="0"/>
            </a:endParaRPr>
          </a:p>
        </p:txBody>
      </p:sp>
      <p:sp>
        <p:nvSpPr>
          <p:cNvPr id="27" name="TextBox 26">
            <a:extLst>
              <a:ext uri="{FF2B5EF4-FFF2-40B4-BE49-F238E27FC236}">
                <a16:creationId xmlns:a16="http://schemas.microsoft.com/office/drawing/2014/main" id="{3220C010-F62F-4667-8A72-9B9A2B6357E6}"/>
              </a:ext>
            </a:extLst>
          </p:cNvPr>
          <p:cNvSpPr txBox="1"/>
          <p:nvPr/>
        </p:nvSpPr>
        <p:spPr>
          <a:xfrm>
            <a:off x="1502652" y="3238034"/>
            <a:ext cx="1681871" cy="369332"/>
          </a:xfrm>
          <a:prstGeom prst="rect">
            <a:avLst/>
          </a:prstGeom>
          <a:noFill/>
        </p:spPr>
        <p:txBody>
          <a:bodyPr wrap="none" rtlCol="0">
            <a:spAutoFit/>
          </a:bodyPr>
          <a:lstStyle/>
          <a:p>
            <a:r>
              <a:rPr lang="en-US" dirty="0">
                <a:solidFill>
                  <a:schemeClr val="tx2"/>
                </a:solidFill>
                <a:latin typeface="Calibri" panose="020F0502020204030204" pitchFamily="34" charset="0"/>
                <a:cs typeface="Calibri" panose="020F0502020204030204" pitchFamily="34" charset="0"/>
              </a:rPr>
              <a:t>Virtual Machine</a:t>
            </a:r>
            <a:endParaRPr lang="en-GB" dirty="0">
              <a:solidFill>
                <a:schemeClr val="tx2"/>
              </a:solidFill>
              <a:latin typeface="Calibri" panose="020F0502020204030204" pitchFamily="34" charset="0"/>
              <a:cs typeface="Calibri" panose="020F0502020204030204" pitchFamily="34" charset="0"/>
            </a:endParaRPr>
          </a:p>
        </p:txBody>
      </p:sp>
      <p:sp>
        <p:nvSpPr>
          <p:cNvPr id="28" name="TextBox 27">
            <a:extLst>
              <a:ext uri="{FF2B5EF4-FFF2-40B4-BE49-F238E27FC236}">
                <a16:creationId xmlns:a16="http://schemas.microsoft.com/office/drawing/2014/main" id="{B0B184EB-BA17-45E8-937D-23C6954B5792}"/>
              </a:ext>
            </a:extLst>
          </p:cNvPr>
          <p:cNvSpPr txBox="1"/>
          <p:nvPr/>
        </p:nvSpPr>
        <p:spPr>
          <a:xfrm>
            <a:off x="3326763" y="3238034"/>
            <a:ext cx="1681871" cy="369332"/>
          </a:xfrm>
          <a:prstGeom prst="rect">
            <a:avLst/>
          </a:prstGeom>
          <a:noFill/>
        </p:spPr>
        <p:txBody>
          <a:bodyPr wrap="none" rtlCol="0">
            <a:spAutoFit/>
          </a:bodyPr>
          <a:lstStyle/>
          <a:p>
            <a:r>
              <a:rPr lang="en-US" dirty="0">
                <a:solidFill>
                  <a:schemeClr val="tx2"/>
                </a:solidFill>
                <a:latin typeface="Calibri" panose="020F0502020204030204" pitchFamily="34" charset="0"/>
                <a:cs typeface="Calibri" panose="020F0502020204030204" pitchFamily="34" charset="0"/>
              </a:rPr>
              <a:t>Virtual Machine</a:t>
            </a:r>
            <a:endParaRPr lang="en-GB" dirty="0">
              <a:solidFill>
                <a:schemeClr val="tx2"/>
              </a:solidFill>
              <a:latin typeface="Calibri" panose="020F0502020204030204" pitchFamily="34" charset="0"/>
              <a:cs typeface="Calibri" panose="020F0502020204030204" pitchFamily="34" charset="0"/>
            </a:endParaRPr>
          </a:p>
        </p:txBody>
      </p:sp>
      <p:cxnSp>
        <p:nvCxnSpPr>
          <p:cNvPr id="30" name="Straight Connector 29">
            <a:extLst>
              <a:ext uri="{FF2B5EF4-FFF2-40B4-BE49-F238E27FC236}">
                <a16:creationId xmlns:a16="http://schemas.microsoft.com/office/drawing/2014/main" id="{2D2F9E32-7A64-44B0-835F-CE7AEFB736DC}"/>
              </a:ext>
            </a:extLst>
          </p:cNvPr>
          <p:cNvCxnSpPr/>
          <p:nvPr/>
        </p:nvCxnSpPr>
        <p:spPr>
          <a:xfrm>
            <a:off x="5638800" y="1447800"/>
            <a:ext cx="0" cy="4876800"/>
          </a:xfrm>
          <a:prstGeom prst="line">
            <a:avLst/>
          </a:prstGeom>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F552BC9B-87DE-4E79-AC0D-1AF8693DE1CE}"/>
              </a:ext>
            </a:extLst>
          </p:cNvPr>
          <p:cNvSpPr/>
          <p:nvPr/>
        </p:nvSpPr>
        <p:spPr>
          <a:xfrm>
            <a:off x="1588782" y="2590800"/>
            <a:ext cx="549898" cy="111760"/>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Rectangle 31">
            <a:extLst>
              <a:ext uri="{FF2B5EF4-FFF2-40B4-BE49-F238E27FC236}">
                <a16:creationId xmlns:a16="http://schemas.microsoft.com/office/drawing/2014/main" id="{D9344A5F-5ED9-4831-A0A6-4271A222BDF2}"/>
              </a:ext>
            </a:extLst>
          </p:cNvPr>
          <p:cNvSpPr/>
          <p:nvPr/>
        </p:nvSpPr>
        <p:spPr>
          <a:xfrm>
            <a:off x="1600200" y="2355900"/>
            <a:ext cx="533400" cy="88800"/>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Rectangle 32">
            <a:extLst>
              <a:ext uri="{FF2B5EF4-FFF2-40B4-BE49-F238E27FC236}">
                <a16:creationId xmlns:a16="http://schemas.microsoft.com/office/drawing/2014/main" id="{C82F84B6-0FD5-4A29-B5DE-6D415CDF0CA7}"/>
              </a:ext>
            </a:extLst>
          </p:cNvPr>
          <p:cNvSpPr/>
          <p:nvPr/>
        </p:nvSpPr>
        <p:spPr>
          <a:xfrm>
            <a:off x="1600200" y="2121000"/>
            <a:ext cx="533400" cy="888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Rectangle 33">
            <a:extLst>
              <a:ext uri="{FF2B5EF4-FFF2-40B4-BE49-F238E27FC236}">
                <a16:creationId xmlns:a16="http://schemas.microsoft.com/office/drawing/2014/main" id="{52AF7A9E-EB40-4A26-858E-FC50F47474D5}"/>
              </a:ext>
            </a:extLst>
          </p:cNvPr>
          <p:cNvSpPr/>
          <p:nvPr/>
        </p:nvSpPr>
        <p:spPr>
          <a:xfrm>
            <a:off x="1600200" y="1898700"/>
            <a:ext cx="533400" cy="888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Rectangle 34">
            <a:extLst>
              <a:ext uri="{FF2B5EF4-FFF2-40B4-BE49-F238E27FC236}">
                <a16:creationId xmlns:a16="http://schemas.microsoft.com/office/drawing/2014/main" id="{39415D17-4AC1-42EA-8A1F-F3B39488BEB1}"/>
              </a:ext>
            </a:extLst>
          </p:cNvPr>
          <p:cNvSpPr/>
          <p:nvPr/>
        </p:nvSpPr>
        <p:spPr>
          <a:xfrm>
            <a:off x="1600200" y="1696066"/>
            <a:ext cx="533400" cy="888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Cylinder 35">
            <a:extLst>
              <a:ext uri="{FF2B5EF4-FFF2-40B4-BE49-F238E27FC236}">
                <a16:creationId xmlns:a16="http://schemas.microsoft.com/office/drawing/2014/main" id="{E273DADB-5C12-4D5C-A34A-BFBAAC777A6C}"/>
              </a:ext>
            </a:extLst>
          </p:cNvPr>
          <p:cNvSpPr/>
          <p:nvPr/>
        </p:nvSpPr>
        <p:spPr>
          <a:xfrm>
            <a:off x="2590800" y="1689200"/>
            <a:ext cx="735962" cy="659834"/>
          </a:xfrm>
          <a:prstGeom prst="can">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GB</a:t>
            </a:r>
            <a:endParaRPr lang="en-GB" dirty="0"/>
          </a:p>
        </p:txBody>
      </p:sp>
      <p:sp>
        <p:nvSpPr>
          <p:cNvPr id="37" name="TextBox 36">
            <a:extLst>
              <a:ext uri="{FF2B5EF4-FFF2-40B4-BE49-F238E27FC236}">
                <a16:creationId xmlns:a16="http://schemas.microsoft.com/office/drawing/2014/main" id="{0D9057D1-667F-4BA8-88E4-84773D1B66E6}"/>
              </a:ext>
            </a:extLst>
          </p:cNvPr>
          <p:cNvSpPr txBox="1"/>
          <p:nvPr/>
        </p:nvSpPr>
        <p:spPr>
          <a:xfrm>
            <a:off x="3894957" y="1447801"/>
            <a:ext cx="537327" cy="1200329"/>
          </a:xfrm>
          <a:prstGeom prst="rect">
            <a:avLst/>
          </a:prstGeom>
          <a:noFill/>
        </p:spPr>
        <p:txBody>
          <a:bodyPr wrap="none" rtlCol="0">
            <a:spAutoFit/>
          </a:bodyPr>
          <a:lstStyle/>
          <a:p>
            <a:pPr marL="285750" indent="-285750">
              <a:buFont typeface="Wingdings" panose="05000000000000000000" pitchFamily="2" charset="2"/>
              <a:buChar char="ü"/>
            </a:pPr>
            <a:r>
              <a:rPr lang="en-US" dirty="0"/>
              <a:t> </a:t>
            </a:r>
          </a:p>
          <a:p>
            <a:pPr marL="285750" indent="-285750">
              <a:buFont typeface="Wingdings" panose="05000000000000000000" pitchFamily="2" charset="2"/>
              <a:buChar char="ü"/>
            </a:pPr>
            <a:r>
              <a:rPr lang="en-US" dirty="0"/>
              <a:t> </a:t>
            </a:r>
          </a:p>
          <a:p>
            <a:pPr marL="285750" indent="-285750">
              <a:buFont typeface="Wingdings" panose="05000000000000000000" pitchFamily="2" charset="2"/>
              <a:buChar char="ü"/>
            </a:pPr>
            <a:r>
              <a:rPr lang="en-US" dirty="0"/>
              <a:t> </a:t>
            </a:r>
          </a:p>
          <a:p>
            <a:pPr marL="285750" indent="-285750">
              <a:buFont typeface="Wingdings" panose="05000000000000000000" pitchFamily="2" charset="2"/>
              <a:buChar char="ü"/>
            </a:pPr>
            <a:r>
              <a:rPr lang="en-US" dirty="0"/>
              <a:t> </a:t>
            </a:r>
            <a:endParaRPr lang="en-GB" dirty="0"/>
          </a:p>
        </p:txBody>
      </p:sp>
      <p:sp>
        <p:nvSpPr>
          <p:cNvPr id="38" name="TextBox 37">
            <a:extLst>
              <a:ext uri="{FF2B5EF4-FFF2-40B4-BE49-F238E27FC236}">
                <a16:creationId xmlns:a16="http://schemas.microsoft.com/office/drawing/2014/main" id="{F06292A8-6F61-428D-9080-5540A7A4C335}"/>
              </a:ext>
            </a:extLst>
          </p:cNvPr>
          <p:cNvSpPr txBox="1"/>
          <p:nvPr/>
        </p:nvSpPr>
        <p:spPr>
          <a:xfrm>
            <a:off x="1371601" y="2778761"/>
            <a:ext cx="954941" cy="307777"/>
          </a:xfrm>
          <a:prstGeom prst="rect">
            <a:avLst/>
          </a:prstGeom>
          <a:noFill/>
        </p:spPr>
        <p:txBody>
          <a:bodyPr wrap="none" rtlCol="0">
            <a:spAutoFit/>
          </a:bodyPr>
          <a:lstStyle/>
          <a:p>
            <a:r>
              <a:rPr lang="en-US" sz="1400" b="1" dirty="0">
                <a:solidFill>
                  <a:schemeClr val="tx2"/>
                </a:solidFill>
                <a:latin typeface="Calibri" panose="020F0502020204030204" pitchFamily="34" charset="0"/>
                <a:cs typeface="Calibri" panose="020F0502020204030204" pitchFamily="34" charset="0"/>
              </a:rPr>
              <a:t>Utilization</a:t>
            </a:r>
            <a:endParaRPr lang="en-GB" sz="1400" b="1" dirty="0">
              <a:solidFill>
                <a:schemeClr val="tx2"/>
              </a:solidFill>
              <a:latin typeface="Calibri" panose="020F0502020204030204" pitchFamily="34" charset="0"/>
              <a:cs typeface="Calibri" panose="020F0502020204030204" pitchFamily="34" charset="0"/>
            </a:endParaRPr>
          </a:p>
        </p:txBody>
      </p:sp>
      <p:sp>
        <p:nvSpPr>
          <p:cNvPr id="39" name="TextBox 38">
            <a:extLst>
              <a:ext uri="{FF2B5EF4-FFF2-40B4-BE49-F238E27FC236}">
                <a16:creationId xmlns:a16="http://schemas.microsoft.com/office/drawing/2014/main" id="{6D42DBB5-0EF0-471B-A47A-EF3DC84244E2}"/>
              </a:ext>
            </a:extLst>
          </p:cNvPr>
          <p:cNvSpPr txBox="1"/>
          <p:nvPr/>
        </p:nvSpPr>
        <p:spPr>
          <a:xfrm>
            <a:off x="2696204" y="2778761"/>
            <a:ext cx="473078" cy="307777"/>
          </a:xfrm>
          <a:prstGeom prst="rect">
            <a:avLst/>
          </a:prstGeom>
          <a:noFill/>
        </p:spPr>
        <p:txBody>
          <a:bodyPr wrap="none" rtlCol="0">
            <a:spAutoFit/>
          </a:bodyPr>
          <a:lstStyle/>
          <a:p>
            <a:r>
              <a:rPr lang="en-US" sz="1400" b="1" dirty="0">
                <a:solidFill>
                  <a:schemeClr val="tx2"/>
                </a:solidFill>
                <a:latin typeface="Calibri" panose="020F0502020204030204" pitchFamily="34" charset="0"/>
                <a:cs typeface="Calibri" panose="020F0502020204030204" pitchFamily="34" charset="0"/>
              </a:rPr>
              <a:t>Size</a:t>
            </a:r>
            <a:endParaRPr lang="en-GB" sz="1400" b="1" dirty="0">
              <a:solidFill>
                <a:schemeClr val="tx2"/>
              </a:solidFill>
              <a:latin typeface="Calibri" panose="020F0502020204030204" pitchFamily="34" charset="0"/>
              <a:cs typeface="Calibri" panose="020F0502020204030204" pitchFamily="34" charset="0"/>
            </a:endParaRPr>
          </a:p>
        </p:txBody>
      </p:sp>
      <p:sp>
        <p:nvSpPr>
          <p:cNvPr id="40" name="TextBox 39">
            <a:extLst>
              <a:ext uri="{FF2B5EF4-FFF2-40B4-BE49-F238E27FC236}">
                <a16:creationId xmlns:a16="http://schemas.microsoft.com/office/drawing/2014/main" id="{79DB439B-CD63-4FA5-A290-15CD8A800962}"/>
              </a:ext>
            </a:extLst>
          </p:cNvPr>
          <p:cNvSpPr txBox="1"/>
          <p:nvPr/>
        </p:nvSpPr>
        <p:spPr>
          <a:xfrm>
            <a:off x="3722832" y="2772152"/>
            <a:ext cx="772969" cy="307777"/>
          </a:xfrm>
          <a:prstGeom prst="rect">
            <a:avLst/>
          </a:prstGeom>
          <a:noFill/>
        </p:spPr>
        <p:txBody>
          <a:bodyPr wrap="none" rtlCol="0">
            <a:spAutoFit/>
          </a:bodyPr>
          <a:lstStyle/>
          <a:p>
            <a:r>
              <a:rPr lang="en-US" sz="1400" b="1" dirty="0">
                <a:solidFill>
                  <a:schemeClr val="tx2"/>
                </a:solidFill>
                <a:latin typeface="Calibri" panose="020F0502020204030204" pitchFamily="34" charset="0"/>
                <a:cs typeface="Calibri" panose="020F0502020204030204" pitchFamily="34" charset="0"/>
              </a:rPr>
              <a:t>Boot up</a:t>
            </a:r>
            <a:endParaRPr lang="en-GB" sz="1400" b="1" dirty="0">
              <a:solidFill>
                <a:schemeClr val="tx2"/>
              </a:solidFill>
              <a:latin typeface="Calibri" panose="020F0502020204030204" pitchFamily="34" charset="0"/>
              <a:cs typeface="Calibri" panose="020F0502020204030204" pitchFamily="34" charset="0"/>
            </a:endParaRPr>
          </a:p>
        </p:txBody>
      </p:sp>
      <p:sp>
        <p:nvSpPr>
          <p:cNvPr id="41" name="Rectangle 40">
            <a:extLst>
              <a:ext uri="{FF2B5EF4-FFF2-40B4-BE49-F238E27FC236}">
                <a16:creationId xmlns:a16="http://schemas.microsoft.com/office/drawing/2014/main" id="{07A3B60E-9EEC-4971-9BA6-E870DD0FCAE8}"/>
              </a:ext>
            </a:extLst>
          </p:cNvPr>
          <p:cNvSpPr/>
          <p:nvPr/>
        </p:nvSpPr>
        <p:spPr>
          <a:xfrm>
            <a:off x="6090922" y="5933777"/>
            <a:ext cx="3714509" cy="38100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alibri" panose="020F0502020204030204" pitchFamily="34" charset="0"/>
                <a:cs typeface="Calibri" panose="020F0502020204030204" pitchFamily="34" charset="0"/>
              </a:rPr>
              <a:t>Hardware</a:t>
            </a:r>
            <a:endParaRPr lang="en-GB" dirty="0">
              <a:latin typeface="Calibri" panose="020F0502020204030204" pitchFamily="34" charset="0"/>
              <a:cs typeface="Calibri" panose="020F0502020204030204" pitchFamily="34" charset="0"/>
            </a:endParaRPr>
          </a:p>
        </p:txBody>
      </p:sp>
      <p:sp>
        <p:nvSpPr>
          <p:cNvPr id="42" name="Rectangle 41">
            <a:extLst>
              <a:ext uri="{FF2B5EF4-FFF2-40B4-BE49-F238E27FC236}">
                <a16:creationId xmlns:a16="http://schemas.microsoft.com/office/drawing/2014/main" id="{502B5319-7A5D-4E95-8A73-6B41AB0F86D1}"/>
              </a:ext>
            </a:extLst>
          </p:cNvPr>
          <p:cNvSpPr/>
          <p:nvPr/>
        </p:nvSpPr>
        <p:spPr>
          <a:xfrm>
            <a:off x="6090922" y="5476577"/>
            <a:ext cx="3714509" cy="3810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latin typeface="Calibri" panose="020F0502020204030204" pitchFamily="34" charset="0"/>
                <a:cs typeface="Calibri" panose="020F0502020204030204" pitchFamily="34" charset="0"/>
              </a:rPr>
              <a:t>OS</a:t>
            </a:r>
            <a:endParaRPr lang="en-GB" sz="1600" dirty="0">
              <a:latin typeface="Calibri" panose="020F0502020204030204" pitchFamily="34" charset="0"/>
              <a:cs typeface="Calibri" panose="020F0502020204030204" pitchFamily="34" charset="0"/>
            </a:endParaRPr>
          </a:p>
        </p:txBody>
      </p:sp>
      <p:sp>
        <p:nvSpPr>
          <p:cNvPr id="43" name="Rectangle 42">
            <a:extLst>
              <a:ext uri="{FF2B5EF4-FFF2-40B4-BE49-F238E27FC236}">
                <a16:creationId xmlns:a16="http://schemas.microsoft.com/office/drawing/2014/main" id="{8E2D55A7-EDC0-4500-8897-22F209CFBA79}"/>
              </a:ext>
            </a:extLst>
          </p:cNvPr>
          <p:cNvSpPr/>
          <p:nvPr/>
        </p:nvSpPr>
        <p:spPr>
          <a:xfrm>
            <a:off x="6090922" y="5019377"/>
            <a:ext cx="3714509" cy="381000"/>
          </a:xfrm>
          <a:prstGeom prst="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alibri" panose="020F0502020204030204" pitchFamily="34" charset="0"/>
                <a:cs typeface="Calibri" panose="020F0502020204030204" pitchFamily="34" charset="0"/>
              </a:rPr>
              <a:t>Docker</a:t>
            </a:r>
            <a:endParaRPr lang="en-GB" dirty="0">
              <a:latin typeface="Calibri" panose="020F0502020204030204" pitchFamily="34" charset="0"/>
              <a:cs typeface="Calibri" panose="020F0502020204030204" pitchFamily="34" charset="0"/>
            </a:endParaRPr>
          </a:p>
        </p:txBody>
      </p:sp>
      <p:sp>
        <p:nvSpPr>
          <p:cNvPr id="45" name="Rectangle 44">
            <a:extLst>
              <a:ext uri="{FF2B5EF4-FFF2-40B4-BE49-F238E27FC236}">
                <a16:creationId xmlns:a16="http://schemas.microsoft.com/office/drawing/2014/main" id="{308B7ACE-0337-42E3-B308-C45431905AA9}"/>
              </a:ext>
            </a:extLst>
          </p:cNvPr>
          <p:cNvSpPr/>
          <p:nvPr/>
        </p:nvSpPr>
        <p:spPr>
          <a:xfrm>
            <a:off x="6224031" y="4388891"/>
            <a:ext cx="775394" cy="355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Calibri" panose="020F0502020204030204" pitchFamily="34" charset="0"/>
                <a:cs typeface="Calibri" panose="020F0502020204030204" pitchFamily="34" charset="0"/>
              </a:rPr>
              <a:t>Libs</a:t>
            </a:r>
            <a:endParaRPr lang="en-GB" sz="1600" dirty="0">
              <a:latin typeface="Calibri" panose="020F0502020204030204" pitchFamily="34" charset="0"/>
              <a:cs typeface="Calibri" panose="020F0502020204030204" pitchFamily="34" charset="0"/>
            </a:endParaRPr>
          </a:p>
        </p:txBody>
      </p:sp>
      <p:sp>
        <p:nvSpPr>
          <p:cNvPr id="46" name="Rectangle 45">
            <a:extLst>
              <a:ext uri="{FF2B5EF4-FFF2-40B4-BE49-F238E27FC236}">
                <a16:creationId xmlns:a16="http://schemas.microsoft.com/office/drawing/2014/main" id="{9F83B3F5-C0BA-47F5-81B3-5EE214807C9C}"/>
              </a:ext>
            </a:extLst>
          </p:cNvPr>
          <p:cNvSpPr/>
          <p:nvPr/>
        </p:nvSpPr>
        <p:spPr>
          <a:xfrm>
            <a:off x="7048836" y="4388891"/>
            <a:ext cx="775394" cy="355600"/>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Calibri" panose="020F0502020204030204" pitchFamily="34" charset="0"/>
                <a:cs typeface="Calibri" panose="020F0502020204030204" pitchFamily="34" charset="0"/>
              </a:rPr>
              <a:t>Deps</a:t>
            </a:r>
            <a:endParaRPr lang="en-GB" sz="1600" dirty="0">
              <a:latin typeface="Calibri" panose="020F0502020204030204" pitchFamily="34" charset="0"/>
              <a:cs typeface="Calibri" panose="020F0502020204030204" pitchFamily="34" charset="0"/>
            </a:endParaRPr>
          </a:p>
        </p:txBody>
      </p:sp>
      <p:sp>
        <p:nvSpPr>
          <p:cNvPr id="47" name="Rectangle 46">
            <a:extLst>
              <a:ext uri="{FF2B5EF4-FFF2-40B4-BE49-F238E27FC236}">
                <a16:creationId xmlns:a16="http://schemas.microsoft.com/office/drawing/2014/main" id="{CB717C26-0979-4875-ADAC-0360189DFBA3}"/>
              </a:ext>
            </a:extLst>
          </p:cNvPr>
          <p:cNvSpPr/>
          <p:nvPr/>
        </p:nvSpPr>
        <p:spPr>
          <a:xfrm>
            <a:off x="6090922" y="3931692"/>
            <a:ext cx="1809509" cy="934949"/>
          </a:xfrm>
          <a:prstGeom prst="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Rectangle 47">
            <a:extLst>
              <a:ext uri="{FF2B5EF4-FFF2-40B4-BE49-F238E27FC236}">
                <a16:creationId xmlns:a16="http://schemas.microsoft.com/office/drawing/2014/main" id="{4789E090-A2C7-43BE-ABE8-3DB4BC68358F}"/>
              </a:ext>
            </a:extLst>
          </p:cNvPr>
          <p:cNvSpPr/>
          <p:nvPr/>
        </p:nvSpPr>
        <p:spPr>
          <a:xfrm>
            <a:off x="6212612" y="4007891"/>
            <a:ext cx="1611618" cy="355600"/>
          </a:xfrm>
          <a:prstGeom prst="rect">
            <a:avLst/>
          </a:prstGeom>
          <a:solidFill>
            <a:schemeClr val="tx2">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Calibri" panose="020F0502020204030204" pitchFamily="34" charset="0"/>
                <a:cs typeface="Calibri" panose="020F0502020204030204" pitchFamily="34" charset="0"/>
              </a:rPr>
              <a:t>Application</a:t>
            </a:r>
            <a:endParaRPr lang="en-GB" sz="1600" dirty="0">
              <a:latin typeface="Calibri" panose="020F0502020204030204" pitchFamily="34" charset="0"/>
              <a:cs typeface="Calibri" panose="020F0502020204030204" pitchFamily="34" charset="0"/>
            </a:endParaRPr>
          </a:p>
        </p:txBody>
      </p:sp>
      <p:sp>
        <p:nvSpPr>
          <p:cNvPr id="49" name="Rectangle 48">
            <a:extLst>
              <a:ext uri="{FF2B5EF4-FFF2-40B4-BE49-F238E27FC236}">
                <a16:creationId xmlns:a16="http://schemas.microsoft.com/office/drawing/2014/main" id="{C9057CC3-3328-40F4-A92A-064EEA173DD5}"/>
              </a:ext>
            </a:extLst>
          </p:cNvPr>
          <p:cNvSpPr/>
          <p:nvPr/>
        </p:nvSpPr>
        <p:spPr>
          <a:xfrm>
            <a:off x="8156670" y="4391654"/>
            <a:ext cx="775394" cy="355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Calibri" panose="020F0502020204030204" pitchFamily="34" charset="0"/>
                <a:cs typeface="Calibri" panose="020F0502020204030204" pitchFamily="34" charset="0"/>
              </a:rPr>
              <a:t>Libs</a:t>
            </a:r>
            <a:endParaRPr lang="en-GB" sz="1600" dirty="0">
              <a:latin typeface="Calibri" panose="020F0502020204030204" pitchFamily="34" charset="0"/>
              <a:cs typeface="Calibri" panose="020F0502020204030204" pitchFamily="34" charset="0"/>
            </a:endParaRPr>
          </a:p>
        </p:txBody>
      </p:sp>
      <p:sp>
        <p:nvSpPr>
          <p:cNvPr id="50" name="Rectangle 49">
            <a:extLst>
              <a:ext uri="{FF2B5EF4-FFF2-40B4-BE49-F238E27FC236}">
                <a16:creationId xmlns:a16="http://schemas.microsoft.com/office/drawing/2014/main" id="{FCC64799-5928-4E09-A5F6-6E534BE5F825}"/>
              </a:ext>
            </a:extLst>
          </p:cNvPr>
          <p:cNvSpPr/>
          <p:nvPr/>
        </p:nvSpPr>
        <p:spPr>
          <a:xfrm>
            <a:off x="8981475" y="4391654"/>
            <a:ext cx="775394" cy="355600"/>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Calibri" panose="020F0502020204030204" pitchFamily="34" charset="0"/>
                <a:cs typeface="Calibri" panose="020F0502020204030204" pitchFamily="34" charset="0"/>
              </a:rPr>
              <a:t>Deps</a:t>
            </a:r>
            <a:endParaRPr lang="en-GB" sz="1600" dirty="0">
              <a:latin typeface="Calibri" panose="020F0502020204030204" pitchFamily="34" charset="0"/>
              <a:cs typeface="Calibri" panose="020F0502020204030204" pitchFamily="34" charset="0"/>
            </a:endParaRPr>
          </a:p>
        </p:txBody>
      </p:sp>
      <p:sp>
        <p:nvSpPr>
          <p:cNvPr id="51" name="Rectangle 50">
            <a:extLst>
              <a:ext uri="{FF2B5EF4-FFF2-40B4-BE49-F238E27FC236}">
                <a16:creationId xmlns:a16="http://schemas.microsoft.com/office/drawing/2014/main" id="{98E2EB63-C038-48CD-8F38-7DE70B741EC7}"/>
              </a:ext>
            </a:extLst>
          </p:cNvPr>
          <p:cNvSpPr/>
          <p:nvPr/>
        </p:nvSpPr>
        <p:spPr>
          <a:xfrm>
            <a:off x="8023561" y="3934455"/>
            <a:ext cx="1809509" cy="934949"/>
          </a:xfrm>
          <a:prstGeom prst="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Rectangle 51">
            <a:extLst>
              <a:ext uri="{FF2B5EF4-FFF2-40B4-BE49-F238E27FC236}">
                <a16:creationId xmlns:a16="http://schemas.microsoft.com/office/drawing/2014/main" id="{02E5CBAC-20F2-4365-8D80-36A572AF7259}"/>
              </a:ext>
            </a:extLst>
          </p:cNvPr>
          <p:cNvSpPr/>
          <p:nvPr/>
        </p:nvSpPr>
        <p:spPr>
          <a:xfrm>
            <a:off x="8145251" y="4010654"/>
            <a:ext cx="1611618" cy="355600"/>
          </a:xfrm>
          <a:prstGeom prst="rect">
            <a:avLst/>
          </a:prstGeom>
          <a:solidFill>
            <a:schemeClr val="tx2">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Calibri" panose="020F0502020204030204" pitchFamily="34" charset="0"/>
                <a:cs typeface="Calibri" panose="020F0502020204030204" pitchFamily="34" charset="0"/>
              </a:rPr>
              <a:t>Application</a:t>
            </a:r>
            <a:endParaRPr lang="en-GB" sz="1600" dirty="0">
              <a:latin typeface="Calibri" panose="020F0502020204030204" pitchFamily="34" charset="0"/>
              <a:cs typeface="Calibri" panose="020F0502020204030204" pitchFamily="34" charset="0"/>
            </a:endParaRPr>
          </a:p>
        </p:txBody>
      </p:sp>
      <p:sp>
        <p:nvSpPr>
          <p:cNvPr id="53" name="TextBox 52">
            <a:extLst>
              <a:ext uri="{FF2B5EF4-FFF2-40B4-BE49-F238E27FC236}">
                <a16:creationId xmlns:a16="http://schemas.microsoft.com/office/drawing/2014/main" id="{7E46F3B7-DEA9-4147-ADC6-995168C86F18}"/>
              </a:ext>
            </a:extLst>
          </p:cNvPr>
          <p:cNvSpPr txBox="1"/>
          <p:nvPr/>
        </p:nvSpPr>
        <p:spPr>
          <a:xfrm>
            <a:off x="6326659" y="3441560"/>
            <a:ext cx="1104661" cy="369332"/>
          </a:xfrm>
          <a:prstGeom prst="rect">
            <a:avLst/>
          </a:prstGeom>
          <a:noFill/>
        </p:spPr>
        <p:txBody>
          <a:bodyPr wrap="none" rtlCol="0">
            <a:spAutoFit/>
          </a:bodyPr>
          <a:lstStyle/>
          <a:p>
            <a:r>
              <a:rPr lang="en-US" dirty="0">
                <a:solidFill>
                  <a:schemeClr val="tx2"/>
                </a:solidFill>
                <a:latin typeface="Calibri" panose="020F0502020204030204" pitchFamily="34" charset="0"/>
                <a:cs typeface="Calibri" panose="020F0502020204030204" pitchFamily="34" charset="0"/>
              </a:rPr>
              <a:t>Container</a:t>
            </a:r>
            <a:endParaRPr lang="en-GB" dirty="0">
              <a:solidFill>
                <a:schemeClr val="tx2"/>
              </a:solidFill>
              <a:latin typeface="Calibri" panose="020F0502020204030204" pitchFamily="34" charset="0"/>
              <a:cs typeface="Calibri" panose="020F0502020204030204" pitchFamily="34" charset="0"/>
            </a:endParaRPr>
          </a:p>
        </p:txBody>
      </p:sp>
      <p:sp>
        <p:nvSpPr>
          <p:cNvPr id="54" name="TextBox 53">
            <a:extLst>
              <a:ext uri="{FF2B5EF4-FFF2-40B4-BE49-F238E27FC236}">
                <a16:creationId xmlns:a16="http://schemas.microsoft.com/office/drawing/2014/main" id="{0DC0DD5C-2339-4FD1-9BEC-B0844AD14B5B}"/>
              </a:ext>
            </a:extLst>
          </p:cNvPr>
          <p:cNvSpPr txBox="1"/>
          <p:nvPr/>
        </p:nvSpPr>
        <p:spPr>
          <a:xfrm>
            <a:off x="8264512" y="3431305"/>
            <a:ext cx="1104661" cy="369332"/>
          </a:xfrm>
          <a:prstGeom prst="rect">
            <a:avLst/>
          </a:prstGeom>
          <a:noFill/>
        </p:spPr>
        <p:txBody>
          <a:bodyPr wrap="none" rtlCol="0">
            <a:spAutoFit/>
          </a:bodyPr>
          <a:lstStyle/>
          <a:p>
            <a:r>
              <a:rPr lang="en-US" dirty="0">
                <a:solidFill>
                  <a:schemeClr val="tx2"/>
                </a:solidFill>
                <a:latin typeface="Calibri" panose="020F0502020204030204" pitchFamily="34" charset="0"/>
                <a:cs typeface="Calibri" panose="020F0502020204030204" pitchFamily="34" charset="0"/>
              </a:rPr>
              <a:t>Container</a:t>
            </a:r>
            <a:endParaRPr lang="en-GB" dirty="0">
              <a:solidFill>
                <a:schemeClr val="tx2"/>
              </a:solidFill>
              <a:latin typeface="Calibri" panose="020F0502020204030204" pitchFamily="34" charset="0"/>
              <a:cs typeface="Calibri" panose="020F0502020204030204" pitchFamily="34" charset="0"/>
            </a:endParaRPr>
          </a:p>
        </p:txBody>
      </p:sp>
      <p:sp>
        <p:nvSpPr>
          <p:cNvPr id="55" name="Rectangle 54">
            <a:extLst>
              <a:ext uri="{FF2B5EF4-FFF2-40B4-BE49-F238E27FC236}">
                <a16:creationId xmlns:a16="http://schemas.microsoft.com/office/drawing/2014/main" id="{011218FA-DF6A-465B-BB98-D1AEAB7B6D82}"/>
              </a:ext>
            </a:extLst>
          </p:cNvPr>
          <p:cNvSpPr/>
          <p:nvPr/>
        </p:nvSpPr>
        <p:spPr>
          <a:xfrm>
            <a:off x="6436899" y="2531814"/>
            <a:ext cx="549898" cy="111760"/>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Rectangle 55">
            <a:extLst>
              <a:ext uri="{FF2B5EF4-FFF2-40B4-BE49-F238E27FC236}">
                <a16:creationId xmlns:a16="http://schemas.microsoft.com/office/drawing/2014/main" id="{11B02831-FF9E-4531-90AE-74BF17B1E76A}"/>
              </a:ext>
            </a:extLst>
          </p:cNvPr>
          <p:cNvSpPr/>
          <p:nvPr/>
        </p:nvSpPr>
        <p:spPr>
          <a:xfrm>
            <a:off x="6448317" y="2296914"/>
            <a:ext cx="533400" cy="88800"/>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Rectangle 56">
            <a:extLst>
              <a:ext uri="{FF2B5EF4-FFF2-40B4-BE49-F238E27FC236}">
                <a16:creationId xmlns:a16="http://schemas.microsoft.com/office/drawing/2014/main" id="{955B81FF-9729-40E2-B4F4-C351888FC93A}"/>
              </a:ext>
            </a:extLst>
          </p:cNvPr>
          <p:cNvSpPr/>
          <p:nvPr/>
        </p:nvSpPr>
        <p:spPr>
          <a:xfrm>
            <a:off x="6448317" y="2062014"/>
            <a:ext cx="533400" cy="888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Rectangle 57">
            <a:extLst>
              <a:ext uri="{FF2B5EF4-FFF2-40B4-BE49-F238E27FC236}">
                <a16:creationId xmlns:a16="http://schemas.microsoft.com/office/drawing/2014/main" id="{E3B91278-12AB-4A29-8A88-E4258B59B931}"/>
              </a:ext>
            </a:extLst>
          </p:cNvPr>
          <p:cNvSpPr/>
          <p:nvPr/>
        </p:nvSpPr>
        <p:spPr>
          <a:xfrm>
            <a:off x="6448317" y="1839714"/>
            <a:ext cx="533400" cy="888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9" name="Rectangle 58">
            <a:extLst>
              <a:ext uri="{FF2B5EF4-FFF2-40B4-BE49-F238E27FC236}">
                <a16:creationId xmlns:a16="http://schemas.microsoft.com/office/drawing/2014/main" id="{1461CB72-8F88-409B-A442-2EFE1EE09A0B}"/>
              </a:ext>
            </a:extLst>
          </p:cNvPr>
          <p:cNvSpPr/>
          <p:nvPr/>
        </p:nvSpPr>
        <p:spPr>
          <a:xfrm>
            <a:off x="6448317" y="1637080"/>
            <a:ext cx="533400" cy="888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Cylinder 59">
            <a:extLst>
              <a:ext uri="{FF2B5EF4-FFF2-40B4-BE49-F238E27FC236}">
                <a16:creationId xmlns:a16="http://schemas.microsoft.com/office/drawing/2014/main" id="{3A6B1C0F-F228-4EC3-952A-2451A28A7701}"/>
              </a:ext>
            </a:extLst>
          </p:cNvPr>
          <p:cNvSpPr/>
          <p:nvPr/>
        </p:nvSpPr>
        <p:spPr>
          <a:xfrm>
            <a:off x="7438917" y="1630214"/>
            <a:ext cx="735962" cy="659834"/>
          </a:xfrm>
          <a:prstGeom prst="can">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rPr>
              <a:t>MB</a:t>
            </a:r>
            <a:endParaRPr lang="en-GB" dirty="0">
              <a:solidFill>
                <a:schemeClr val="tx2"/>
              </a:solidFill>
            </a:endParaRPr>
          </a:p>
        </p:txBody>
      </p:sp>
      <p:sp>
        <p:nvSpPr>
          <p:cNvPr id="61" name="TextBox 60">
            <a:extLst>
              <a:ext uri="{FF2B5EF4-FFF2-40B4-BE49-F238E27FC236}">
                <a16:creationId xmlns:a16="http://schemas.microsoft.com/office/drawing/2014/main" id="{9ABFA8DF-4D0E-4C6C-93C9-3F840A4BF207}"/>
              </a:ext>
            </a:extLst>
          </p:cNvPr>
          <p:cNvSpPr txBox="1"/>
          <p:nvPr/>
        </p:nvSpPr>
        <p:spPr>
          <a:xfrm>
            <a:off x="6219718" y="2719775"/>
            <a:ext cx="954941" cy="307777"/>
          </a:xfrm>
          <a:prstGeom prst="rect">
            <a:avLst/>
          </a:prstGeom>
          <a:noFill/>
        </p:spPr>
        <p:txBody>
          <a:bodyPr wrap="none" rtlCol="0">
            <a:spAutoFit/>
          </a:bodyPr>
          <a:lstStyle/>
          <a:p>
            <a:r>
              <a:rPr lang="en-US" sz="1400" b="1" dirty="0">
                <a:solidFill>
                  <a:schemeClr val="tx2"/>
                </a:solidFill>
                <a:latin typeface="Calibri" panose="020F0502020204030204" pitchFamily="34" charset="0"/>
                <a:cs typeface="Calibri" panose="020F0502020204030204" pitchFamily="34" charset="0"/>
              </a:rPr>
              <a:t>Utilization</a:t>
            </a:r>
            <a:endParaRPr lang="en-GB" sz="1400" b="1" dirty="0">
              <a:solidFill>
                <a:schemeClr val="tx2"/>
              </a:solidFill>
              <a:latin typeface="Calibri" panose="020F0502020204030204" pitchFamily="34" charset="0"/>
              <a:cs typeface="Calibri" panose="020F0502020204030204" pitchFamily="34" charset="0"/>
            </a:endParaRPr>
          </a:p>
        </p:txBody>
      </p:sp>
      <p:sp>
        <p:nvSpPr>
          <p:cNvPr id="62" name="TextBox 61">
            <a:extLst>
              <a:ext uri="{FF2B5EF4-FFF2-40B4-BE49-F238E27FC236}">
                <a16:creationId xmlns:a16="http://schemas.microsoft.com/office/drawing/2014/main" id="{5D9EBFD3-D873-4595-A2AE-DCDB3D5F3F7B}"/>
              </a:ext>
            </a:extLst>
          </p:cNvPr>
          <p:cNvSpPr txBox="1"/>
          <p:nvPr/>
        </p:nvSpPr>
        <p:spPr>
          <a:xfrm>
            <a:off x="7544321" y="2719775"/>
            <a:ext cx="473078" cy="307777"/>
          </a:xfrm>
          <a:prstGeom prst="rect">
            <a:avLst/>
          </a:prstGeom>
          <a:noFill/>
        </p:spPr>
        <p:txBody>
          <a:bodyPr wrap="none" rtlCol="0">
            <a:spAutoFit/>
          </a:bodyPr>
          <a:lstStyle/>
          <a:p>
            <a:r>
              <a:rPr lang="en-US" sz="1400" b="1" dirty="0">
                <a:solidFill>
                  <a:schemeClr val="tx2"/>
                </a:solidFill>
                <a:latin typeface="Calibri" panose="020F0502020204030204" pitchFamily="34" charset="0"/>
                <a:cs typeface="Calibri" panose="020F0502020204030204" pitchFamily="34" charset="0"/>
              </a:rPr>
              <a:t>Size</a:t>
            </a:r>
            <a:endParaRPr lang="en-GB" sz="1400" b="1" dirty="0">
              <a:solidFill>
                <a:schemeClr val="tx2"/>
              </a:solidFill>
              <a:latin typeface="Calibri" panose="020F0502020204030204" pitchFamily="34" charset="0"/>
              <a:cs typeface="Calibri" panose="020F0502020204030204" pitchFamily="34" charset="0"/>
            </a:endParaRPr>
          </a:p>
        </p:txBody>
      </p:sp>
      <p:sp>
        <p:nvSpPr>
          <p:cNvPr id="63" name="TextBox 62">
            <a:extLst>
              <a:ext uri="{FF2B5EF4-FFF2-40B4-BE49-F238E27FC236}">
                <a16:creationId xmlns:a16="http://schemas.microsoft.com/office/drawing/2014/main" id="{34D9BB4C-403C-4D0E-AB6E-71540364AE45}"/>
              </a:ext>
            </a:extLst>
          </p:cNvPr>
          <p:cNvSpPr txBox="1"/>
          <p:nvPr/>
        </p:nvSpPr>
        <p:spPr>
          <a:xfrm>
            <a:off x="8570949" y="2713166"/>
            <a:ext cx="772969" cy="307777"/>
          </a:xfrm>
          <a:prstGeom prst="rect">
            <a:avLst/>
          </a:prstGeom>
          <a:noFill/>
        </p:spPr>
        <p:txBody>
          <a:bodyPr wrap="none" rtlCol="0">
            <a:spAutoFit/>
          </a:bodyPr>
          <a:lstStyle/>
          <a:p>
            <a:r>
              <a:rPr lang="en-US" sz="1400" b="1" dirty="0">
                <a:solidFill>
                  <a:schemeClr val="tx2"/>
                </a:solidFill>
                <a:latin typeface="Calibri" panose="020F0502020204030204" pitchFamily="34" charset="0"/>
                <a:cs typeface="Calibri" panose="020F0502020204030204" pitchFamily="34" charset="0"/>
              </a:rPr>
              <a:t>Boot up</a:t>
            </a:r>
            <a:endParaRPr lang="en-GB" sz="1400" b="1" dirty="0">
              <a:solidFill>
                <a:schemeClr val="tx2"/>
              </a:solidFill>
              <a:latin typeface="Calibri" panose="020F0502020204030204" pitchFamily="34" charset="0"/>
              <a:cs typeface="Calibri" panose="020F0502020204030204" pitchFamily="34" charset="0"/>
            </a:endParaRPr>
          </a:p>
        </p:txBody>
      </p:sp>
      <p:sp>
        <p:nvSpPr>
          <p:cNvPr id="64" name="Rectangle 63">
            <a:extLst>
              <a:ext uri="{FF2B5EF4-FFF2-40B4-BE49-F238E27FC236}">
                <a16:creationId xmlns:a16="http://schemas.microsoft.com/office/drawing/2014/main" id="{D0CFA607-1510-47EB-AC16-6980B277CAEF}"/>
              </a:ext>
            </a:extLst>
          </p:cNvPr>
          <p:cNvSpPr/>
          <p:nvPr/>
        </p:nvSpPr>
        <p:spPr>
          <a:xfrm>
            <a:off x="8781834" y="1626452"/>
            <a:ext cx="537327" cy="923330"/>
          </a:xfrm>
          <a:prstGeom prst="rect">
            <a:avLst/>
          </a:prstGeom>
        </p:spPr>
        <p:txBody>
          <a:bodyPr wrap="none">
            <a:spAutoFit/>
          </a:bodyPr>
          <a:lstStyle/>
          <a:p>
            <a:pPr marL="285750" indent="-285750">
              <a:buFont typeface="Wingdings" panose="05000000000000000000" pitchFamily="2" charset="2"/>
              <a:buChar char="ü"/>
            </a:pPr>
            <a:r>
              <a:rPr lang="en-US" dirty="0"/>
              <a:t> </a:t>
            </a:r>
          </a:p>
          <a:p>
            <a:pPr marL="285750" indent="-285750">
              <a:buFont typeface="Wingdings" panose="05000000000000000000" pitchFamily="2" charset="2"/>
              <a:buChar char="ü"/>
            </a:pPr>
            <a:r>
              <a:rPr lang="en-US" dirty="0"/>
              <a:t> </a:t>
            </a:r>
          </a:p>
          <a:p>
            <a:pPr marL="285750" indent="-285750">
              <a:buFont typeface="Wingdings" panose="05000000000000000000" pitchFamily="2" charset="2"/>
              <a:buChar char="ü"/>
            </a:pPr>
            <a:r>
              <a:rPr lang="en-US" dirty="0"/>
              <a:t> </a:t>
            </a:r>
          </a:p>
        </p:txBody>
      </p:sp>
    </p:spTree>
    <p:extLst>
      <p:ext uri="{BB962C8B-B14F-4D97-AF65-F5344CB8AC3E}">
        <p14:creationId xmlns:p14="http://schemas.microsoft.com/office/powerpoint/2010/main" val="20073196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1" y="228600"/>
            <a:ext cx="9259747" cy="702000"/>
          </a:xfrm>
        </p:spPr>
        <p:txBody>
          <a:bodyPr/>
          <a:lstStyle/>
          <a:p>
            <a:r>
              <a:rPr lang="en-GB" dirty="0"/>
              <a:t>Advantages of containerization</a:t>
            </a:r>
          </a:p>
        </p:txBody>
      </p:sp>
      <p:sp>
        <p:nvSpPr>
          <p:cNvPr id="4" name="Content Placeholder 3">
            <a:extLst>
              <a:ext uri="{FF2B5EF4-FFF2-40B4-BE49-F238E27FC236}">
                <a16:creationId xmlns:a16="http://schemas.microsoft.com/office/drawing/2014/main" id="{42F18578-6D09-4527-B5C4-5960C62290D1}"/>
              </a:ext>
            </a:extLst>
          </p:cNvPr>
          <p:cNvSpPr>
            <a:spLocks noGrp="1"/>
          </p:cNvSpPr>
          <p:nvPr>
            <p:ph idx="1"/>
          </p:nvPr>
        </p:nvSpPr>
        <p:spPr>
          <a:xfrm>
            <a:off x="1371601" y="1219200"/>
            <a:ext cx="9259747" cy="4847010"/>
          </a:xfrm>
        </p:spPr>
        <p:txBody>
          <a:bodyPr>
            <a:normAutofit fontScale="92500" lnSpcReduction="20000"/>
          </a:bodyPr>
          <a:lstStyle/>
          <a:p>
            <a:r>
              <a:rPr lang="en-US" sz="1600" dirty="0">
                <a:solidFill>
                  <a:schemeClr val="tx2"/>
                </a:solidFill>
                <a:latin typeface="Arial Body"/>
              </a:rPr>
              <a:t>Portable in Nature</a:t>
            </a:r>
          </a:p>
          <a:p>
            <a:pPr lvl="1"/>
            <a:r>
              <a:rPr lang="en-US" dirty="0"/>
              <a:t>A container image can be deployed to a new system easily, </a:t>
            </a:r>
          </a:p>
          <a:p>
            <a:pPr lvl="1"/>
            <a:r>
              <a:rPr lang="en-US" dirty="0"/>
              <a:t>Facilitate deployment of a single app on different flavors of OS</a:t>
            </a:r>
          </a:p>
          <a:p>
            <a:pPr lvl="1"/>
            <a:r>
              <a:rPr lang="en-US" dirty="0"/>
              <a:t>Easy migration to new environments like cloud without worrying about dependencies</a:t>
            </a:r>
          </a:p>
          <a:p>
            <a:r>
              <a:rPr lang="en-GB" sz="1600" dirty="0">
                <a:solidFill>
                  <a:schemeClr val="tx2"/>
                </a:solidFill>
                <a:latin typeface="Arial Body"/>
              </a:rPr>
              <a:t>Maximum Utilization of Resources</a:t>
            </a:r>
          </a:p>
          <a:p>
            <a:pPr lvl="1"/>
            <a:r>
              <a:rPr lang="en-US" dirty="0"/>
              <a:t>Containerization makes maximum utilization of computing resources like memory and CPU, and utilize far fewer resources than VMs.</a:t>
            </a:r>
          </a:p>
          <a:p>
            <a:pPr lvl="1"/>
            <a:r>
              <a:rPr lang="en-US" dirty="0"/>
              <a:t>Better sharing of hardware resources</a:t>
            </a:r>
          </a:p>
          <a:p>
            <a:r>
              <a:rPr lang="en-US" sz="1600" dirty="0">
                <a:solidFill>
                  <a:schemeClr val="tx2"/>
                </a:solidFill>
                <a:latin typeface="Arial Body"/>
              </a:rPr>
              <a:t>DevOps friendly </a:t>
            </a:r>
          </a:p>
          <a:p>
            <a:pPr lvl="1"/>
            <a:r>
              <a:rPr lang="en-US" dirty="0"/>
              <a:t>developers and testers work collaboratively on the application,</a:t>
            </a:r>
          </a:p>
          <a:p>
            <a:pPr lvl="1"/>
            <a:r>
              <a:rPr lang="en-US" dirty="0"/>
              <a:t>Speed up environment provisioning</a:t>
            </a:r>
          </a:p>
          <a:p>
            <a:pPr lvl="1"/>
            <a:r>
              <a:rPr lang="en-US" dirty="0"/>
              <a:t>Launch the distributed applications quickly without replicating the OS layer frequently</a:t>
            </a:r>
          </a:p>
          <a:p>
            <a:pPr lvl="1"/>
            <a:r>
              <a:rPr lang="en-US" dirty="0"/>
              <a:t>Faster scalability</a:t>
            </a:r>
          </a:p>
          <a:p>
            <a:r>
              <a:rPr lang="en-US" sz="1600" dirty="0">
                <a:solidFill>
                  <a:schemeClr val="tx2"/>
                </a:solidFill>
                <a:latin typeface="Arial Body"/>
              </a:rPr>
              <a:t>Simplified Security </a:t>
            </a:r>
          </a:p>
          <a:p>
            <a:pPr lvl="1"/>
            <a:r>
              <a:rPr lang="en-US" dirty="0"/>
              <a:t>Containers provide process isolation</a:t>
            </a:r>
            <a:endParaRPr lang="en-US" sz="1400" dirty="0">
              <a:solidFill>
                <a:schemeClr val="tx2"/>
              </a:solidFill>
              <a:latin typeface="Arial Body"/>
            </a:endParaRPr>
          </a:p>
          <a:p>
            <a:pPr lvl="1"/>
            <a:endParaRPr lang="en-GB" dirty="0"/>
          </a:p>
          <a:p>
            <a:endParaRPr lang="en-GB" dirty="0"/>
          </a:p>
        </p:txBody>
      </p:sp>
    </p:spTree>
    <p:extLst>
      <p:ext uri="{BB962C8B-B14F-4D97-AF65-F5344CB8AC3E}">
        <p14:creationId xmlns:p14="http://schemas.microsoft.com/office/powerpoint/2010/main" val="40093023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Images and containers</a:t>
            </a:r>
          </a:p>
        </p:txBody>
      </p:sp>
      <p:sp>
        <p:nvSpPr>
          <p:cNvPr id="4" name="Content Placeholder 3">
            <a:extLst>
              <a:ext uri="{FF2B5EF4-FFF2-40B4-BE49-F238E27FC236}">
                <a16:creationId xmlns:a16="http://schemas.microsoft.com/office/drawing/2014/main" id="{24BCC6C3-8EE6-4006-88A7-AB8DAB176F66}"/>
              </a:ext>
            </a:extLst>
          </p:cNvPr>
          <p:cNvSpPr>
            <a:spLocks noGrp="1"/>
          </p:cNvSpPr>
          <p:nvPr>
            <p:ph idx="1"/>
          </p:nvPr>
        </p:nvSpPr>
        <p:spPr>
          <a:xfrm>
            <a:off x="1447801" y="1371600"/>
            <a:ext cx="5409959" cy="2658450"/>
          </a:xfrm>
        </p:spPr>
        <p:txBody>
          <a:bodyPr>
            <a:normAutofit fontScale="85000" lnSpcReduction="20000"/>
          </a:bodyPr>
          <a:lstStyle/>
          <a:p>
            <a:pPr marL="285750" indent="-285750"/>
            <a:r>
              <a:rPr lang="en-IN" dirty="0">
                <a:solidFill>
                  <a:schemeClr val="tx2"/>
                </a:solidFill>
                <a:latin typeface="Arial Body"/>
              </a:rPr>
              <a:t> An </a:t>
            </a:r>
            <a:r>
              <a:rPr lang="en-IN" b="1" dirty="0">
                <a:solidFill>
                  <a:schemeClr val="tx2"/>
                </a:solidFill>
                <a:latin typeface="Arial Body"/>
              </a:rPr>
              <a:t>image</a:t>
            </a:r>
            <a:r>
              <a:rPr lang="en-IN" dirty="0">
                <a:solidFill>
                  <a:schemeClr val="tx2"/>
                </a:solidFill>
                <a:latin typeface="Arial Body"/>
              </a:rPr>
              <a:t> is an executable package that includes everything needed to run an application--the code, a runtime, libraries, environment variables, and configuration files.</a:t>
            </a:r>
          </a:p>
          <a:p>
            <a:pPr marL="285750" indent="-285750"/>
            <a:r>
              <a:rPr lang="en-IN" dirty="0">
                <a:solidFill>
                  <a:schemeClr val="tx2"/>
                </a:solidFill>
                <a:latin typeface="Arial Body"/>
              </a:rPr>
              <a:t>Images are built as Layers – every layer is an image</a:t>
            </a:r>
          </a:p>
          <a:p>
            <a:pPr marL="285750" indent="-285750"/>
            <a:r>
              <a:rPr lang="en-IN" dirty="0">
                <a:solidFill>
                  <a:schemeClr val="tx2"/>
                </a:solidFill>
                <a:latin typeface="Arial Body"/>
              </a:rPr>
              <a:t>Images can be stored on docker hub or antifactory</a:t>
            </a:r>
            <a:endParaRPr lang="en-GB" dirty="0">
              <a:solidFill>
                <a:schemeClr val="tx2"/>
              </a:solidFill>
              <a:latin typeface="Arial Body"/>
            </a:endParaRPr>
          </a:p>
          <a:p>
            <a:pPr marL="0" indent="0">
              <a:buNone/>
            </a:pPr>
            <a:endParaRPr lang="en-IN" dirty="0">
              <a:solidFill>
                <a:schemeClr val="tx2"/>
              </a:solidFill>
              <a:latin typeface="Arial Body"/>
            </a:endParaRPr>
          </a:p>
          <a:p>
            <a:pPr marL="0" indent="0">
              <a:buNone/>
            </a:pPr>
            <a:endParaRPr lang="en-IN" dirty="0">
              <a:solidFill>
                <a:schemeClr val="tx2"/>
              </a:solidFill>
              <a:latin typeface="Arial Body"/>
            </a:endParaRPr>
          </a:p>
          <a:p>
            <a:pPr marL="0" indent="0">
              <a:buNone/>
            </a:pPr>
            <a:endParaRPr lang="en-IN" dirty="0">
              <a:solidFill>
                <a:schemeClr val="tx2"/>
              </a:solidFill>
              <a:latin typeface="Arial Body"/>
            </a:endParaRPr>
          </a:p>
          <a:p>
            <a:pPr marL="0" indent="0">
              <a:buNone/>
            </a:pPr>
            <a:endParaRPr lang="en-IN" dirty="0">
              <a:solidFill>
                <a:schemeClr val="tx2"/>
              </a:solidFill>
              <a:latin typeface="Arial Body"/>
            </a:endParaRPr>
          </a:p>
        </p:txBody>
      </p:sp>
      <p:pic>
        <p:nvPicPr>
          <p:cNvPr id="5" name="Picture 4">
            <a:extLst>
              <a:ext uri="{FF2B5EF4-FFF2-40B4-BE49-F238E27FC236}">
                <a16:creationId xmlns:a16="http://schemas.microsoft.com/office/drawing/2014/main" id="{111EFE21-0EC2-4A9C-B6E5-1787A7C19434}"/>
              </a:ext>
            </a:extLst>
          </p:cNvPr>
          <p:cNvPicPr>
            <a:picLocks noChangeAspect="1"/>
          </p:cNvPicPr>
          <p:nvPr/>
        </p:nvPicPr>
        <p:blipFill>
          <a:blip r:embed="rId2"/>
          <a:stretch>
            <a:fillRect/>
          </a:stretch>
        </p:blipFill>
        <p:spPr>
          <a:xfrm>
            <a:off x="7086600" y="1371601"/>
            <a:ext cx="3733800" cy="2564831"/>
          </a:xfrm>
          <a:prstGeom prst="rect">
            <a:avLst/>
          </a:prstGeom>
        </p:spPr>
      </p:pic>
      <p:pic>
        <p:nvPicPr>
          <p:cNvPr id="2050" name="Picture 2" descr="Image result for Images and containers">
            <a:extLst>
              <a:ext uri="{FF2B5EF4-FFF2-40B4-BE49-F238E27FC236}">
                <a16:creationId xmlns:a16="http://schemas.microsoft.com/office/drawing/2014/main" id="{B40FE5DF-24B0-4D3B-A7AE-E7F17867A1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91400" y="4267200"/>
            <a:ext cx="2552700" cy="1790700"/>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3">
            <a:extLst>
              <a:ext uri="{FF2B5EF4-FFF2-40B4-BE49-F238E27FC236}">
                <a16:creationId xmlns:a16="http://schemas.microsoft.com/office/drawing/2014/main" id="{452481F6-7D16-4D59-8827-63294A66ABA7}"/>
              </a:ext>
            </a:extLst>
          </p:cNvPr>
          <p:cNvSpPr txBox="1">
            <a:spLocks/>
          </p:cNvSpPr>
          <p:nvPr/>
        </p:nvSpPr>
        <p:spPr>
          <a:xfrm>
            <a:off x="1371601" y="4267200"/>
            <a:ext cx="5409959" cy="1524000"/>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Clr>
                <a:schemeClr val="accent3"/>
              </a:buClr>
              <a:buFont typeface="Arial" panose="020B0604020202020204" pitchFamily="34" charset="0"/>
              <a:buChar char="•"/>
              <a:defRPr sz="1800" kern="1200" baseline="0">
                <a:solidFill>
                  <a:schemeClr val="tx1"/>
                </a:solidFill>
                <a:latin typeface="Body Level 1"/>
                <a:ea typeface="+mn-ea"/>
                <a:cs typeface="+mn-cs"/>
              </a:defRPr>
            </a:lvl1pPr>
            <a:lvl2pPr marL="685800" indent="-228600" algn="l" defTabSz="914400" rtl="0" eaLnBrk="1" latinLnBrk="0" hangingPunct="1">
              <a:lnSpc>
                <a:spcPct val="90000"/>
              </a:lnSpc>
              <a:spcBef>
                <a:spcPts val="500"/>
              </a:spcBef>
              <a:buClr>
                <a:schemeClr val="accent3"/>
              </a:buClr>
              <a:buSzPct val="100000"/>
              <a:buFont typeface="Wingdings" panose="05000000000000000000" pitchFamily="2" charset="2"/>
              <a:buChar char="§"/>
              <a:defRPr sz="1600" kern="1200" baseline="0">
                <a:solidFill>
                  <a:schemeClr val="tx1"/>
                </a:solidFill>
                <a:latin typeface="Body Level 2"/>
                <a:ea typeface="+mn-ea"/>
                <a:cs typeface="+mn-cs"/>
              </a:defRPr>
            </a:lvl2pPr>
            <a:lvl3pPr marL="1143000" indent="-228600" algn="l" defTabSz="914400" rtl="0" eaLnBrk="1" latinLnBrk="0" hangingPunct="1">
              <a:lnSpc>
                <a:spcPct val="90000"/>
              </a:lnSpc>
              <a:spcBef>
                <a:spcPts val="500"/>
              </a:spcBef>
              <a:buClr>
                <a:schemeClr val="accent3"/>
              </a:buClr>
              <a:buSzPct val="80000"/>
              <a:buFont typeface="Courier New" panose="02070309020205020404" pitchFamily="49" charset="0"/>
              <a:buChar char="o"/>
              <a:defRPr sz="1500" kern="1200" baseline="0">
                <a:solidFill>
                  <a:schemeClr val="tx1"/>
                </a:solidFill>
                <a:latin typeface="Body Level 3"/>
                <a:ea typeface="+mn-ea"/>
                <a:cs typeface="+mn-cs"/>
              </a:defRPr>
            </a:lvl3pPr>
            <a:lvl4pPr marL="1600200" indent="-228600" algn="l" defTabSz="914400" rtl="0" eaLnBrk="1" latinLnBrk="0" hangingPunct="1">
              <a:lnSpc>
                <a:spcPct val="90000"/>
              </a:lnSpc>
              <a:spcBef>
                <a:spcPts val="500"/>
              </a:spcBef>
              <a:buClr>
                <a:schemeClr val="accent3"/>
              </a:buClr>
              <a:buSzPct val="60000"/>
              <a:buFont typeface="Wingdings" panose="05000000000000000000" pitchFamily="2" charset="2"/>
              <a:buChar char="q"/>
              <a:defRPr sz="1400" kern="1200" baseline="0">
                <a:solidFill>
                  <a:schemeClr val="tx1"/>
                </a:solidFill>
                <a:latin typeface="Body Level 4"/>
                <a:ea typeface="+mn-ea"/>
                <a:cs typeface="+mn-cs"/>
              </a:defRPr>
            </a:lvl4pPr>
            <a:lvl5pPr marL="2057400" indent="-228600" algn="l" defTabSz="914400" rtl="0" eaLnBrk="1" latinLnBrk="0" hangingPunct="1">
              <a:lnSpc>
                <a:spcPct val="90000"/>
              </a:lnSpc>
              <a:spcBef>
                <a:spcPts val="500"/>
              </a:spcBef>
              <a:buClr>
                <a:schemeClr val="accent3"/>
              </a:buClr>
              <a:buFont typeface="Arial" panose="020B0604020202020204" pitchFamily="34" charset="0"/>
              <a:buChar char="-"/>
              <a:defRPr sz="1200" kern="1200" baseline="0">
                <a:solidFill>
                  <a:schemeClr val="tx1"/>
                </a:solidFill>
                <a:latin typeface="Body Level 5"/>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schemeClr val="tx2"/>
                </a:solidFill>
                <a:latin typeface="Arial Body"/>
              </a:rPr>
              <a:t> A </a:t>
            </a:r>
            <a:r>
              <a:rPr lang="en-US" b="1" dirty="0">
                <a:solidFill>
                  <a:schemeClr val="tx2"/>
                </a:solidFill>
                <a:latin typeface="Arial Body"/>
              </a:rPr>
              <a:t>container</a:t>
            </a:r>
            <a:r>
              <a:rPr lang="en-US" dirty="0">
                <a:solidFill>
                  <a:schemeClr val="tx2"/>
                </a:solidFill>
                <a:latin typeface="Arial Body"/>
              </a:rPr>
              <a:t> is a runtime instance of an image--what the image becomes in memory when executed (that is, an image with state, or a user process). </a:t>
            </a:r>
          </a:p>
          <a:p>
            <a:pPr marL="285750" indent="-285750"/>
            <a:endParaRPr lang="en-US" dirty="0">
              <a:solidFill>
                <a:schemeClr val="tx2"/>
              </a:solidFill>
              <a:latin typeface="Arial Body"/>
            </a:endParaRPr>
          </a:p>
          <a:p>
            <a:pPr marL="285750" indent="-285750"/>
            <a:endParaRPr lang="en-IN" dirty="0">
              <a:solidFill>
                <a:schemeClr val="tx2"/>
              </a:solidFill>
              <a:latin typeface="Arial Body"/>
            </a:endParaRPr>
          </a:p>
          <a:p>
            <a:pPr marL="0" indent="0">
              <a:buNone/>
            </a:pPr>
            <a:endParaRPr lang="en-IN" dirty="0">
              <a:solidFill>
                <a:schemeClr val="tx2"/>
              </a:solidFill>
              <a:latin typeface="Arial Body"/>
            </a:endParaRPr>
          </a:p>
          <a:p>
            <a:pPr marL="0" indent="0">
              <a:buNone/>
            </a:pPr>
            <a:endParaRPr lang="en-IN" dirty="0">
              <a:solidFill>
                <a:schemeClr val="tx2"/>
              </a:solidFill>
              <a:latin typeface="Arial Body"/>
            </a:endParaRPr>
          </a:p>
          <a:p>
            <a:pPr marL="0" indent="0">
              <a:buNone/>
            </a:pPr>
            <a:endParaRPr lang="en-IN" dirty="0">
              <a:solidFill>
                <a:schemeClr val="tx2"/>
              </a:solidFill>
              <a:latin typeface="Arial Body"/>
            </a:endParaRPr>
          </a:p>
        </p:txBody>
      </p:sp>
    </p:spTree>
    <p:extLst>
      <p:ext uri="{BB962C8B-B14F-4D97-AF65-F5344CB8AC3E}">
        <p14:creationId xmlns:p14="http://schemas.microsoft.com/office/powerpoint/2010/main" val="32717110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A21F9-D91D-4365-8310-C207DE4652D0}"/>
              </a:ext>
            </a:extLst>
          </p:cNvPr>
          <p:cNvSpPr>
            <a:spLocks noGrp="1"/>
          </p:cNvSpPr>
          <p:nvPr>
            <p:ph type="title"/>
          </p:nvPr>
        </p:nvSpPr>
        <p:spPr/>
        <p:txBody>
          <a:bodyPr/>
          <a:lstStyle/>
          <a:p>
            <a:r>
              <a:rPr lang="en-US" dirty="0"/>
              <a:t>Popular Linux Containers </a:t>
            </a:r>
            <a:endParaRPr lang="en-GB" dirty="0"/>
          </a:p>
        </p:txBody>
      </p:sp>
      <p:pic>
        <p:nvPicPr>
          <p:cNvPr id="4" name="Picture 3">
            <a:extLst>
              <a:ext uri="{FF2B5EF4-FFF2-40B4-BE49-F238E27FC236}">
                <a16:creationId xmlns:a16="http://schemas.microsoft.com/office/drawing/2014/main" id="{6CFDF567-FDE0-482A-A36E-B389A5F41EA2}"/>
              </a:ext>
            </a:extLst>
          </p:cNvPr>
          <p:cNvPicPr>
            <a:picLocks noChangeAspect="1"/>
          </p:cNvPicPr>
          <p:nvPr/>
        </p:nvPicPr>
        <p:blipFill>
          <a:blip r:embed="rId2"/>
          <a:stretch>
            <a:fillRect/>
          </a:stretch>
        </p:blipFill>
        <p:spPr>
          <a:xfrm>
            <a:off x="2590801" y="1828801"/>
            <a:ext cx="6029325" cy="2124075"/>
          </a:xfrm>
          <a:prstGeom prst="rect">
            <a:avLst/>
          </a:prstGeom>
        </p:spPr>
      </p:pic>
    </p:spTree>
    <p:extLst>
      <p:ext uri="{BB962C8B-B14F-4D97-AF65-F5344CB8AC3E}">
        <p14:creationId xmlns:p14="http://schemas.microsoft.com/office/powerpoint/2010/main" val="23602778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F4505-E44D-4CAE-BB58-27C54A513A96}"/>
              </a:ext>
            </a:extLst>
          </p:cNvPr>
          <p:cNvSpPr>
            <a:spLocks noGrp="1"/>
          </p:cNvSpPr>
          <p:nvPr>
            <p:ph type="title"/>
          </p:nvPr>
        </p:nvSpPr>
        <p:spPr/>
        <p:txBody>
          <a:bodyPr/>
          <a:lstStyle/>
          <a:p>
            <a:r>
              <a:rPr lang="en-US" dirty="0"/>
              <a:t>Agenda</a:t>
            </a:r>
            <a:endParaRPr lang="en-GB" dirty="0"/>
          </a:p>
        </p:txBody>
      </p:sp>
      <p:sp>
        <p:nvSpPr>
          <p:cNvPr id="3" name="Content Placeholder 2">
            <a:extLst>
              <a:ext uri="{FF2B5EF4-FFF2-40B4-BE49-F238E27FC236}">
                <a16:creationId xmlns:a16="http://schemas.microsoft.com/office/drawing/2014/main" id="{16D64829-369D-48A5-A456-6FB77D5FCD00}"/>
              </a:ext>
            </a:extLst>
          </p:cNvPr>
          <p:cNvSpPr>
            <a:spLocks noGrp="1"/>
          </p:cNvSpPr>
          <p:nvPr>
            <p:ph idx="1"/>
          </p:nvPr>
        </p:nvSpPr>
        <p:spPr/>
        <p:txBody>
          <a:bodyPr/>
          <a:lstStyle/>
          <a:p>
            <a:pPr>
              <a:buFont typeface="Arial" panose="020B0604020202020204" pitchFamily="34" charset="0"/>
              <a:buChar char="•"/>
            </a:pPr>
            <a:r>
              <a:rPr lang="en-US" dirty="0">
                <a:latin typeface="+mj-lt"/>
              </a:rPr>
              <a:t>What is docker </a:t>
            </a:r>
          </a:p>
          <a:p>
            <a:pPr>
              <a:buFont typeface="Arial" panose="020B0604020202020204" pitchFamily="34" charset="0"/>
              <a:buChar char="•"/>
            </a:pPr>
            <a:r>
              <a:rPr lang="en-US" dirty="0">
                <a:latin typeface="+mj-lt"/>
              </a:rPr>
              <a:t>Docker Architecture </a:t>
            </a:r>
          </a:p>
          <a:p>
            <a:pPr>
              <a:buFont typeface="Arial" panose="020B0604020202020204" pitchFamily="34" charset="0"/>
              <a:buChar char="•"/>
            </a:pPr>
            <a:r>
              <a:rPr lang="en-US" dirty="0">
                <a:latin typeface="+mj-lt"/>
              </a:rPr>
              <a:t>Docker images</a:t>
            </a:r>
          </a:p>
          <a:p>
            <a:pPr>
              <a:buFont typeface="Arial" panose="020B0604020202020204" pitchFamily="34" charset="0"/>
              <a:buChar char="•"/>
            </a:pPr>
            <a:r>
              <a:rPr lang="en-US" dirty="0">
                <a:latin typeface="+mj-lt"/>
              </a:rPr>
              <a:t>Working with docker </a:t>
            </a:r>
          </a:p>
          <a:p>
            <a:pPr lvl="1">
              <a:buFont typeface="Arial" panose="020B0604020202020204" pitchFamily="34" charset="0"/>
              <a:buChar char="•"/>
            </a:pPr>
            <a:r>
              <a:rPr lang="en-US" dirty="0"/>
              <a:t> </a:t>
            </a:r>
            <a:r>
              <a:rPr lang="en-US" dirty="0">
                <a:latin typeface="+mj-lt"/>
              </a:rPr>
              <a:t>downloading images</a:t>
            </a:r>
          </a:p>
          <a:p>
            <a:pPr lvl="1">
              <a:buFont typeface="Arial" panose="020B0604020202020204" pitchFamily="34" charset="0"/>
              <a:buChar char="•"/>
            </a:pPr>
            <a:r>
              <a:rPr lang="en-US" dirty="0">
                <a:latin typeface="+mj-lt"/>
              </a:rPr>
              <a:t> managing containers</a:t>
            </a:r>
          </a:p>
          <a:p>
            <a:pPr lvl="1">
              <a:buFont typeface="Arial" panose="020B0604020202020204" pitchFamily="34" charset="0"/>
              <a:buChar char="•"/>
            </a:pPr>
            <a:r>
              <a:rPr lang="en-US" dirty="0">
                <a:latin typeface="+mj-lt"/>
              </a:rPr>
              <a:t> extending containers </a:t>
            </a:r>
          </a:p>
          <a:p>
            <a:pPr lvl="1"/>
            <a:endParaRPr lang="en-GB" dirty="0"/>
          </a:p>
        </p:txBody>
      </p:sp>
      <p:pic>
        <p:nvPicPr>
          <p:cNvPr id="5" name="Picture 4">
            <a:extLst>
              <a:ext uri="{FF2B5EF4-FFF2-40B4-BE49-F238E27FC236}">
                <a16:creationId xmlns:a16="http://schemas.microsoft.com/office/drawing/2014/main" id="{02F699DC-F512-4202-9E4F-D4D3E54F41A9}"/>
              </a:ext>
            </a:extLst>
          </p:cNvPr>
          <p:cNvPicPr>
            <a:picLocks noChangeAspect="1"/>
          </p:cNvPicPr>
          <p:nvPr/>
        </p:nvPicPr>
        <p:blipFill>
          <a:blip r:embed="rId2"/>
          <a:stretch>
            <a:fillRect/>
          </a:stretch>
        </p:blipFill>
        <p:spPr>
          <a:xfrm>
            <a:off x="8001000" y="1447800"/>
            <a:ext cx="1600200" cy="838200"/>
          </a:xfrm>
          <a:prstGeom prst="rect">
            <a:avLst/>
          </a:prstGeom>
        </p:spPr>
      </p:pic>
    </p:spTree>
    <p:extLst>
      <p:ext uri="{BB962C8B-B14F-4D97-AF65-F5344CB8AC3E}">
        <p14:creationId xmlns:p14="http://schemas.microsoft.com/office/powerpoint/2010/main" val="35408293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74334-AB07-4D96-86F1-A81FC4B58D87}"/>
              </a:ext>
            </a:extLst>
          </p:cNvPr>
          <p:cNvSpPr>
            <a:spLocks noGrp="1"/>
          </p:cNvSpPr>
          <p:nvPr>
            <p:ph type="title"/>
          </p:nvPr>
        </p:nvSpPr>
        <p:spPr/>
        <p:txBody>
          <a:bodyPr/>
          <a:lstStyle/>
          <a:p>
            <a:r>
              <a:rPr lang="en-US" dirty="0"/>
              <a:t>Docker </a:t>
            </a:r>
            <a:endParaRPr lang="en-GB" dirty="0"/>
          </a:p>
        </p:txBody>
      </p:sp>
      <p:sp>
        <p:nvSpPr>
          <p:cNvPr id="3" name="Content Placeholder 2">
            <a:extLst>
              <a:ext uri="{FF2B5EF4-FFF2-40B4-BE49-F238E27FC236}">
                <a16:creationId xmlns:a16="http://schemas.microsoft.com/office/drawing/2014/main" id="{BC76386C-CC38-4BD1-83D7-713F0BEE97E4}"/>
              </a:ext>
            </a:extLst>
          </p:cNvPr>
          <p:cNvSpPr>
            <a:spLocks noGrp="1"/>
          </p:cNvSpPr>
          <p:nvPr>
            <p:ph idx="1"/>
          </p:nvPr>
        </p:nvSpPr>
        <p:spPr>
          <a:xfrm>
            <a:off x="1467092" y="1323002"/>
            <a:ext cx="4019309" cy="3020399"/>
          </a:xfrm>
        </p:spPr>
        <p:txBody>
          <a:bodyPr>
            <a:normAutofit fontScale="70000" lnSpcReduction="20000"/>
          </a:bodyPr>
          <a:lstStyle/>
          <a:p>
            <a:pPr>
              <a:buFont typeface="Arial" panose="020B0604020202020204" pitchFamily="34" charset="0"/>
              <a:buChar char="•"/>
            </a:pPr>
            <a:r>
              <a:rPr lang="en-US" dirty="0">
                <a:latin typeface="+mn-lt"/>
              </a:rPr>
              <a:t>Docker is a popular Open-Source Linux Container Engine, developed by </a:t>
            </a:r>
            <a:r>
              <a:rPr lang="en-US" dirty="0" err="1">
                <a:latin typeface="+mn-lt"/>
              </a:rPr>
              <a:t>DotCloud</a:t>
            </a:r>
            <a:r>
              <a:rPr lang="en-US" dirty="0">
                <a:latin typeface="+mn-lt"/>
              </a:rPr>
              <a:t> </a:t>
            </a:r>
          </a:p>
          <a:p>
            <a:pPr>
              <a:buFont typeface="Arial" panose="020B0604020202020204" pitchFamily="34" charset="0"/>
              <a:buChar char="•"/>
            </a:pPr>
            <a:r>
              <a:rPr lang="en-US" dirty="0">
                <a:latin typeface="+mn-lt"/>
              </a:rPr>
              <a:t>Simplifies the process of creating and managing containers</a:t>
            </a:r>
          </a:p>
          <a:p>
            <a:pPr>
              <a:buFont typeface="Arial" panose="020B0604020202020204" pitchFamily="34" charset="0"/>
              <a:buChar char="•"/>
            </a:pPr>
            <a:r>
              <a:rPr lang="en-US" dirty="0">
                <a:latin typeface="+mn-lt"/>
              </a:rPr>
              <a:t>Serves as a base for Container Orchestration </a:t>
            </a:r>
          </a:p>
          <a:p>
            <a:pPr>
              <a:buFont typeface="Arial" panose="020B0604020202020204" pitchFamily="34" charset="0"/>
              <a:buChar char="•"/>
            </a:pPr>
            <a:endParaRPr lang="en-GB" dirty="0"/>
          </a:p>
        </p:txBody>
      </p:sp>
      <p:pic>
        <p:nvPicPr>
          <p:cNvPr id="4" name="Picture 3">
            <a:extLst>
              <a:ext uri="{FF2B5EF4-FFF2-40B4-BE49-F238E27FC236}">
                <a16:creationId xmlns:a16="http://schemas.microsoft.com/office/drawing/2014/main" id="{B07ACAA8-FCEA-4438-9357-DB1A127BAE61}"/>
              </a:ext>
            </a:extLst>
          </p:cNvPr>
          <p:cNvPicPr>
            <a:picLocks noChangeAspect="1"/>
          </p:cNvPicPr>
          <p:nvPr/>
        </p:nvPicPr>
        <p:blipFill>
          <a:blip r:embed="rId2"/>
          <a:stretch>
            <a:fillRect/>
          </a:stretch>
        </p:blipFill>
        <p:spPr>
          <a:xfrm>
            <a:off x="6324600" y="1676401"/>
            <a:ext cx="4133088" cy="2077837"/>
          </a:xfrm>
          <a:prstGeom prst="rect">
            <a:avLst/>
          </a:prstGeom>
        </p:spPr>
      </p:pic>
    </p:spTree>
    <p:extLst>
      <p:ext uri="{BB962C8B-B14F-4D97-AF65-F5344CB8AC3E}">
        <p14:creationId xmlns:p14="http://schemas.microsoft.com/office/powerpoint/2010/main" val="29058299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67092" y="199800"/>
            <a:ext cx="9259747" cy="702000"/>
          </a:xfrm>
        </p:spPr>
        <p:txBody>
          <a:bodyPr anchor="b">
            <a:normAutofit/>
          </a:bodyPr>
          <a:lstStyle/>
          <a:p>
            <a:r>
              <a:rPr lang="en-GB" dirty="0"/>
              <a:t>Docker Engine Architecture</a:t>
            </a:r>
          </a:p>
        </p:txBody>
      </p:sp>
      <p:pic>
        <p:nvPicPr>
          <p:cNvPr id="5" name="Picture 4" descr="Diagram&#10;&#10;Description automatically generated">
            <a:extLst>
              <a:ext uri="{FF2B5EF4-FFF2-40B4-BE49-F238E27FC236}">
                <a16:creationId xmlns:a16="http://schemas.microsoft.com/office/drawing/2014/main" id="{948252BC-FB49-4C97-90E6-11D0D31F1285}"/>
              </a:ext>
            </a:extLst>
          </p:cNvPr>
          <p:cNvPicPr>
            <a:picLocks noChangeAspect="1"/>
          </p:cNvPicPr>
          <p:nvPr/>
        </p:nvPicPr>
        <p:blipFill>
          <a:blip r:embed="rId2"/>
          <a:stretch>
            <a:fillRect/>
          </a:stretch>
        </p:blipFill>
        <p:spPr>
          <a:xfrm>
            <a:off x="3381554" y="1323001"/>
            <a:ext cx="5430823" cy="4847010"/>
          </a:xfrm>
          <a:prstGeom prst="rect">
            <a:avLst/>
          </a:prstGeom>
          <a:noFill/>
        </p:spPr>
      </p:pic>
    </p:spTree>
    <p:extLst>
      <p:ext uri="{BB962C8B-B14F-4D97-AF65-F5344CB8AC3E}">
        <p14:creationId xmlns:p14="http://schemas.microsoft.com/office/powerpoint/2010/main" val="27414714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1" y="228600"/>
            <a:ext cx="9259747" cy="702000"/>
          </a:xfrm>
        </p:spPr>
        <p:txBody>
          <a:bodyPr/>
          <a:lstStyle/>
          <a:p>
            <a:r>
              <a:rPr lang="en-GB" dirty="0"/>
              <a:t>Understanding Docker images</a:t>
            </a:r>
          </a:p>
        </p:txBody>
      </p:sp>
      <p:sp>
        <p:nvSpPr>
          <p:cNvPr id="10" name="Content Placeholder 3">
            <a:extLst>
              <a:ext uri="{FF2B5EF4-FFF2-40B4-BE49-F238E27FC236}">
                <a16:creationId xmlns:a16="http://schemas.microsoft.com/office/drawing/2014/main" id="{83A3B4AD-7A12-4833-B117-A31B56684CB7}"/>
              </a:ext>
            </a:extLst>
          </p:cNvPr>
          <p:cNvSpPr>
            <a:spLocks noGrp="1"/>
          </p:cNvSpPr>
          <p:nvPr>
            <p:ph idx="1"/>
          </p:nvPr>
        </p:nvSpPr>
        <p:spPr/>
        <p:txBody>
          <a:bodyPr/>
          <a:lstStyle/>
          <a:p>
            <a:pPr marL="285750" indent="-285750"/>
            <a:r>
              <a:rPr lang="en-US" dirty="0">
                <a:solidFill>
                  <a:schemeClr val="tx2"/>
                </a:solidFill>
                <a:latin typeface="Arial Body"/>
              </a:rPr>
              <a:t>Image is  a collection of all files necessary to run application along with its dependencies</a:t>
            </a:r>
          </a:p>
          <a:p>
            <a:pPr marL="285750" indent="-285750"/>
            <a:r>
              <a:rPr lang="en-US" dirty="0">
                <a:solidFill>
                  <a:schemeClr val="tx2"/>
                </a:solidFill>
                <a:latin typeface="Arial Body"/>
              </a:rPr>
              <a:t>Images are layered, each layer is intermediate image and can be reused </a:t>
            </a:r>
          </a:p>
          <a:p>
            <a:pPr marL="285750" indent="-285750"/>
            <a:r>
              <a:rPr lang="en-US" dirty="0">
                <a:solidFill>
                  <a:schemeClr val="tx2"/>
                </a:solidFill>
                <a:latin typeface="Arial Body"/>
              </a:rPr>
              <a:t>Images are immutable </a:t>
            </a:r>
          </a:p>
          <a:p>
            <a:pPr marL="285750" indent="-285750"/>
            <a:r>
              <a:rPr lang="en-US" dirty="0">
                <a:solidFill>
                  <a:schemeClr val="tx2"/>
                </a:solidFill>
                <a:latin typeface="Arial Body"/>
              </a:rPr>
              <a:t>Docker is intelligent in reusing image</a:t>
            </a:r>
          </a:p>
          <a:p>
            <a:pPr marL="285750" indent="-285750"/>
            <a:r>
              <a:rPr lang="en-US" dirty="0">
                <a:solidFill>
                  <a:schemeClr val="tx2"/>
                </a:solidFill>
                <a:latin typeface="Arial Body"/>
              </a:rPr>
              <a:t>Base images for most open sources are available in docker registry - </a:t>
            </a:r>
            <a:r>
              <a:rPr lang="en-US" dirty="0" err="1">
                <a:solidFill>
                  <a:schemeClr val="tx2"/>
                </a:solidFill>
                <a:latin typeface="Arial Body"/>
              </a:rPr>
              <a:t>dockerhub</a:t>
            </a:r>
            <a:endParaRPr lang="en-GB" dirty="0">
              <a:solidFill>
                <a:schemeClr val="tx2"/>
              </a:solidFill>
              <a:latin typeface="Arial Body"/>
            </a:endParaRPr>
          </a:p>
        </p:txBody>
      </p:sp>
      <p:pic>
        <p:nvPicPr>
          <p:cNvPr id="7" name="Picture 6">
            <a:extLst>
              <a:ext uri="{FF2B5EF4-FFF2-40B4-BE49-F238E27FC236}">
                <a16:creationId xmlns:a16="http://schemas.microsoft.com/office/drawing/2014/main" id="{0667745F-0667-475C-94D0-6D9E9529F9B0}"/>
              </a:ext>
            </a:extLst>
          </p:cNvPr>
          <p:cNvPicPr>
            <a:picLocks noChangeAspect="1"/>
          </p:cNvPicPr>
          <p:nvPr/>
        </p:nvPicPr>
        <p:blipFill>
          <a:blip r:embed="rId2"/>
          <a:stretch>
            <a:fillRect/>
          </a:stretch>
        </p:blipFill>
        <p:spPr>
          <a:xfrm>
            <a:off x="2743200" y="3200400"/>
            <a:ext cx="2705100" cy="2647950"/>
          </a:xfrm>
          <a:prstGeom prst="rect">
            <a:avLst/>
          </a:prstGeom>
        </p:spPr>
      </p:pic>
      <p:pic>
        <p:nvPicPr>
          <p:cNvPr id="9" name="Picture 8">
            <a:extLst>
              <a:ext uri="{FF2B5EF4-FFF2-40B4-BE49-F238E27FC236}">
                <a16:creationId xmlns:a16="http://schemas.microsoft.com/office/drawing/2014/main" id="{BBEB4BCB-52A1-4F81-9692-72DA8628A9D9}"/>
              </a:ext>
            </a:extLst>
          </p:cNvPr>
          <p:cNvPicPr>
            <a:picLocks noChangeAspect="1"/>
          </p:cNvPicPr>
          <p:nvPr/>
        </p:nvPicPr>
        <p:blipFill>
          <a:blip r:embed="rId3"/>
          <a:stretch>
            <a:fillRect/>
          </a:stretch>
        </p:blipFill>
        <p:spPr>
          <a:xfrm>
            <a:off x="6934201" y="3352801"/>
            <a:ext cx="2695575" cy="2105025"/>
          </a:xfrm>
          <a:prstGeom prst="rect">
            <a:avLst/>
          </a:prstGeom>
        </p:spPr>
      </p:pic>
    </p:spTree>
    <p:extLst>
      <p:ext uri="{BB962C8B-B14F-4D97-AF65-F5344CB8AC3E}">
        <p14:creationId xmlns:p14="http://schemas.microsoft.com/office/powerpoint/2010/main" val="36057520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70076-31DD-4E5D-AE41-2AAF5BDBFDA1}"/>
              </a:ext>
            </a:extLst>
          </p:cNvPr>
          <p:cNvSpPr>
            <a:spLocks noGrp="1"/>
          </p:cNvSpPr>
          <p:nvPr>
            <p:ph type="title"/>
          </p:nvPr>
        </p:nvSpPr>
        <p:spPr>
          <a:xfrm>
            <a:off x="1813638" y="76200"/>
            <a:ext cx="9259747" cy="702000"/>
          </a:xfrm>
        </p:spPr>
        <p:txBody>
          <a:bodyPr/>
          <a:lstStyle/>
          <a:p>
            <a:r>
              <a:rPr lang="en-US" dirty="0"/>
              <a:t>Working with docker </a:t>
            </a:r>
            <a:endParaRPr lang="en-GB" dirty="0"/>
          </a:p>
        </p:txBody>
      </p:sp>
      <p:sp>
        <p:nvSpPr>
          <p:cNvPr id="3" name="Content Placeholder 2">
            <a:extLst>
              <a:ext uri="{FF2B5EF4-FFF2-40B4-BE49-F238E27FC236}">
                <a16:creationId xmlns:a16="http://schemas.microsoft.com/office/drawing/2014/main" id="{7A3A5753-1AD3-432F-A4E1-DD129571781C}"/>
              </a:ext>
            </a:extLst>
          </p:cNvPr>
          <p:cNvSpPr>
            <a:spLocks noGrp="1"/>
          </p:cNvSpPr>
          <p:nvPr>
            <p:ph idx="1"/>
          </p:nvPr>
        </p:nvSpPr>
        <p:spPr>
          <a:xfrm>
            <a:off x="1524001" y="1143000"/>
            <a:ext cx="4800600" cy="5029200"/>
          </a:xfrm>
        </p:spPr>
        <p:txBody>
          <a:bodyPr>
            <a:normAutofit fontScale="92500" lnSpcReduction="20000"/>
          </a:bodyPr>
          <a:lstStyle/>
          <a:p>
            <a:r>
              <a:rPr lang="en-US" dirty="0"/>
              <a:t>Pulling an image from a repository </a:t>
            </a:r>
          </a:p>
          <a:p>
            <a:pPr marL="0" indent="0">
              <a:buNone/>
            </a:pPr>
            <a:endParaRPr lang="en-US" dirty="0"/>
          </a:p>
          <a:p>
            <a:r>
              <a:rPr lang="en-US" dirty="0"/>
              <a:t>Viewing the list of images </a:t>
            </a:r>
          </a:p>
          <a:p>
            <a:endParaRPr lang="en-US" dirty="0"/>
          </a:p>
          <a:p>
            <a:r>
              <a:rPr lang="en-US" dirty="0"/>
              <a:t>Creating a container </a:t>
            </a:r>
          </a:p>
          <a:p>
            <a:endParaRPr lang="en-US" dirty="0"/>
          </a:p>
          <a:p>
            <a:r>
              <a:rPr lang="en-US" dirty="0"/>
              <a:t>Viewing containers</a:t>
            </a:r>
          </a:p>
          <a:p>
            <a:endParaRPr lang="en-US" dirty="0"/>
          </a:p>
          <a:p>
            <a:r>
              <a:rPr lang="en-US" dirty="0"/>
              <a:t>Getting inside Containers</a:t>
            </a:r>
          </a:p>
          <a:p>
            <a:endParaRPr lang="en-US" dirty="0"/>
          </a:p>
          <a:p>
            <a:r>
              <a:rPr lang="en-US" dirty="0"/>
              <a:t>Stopping and removing Containers </a:t>
            </a:r>
          </a:p>
          <a:p>
            <a:pPr marL="0" indent="0">
              <a:buNone/>
            </a:pPr>
            <a:endParaRPr lang="en-US" dirty="0"/>
          </a:p>
        </p:txBody>
      </p:sp>
      <p:sp>
        <p:nvSpPr>
          <p:cNvPr id="4" name="Rectangle 3">
            <a:extLst>
              <a:ext uri="{FF2B5EF4-FFF2-40B4-BE49-F238E27FC236}">
                <a16:creationId xmlns:a16="http://schemas.microsoft.com/office/drawing/2014/main" id="{47EFB2C9-DBD0-49F9-AA9D-918DB929CF02}"/>
              </a:ext>
            </a:extLst>
          </p:cNvPr>
          <p:cNvSpPr/>
          <p:nvPr/>
        </p:nvSpPr>
        <p:spPr>
          <a:xfrm>
            <a:off x="1828800" y="1447800"/>
            <a:ext cx="37338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t>docker pull </a:t>
            </a:r>
            <a:r>
              <a:rPr lang="en-US" sz="1400" dirty="0" err="1"/>
              <a:t>postgres:latest</a:t>
            </a:r>
            <a:endParaRPr lang="en-GB" sz="1400" dirty="0"/>
          </a:p>
        </p:txBody>
      </p:sp>
      <p:sp>
        <p:nvSpPr>
          <p:cNvPr id="5" name="Rectangle 4">
            <a:extLst>
              <a:ext uri="{FF2B5EF4-FFF2-40B4-BE49-F238E27FC236}">
                <a16:creationId xmlns:a16="http://schemas.microsoft.com/office/drawing/2014/main" id="{884F3DC1-0846-4D8D-88A1-765499AE79FE}"/>
              </a:ext>
            </a:extLst>
          </p:cNvPr>
          <p:cNvSpPr/>
          <p:nvPr/>
        </p:nvSpPr>
        <p:spPr>
          <a:xfrm>
            <a:off x="1752600" y="2209800"/>
            <a:ext cx="37338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t>docker images </a:t>
            </a:r>
            <a:endParaRPr lang="en-GB" sz="1400" dirty="0"/>
          </a:p>
        </p:txBody>
      </p:sp>
      <p:sp>
        <p:nvSpPr>
          <p:cNvPr id="6" name="Rectangle 5">
            <a:extLst>
              <a:ext uri="{FF2B5EF4-FFF2-40B4-BE49-F238E27FC236}">
                <a16:creationId xmlns:a16="http://schemas.microsoft.com/office/drawing/2014/main" id="{652ABD5D-BC60-4AB1-B94D-BB0619134FF9}"/>
              </a:ext>
            </a:extLst>
          </p:cNvPr>
          <p:cNvSpPr/>
          <p:nvPr/>
        </p:nvSpPr>
        <p:spPr>
          <a:xfrm>
            <a:off x="1676400" y="2971800"/>
            <a:ext cx="43434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t>docker run  -d –name c1  &lt;</a:t>
            </a:r>
            <a:r>
              <a:rPr lang="en-US" sz="1400" dirty="0" err="1"/>
              <a:t>imageid</a:t>
            </a:r>
            <a:r>
              <a:rPr lang="en-US" sz="1400" dirty="0"/>
              <a:t>&gt; / &lt;</a:t>
            </a:r>
            <a:r>
              <a:rPr lang="en-US" sz="1400" dirty="0" err="1"/>
              <a:t>imagename</a:t>
            </a:r>
            <a:r>
              <a:rPr lang="en-US" sz="1400" dirty="0"/>
              <a:t>&gt; </a:t>
            </a:r>
            <a:endParaRPr lang="en-GB" sz="1400" dirty="0"/>
          </a:p>
        </p:txBody>
      </p:sp>
      <p:sp>
        <p:nvSpPr>
          <p:cNvPr id="7" name="Rectangle 6">
            <a:extLst>
              <a:ext uri="{FF2B5EF4-FFF2-40B4-BE49-F238E27FC236}">
                <a16:creationId xmlns:a16="http://schemas.microsoft.com/office/drawing/2014/main" id="{6C3FD736-04B6-44F9-B096-4CAE3866EB66}"/>
              </a:ext>
            </a:extLst>
          </p:cNvPr>
          <p:cNvSpPr/>
          <p:nvPr/>
        </p:nvSpPr>
        <p:spPr>
          <a:xfrm>
            <a:off x="1676400" y="3733800"/>
            <a:ext cx="37338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t>docker </a:t>
            </a:r>
            <a:r>
              <a:rPr lang="en-US" sz="1400" dirty="0" err="1"/>
              <a:t>ps</a:t>
            </a:r>
            <a:r>
              <a:rPr lang="en-US" sz="1400" dirty="0"/>
              <a:t> </a:t>
            </a:r>
            <a:endParaRPr lang="en-GB" sz="1400" dirty="0"/>
          </a:p>
        </p:txBody>
      </p:sp>
      <p:sp>
        <p:nvSpPr>
          <p:cNvPr id="8" name="Rectangle 7">
            <a:extLst>
              <a:ext uri="{FF2B5EF4-FFF2-40B4-BE49-F238E27FC236}">
                <a16:creationId xmlns:a16="http://schemas.microsoft.com/office/drawing/2014/main" id="{FCAB4641-F0AF-4958-9238-5D8138BD5943}"/>
              </a:ext>
            </a:extLst>
          </p:cNvPr>
          <p:cNvSpPr/>
          <p:nvPr/>
        </p:nvSpPr>
        <p:spPr>
          <a:xfrm>
            <a:off x="1676400" y="5181600"/>
            <a:ext cx="37338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t>docker stop c1</a:t>
            </a:r>
          </a:p>
          <a:p>
            <a:endParaRPr lang="en-US" sz="1400" dirty="0"/>
          </a:p>
          <a:p>
            <a:r>
              <a:rPr lang="en-US" sz="1400" dirty="0" err="1"/>
              <a:t>docke</a:t>
            </a:r>
            <a:r>
              <a:rPr lang="en-US" sz="1400" dirty="0"/>
              <a:t> rm c1</a:t>
            </a:r>
            <a:endParaRPr lang="en-GB" sz="1400" dirty="0"/>
          </a:p>
        </p:txBody>
      </p:sp>
      <p:sp>
        <p:nvSpPr>
          <p:cNvPr id="9" name="Rectangle 8">
            <a:extLst>
              <a:ext uri="{FF2B5EF4-FFF2-40B4-BE49-F238E27FC236}">
                <a16:creationId xmlns:a16="http://schemas.microsoft.com/office/drawing/2014/main" id="{A6ABB8CF-894E-48EB-A754-C9BB7D4EC9B7}"/>
              </a:ext>
            </a:extLst>
          </p:cNvPr>
          <p:cNvSpPr/>
          <p:nvPr/>
        </p:nvSpPr>
        <p:spPr>
          <a:xfrm>
            <a:off x="1676400" y="4419600"/>
            <a:ext cx="37338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t>docker exec –it c1 –exec &lt;</a:t>
            </a:r>
            <a:r>
              <a:rPr lang="en-US" sz="1400" dirty="0" err="1"/>
              <a:t>cmd</a:t>
            </a:r>
            <a:r>
              <a:rPr lang="en-US" sz="1400" dirty="0"/>
              <a:t>&gt;</a:t>
            </a:r>
            <a:endParaRPr lang="en-GB" sz="1400" dirty="0"/>
          </a:p>
        </p:txBody>
      </p:sp>
      <p:sp>
        <p:nvSpPr>
          <p:cNvPr id="10" name="TextBox 9">
            <a:extLst>
              <a:ext uri="{FF2B5EF4-FFF2-40B4-BE49-F238E27FC236}">
                <a16:creationId xmlns:a16="http://schemas.microsoft.com/office/drawing/2014/main" id="{66B3969A-D0E4-4559-9465-06DF8194B29D}"/>
              </a:ext>
            </a:extLst>
          </p:cNvPr>
          <p:cNvSpPr txBox="1"/>
          <p:nvPr/>
        </p:nvSpPr>
        <p:spPr>
          <a:xfrm>
            <a:off x="6858000" y="1524000"/>
            <a:ext cx="3886200" cy="1474250"/>
          </a:xfrm>
          <a:prstGeom prst="rect">
            <a:avLst/>
          </a:prstGeom>
          <a:noFill/>
        </p:spPr>
        <p:txBody>
          <a:bodyPr wrap="square" rtlCol="0">
            <a:spAutoFit/>
          </a:bodyPr>
          <a:lstStyle/>
          <a:p>
            <a:pPr marL="228600" indent="-228600">
              <a:lnSpc>
                <a:spcPct val="90000"/>
              </a:lnSpc>
              <a:spcBef>
                <a:spcPts val="1000"/>
              </a:spcBef>
              <a:buClr>
                <a:schemeClr val="accent3"/>
              </a:buClr>
              <a:buFont typeface="Arial" panose="020B0604020202020204" pitchFamily="34" charset="0"/>
              <a:buChar char="•"/>
            </a:pPr>
            <a:r>
              <a:rPr lang="en-US" dirty="0">
                <a:latin typeface="Body Level 1"/>
              </a:rPr>
              <a:t>Saving the container as new image</a:t>
            </a:r>
          </a:p>
          <a:p>
            <a:pPr marL="228600" indent="-228600">
              <a:lnSpc>
                <a:spcPct val="90000"/>
              </a:lnSpc>
              <a:spcBef>
                <a:spcPts val="1000"/>
              </a:spcBef>
              <a:buClr>
                <a:schemeClr val="accent3"/>
              </a:buClr>
              <a:buFont typeface="Arial" panose="020B0604020202020204" pitchFamily="34" charset="0"/>
              <a:buChar char="•"/>
            </a:pPr>
            <a:endParaRPr lang="en-US" dirty="0">
              <a:latin typeface="Body Level 1"/>
            </a:endParaRPr>
          </a:p>
          <a:p>
            <a:pPr marL="228600" indent="-228600">
              <a:lnSpc>
                <a:spcPct val="90000"/>
              </a:lnSpc>
              <a:spcBef>
                <a:spcPts val="1000"/>
              </a:spcBef>
              <a:buClr>
                <a:schemeClr val="accent3"/>
              </a:buClr>
              <a:buFont typeface="Arial" panose="020B0604020202020204" pitchFamily="34" charset="0"/>
              <a:buChar char="•"/>
            </a:pPr>
            <a:endParaRPr lang="en-US" dirty="0">
              <a:latin typeface="Body Level 1"/>
            </a:endParaRPr>
          </a:p>
          <a:p>
            <a:pPr>
              <a:lnSpc>
                <a:spcPct val="90000"/>
              </a:lnSpc>
              <a:spcBef>
                <a:spcPts val="1000"/>
              </a:spcBef>
              <a:buClr>
                <a:schemeClr val="accent3"/>
              </a:buClr>
            </a:pPr>
            <a:endParaRPr lang="en-GB" dirty="0">
              <a:latin typeface="Body Level 1"/>
            </a:endParaRPr>
          </a:p>
        </p:txBody>
      </p:sp>
      <p:sp>
        <p:nvSpPr>
          <p:cNvPr id="11" name="Rectangle 10">
            <a:extLst>
              <a:ext uri="{FF2B5EF4-FFF2-40B4-BE49-F238E27FC236}">
                <a16:creationId xmlns:a16="http://schemas.microsoft.com/office/drawing/2014/main" id="{BC440BC1-7B09-44A5-BD00-88F53D68AA02}"/>
              </a:ext>
            </a:extLst>
          </p:cNvPr>
          <p:cNvSpPr/>
          <p:nvPr/>
        </p:nvSpPr>
        <p:spPr>
          <a:xfrm>
            <a:off x="7010400" y="1981200"/>
            <a:ext cx="37338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t>docker commit  c1 &lt;</a:t>
            </a:r>
            <a:r>
              <a:rPr lang="en-US" sz="1400" dirty="0" err="1"/>
              <a:t>newimagename</a:t>
            </a:r>
            <a:r>
              <a:rPr lang="en-US" sz="1400" dirty="0"/>
              <a:t>&gt; </a:t>
            </a:r>
            <a:endParaRPr lang="en-GB" sz="1400" dirty="0"/>
          </a:p>
        </p:txBody>
      </p:sp>
    </p:spTree>
    <p:extLst>
      <p:ext uri="{BB962C8B-B14F-4D97-AF65-F5344CB8AC3E}">
        <p14:creationId xmlns:p14="http://schemas.microsoft.com/office/powerpoint/2010/main" val="6471423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40169-07A0-42EC-81E7-188C86619589}"/>
              </a:ext>
            </a:extLst>
          </p:cNvPr>
          <p:cNvSpPr>
            <a:spLocks noGrp="1"/>
          </p:cNvSpPr>
          <p:nvPr>
            <p:ph type="title"/>
          </p:nvPr>
        </p:nvSpPr>
        <p:spPr/>
        <p:txBody>
          <a:bodyPr/>
          <a:lstStyle/>
          <a:p>
            <a:r>
              <a:rPr lang="en-US" dirty="0"/>
              <a:t>Dockerfile </a:t>
            </a:r>
            <a:endParaRPr lang="en-GB" dirty="0"/>
          </a:p>
        </p:txBody>
      </p:sp>
      <p:sp>
        <p:nvSpPr>
          <p:cNvPr id="3" name="Content Placeholder 2">
            <a:extLst>
              <a:ext uri="{FF2B5EF4-FFF2-40B4-BE49-F238E27FC236}">
                <a16:creationId xmlns:a16="http://schemas.microsoft.com/office/drawing/2014/main" id="{94B91CB7-8670-4942-A695-B29B6AC1F2E7}"/>
              </a:ext>
            </a:extLst>
          </p:cNvPr>
          <p:cNvSpPr>
            <a:spLocks noGrp="1"/>
          </p:cNvSpPr>
          <p:nvPr>
            <p:ph idx="1"/>
          </p:nvPr>
        </p:nvSpPr>
        <p:spPr>
          <a:xfrm>
            <a:off x="1447801" y="1219200"/>
            <a:ext cx="9259747" cy="2667000"/>
          </a:xfrm>
        </p:spPr>
        <p:txBody>
          <a:bodyPr>
            <a:normAutofit fontScale="77500" lnSpcReduction="20000"/>
          </a:bodyPr>
          <a:lstStyle/>
          <a:p>
            <a:pPr>
              <a:buFont typeface="Arial" panose="020B0604020202020204" pitchFamily="34" charset="0"/>
              <a:buChar char="•"/>
            </a:pPr>
            <a:r>
              <a:rPr lang="en-US" dirty="0">
                <a:latin typeface="+mn-lt"/>
              </a:rPr>
              <a:t>A text file which contains all the commands, in order, needed to build a given image</a:t>
            </a:r>
          </a:p>
          <a:p>
            <a:pPr>
              <a:buFont typeface="Arial" panose="020B0604020202020204" pitchFamily="34" charset="0"/>
              <a:buChar char="•"/>
            </a:pPr>
            <a:r>
              <a:rPr lang="en-US" dirty="0">
                <a:latin typeface="+mn-lt"/>
              </a:rPr>
              <a:t>Docker can build the image by reading the instructions from the script </a:t>
            </a:r>
          </a:p>
          <a:p>
            <a:pPr>
              <a:buFont typeface="Arial" panose="020B0604020202020204" pitchFamily="34" charset="0"/>
              <a:buChar char="•"/>
            </a:pPr>
            <a:r>
              <a:rPr lang="en-US" dirty="0">
                <a:latin typeface="+mn-lt"/>
              </a:rPr>
              <a:t>Dockerfile is  composed of various commands/instructions and arguments  to automatically perform actions on a base image in order to create a new one.</a:t>
            </a:r>
          </a:p>
          <a:p>
            <a:pPr>
              <a:buFont typeface="Arial" panose="020B0604020202020204" pitchFamily="34" charset="0"/>
              <a:buChar char="•"/>
            </a:pPr>
            <a:r>
              <a:rPr lang="en-US" dirty="0">
                <a:latin typeface="+mn-lt"/>
              </a:rPr>
              <a:t>Default name is Dockerfile, but can have any other name indicated using –f option</a:t>
            </a:r>
          </a:p>
          <a:p>
            <a:pPr marL="0" indent="0"/>
            <a:endParaRPr lang="en-US" dirty="0">
              <a:latin typeface="+mn-lt"/>
            </a:endParaRPr>
          </a:p>
        </p:txBody>
      </p:sp>
      <p:sp>
        <p:nvSpPr>
          <p:cNvPr id="4" name="Content Placeholder 3">
            <a:extLst>
              <a:ext uri="{FF2B5EF4-FFF2-40B4-BE49-F238E27FC236}">
                <a16:creationId xmlns:a16="http://schemas.microsoft.com/office/drawing/2014/main" id="{FE7D1B6B-7DAF-4427-94A1-F7407F2F6805}"/>
              </a:ext>
            </a:extLst>
          </p:cNvPr>
          <p:cNvSpPr txBox="1">
            <a:spLocks/>
          </p:cNvSpPr>
          <p:nvPr/>
        </p:nvSpPr>
        <p:spPr>
          <a:xfrm>
            <a:off x="1752602" y="3810000"/>
            <a:ext cx="5181599" cy="2590800"/>
          </a:xfrm>
          <a:prstGeom prst="rect">
            <a:avLst/>
          </a:prstGeom>
          <a:ln>
            <a:solidFill>
              <a:schemeClr val="accent1"/>
            </a:solidFill>
          </a:ln>
        </p:spPr>
        <p:txBody>
          <a:bodyPr vert="horz" lIns="0" tIns="72000" rIns="0" bIns="0" rtlCol="0">
            <a:normAutofit/>
          </a:bodyPr>
          <a:lstStyle>
            <a:lvl1pPr marL="328142" marR="0" indent="-328142" algn="l" defTabSz="914400" rtl="0" eaLnBrk="1" fontAlgn="auto" latinLnBrk="0" hangingPunct="1">
              <a:lnSpc>
                <a:spcPct val="130000"/>
              </a:lnSpc>
              <a:spcBef>
                <a:spcPts val="0"/>
              </a:spcBef>
              <a:spcAft>
                <a:spcPts val="0"/>
              </a:spcAft>
              <a:buClr>
                <a:schemeClr val="accent3"/>
              </a:buClr>
              <a:buSzTx/>
              <a:buFont typeface="Arial" panose="020B0604020202020204" pitchFamily="34" charset="0"/>
              <a:buNone/>
              <a:tabLst>
                <a:tab pos="6164618" algn="r"/>
              </a:tabLst>
              <a:defRPr sz="1800" kern="1200" baseline="0">
                <a:solidFill>
                  <a:schemeClr val="accent5"/>
                </a:solidFill>
                <a:latin typeface="Body Level 1"/>
                <a:ea typeface="+mn-ea"/>
                <a:cs typeface="+mn-cs"/>
              </a:defRPr>
            </a:lvl1pPr>
            <a:lvl2pPr marL="457200" indent="0" algn="l" defTabSz="914400" rtl="0" eaLnBrk="1" latinLnBrk="0" hangingPunct="1">
              <a:lnSpc>
                <a:spcPct val="90000"/>
              </a:lnSpc>
              <a:spcBef>
                <a:spcPts val="500"/>
              </a:spcBef>
              <a:buClr>
                <a:schemeClr val="accent3"/>
              </a:buClr>
              <a:buSzPct val="100000"/>
              <a:buFont typeface="Wingdings" panose="05000000000000000000" pitchFamily="2" charset="2"/>
              <a:buNone/>
              <a:defRPr sz="1600" kern="1200" baseline="0">
                <a:solidFill>
                  <a:schemeClr val="tx1"/>
                </a:solidFill>
                <a:latin typeface="Body Level 2"/>
                <a:ea typeface="+mn-ea"/>
                <a:cs typeface="+mn-cs"/>
              </a:defRPr>
            </a:lvl2pPr>
            <a:lvl3pPr marL="914400" indent="0" algn="l" defTabSz="914400" rtl="0" eaLnBrk="1" latinLnBrk="0" hangingPunct="1">
              <a:lnSpc>
                <a:spcPct val="90000"/>
              </a:lnSpc>
              <a:spcBef>
                <a:spcPts val="500"/>
              </a:spcBef>
              <a:buClr>
                <a:schemeClr val="accent3"/>
              </a:buClr>
              <a:buSzPct val="80000"/>
              <a:buFont typeface="Courier New" panose="02070309020205020404" pitchFamily="49" charset="0"/>
              <a:buNone/>
              <a:defRPr sz="1500" kern="1200" baseline="0">
                <a:solidFill>
                  <a:schemeClr val="tx1"/>
                </a:solidFill>
                <a:latin typeface="Body Level 3"/>
                <a:ea typeface="+mn-ea"/>
                <a:cs typeface="+mn-cs"/>
              </a:defRPr>
            </a:lvl3pPr>
            <a:lvl4pPr marL="1371600" indent="0" algn="l" defTabSz="914400" rtl="0" eaLnBrk="1" latinLnBrk="0" hangingPunct="1">
              <a:lnSpc>
                <a:spcPct val="90000"/>
              </a:lnSpc>
              <a:spcBef>
                <a:spcPts val="500"/>
              </a:spcBef>
              <a:buClr>
                <a:schemeClr val="accent3"/>
              </a:buClr>
              <a:buSzPct val="60000"/>
              <a:buFont typeface="Wingdings" panose="05000000000000000000" pitchFamily="2" charset="2"/>
              <a:buNone/>
              <a:defRPr sz="1400" kern="1200" baseline="0">
                <a:solidFill>
                  <a:schemeClr val="tx1"/>
                </a:solidFill>
                <a:latin typeface="Body Level 4"/>
                <a:ea typeface="+mn-ea"/>
                <a:cs typeface="+mn-cs"/>
              </a:defRPr>
            </a:lvl4pPr>
            <a:lvl5pPr marL="1828800" indent="0" algn="l" defTabSz="914400" rtl="0" eaLnBrk="1" latinLnBrk="0" hangingPunct="1">
              <a:lnSpc>
                <a:spcPct val="90000"/>
              </a:lnSpc>
              <a:spcBef>
                <a:spcPts val="500"/>
              </a:spcBef>
              <a:buClr>
                <a:schemeClr val="accent3"/>
              </a:buClr>
              <a:buFont typeface="Arial" panose="020B0604020202020204" pitchFamily="34" charset="0"/>
              <a:buNone/>
              <a:defRPr sz="1200" kern="1200" baseline="0">
                <a:solidFill>
                  <a:schemeClr val="tx1"/>
                </a:solidFill>
                <a:latin typeface="Body Level 5"/>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dirty="0"/>
          </a:p>
          <a:p>
            <a:pPr lvl="1"/>
            <a:r>
              <a:rPr lang="en-GB" sz="1800" b="1" dirty="0">
                <a:solidFill>
                  <a:schemeClr val="tx2"/>
                </a:solidFill>
                <a:latin typeface="Courier New" panose="02070309020205020404" pitchFamily="49" charset="0"/>
                <a:cs typeface="Courier New" panose="02070309020205020404" pitchFamily="49" charset="0"/>
              </a:rPr>
              <a:t>FROM ubuntu:16.04</a:t>
            </a:r>
          </a:p>
          <a:p>
            <a:pPr lvl="1"/>
            <a:r>
              <a:rPr lang="en-GB" sz="1800" b="1" dirty="0">
                <a:solidFill>
                  <a:schemeClr val="tx2"/>
                </a:solidFill>
                <a:latin typeface="Courier New" panose="02070309020205020404" pitchFamily="49" charset="0"/>
                <a:cs typeface="Courier New" panose="02070309020205020404" pitchFamily="49" charset="0"/>
              </a:rPr>
              <a:t>MAINTAINER Shashidhar K</a:t>
            </a:r>
          </a:p>
          <a:p>
            <a:pPr lvl="1"/>
            <a:r>
              <a:rPr lang="en-GB" sz="1800" b="1" dirty="0">
                <a:solidFill>
                  <a:schemeClr val="tx2"/>
                </a:solidFill>
                <a:latin typeface="Courier New" panose="02070309020205020404" pitchFamily="49" charset="0"/>
                <a:cs typeface="Courier New" panose="02070309020205020404" pitchFamily="49" charset="0"/>
              </a:rPr>
              <a:t>RUN apt-get update &amp;&amp; \</a:t>
            </a:r>
          </a:p>
          <a:p>
            <a:pPr lvl="1"/>
            <a:r>
              <a:rPr lang="en-GB" sz="1800" b="1" dirty="0">
                <a:solidFill>
                  <a:schemeClr val="tx2"/>
                </a:solidFill>
                <a:latin typeface="Courier New" panose="02070309020205020404" pitchFamily="49" charset="0"/>
                <a:cs typeface="Courier New" panose="02070309020205020404" pitchFamily="49" charset="0"/>
              </a:rPr>
              <a:t>    apt-get install -y python</a:t>
            </a:r>
          </a:p>
          <a:p>
            <a:pPr lvl="1"/>
            <a:r>
              <a:rPr lang="en-GB" sz="1800" b="1" dirty="0">
                <a:solidFill>
                  <a:schemeClr val="tx2"/>
                </a:solidFill>
                <a:latin typeface="Courier New" panose="02070309020205020404" pitchFamily="49" charset="0"/>
                <a:cs typeface="Courier New" panose="02070309020205020404" pitchFamily="49" charset="0"/>
              </a:rPr>
              <a:t>COPY hello.py .</a:t>
            </a:r>
          </a:p>
          <a:p>
            <a:pPr lvl="1"/>
            <a:r>
              <a:rPr lang="en-GB" sz="1800" b="1" dirty="0">
                <a:solidFill>
                  <a:schemeClr val="tx2"/>
                </a:solidFill>
                <a:latin typeface="Courier New" panose="02070309020205020404" pitchFamily="49" charset="0"/>
                <a:cs typeface="Courier New" panose="02070309020205020404" pitchFamily="49" charset="0"/>
              </a:rPr>
              <a:t>ENTRYPOINT ["python", "hello.py"]</a:t>
            </a:r>
          </a:p>
        </p:txBody>
      </p:sp>
      <p:sp>
        <p:nvSpPr>
          <p:cNvPr id="5" name="TextBox 4">
            <a:extLst>
              <a:ext uri="{FF2B5EF4-FFF2-40B4-BE49-F238E27FC236}">
                <a16:creationId xmlns:a16="http://schemas.microsoft.com/office/drawing/2014/main" id="{FE433C4C-0B23-4C7B-B397-356E0921F2A9}"/>
              </a:ext>
            </a:extLst>
          </p:cNvPr>
          <p:cNvSpPr txBox="1"/>
          <p:nvPr/>
        </p:nvSpPr>
        <p:spPr>
          <a:xfrm>
            <a:off x="3657600" y="4572000"/>
            <a:ext cx="1981200" cy="338554"/>
          </a:xfrm>
          <a:prstGeom prst="rect">
            <a:avLst/>
          </a:prstGeom>
          <a:solidFill>
            <a:schemeClr val="bg1"/>
          </a:solidFill>
        </p:spPr>
        <p:txBody>
          <a:bodyPr wrap="square" rtlCol="0">
            <a:spAutoFit/>
          </a:bodyPr>
          <a:lstStyle/>
          <a:p>
            <a:r>
              <a:rPr lang="en-US" sz="1600" b="1" i="1" dirty="0"/>
              <a:t>AUTHOR-NAME</a:t>
            </a:r>
            <a:endParaRPr lang="en-GB" sz="1600" b="1" i="1" dirty="0"/>
          </a:p>
        </p:txBody>
      </p:sp>
      <p:sp>
        <p:nvSpPr>
          <p:cNvPr id="6" name="Rectangle 5">
            <a:extLst>
              <a:ext uri="{FF2B5EF4-FFF2-40B4-BE49-F238E27FC236}">
                <a16:creationId xmlns:a16="http://schemas.microsoft.com/office/drawing/2014/main" id="{1DACB85A-3F0D-4A13-B077-A22E65EBFB30}"/>
              </a:ext>
            </a:extLst>
          </p:cNvPr>
          <p:cNvSpPr/>
          <p:nvPr/>
        </p:nvSpPr>
        <p:spPr>
          <a:xfrm>
            <a:off x="7391400" y="4267200"/>
            <a:ext cx="3352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docker build –t  &lt;pathname&gt;</a:t>
            </a:r>
            <a:endParaRPr lang="en-GB" dirty="0"/>
          </a:p>
        </p:txBody>
      </p:sp>
    </p:spTree>
    <p:extLst>
      <p:ext uri="{BB962C8B-B14F-4D97-AF65-F5344CB8AC3E}">
        <p14:creationId xmlns:p14="http://schemas.microsoft.com/office/powerpoint/2010/main" val="25459605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1" y="152400"/>
            <a:ext cx="9259747" cy="702000"/>
          </a:xfrm>
        </p:spPr>
        <p:txBody>
          <a:bodyPr/>
          <a:lstStyle/>
          <a:p>
            <a:r>
              <a:rPr lang="en-GB" dirty="0"/>
              <a:t>Docker life cycle</a:t>
            </a:r>
          </a:p>
        </p:txBody>
      </p:sp>
      <p:sp>
        <p:nvSpPr>
          <p:cNvPr id="5" name="Flowchart: Document 4">
            <a:extLst>
              <a:ext uri="{FF2B5EF4-FFF2-40B4-BE49-F238E27FC236}">
                <a16:creationId xmlns:a16="http://schemas.microsoft.com/office/drawing/2014/main" id="{5CB2C6C6-5161-4A2C-91E3-2DBC4A8B6A44}"/>
              </a:ext>
            </a:extLst>
          </p:cNvPr>
          <p:cNvSpPr/>
          <p:nvPr/>
        </p:nvSpPr>
        <p:spPr>
          <a:xfrm>
            <a:off x="1839250" y="3996064"/>
            <a:ext cx="971309" cy="762000"/>
          </a:xfrm>
          <a:prstGeom prst="flowChartDocumen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2"/>
                </a:solidFill>
              </a:rPr>
              <a:t>Docker</a:t>
            </a:r>
          </a:p>
          <a:p>
            <a:pPr algn="ctr"/>
            <a:r>
              <a:rPr lang="en-US" sz="1200" b="1" dirty="0">
                <a:solidFill>
                  <a:schemeClr val="tx2"/>
                </a:solidFill>
              </a:rPr>
              <a:t>File</a:t>
            </a:r>
            <a:endParaRPr lang="en-GB" sz="1200" b="1" dirty="0">
              <a:solidFill>
                <a:schemeClr val="tx2"/>
              </a:solidFill>
            </a:endParaRPr>
          </a:p>
        </p:txBody>
      </p:sp>
      <p:sp>
        <p:nvSpPr>
          <p:cNvPr id="6" name="Rectangle: Rounded Corners 5">
            <a:extLst>
              <a:ext uri="{FF2B5EF4-FFF2-40B4-BE49-F238E27FC236}">
                <a16:creationId xmlns:a16="http://schemas.microsoft.com/office/drawing/2014/main" id="{A15CAC51-CBDC-432E-A02C-8A431E6F3A9F}"/>
              </a:ext>
            </a:extLst>
          </p:cNvPr>
          <p:cNvSpPr/>
          <p:nvPr/>
        </p:nvSpPr>
        <p:spPr>
          <a:xfrm>
            <a:off x="4515412" y="3996064"/>
            <a:ext cx="1524000" cy="76200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dirty="0">
                <a:solidFill>
                  <a:schemeClr val="tx2"/>
                </a:solidFill>
              </a:rPr>
              <a:t>Docker Image 1</a:t>
            </a:r>
            <a:endParaRPr lang="en-GB" sz="1200" b="1" dirty="0">
              <a:solidFill>
                <a:schemeClr val="tx2"/>
              </a:solidFill>
            </a:endParaRPr>
          </a:p>
        </p:txBody>
      </p:sp>
      <p:sp>
        <p:nvSpPr>
          <p:cNvPr id="11" name="Rectangle: Rounded Corners 10">
            <a:extLst>
              <a:ext uri="{FF2B5EF4-FFF2-40B4-BE49-F238E27FC236}">
                <a16:creationId xmlns:a16="http://schemas.microsoft.com/office/drawing/2014/main" id="{944EF06D-7CA8-44EF-97B0-5A3AE42F3CDC}"/>
              </a:ext>
            </a:extLst>
          </p:cNvPr>
          <p:cNvSpPr/>
          <p:nvPr/>
        </p:nvSpPr>
        <p:spPr>
          <a:xfrm>
            <a:off x="7525312" y="3996064"/>
            <a:ext cx="1524000" cy="76200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dirty="0">
                <a:solidFill>
                  <a:schemeClr val="tx2"/>
                </a:solidFill>
              </a:rPr>
              <a:t>Docker Container</a:t>
            </a:r>
            <a:endParaRPr lang="en-GB" sz="1200" b="1" dirty="0">
              <a:solidFill>
                <a:schemeClr val="tx2"/>
              </a:solidFill>
            </a:endParaRPr>
          </a:p>
        </p:txBody>
      </p:sp>
      <p:sp>
        <p:nvSpPr>
          <p:cNvPr id="8" name="Flowchart: Multidocument 7">
            <a:extLst>
              <a:ext uri="{FF2B5EF4-FFF2-40B4-BE49-F238E27FC236}">
                <a16:creationId xmlns:a16="http://schemas.microsoft.com/office/drawing/2014/main" id="{6FA765CA-AE26-4B36-8791-1BE22ECEE2D2}"/>
              </a:ext>
            </a:extLst>
          </p:cNvPr>
          <p:cNvSpPr/>
          <p:nvPr/>
        </p:nvSpPr>
        <p:spPr>
          <a:xfrm>
            <a:off x="7944412" y="2599063"/>
            <a:ext cx="685800" cy="685800"/>
          </a:xfrm>
          <a:prstGeom prst="flowChartMultidocumen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2"/>
                </a:solidFill>
              </a:rPr>
              <a:t>More s/w</a:t>
            </a:r>
            <a:endParaRPr lang="en-GB" sz="1200" b="1" dirty="0">
              <a:solidFill>
                <a:schemeClr val="tx2"/>
              </a:solidFill>
            </a:endParaRPr>
          </a:p>
        </p:txBody>
      </p:sp>
      <p:sp>
        <p:nvSpPr>
          <p:cNvPr id="12" name="Arrow: Right 11">
            <a:extLst>
              <a:ext uri="{FF2B5EF4-FFF2-40B4-BE49-F238E27FC236}">
                <a16:creationId xmlns:a16="http://schemas.microsoft.com/office/drawing/2014/main" id="{54B30828-5836-4E91-815D-D27BADA24BC5}"/>
              </a:ext>
            </a:extLst>
          </p:cNvPr>
          <p:cNvSpPr/>
          <p:nvPr/>
        </p:nvSpPr>
        <p:spPr>
          <a:xfrm>
            <a:off x="3331258" y="4186564"/>
            <a:ext cx="533400" cy="381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Arrow: Right 13">
            <a:extLst>
              <a:ext uri="{FF2B5EF4-FFF2-40B4-BE49-F238E27FC236}">
                <a16:creationId xmlns:a16="http://schemas.microsoft.com/office/drawing/2014/main" id="{EBF5118B-65DF-4E98-96FC-853CCAFF3970}"/>
              </a:ext>
            </a:extLst>
          </p:cNvPr>
          <p:cNvSpPr/>
          <p:nvPr/>
        </p:nvSpPr>
        <p:spPr>
          <a:xfrm rot="16200000">
            <a:off x="8020612" y="3449964"/>
            <a:ext cx="533400" cy="381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Arrow: Right 14">
            <a:extLst>
              <a:ext uri="{FF2B5EF4-FFF2-40B4-BE49-F238E27FC236}">
                <a16:creationId xmlns:a16="http://schemas.microsoft.com/office/drawing/2014/main" id="{7AD7D000-BA4A-4E50-A8C7-543861B413F6}"/>
              </a:ext>
            </a:extLst>
          </p:cNvPr>
          <p:cNvSpPr/>
          <p:nvPr/>
        </p:nvSpPr>
        <p:spPr>
          <a:xfrm rot="10800000">
            <a:off x="6582972" y="2808004"/>
            <a:ext cx="533400" cy="381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TextBox 16">
            <a:extLst>
              <a:ext uri="{FF2B5EF4-FFF2-40B4-BE49-F238E27FC236}">
                <a16:creationId xmlns:a16="http://schemas.microsoft.com/office/drawing/2014/main" id="{93A85188-87F3-4A27-B694-2B77D2ADED53}"/>
              </a:ext>
            </a:extLst>
          </p:cNvPr>
          <p:cNvSpPr txBox="1"/>
          <p:nvPr/>
        </p:nvSpPr>
        <p:spPr>
          <a:xfrm>
            <a:off x="4535171" y="2792298"/>
            <a:ext cx="1499000" cy="369332"/>
          </a:xfrm>
          <a:prstGeom prst="rect">
            <a:avLst/>
          </a:prstGeom>
          <a:noFill/>
        </p:spPr>
        <p:txBody>
          <a:bodyPr wrap="none" rtlCol="0">
            <a:spAutoFit/>
          </a:bodyPr>
          <a:lstStyle/>
          <a:p>
            <a:r>
              <a:rPr lang="en-US" dirty="0"/>
              <a:t>Exit Container</a:t>
            </a:r>
            <a:endParaRPr lang="en-GB" dirty="0"/>
          </a:p>
        </p:txBody>
      </p:sp>
      <p:sp>
        <p:nvSpPr>
          <p:cNvPr id="18" name="TextBox 17">
            <a:extLst>
              <a:ext uri="{FF2B5EF4-FFF2-40B4-BE49-F238E27FC236}">
                <a16:creationId xmlns:a16="http://schemas.microsoft.com/office/drawing/2014/main" id="{B5AC6834-3DA7-4C99-A4D1-0B69851A5B4A}"/>
              </a:ext>
            </a:extLst>
          </p:cNvPr>
          <p:cNvSpPr txBox="1"/>
          <p:nvPr/>
        </p:nvSpPr>
        <p:spPr>
          <a:xfrm>
            <a:off x="2701287" y="4758064"/>
            <a:ext cx="1838965" cy="369332"/>
          </a:xfrm>
          <a:prstGeom prst="rect">
            <a:avLst/>
          </a:prstGeom>
          <a:noFill/>
        </p:spPr>
        <p:txBody>
          <a:bodyPr wrap="none" rtlCol="0">
            <a:spAutoFit/>
          </a:bodyPr>
          <a:lstStyle/>
          <a:p>
            <a:r>
              <a:rPr lang="en-US" b="1" dirty="0">
                <a:highlight>
                  <a:srgbClr val="FFFF00"/>
                </a:highlight>
                <a:latin typeface="Courier New" panose="02070309020205020404" pitchFamily="49" charset="0"/>
                <a:cs typeface="Courier New" panose="02070309020205020404" pitchFamily="49" charset="0"/>
              </a:rPr>
              <a:t>Docker build</a:t>
            </a:r>
            <a:endParaRPr lang="en-GB" b="1" dirty="0">
              <a:highlight>
                <a:srgbClr val="FFFF00"/>
              </a:highlight>
              <a:latin typeface="Courier New" panose="02070309020205020404" pitchFamily="49" charset="0"/>
              <a:cs typeface="Courier New" panose="02070309020205020404" pitchFamily="49" charset="0"/>
            </a:endParaRPr>
          </a:p>
        </p:txBody>
      </p:sp>
      <p:grpSp>
        <p:nvGrpSpPr>
          <p:cNvPr id="3" name="Group 2">
            <a:extLst>
              <a:ext uri="{FF2B5EF4-FFF2-40B4-BE49-F238E27FC236}">
                <a16:creationId xmlns:a16="http://schemas.microsoft.com/office/drawing/2014/main" id="{6D02BBA0-8573-41DC-9A74-745B5D59871A}"/>
              </a:ext>
            </a:extLst>
          </p:cNvPr>
          <p:cNvGrpSpPr/>
          <p:nvPr/>
        </p:nvGrpSpPr>
        <p:grpSpPr>
          <a:xfrm>
            <a:off x="6038264" y="4133224"/>
            <a:ext cx="1563248" cy="998964"/>
            <a:chOff x="4895264" y="4133224"/>
            <a:chExt cx="1563248" cy="998964"/>
          </a:xfrm>
        </p:grpSpPr>
        <p:sp>
          <p:nvSpPr>
            <p:cNvPr id="13" name="Arrow: Right 12">
              <a:extLst>
                <a:ext uri="{FF2B5EF4-FFF2-40B4-BE49-F238E27FC236}">
                  <a16:creationId xmlns:a16="http://schemas.microsoft.com/office/drawing/2014/main" id="{78B45397-BAB1-4F64-BFF7-6AD4670F12ED}"/>
                </a:ext>
              </a:extLst>
            </p:cNvPr>
            <p:cNvSpPr/>
            <p:nvPr/>
          </p:nvSpPr>
          <p:spPr>
            <a:xfrm>
              <a:off x="5391712" y="4133224"/>
              <a:ext cx="533400" cy="381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TextBox 18">
              <a:extLst>
                <a:ext uri="{FF2B5EF4-FFF2-40B4-BE49-F238E27FC236}">
                  <a16:creationId xmlns:a16="http://schemas.microsoft.com/office/drawing/2014/main" id="{698AFA13-C53E-42A5-92AD-71E1125AA92F}"/>
                </a:ext>
              </a:extLst>
            </p:cNvPr>
            <p:cNvSpPr txBox="1"/>
            <p:nvPr/>
          </p:nvSpPr>
          <p:spPr>
            <a:xfrm>
              <a:off x="4895264" y="4762856"/>
              <a:ext cx="1563248" cy="369332"/>
            </a:xfrm>
            <a:prstGeom prst="rect">
              <a:avLst/>
            </a:prstGeom>
            <a:noFill/>
          </p:spPr>
          <p:txBody>
            <a:bodyPr wrap="none" rtlCol="0">
              <a:spAutoFit/>
            </a:bodyPr>
            <a:lstStyle/>
            <a:p>
              <a:r>
                <a:rPr lang="en-US" b="1" dirty="0">
                  <a:highlight>
                    <a:srgbClr val="FFFF00"/>
                  </a:highlight>
                  <a:latin typeface="Courier New" panose="02070309020205020404" pitchFamily="49" charset="0"/>
                  <a:cs typeface="Courier New" panose="02070309020205020404" pitchFamily="49" charset="0"/>
                </a:rPr>
                <a:t>Docker run</a:t>
              </a:r>
              <a:endParaRPr lang="en-GB" b="1" dirty="0">
                <a:highlight>
                  <a:srgbClr val="FFFF00"/>
                </a:highlight>
                <a:latin typeface="Courier New" panose="02070309020205020404" pitchFamily="49" charset="0"/>
                <a:cs typeface="Courier New" panose="02070309020205020404" pitchFamily="49" charset="0"/>
              </a:endParaRPr>
            </a:p>
          </p:txBody>
        </p:sp>
      </p:grpSp>
      <p:sp>
        <p:nvSpPr>
          <p:cNvPr id="20" name="TextBox 19">
            <a:extLst>
              <a:ext uri="{FF2B5EF4-FFF2-40B4-BE49-F238E27FC236}">
                <a16:creationId xmlns:a16="http://schemas.microsoft.com/office/drawing/2014/main" id="{4880375A-501D-486B-9264-5AADD207D58F}"/>
              </a:ext>
            </a:extLst>
          </p:cNvPr>
          <p:cNvSpPr txBox="1"/>
          <p:nvPr/>
        </p:nvSpPr>
        <p:spPr>
          <a:xfrm>
            <a:off x="8493053" y="3448931"/>
            <a:ext cx="1701107" cy="369332"/>
          </a:xfrm>
          <a:prstGeom prst="rect">
            <a:avLst/>
          </a:prstGeom>
          <a:noFill/>
        </p:spPr>
        <p:txBody>
          <a:bodyPr wrap="none" rtlCol="0">
            <a:spAutoFit/>
          </a:bodyPr>
          <a:lstStyle/>
          <a:p>
            <a:r>
              <a:rPr lang="en-US" b="1" dirty="0">
                <a:highlight>
                  <a:srgbClr val="FFFF00"/>
                </a:highlight>
                <a:latin typeface="Courier New" panose="02070309020205020404" pitchFamily="49" charset="0"/>
                <a:cs typeface="Courier New" panose="02070309020205020404" pitchFamily="49" charset="0"/>
              </a:rPr>
              <a:t>yum install</a:t>
            </a:r>
            <a:endParaRPr lang="en-GB" b="1" dirty="0">
              <a:highlight>
                <a:srgbClr val="FFFF00"/>
              </a:highlight>
              <a:latin typeface="Courier New" panose="02070309020205020404" pitchFamily="49" charset="0"/>
              <a:cs typeface="Courier New" panose="02070309020205020404" pitchFamily="49" charset="0"/>
            </a:endParaRPr>
          </a:p>
        </p:txBody>
      </p:sp>
      <p:sp>
        <p:nvSpPr>
          <p:cNvPr id="21" name="TextBox 20">
            <a:extLst>
              <a:ext uri="{FF2B5EF4-FFF2-40B4-BE49-F238E27FC236}">
                <a16:creationId xmlns:a16="http://schemas.microsoft.com/office/drawing/2014/main" id="{92EFF4C3-2074-4B50-81F2-B19517B06320}"/>
              </a:ext>
            </a:extLst>
          </p:cNvPr>
          <p:cNvSpPr txBox="1"/>
          <p:nvPr/>
        </p:nvSpPr>
        <p:spPr>
          <a:xfrm>
            <a:off x="2680967" y="2286000"/>
            <a:ext cx="1976823" cy="369332"/>
          </a:xfrm>
          <a:prstGeom prst="rect">
            <a:avLst/>
          </a:prstGeom>
          <a:noFill/>
        </p:spPr>
        <p:txBody>
          <a:bodyPr wrap="none" rtlCol="0">
            <a:spAutoFit/>
          </a:bodyPr>
          <a:lstStyle/>
          <a:p>
            <a:r>
              <a:rPr lang="en-US" b="1" dirty="0">
                <a:highlight>
                  <a:srgbClr val="FFFF00"/>
                </a:highlight>
                <a:latin typeface="Courier New" panose="02070309020205020404" pitchFamily="49" charset="0"/>
                <a:cs typeface="Courier New" panose="02070309020205020404" pitchFamily="49" charset="0"/>
              </a:rPr>
              <a:t>Docker commit</a:t>
            </a:r>
            <a:endParaRPr lang="en-GB" b="1" dirty="0">
              <a:highlight>
                <a:srgbClr val="FFFF00"/>
              </a:highlight>
              <a:latin typeface="Courier New" panose="02070309020205020404" pitchFamily="49" charset="0"/>
              <a:cs typeface="Courier New" panose="02070309020205020404" pitchFamily="49" charset="0"/>
            </a:endParaRPr>
          </a:p>
        </p:txBody>
      </p:sp>
      <p:sp>
        <p:nvSpPr>
          <p:cNvPr id="22" name="Arrow: Right 21">
            <a:extLst>
              <a:ext uri="{FF2B5EF4-FFF2-40B4-BE49-F238E27FC236}">
                <a16:creationId xmlns:a16="http://schemas.microsoft.com/office/drawing/2014/main" id="{8F24D4D9-205C-43EB-8075-322DD16DDED3}"/>
              </a:ext>
            </a:extLst>
          </p:cNvPr>
          <p:cNvSpPr/>
          <p:nvPr/>
        </p:nvSpPr>
        <p:spPr>
          <a:xfrm rot="10800000">
            <a:off x="3528061" y="2780630"/>
            <a:ext cx="533400" cy="381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ectangle: Rounded Corners 22">
            <a:extLst>
              <a:ext uri="{FF2B5EF4-FFF2-40B4-BE49-F238E27FC236}">
                <a16:creationId xmlns:a16="http://schemas.microsoft.com/office/drawing/2014/main" id="{738C1CD5-C8B8-49B7-B878-A11CEA863D14}"/>
              </a:ext>
            </a:extLst>
          </p:cNvPr>
          <p:cNvSpPr/>
          <p:nvPr/>
        </p:nvSpPr>
        <p:spPr>
          <a:xfrm>
            <a:off x="1752600" y="2655332"/>
            <a:ext cx="1524000" cy="76200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dirty="0">
                <a:solidFill>
                  <a:schemeClr val="tx2"/>
                </a:solidFill>
              </a:rPr>
              <a:t>Docker Image 2</a:t>
            </a:r>
            <a:endParaRPr lang="en-GB" sz="1200" b="1" dirty="0">
              <a:solidFill>
                <a:schemeClr val="tx2"/>
              </a:solidFill>
            </a:endParaRPr>
          </a:p>
        </p:txBody>
      </p:sp>
      <p:sp>
        <p:nvSpPr>
          <p:cNvPr id="24" name="TextBox 23">
            <a:extLst>
              <a:ext uri="{FF2B5EF4-FFF2-40B4-BE49-F238E27FC236}">
                <a16:creationId xmlns:a16="http://schemas.microsoft.com/office/drawing/2014/main" id="{B4849EB6-6311-464F-823F-5FE599F63D44}"/>
              </a:ext>
            </a:extLst>
          </p:cNvPr>
          <p:cNvSpPr txBox="1"/>
          <p:nvPr/>
        </p:nvSpPr>
        <p:spPr>
          <a:xfrm>
            <a:off x="9067801" y="4343400"/>
            <a:ext cx="1701107" cy="369332"/>
          </a:xfrm>
          <a:prstGeom prst="rect">
            <a:avLst/>
          </a:prstGeom>
          <a:noFill/>
        </p:spPr>
        <p:txBody>
          <a:bodyPr wrap="none" rtlCol="0">
            <a:spAutoFit/>
          </a:bodyPr>
          <a:lstStyle/>
          <a:p>
            <a:r>
              <a:rPr lang="en-US" b="1" dirty="0">
                <a:highlight>
                  <a:srgbClr val="FFFF00"/>
                </a:highlight>
                <a:latin typeface="Courier New" panose="02070309020205020404" pitchFamily="49" charset="0"/>
                <a:cs typeface="Courier New" panose="02070309020205020404" pitchFamily="49" charset="0"/>
              </a:rPr>
              <a:t>Docker exec</a:t>
            </a:r>
            <a:endParaRPr lang="en-GB" b="1" dirty="0">
              <a:highlight>
                <a:srgbClr val="FFFF00"/>
              </a:highlight>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937709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1" grpId="0" animBg="1"/>
      <p:bldP spid="8" grpId="0" animBg="1"/>
      <p:bldP spid="12" grpId="0" animBg="1"/>
      <p:bldP spid="14" grpId="0" animBg="1"/>
      <p:bldP spid="15" grpId="0" animBg="1"/>
      <p:bldP spid="17" grpId="0"/>
      <p:bldP spid="18" grpId="0"/>
      <p:bldP spid="20" grpId="0"/>
      <p:bldP spid="21" grpId="0"/>
      <p:bldP spid="22" grpId="0" animBg="1"/>
      <p:bldP spid="23" grpId="0" animBg="1"/>
      <p:bldP spid="2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1" y="228600"/>
            <a:ext cx="9259747" cy="702000"/>
          </a:xfrm>
        </p:spPr>
        <p:txBody>
          <a:bodyPr/>
          <a:lstStyle/>
          <a:p>
            <a:r>
              <a:rPr lang="en-GB" dirty="0"/>
              <a:t>Managing data in docker </a:t>
            </a:r>
          </a:p>
        </p:txBody>
      </p:sp>
      <p:sp>
        <p:nvSpPr>
          <p:cNvPr id="5" name="Content Placeholder 3">
            <a:extLst>
              <a:ext uri="{FF2B5EF4-FFF2-40B4-BE49-F238E27FC236}">
                <a16:creationId xmlns:a16="http://schemas.microsoft.com/office/drawing/2014/main" id="{75A42ED8-94FF-4AAE-BA26-A87F95E31EE6}"/>
              </a:ext>
            </a:extLst>
          </p:cNvPr>
          <p:cNvSpPr>
            <a:spLocks noGrp="1"/>
          </p:cNvSpPr>
          <p:nvPr>
            <p:ph idx="1"/>
          </p:nvPr>
        </p:nvSpPr>
        <p:spPr>
          <a:xfrm>
            <a:off x="1295400" y="1295400"/>
            <a:ext cx="5562600" cy="609600"/>
          </a:xfrm>
        </p:spPr>
        <p:txBody>
          <a:bodyPr>
            <a:normAutofit fontScale="70000" lnSpcReduction="20000"/>
          </a:bodyPr>
          <a:lstStyle/>
          <a:p>
            <a:pPr marL="342900" indent="-342900"/>
            <a:r>
              <a:rPr lang="en-US" dirty="0">
                <a:solidFill>
                  <a:schemeClr val="tx2"/>
                </a:solidFill>
                <a:latin typeface="Arial Body"/>
                <a:cs typeface="Calibri" panose="020F0502020204030204" pitchFamily="34" charset="0"/>
              </a:rPr>
              <a:t>Container's data is internally stored hence moving data or retrieving data is not possible </a:t>
            </a:r>
          </a:p>
          <a:p>
            <a:pPr marL="800100" lvl="1" indent="-342900"/>
            <a:endParaRPr lang="en-GB" dirty="0">
              <a:solidFill>
                <a:schemeClr val="tx2"/>
              </a:solidFill>
              <a:latin typeface="Arial Body"/>
              <a:cs typeface="Calibri" panose="020F0502020204030204" pitchFamily="34" charset="0"/>
            </a:endParaRPr>
          </a:p>
        </p:txBody>
      </p:sp>
      <p:pic>
        <p:nvPicPr>
          <p:cNvPr id="3075" name="Picture 3" descr="types of mounts and where they live on the Docker host">
            <a:extLst>
              <a:ext uri="{FF2B5EF4-FFF2-40B4-BE49-F238E27FC236}">
                <a16:creationId xmlns:a16="http://schemas.microsoft.com/office/drawing/2014/main" id="{43AB445E-A16B-4CD7-8CC7-15A5EFE724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1" y="1219200"/>
            <a:ext cx="3933825" cy="21336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2BB3DBBA-85C9-4BBF-A1B9-0E7E55809287}"/>
              </a:ext>
            </a:extLst>
          </p:cNvPr>
          <p:cNvSpPr/>
          <p:nvPr/>
        </p:nvSpPr>
        <p:spPr>
          <a:xfrm>
            <a:off x="7315200" y="3505200"/>
            <a:ext cx="30480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docker volume create </a:t>
            </a:r>
            <a:endParaRPr lang="en-GB" dirty="0"/>
          </a:p>
        </p:txBody>
      </p:sp>
      <p:sp>
        <p:nvSpPr>
          <p:cNvPr id="7" name="Rectangle 6">
            <a:extLst>
              <a:ext uri="{FF2B5EF4-FFF2-40B4-BE49-F238E27FC236}">
                <a16:creationId xmlns:a16="http://schemas.microsoft.com/office/drawing/2014/main" id="{2BF3656F-5E1C-41B8-91B1-E4AE44362186}"/>
              </a:ext>
            </a:extLst>
          </p:cNvPr>
          <p:cNvSpPr/>
          <p:nvPr/>
        </p:nvSpPr>
        <p:spPr>
          <a:xfrm>
            <a:off x="7315200" y="3962400"/>
            <a:ext cx="33528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t> </a:t>
            </a:r>
          </a:p>
          <a:p>
            <a:r>
              <a:rPr lang="en-US" sz="1600" dirty="0"/>
              <a:t>docker run –d  myc1 –mount  type=</a:t>
            </a:r>
            <a:r>
              <a:rPr lang="en-US" altLang="en-US" sz="1600" dirty="0">
                <a:solidFill>
                  <a:schemeClr val="bg1"/>
                </a:solidFill>
              </a:rPr>
              <a:t>volume, source=vol1 target= /app1  </a:t>
            </a:r>
          </a:p>
          <a:p>
            <a:pPr algn="ctr"/>
            <a:endParaRPr lang="en-GB" dirty="0"/>
          </a:p>
        </p:txBody>
      </p:sp>
      <p:sp>
        <p:nvSpPr>
          <p:cNvPr id="6" name="Rectangle 4">
            <a:extLst>
              <a:ext uri="{FF2B5EF4-FFF2-40B4-BE49-F238E27FC236}">
                <a16:creationId xmlns:a16="http://schemas.microsoft.com/office/drawing/2014/main" id="{63F119AD-C1F3-40EB-8363-479DB95E4FB7}"/>
              </a:ext>
            </a:extLst>
          </p:cNvPr>
          <p:cNvSpPr>
            <a:spLocks noChangeArrowheads="1"/>
          </p:cNvSpPr>
          <p:nvPr/>
        </p:nvSpPr>
        <p:spPr bwMode="auto">
          <a:xfrm>
            <a:off x="1143000" y="119606"/>
            <a:ext cx="453650" cy="217988"/>
          </a:xfrm>
          <a:prstGeom prst="rect">
            <a:avLst/>
          </a:prstGeom>
          <a:solidFill>
            <a:srgbClr val="F5F8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eaLnBrk="0" fontAlgn="base" hangingPunct="0">
              <a:spcBef>
                <a:spcPct val="0"/>
              </a:spcBef>
              <a:spcAft>
                <a:spcPct val="0"/>
              </a:spcAft>
            </a:pPr>
            <a:r>
              <a:rPr lang="en-US" altLang="en-US" sz="1000" dirty="0">
                <a:solidFill>
                  <a:srgbClr val="8B008B"/>
                </a:solidFill>
                <a:latin typeface="Menlo"/>
              </a:rPr>
              <a:t>--mount</a:t>
            </a:r>
            <a:r>
              <a:rPr lang="en-US" altLang="en-US" sz="1000" dirty="0">
                <a:solidFill>
                  <a:srgbClr val="0C5176"/>
                </a:solidFill>
                <a:latin typeface="Menlo"/>
              </a:rPr>
              <a:t> </a:t>
            </a:r>
            <a:endParaRPr lang="en-US" altLang="en-US" sz="1200" dirty="0">
              <a:solidFill>
                <a:srgbClr val="658B00"/>
              </a:solidFill>
              <a:latin typeface="Arial" panose="020B0604020202020204" pitchFamily="34" charset="0"/>
            </a:endParaRPr>
          </a:p>
        </p:txBody>
      </p:sp>
      <p:sp>
        <p:nvSpPr>
          <p:cNvPr id="9" name="Rectangle 8">
            <a:extLst>
              <a:ext uri="{FF2B5EF4-FFF2-40B4-BE49-F238E27FC236}">
                <a16:creationId xmlns:a16="http://schemas.microsoft.com/office/drawing/2014/main" id="{BDC497B7-E2CB-40CB-AF48-CF26F53C7682}"/>
              </a:ext>
            </a:extLst>
          </p:cNvPr>
          <p:cNvSpPr/>
          <p:nvPr/>
        </p:nvSpPr>
        <p:spPr>
          <a:xfrm>
            <a:off x="7315200" y="4876800"/>
            <a:ext cx="3124200" cy="990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t> docker run –d  myc1 –mount  type=</a:t>
            </a:r>
            <a:r>
              <a:rPr lang="en-US" altLang="en-US" sz="1600" dirty="0">
                <a:solidFill>
                  <a:schemeClr val="bg1"/>
                </a:solidFill>
              </a:rPr>
              <a:t>bind , source = /</a:t>
            </a:r>
            <a:r>
              <a:rPr lang="en-US" altLang="en-US" sz="1600" dirty="0" err="1">
                <a:solidFill>
                  <a:schemeClr val="bg1"/>
                </a:solidFill>
              </a:rPr>
              <a:t>hostdir</a:t>
            </a:r>
            <a:r>
              <a:rPr lang="en-US" altLang="en-US" sz="1600" dirty="0">
                <a:solidFill>
                  <a:schemeClr val="bg1"/>
                </a:solidFill>
              </a:rPr>
              <a:t> target=/app1  </a:t>
            </a:r>
          </a:p>
          <a:p>
            <a:pPr algn="ctr"/>
            <a:endParaRPr lang="en-GB" dirty="0"/>
          </a:p>
        </p:txBody>
      </p:sp>
      <p:sp>
        <p:nvSpPr>
          <p:cNvPr id="12" name="Content Placeholder 3">
            <a:extLst>
              <a:ext uri="{FF2B5EF4-FFF2-40B4-BE49-F238E27FC236}">
                <a16:creationId xmlns:a16="http://schemas.microsoft.com/office/drawing/2014/main" id="{D6357F98-5AF8-4583-AD59-F35317DE3870}"/>
              </a:ext>
            </a:extLst>
          </p:cNvPr>
          <p:cNvSpPr txBox="1">
            <a:spLocks/>
          </p:cNvSpPr>
          <p:nvPr/>
        </p:nvSpPr>
        <p:spPr>
          <a:xfrm>
            <a:off x="1295400" y="1981200"/>
            <a:ext cx="5334000" cy="990600"/>
          </a:xfrm>
          <a:prstGeom prst="rect">
            <a:avLst/>
          </a:prstGeom>
        </p:spPr>
        <p:txBody>
          <a:bodyPr vert="horz" lIns="0" tIns="0" rIns="0" bIns="0" rtlCol="0">
            <a:normAutofit fontScale="92500" lnSpcReduction="10000"/>
          </a:bodyPr>
          <a:lstStyle>
            <a:lvl1pPr marL="228600" indent="-228600" algn="l" defTabSz="914400" rtl="0" eaLnBrk="1" latinLnBrk="0" hangingPunct="1">
              <a:lnSpc>
                <a:spcPct val="90000"/>
              </a:lnSpc>
              <a:spcBef>
                <a:spcPts val="1000"/>
              </a:spcBef>
              <a:buClr>
                <a:schemeClr val="accent3"/>
              </a:buClr>
              <a:buFont typeface="Arial" panose="020B0604020202020204" pitchFamily="34" charset="0"/>
              <a:buChar char="•"/>
              <a:defRPr sz="1800" kern="1200" baseline="0">
                <a:solidFill>
                  <a:schemeClr val="tx1"/>
                </a:solidFill>
                <a:latin typeface="Body Level 1"/>
                <a:ea typeface="+mn-ea"/>
                <a:cs typeface="+mn-cs"/>
              </a:defRPr>
            </a:lvl1pPr>
            <a:lvl2pPr marL="685800" indent="-228600" algn="l" defTabSz="914400" rtl="0" eaLnBrk="1" latinLnBrk="0" hangingPunct="1">
              <a:lnSpc>
                <a:spcPct val="90000"/>
              </a:lnSpc>
              <a:spcBef>
                <a:spcPts val="500"/>
              </a:spcBef>
              <a:buClr>
                <a:schemeClr val="accent3"/>
              </a:buClr>
              <a:buSzPct val="100000"/>
              <a:buFont typeface="Wingdings" panose="05000000000000000000" pitchFamily="2" charset="2"/>
              <a:buChar char="§"/>
              <a:defRPr sz="1600" kern="1200" baseline="0">
                <a:solidFill>
                  <a:schemeClr val="tx1"/>
                </a:solidFill>
                <a:latin typeface="Body Level 2"/>
                <a:ea typeface="+mn-ea"/>
                <a:cs typeface="+mn-cs"/>
              </a:defRPr>
            </a:lvl2pPr>
            <a:lvl3pPr marL="1143000" indent="-228600" algn="l" defTabSz="914400" rtl="0" eaLnBrk="1" latinLnBrk="0" hangingPunct="1">
              <a:lnSpc>
                <a:spcPct val="90000"/>
              </a:lnSpc>
              <a:spcBef>
                <a:spcPts val="500"/>
              </a:spcBef>
              <a:buClr>
                <a:schemeClr val="accent3"/>
              </a:buClr>
              <a:buSzPct val="80000"/>
              <a:buFont typeface="Courier New" panose="02070309020205020404" pitchFamily="49" charset="0"/>
              <a:buChar char="o"/>
              <a:defRPr sz="1500" kern="1200" baseline="0">
                <a:solidFill>
                  <a:schemeClr val="tx1"/>
                </a:solidFill>
                <a:latin typeface="Body Level 3"/>
                <a:ea typeface="+mn-ea"/>
                <a:cs typeface="+mn-cs"/>
              </a:defRPr>
            </a:lvl3pPr>
            <a:lvl4pPr marL="1600200" indent="-228600" algn="l" defTabSz="914400" rtl="0" eaLnBrk="1" latinLnBrk="0" hangingPunct="1">
              <a:lnSpc>
                <a:spcPct val="90000"/>
              </a:lnSpc>
              <a:spcBef>
                <a:spcPts val="500"/>
              </a:spcBef>
              <a:buClr>
                <a:schemeClr val="accent3"/>
              </a:buClr>
              <a:buSzPct val="60000"/>
              <a:buFont typeface="Wingdings" panose="05000000000000000000" pitchFamily="2" charset="2"/>
              <a:buChar char="q"/>
              <a:defRPr sz="1400" kern="1200" baseline="0">
                <a:solidFill>
                  <a:schemeClr val="tx1"/>
                </a:solidFill>
                <a:latin typeface="Body Level 4"/>
                <a:ea typeface="+mn-ea"/>
                <a:cs typeface="+mn-cs"/>
              </a:defRPr>
            </a:lvl4pPr>
            <a:lvl5pPr marL="2057400" indent="-228600" algn="l" defTabSz="914400" rtl="0" eaLnBrk="1" latinLnBrk="0" hangingPunct="1">
              <a:lnSpc>
                <a:spcPct val="90000"/>
              </a:lnSpc>
              <a:spcBef>
                <a:spcPts val="500"/>
              </a:spcBef>
              <a:buClr>
                <a:schemeClr val="accent3"/>
              </a:buClr>
              <a:buFont typeface="Arial" panose="020B0604020202020204" pitchFamily="34" charset="0"/>
              <a:buChar char="-"/>
              <a:defRPr sz="1200" kern="1200" baseline="0">
                <a:solidFill>
                  <a:schemeClr val="tx1"/>
                </a:solidFill>
                <a:latin typeface="Body Level 5"/>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r>
              <a:rPr lang="en-US" dirty="0">
                <a:solidFill>
                  <a:schemeClr val="tx2"/>
                </a:solidFill>
                <a:latin typeface="Arial Body"/>
                <a:cs typeface="Calibri" panose="020F0502020204030204" pitchFamily="34" charset="0"/>
              </a:rPr>
              <a:t> Data available options </a:t>
            </a:r>
          </a:p>
          <a:p>
            <a:pPr marL="800100" lvl="1" indent="-342900"/>
            <a:r>
              <a:rPr lang="en-US" dirty="0">
                <a:solidFill>
                  <a:schemeClr val="tx2"/>
                </a:solidFill>
                <a:latin typeface="Arial Body"/>
                <a:cs typeface="Calibri" panose="020F0502020204030204" pitchFamily="34" charset="0"/>
              </a:rPr>
              <a:t>Volumes </a:t>
            </a:r>
          </a:p>
          <a:p>
            <a:pPr marL="800100" lvl="1" indent="-342900"/>
            <a:r>
              <a:rPr lang="en-US" dirty="0">
                <a:solidFill>
                  <a:schemeClr val="tx2"/>
                </a:solidFill>
                <a:latin typeface="Arial Body"/>
                <a:cs typeface="Calibri" panose="020F0502020204030204" pitchFamily="34" charset="0"/>
              </a:rPr>
              <a:t>Bind Mounts </a:t>
            </a:r>
          </a:p>
          <a:p>
            <a:pPr marL="800100" lvl="1" indent="-342900"/>
            <a:r>
              <a:rPr lang="en-US" dirty="0" err="1">
                <a:solidFill>
                  <a:schemeClr val="tx2"/>
                </a:solidFill>
                <a:latin typeface="Arial Body"/>
                <a:cs typeface="Calibri" panose="020F0502020204030204" pitchFamily="34" charset="0"/>
              </a:rPr>
              <a:t>Tmpfs</a:t>
            </a:r>
            <a:r>
              <a:rPr lang="en-US" dirty="0">
                <a:solidFill>
                  <a:schemeClr val="tx2"/>
                </a:solidFill>
                <a:latin typeface="Arial Body"/>
                <a:cs typeface="Calibri" panose="020F0502020204030204" pitchFamily="34" charset="0"/>
              </a:rPr>
              <a:t> Mount</a:t>
            </a:r>
          </a:p>
          <a:p>
            <a:pPr marL="800100" lvl="1" indent="-342900">
              <a:buFont typeface="Arial" panose="020B0604020202020204" pitchFamily="34" charset="0"/>
              <a:buChar char="•"/>
            </a:pPr>
            <a:endParaRPr lang="en-GB" dirty="0">
              <a:solidFill>
                <a:schemeClr val="tx2"/>
              </a:solidFill>
              <a:latin typeface="Arial Body"/>
              <a:cs typeface="Calibri" panose="020F0502020204030204" pitchFamily="34" charset="0"/>
            </a:endParaRPr>
          </a:p>
        </p:txBody>
      </p:sp>
      <p:sp>
        <p:nvSpPr>
          <p:cNvPr id="13" name="Content Placeholder 3">
            <a:extLst>
              <a:ext uri="{FF2B5EF4-FFF2-40B4-BE49-F238E27FC236}">
                <a16:creationId xmlns:a16="http://schemas.microsoft.com/office/drawing/2014/main" id="{8276C817-44E7-4D27-B57A-15779E39DC98}"/>
              </a:ext>
            </a:extLst>
          </p:cNvPr>
          <p:cNvSpPr txBox="1">
            <a:spLocks/>
          </p:cNvSpPr>
          <p:nvPr/>
        </p:nvSpPr>
        <p:spPr>
          <a:xfrm>
            <a:off x="1295400" y="3276600"/>
            <a:ext cx="5562600" cy="1143000"/>
          </a:xfrm>
          <a:prstGeom prst="rect">
            <a:avLst/>
          </a:prstGeom>
        </p:spPr>
        <p:txBody>
          <a:bodyPr vert="horz" lIns="0" tIns="0" rIns="0" bIns="0" rtlCol="0">
            <a:normAutofit fontScale="92500"/>
          </a:bodyPr>
          <a:lstStyle>
            <a:lvl1pPr marL="228600" indent="-228600" algn="l" defTabSz="914400" rtl="0" eaLnBrk="1" latinLnBrk="0" hangingPunct="1">
              <a:lnSpc>
                <a:spcPct val="90000"/>
              </a:lnSpc>
              <a:spcBef>
                <a:spcPts val="1000"/>
              </a:spcBef>
              <a:buClr>
                <a:schemeClr val="accent3"/>
              </a:buClr>
              <a:buFont typeface="Arial" panose="020B0604020202020204" pitchFamily="34" charset="0"/>
              <a:buChar char="•"/>
              <a:defRPr sz="1800" kern="1200" baseline="0">
                <a:solidFill>
                  <a:schemeClr val="tx1"/>
                </a:solidFill>
                <a:latin typeface="Body Level 1"/>
                <a:ea typeface="+mn-ea"/>
                <a:cs typeface="+mn-cs"/>
              </a:defRPr>
            </a:lvl1pPr>
            <a:lvl2pPr marL="685800" indent="-228600" algn="l" defTabSz="914400" rtl="0" eaLnBrk="1" latinLnBrk="0" hangingPunct="1">
              <a:lnSpc>
                <a:spcPct val="90000"/>
              </a:lnSpc>
              <a:spcBef>
                <a:spcPts val="500"/>
              </a:spcBef>
              <a:buClr>
                <a:schemeClr val="accent3"/>
              </a:buClr>
              <a:buSzPct val="100000"/>
              <a:buFont typeface="Wingdings" panose="05000000000000000000" pitchFamily="2" charset="2"/>
              <a:buChar char="§"/>
              <a:defRPr sz="1600" kern="1200" baseline="0">
                <a:solidFill>
                  <a:schemeClr val="tx1"/>
                </a:solidFill>
                <a:latin typeface="Body Level 2"/>
                <a:ea typeface="+mn-ea"/>
                <a:cs typeface="+mn-cs"/>
              </a:defRPr>
            </a:lvl2pPr>
            <a:lvl3pPr marL="1143000" indent="-228600" algn="l" defTabSz="914400" rtl="0" eaLnBrk="1" latinLnBrk="0" hangingPunct="1">
              <a:lnSpc>
                <a:spcPct val="90000"/>
              </a:lnSpc>
              <a:spcBef>
                <a:spcPts val="500"/>
              </a:spcBef>
              <a:buClr>
                <a:schemeClr val="accent3"/>
              </a:buClr>
              <a:buSzPct val="80000"/>
              <a:buFont typeface="Courier New" panose="02070309020205020404" pitchFamily="49" charset="0"/>
              <a:buChar char="o"/>
              <a:defRPr sz="1500" kern="1200" baseline="0">
                <a:solidFill>
                  <a:schemeClr val="tx1"/>
                </a:solidFill>
                <a:latin typeface="Body Level 3"/>
                <a:ea typeface="+mn-ea"/>
                <a:cs typeface="+mn-cs"/>
              </a:defRPr>
            </a:lvl3pPr>
            <a:lvl4pPr marL="1600200" indent="-228600" algn="l" defTabSz="914400" rtl="0" eaLnBrk="1" latinLnBrk="0" hangingPunct="1">
              <a:lnSpc>
                <a:spcPct val="90000"/>
              </a:lnSpc>
              <a:spcBef>
                <a:spcPts val="500"/>
              </a:spcBef>
              <a:buClr>
                <a:schemeClr val="accent3"/>
              </a:buClr>
              <a:buSzPct val="60000"/>
              <a:buFont typeface="Wingdings" panose="05000000000000000000" pitchFamily="2" charset="2"/>
              <a:buChar char="q"/>
              <a:defRPr sz="1400" kern="1200" baseline="0">
                <a:solidFill>
                  <a:schemeClr val="tx1"/>
                </a:solidFill>
                <a:latin typeface="Body Level 4"/>
                <a:ea typeface="+mn-ea"/>
                <a:cs typeface="+mn-cs"/>
              </a:defRPr>
            </a:lvl4pPr>
            <a:lvl5pPr marL="2057400" indent="-228600" algn="l" defTabSz="914400" rtl="0" eaLnBrk="1" latinLnBrk="0" hangingPunct="1">
              <a:lnSpc>
                <a:spcPct val="90000"/>
              </a:lnSpc>
              <a:spcBef>
                <a:spcPts val="500"/>
              </a:spcBef>
              <a:buClr>
                <a:schemeClr val="accent3"/>
              </a:buClr>
              <a:buFont typeface="Arial" panose="020B0604020202020204" pitchFamily="34" charset="0"/>
              <a:buChar char="-"/>
              <a:defRPr sz="1200" kern="1200" baseline="0">
                <a:solidFill>
                  <a:schemeClr val="tx1"/>
                </a:solidFill>
                <a:latin typeface="Body Level 5"/>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r>
              <a:rPr lang="en-US" dirty="0">
                <a:solidFill>
                  <a:schemeClr val="tx2"/>
                </a:solidFill>
                <a:latin typeface="Arial Body"/>
                <a:cs typeface="Calibri" panose="020F0502020204030204" pitchFamily="34" charset="0"/>
              </a:rPr>
              <a:t> </a:t>
            </a:r>
            <a:r>
              <a:rPr lang="en-US" sz="1700" dirty="0">
                <a:solidFill>
                  <a:schemeClr val="tx2"/>
                </a:solidFill>
                <a:latin typeface="Arial Body"/>
                <a:cs typeface="Calibri" panose="020F0502020204030204" pitchFamily="34" charset="0"/>
              </a:rPr>
              <a:t>Volumes are stored in a part of the host filesystem which is managed by Docker -- /var/lib/docker/volumes/ </a:t>
            </a:r>
          </a:p>
          <a:p>
            <a:pPr marL="342900" indent="-342900"/>
            <a:r>
              <a:rPr lang="en-US" sz="1700" dirty="0">
                <a:solidFill>
                  <a:schemeClr val="tx2"/>
                </a:solidFill>
                <a:latin typeface="Arial Body"/>
                <a:cs typeface="Calibri" panose="020F0502020204030204" pitchFamily="34" charset="0"/>
              </a:rPr>
              <a:t> A given volume can be mounted into multiple containers simultaneously</a:t>
            </a:r>
          </a:p>
          <a:p>
            <a:pPr marL="800100" lvl="1" indent="-342900">
              <a:buFont typeface="Arial" panose="020B0604020202020204" pitchFamily="34" charset="0"/>
              <a:buChar char="•"/>
            </a:pPr>
            <a:endParaRPr lang="en-GB" dirty="0">
              <a:solidFill>
                <a:schemeClr val="tx2"/>
              </a:solidFill>
              <a:latin typeface="Arial Body"/>
              <a:cs typeface="Calibri" panose="020F0502020204030204" pitchFamily="34" charset="0"/>
            </a:endParaRPr>
          </a:p>
        </p:txBody>
      </p:sp>
      <p:sp>
        <p:nvSpPr>
          <p:cNvPr id="14" name="Content Placeholder 3">
            <a:extLst>
              <a:ext uri="{FF2B5EF4-FFF2-40B4-BE49-F238E27FC236}">
                <a16:creationId xmlns:a16="http://schemas.microsoft.com/office/drawing/2014/main" id="{4DFF804F-9725-4BE5-98B6-E980F6081D84}"/>
              </a:ext>
            </a:extLst>
          </p:cNvPr>
          <p:cNvSpPr txBox="1">
            <a:spLocks/>
          </p:cNvSpPr>
          <p:nvPr/>
        </p:nvSpPr>
        <p:spPr>
          <a:xfrm>
            <a:off x="1295400" y="4648200"/>
            <a:ext cx="5562600" cy="609600"/>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Clr>
                <a:schemeClr val="accent3"/>
              </a:buClr>
              <a:buFont typeface="Arial" panose="020B0604020202020204" pitchFamily="34" charset="0"/>
              <a:buChar char="•"/>
              <a:defRPr sz="1800" kern="1200" baseline="0">
                <a:solidFill>
                  <a:schemeClr val="tx1"/>
                </a:solidFill>
                <a:latin typeface="Body Level 1"/>
                <a:ea typeface="+mn-ea"/>
                <a:cs typeface="+mn-cs"/>
              </a:defRPr>
            </a:lvl1pPr>
            <a:lvl2pPr marL="685800" indent="-228600" algn="l" defTabSz="914400" rtl="0" eaLnBrk="1" latinLnBrk="0" hangingPunct="1">
              <a:lnSpc>
                <a:spcPct val="90000"/>
              </a:lnSpc>
              <a:spcBef>
                <a:spcPts val="500"/>
              </a:spcBef>
              <a:buClr>
                <a:schemeClr val="accent3"/>
              </a:buClr>
              <a:buSzPct val="100000"/>
              <a:buFont typeface="Wingdings" panose="05000000000000000000" pitchFamily="2" charset="2"/>
              <a:buChar char="§"/>
              <a:defRPr sz="1600" kern="1200" baseline="0">
                <a:solidFill>
                  <a:schemeClr val="tx1"/>
                </a:solidFill>
                <a:latin typeface="Body Level 2"/>
                <a:ea typeface="+mn-ea"/>
                <a:cs typeface="+mn-cs"/>
              </a:defRPr>
            </a:lvl2pPr>
            <a:lvl3pPr marL="1143000" indent="-228600" algn="l" defTabSz="914400" rtl="0" eaLnBrk="1" latinLnBrk="0" hangingPunct="1">
              <a:lnSpc>
                <a:spcPct val="90000"/>
              </a:lnSpc>
              <a:spcBef>
                <a:spcPts val="500"/>
              </a:spcBef>
              <a:buClr>
                <a:schemeClr val="accent3"/>
              </a:buClr>
              <a:buSzPct val="80000"/>
              <a:buFont typeface="Courier New" panose="02070309020205020404" pitchFamily="49" charset="0"/>
              <a:buChar char="o"/>
              <a:defRPr sz="1500" kern="1200" baseline="0">
                <a:solidFill>
                  <a:schemeClr val="tx1"/>
                </a:solidFill>
                <a:latin typeface="Body Level 3"/>
                <a:ea typeface="+mn-ea"/>
                <a:cs typeface="+mn-cs"/>
              </a:defRPr>
            </a:lvl3pPr>
            <a:lvl4pPr marL="1600200" indent="-228600" algn="l" defTabSz="914400" rtl="0" eaLnBrk="1" latinLnBrk="0" hangingPunct="1">
              <a:lnSpc>
                <a:spcPct val="90000"/>
              </a:lnSpc>
              <a:spcBef>
                <a:spcPts val="500"/>
              </a:spcBef>
              <a:buClr>
                <a:schemeClr val="accent3"/>
              </a:buClr>
              <a:buSzPct val="60000"/>
              <a:buFont typeface="Wingdings" panose="05000000000000000000" pitchFamily="2" charset="2"/>
              <a:buChar char="q"/>
              <a:defRPr sz="1400" kern="1200" baseline="0">
                <a:solidFill>
                  <a:schemeClr val="tx1"/>
                </a:solidFill>
                <a:latin typeface="Body Level 4"/>
                <a:ea typeface="+mn-ea"/>
                <a:cs typeface="+mn-cs"/>
              </a:defRPr>
            </a:lvl4pPr>
            <a:lvl5pPr marL="2057400" indent="-228600" algn="l" defTabSz="914400" rtl="0" eaLnBrk="1" latinLnBrk="0" hangingPunct="1">
              <a:lnSpc>
                <a:spcPct val="90000"/>
              </a:lnSpc>
              <a:spcBef>
                <a:spcPts val="500"/>
              </a:spcBef>
              <a:buClr>
                <a:schemeClr val="accent3"/>
              </a:buClr>
              <a:buFont typeface="Arial" panose="020B0604020202020204" pitchFamily="34" charset="0"/>
              <a:buChar char="-"/>
              <a:defRPr sz="1200" kern="1200" baseline="0">
                <a:solidFill>
                  <a:schemeClr val="tx1"/>
                </a:solidFill>
                <a:latin typeface="Body Level 5"/>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r>
              <a:rPr lang="en-US" dirty="0">
                <a:solidFill>
                  <a:schemeClr val="tx2"/>
                </a:solidFill>
                <a:latin typeface="Arial Body"/>
                <a:cs typeface="Calibri" panose="020F0502020204030204" pitchFamily="34" charset="0"/>
              </a:rPr>
              <a:t> Bind mounts are similar to volumes, but the directory can be anywhere in the host file system.</a:t>
            </a:r>
          </a:p>
          <a:p>
            <a:pPr marL="342900" indent="-342900"/>
            <a:endParaRPr lang="en-US" dirty="0">
              <a:solidFill>
                <a:schemeClr val="tx2"/>
              </a:solidFill>
              <a:latin typeface="Arial Body"/>
              <a:cs typeface="Calibri" panose="020F0502020204030204" pitchFamily="34" charset="0"/>
            </a:endParaRPr>
          </a:p>
          <a:p>
            <a:pPr marL="800100" lvl="1" indent="-342900">
              <a:buFont typeface="Arial" panose="020B0604020202020204" pitchFamily="34" charset="0"/>
              <a:buChar char="•"/>
            </a:pPr>
            <a:endParaRPr lang="en-GB" dirty="0">
              <a:solidFill>
                <a:schemeClr val="tx2"/>
              </a:solidFill>
              <a:latin typeface="Arial Body"/>
              <a:cs typeface="Calibri" panose="020F0502020204030204" pitchFamily="34" charset="0"/>
            </a:endParaRPr>
          </a:p>
        </p:txBody>
      </p:sp>
    </p:spTree>
    <p:extLst>
      <p:ext uri="{BB962C8B-B14F-4D97-AF65-F5344CB8AC3E}">
        <p14:creationId xmlns:p14="http://schemas.microsoft.com/office/powerpoint/2010/main" val="26043547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6122B2-4B25-4A86-B5EE-397079A9C330}"/>
              </a:ext>
            </a:extLst>
          </p:cNvPr>
          <p:cNvSpPr>
            <a:spLocks noGrp="1"/>
          </p:cNvSpPr>
          <p:nvPr>
            <p:ph type="title"/>
          </p:nvPr>
        </p:nvSpPr>
        <p:spPr>
          <a:xfrm>
            <a:off x="1789254" y="228600"/>
            <a:ext cx="9259747" cy="702000"/>
          </a:xfrm>
        </p:spPr>
        <p:txBody>
          <a:bodyPr/>
          <a:lstStyle/>
          <a:p>
            <a:r>
              <a:rPr lang="en-US" dirty="0"/>
              <a:t>Volume vs Bind Mount </a:t>
            </a:r>
            <a:endParaRPr lang="en-GB" dirty="0"/>
          </a:p>
        </p:txBody>
      </p:sp>
      <p:sp>
        <p:nvSpPr>
          <p:cNvPr id="3" name="Content Placeholder 2">
            <a:extLst>
              <a:ext uri="{FF2B5EF4-FFF2-40B4-BE49-F238E27FC236}">
                <a16:creationId xmlns:a16="http://schemas.microsoft.com/office/drawing/2014/main" id="{D2292091-CAA3-49F5-B47C-EBADF937B681}"/>
              </a:ext>
            </a:extLst>
          </p:cNvPr>
          <p:cNvSpPr>
            <a:spLocks noGrp="1"/>
          </p:cNvSpPr>
          <p:nvPr>
            <p:ph idx="1"/>
          </p:nvPr>
        </p:nvSpPr>
        <p:spPr/>
        <p:txBody>
          <a:bodyPr/>
          <a:lstStyle/>
          <a:p>
            <a:r>
              <a:rPr lang="en-US" dirty="0">
                <a:solidFill>
                  <a:schemeClr val="tx2"/>
                </a:solidFill>
                <a:latin typeface="Arial Body"/>
                <a:cs typeface="Calibri" panose="020F0502020204030204" pitchFamily="34" charset="0"/>
              </a:rPr>
              <a:t>Volumes </a:t>
            </a:r>
          </a:p>
          <a:p>
            <a:pPr lvl="1"/>
            <a:r>
              <a:rPr lang="en-US" sz="1800" dirty="0">
                <a:solidFill>
                  <a:schemeClr val="tx2"/>
                </a:solidFill>
                <a:latin typeface="Arial Body"/>
                <a:cs typeface="Calibri" panose="020F0502020204030204" pitchFamily="34" charset="0"/>
              </a:rPr>
              <a:t>Sharing data amongst containers</a:t>
            </a:r>
          </a:p>
          <a:p>
            <a:pPr lvl="1"/>
            <a:r>
              <a:rPr lang="en-US" sz="1800" dirty="0">
                <a:solidFill>
                  <a:schemeClr val="tx2"/>
                </a:solidFill>
                <a:latin typeface="Arial Body"/>
                <a:cs typeface="Calibri" panose="020F0502020204030204" pitchFamily="34" charset="0"/>
              </a:rPr>
              <a:t>Decouple host environment from containers</a:t>
            </a:r>
          </a:p>
          <a:p>
            <a:pPr lvl="1"/>
            <a:r>
              <a:rPr lang="en-US" sz="1800" dirty="0">
                <a:solidFill>
                  <a:schemeClr val="tx2"/>
                </a:solidFill>
                <a:latin typeface="Arial Body"/>
                <a:cs typeface="Calibri" panose="020F0502020204030204" pitchFamily="34" charset="0"/>
              </a:rPr>
              <a:t>Migrate/backup data from one Docker Host to another </a:t>
            </a:r>
          </a:p>
          <a:p>
            <a:pPr lvl="1"/>
            <a:endParaRPr lang="en-US" sz="1800" dirty="0">
              <a:solidFill>
                <a:schemeClr val="tx2"/>
              </a:solidFill>
              <a:latin typeface="Arial Body"/>
              <a:cs typeface="Calibri" panose="020F0502020204030204" pitchFamily="34" charset="0"/>
            </a:endParaRPr>
          </a:p>
          <a:p>
            <a:r>
              <a:rPr lang="en-US" dirty="0">
                <a:solidFill>
                  <a:schemeClr val="tx2"/>
                </a:solidFill>
                <a:latin typeface="Arial Body"/>
                <a:cs typeface="Calibri" panose="020F0502020204030204" pitchFamily="34" charset="0"/>
              </a:rPr>
              <a:t>Bind Mount </a:t>
            </a:r>
          </a:p>
          <a:p>
            <a:pPr lvl="1"/>
            <a:r>
              <a:rPr lang="en-US" sz="1800" dirty="0">
                <a:solidFill>
                  <a:schemeClr val="tx2"/>
                </a:solidFill>
                <a:latin typeface="Arial Body"/>
                <a:cs typeface="Calibri" panose="020F0502020204030204" pitchFamily="34" charset="0"/>
              </a:rPr>
              <a:t>Sharing files from the host machine to containers</a:t>
            </a:r>
          </a:p>
          <a:p>
            <a:pPr lvl="1"/>
            <a:r>
              <a:rPr lang="en-US" sz="1800" dirty="0">
                <a:solidFill>
                  <a:schemeClr val="tx2"/>
                </a:solidFill>
                <a:latin typeface="Arial Body"/>
                <a:cs typeface="Calibri" panose="020F0502020204030204" pitchFamily="34" charset="0"/>
              </a:rPr>
              <a:t>File system of the host are consistent </a:t>
            </a:r>
          </a:p>
          <a:p>
            <a:pPr lvl="1"/>
            <a:endParaRPr lang="en-GB" dirty="0"/>
          </a:p>
        </p:txBody>
      </p:sp>
    </p:spTree>
    <p:extLst>
      <p:ext uri="{BB962C8B-B14F-4D97-AF65-F5344CB8AC3E}">
        <p14:creationId xmlns:p14="http://schemas.microsoft.com/office/powerpoint/2010/main" val="38657391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1" y="152400"/>
            <a:ext cx="9259747" cy="702000"/>
          </a:xfrm>
        </p:spPr>
        <p:txBody>
          <a:bodyPr/>
          <a:lstStyle/>
          <a:p>
            <a:r>
              <a:rPr lang="en-GB" dirty="0"/>
              <a:t>Docker Networking</a:t>
            </a:r>
          </a:p>
        </p:txBody>
      </p:sp>
      <p:pic>
        <p:nvPicPr>
          <p:cNvPr id="1026" name="Picture 2" descr="The network on a typical Docker server">
            <a:extLst>
              <a:ext uri="{FF2B5EF4-FFF2-40B4-BE49-F238E27FC236}">
                <a16:creationId xmlns:a16="http://schemas.microsoft.com/office/drawing/2014/main" id="{28230FEE-5CD9-4D11-807A-477ED27599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1600200"/>
            <a:ext cx="7010400" cy="331903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B36A98D9-F2A2-41EF-9C66-8D137B7BDBFE}"/>
              </a:ext>
            </a:extLst>
          </p:cNvPr>
          <p:cNvSpPr/>
          <p:nvPr/>
        </p:nvSpPr>
        <p:spPr>
          <a:xfrm>
            <a:off x="1981200" y="5257801"/>
            <a:ext cx="7772400" cy="646331"/>
          </a:xfrm>
          <a:prstGeom prst="rect">
            <a:avLst/>
          </a:prstGeom>
        </p:spPr>
        <p:txBody>
          <a:bodyPr wrap="square">
            <a:spAutoFit/>
          </a:bodyPr>
          <a:lstStyle/>
          <a:p>
            <a:r>
              <a:rPr lang="en-GB" b="1" dirty="0">
                <a:solidFill>
                  <a:schemeClr val="tx2"/>
                </a:solidFill>
                <a:latin typeface="Courier New" panose="02070309020205020404" pitchFamily="49" charset="0"/>
                <a:cs typeface="Courier New" panose="02070309020205020404" pitchFamily="49" charset="0"/>
              </a:rPr>
              <a:t>-p, --publish &lt;</a:t>
            </a:r>
            <a:r>
              <a:rPr lang="en-GB" b="1" dirty="0" err="1">
                <a:solidFill>
                  <a:schemeClr val="tx2"/>
                </a:solidFill>
                <a:latin typeface="Courier New" panose="02070309020205020404" pitchFamily="49" charset="0"/>
                <a:cs typeface="Courier New" panose="02070309020205020404" pitchFamily="49" charset="0"/>
              </a:rPr>
              <a:t>host_port</a:t>
            </a:r>
            <a:r>
              <a:rPr lang="en-GB" b="1" dirty="0">
                <a:solidFill>
                  <a:schemeClr val="tx2"/>
                </a:solidFill>
                <a:latin typeface="Courier New" panose="02070309020205020404" pitchFamily="49" charset="0"/>
                <a:cs typeface="Courier New" panose="02070309020205020404" pitchFamily="49" charset="0"/>
              </a:rPr>
              <a:t>&gt;:&lt;</a:t>
            </a:r>
            <a:r>
              <a:rPr lang="en-GB" b="1" dirty="0" err="1">
                <a:solidFill>
                  <a:schemeClr val="tx2"/>
                </a:solidFill>
                <a:latin typeface="Courier New" panose="02070309020205020404" pitchFamily="49" charset="0"/>
                <a:cs typeface="Courier New" panose="02070309020205020404" pitchFamily="49" charset="0"/>
              </a:rPr>
              <a:t>container_port</a:t>
            </a:r>
            <a:r>
              <a:rPr lang="en-GB" b="1" dirty="0">
                <a:solidFill>
                  <a:schemeClr val="tx2"/>
                </a:solidFill>
                <a:latin typeface="Courier New" panose="02070309020205020404" pitchFamily="49" charset="0"/>
                <a:cs typeface="Courier New" panose="02070309020205020404" pitchFamily="49" charset="0"/>
              </a:rPr>
              <a:t>&gt;</a:t>
            </a:r>
          </a:p>
          <a:p>
            <a:r>
              <a:rPr lang="en-GB" b="1" dirty="0">
                <a:solidFill>
                  <a:schemeClr val="tx2"/>
                </a:solidFill>
                <a:latin typeface="Courier New" panose="02070309020205020404" pitchFamily="49" charset="0"/>
                <a:cs typeface="Courier New" panose="02070309020205020404" pitchFamily="49" charset="0"/>
              </a:rPr>
              <a:t>e.g. docker run -d -p 8080:8080 tomcat</a:t>
            </a:r>
          </a:p>
        </p:txBody>
      </p:sp>
    </p:spTree>
    <p:extLst>
      <p:ext uri="{BB962C8B-B14F-4D97-AF65-F5344CB8AC3E}">
        <p14:creationId xmlns:p14="http://schemas.microsoft.com/office/powerpoint/2010/main" val="7262454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BD10D-83E5-4928-85B3-7A845D8DBF14}"/>
              </a:ext>
            </a:extLst>
          </p:cNvPr>
          <p:cNvSpPr>
            <a:spLocks noGrp="1"/>
          </p:cNvSpPr>
          <p:nvPr>
            <p:ph type="title"/>
          </p:nvPr>
        </p:nvSpPr>
        <p:spPr>
          <a:xfrm>
            <a:off x="1295401" y="228600"/>
            <a:ext cx="9259747" cy="702000"/>
          </a:xfrm>
        </p:spPr>
        <p:txBody>
          <a:bodyPr/>
          <a:lstStyle/>
          <a:p>
            <a:r>
              <a:rPr lang="en-US" dirty="0" err="1"/>
              <a:t>Kubernates</a:t>
            </a:r>
            <a:r>
              <a:rPr lang="en-US" dirty="0"/>
              <a:t> </a:t>
            </a:r>
            <a:endParaRPr lang="en-GB" dirty="0"/>
          </a:p>
        </p:txBody>
      </p:sp>
      <p:sp>
        <p:nvSpPr>
          <p:cNvPr id="3" name="Content Placeholder 2">
            <a:extLst>
              <a:ext uri="{FF2B5EF4-FFF2-40B4-BE49-F238E27FC236}">
                <a16:creationId xmlns:a16="http://schemas.microsoft.com/office/drawing/2014/main" id="{3CE561D0-AF8B-4F1D-BF54-2251331F8AC0}"/>
              </a:ext>
            </a:extLst>
          </p:cNvPr>
          <p:cNvSpPr>
            <a:spLocks noGrp="1"/>
          </p:cNvSpPr>
          <p:nvPr>
            <p:ph idx="1"/>
          </p:nvPr>
        </p:nvSpPr>
        <p:spPr/>
        <p:txBody>
          <a:bodyPr>
            <a:normAutofit fontScale="92500" lnSpcReduction="10000"/>
          </a:bodyPr>
          <a:lstStyle/>
          <a:p>
            <a:pPr>
              <a:buFont typeface="Arial" panose="020B0604020202020204" pitchFamily="34" charset="0"/>
              <a:buChar char="•"/>
            </a:pPr>
            <a:r>
              <a:rPr lang="en-US" dirty="0">
                <a:latin typeface="Arial Body"/>
              </a:rPr>
              <a:t>Open source platform which automates container operations – deploying , scaling , resource </a:t>
            </a:r>
            <a:r>
              <a:rPr lang="en-US" dirty="0" err="1">
                <a:latin typeface="Arial Body"/>
              </a:rPr>
              <a:t>management,configuring</a:t>
            </a:r>
            <a:r>
              <a:rPr lang="en-US" dirty="0">
                <a:latin typeface="Arial Body"/>
              </a:rPr>
              <a:t>  </a:t>
            </a:r>
            <a:r>
              <a:rPr lang="en-US" dirty="0" err="1">
                <a:latin typeface="Arial Body"/>
              </a:rPr>
              <a:t>etc</a:t>
            </a:r>
            <a:endParaRPr lang="en-US" dirty="0">
              <a:latin typeface="Arial Body"/>
            </a:endParaRPr>
          </a:p>
          <a:p>
            <a:pPr>
              <a:buFont typeface="Arial" panose="020B0604020202020204" pitchFamily="34" charset="0"/>
              <a:buChar char="•"/>
            </a:pPr>
            <a:r>
              <a:rPr lang="en-US" dirty="0">
                <a:latin typeface="Arial Body"/>
              </a:rPr>
              <a:t>Originated at Google later donated to CNCF – Cloud Native Computing Foundation </a:t>
            </a:r>
          </a:p>
          <a:p>
            <a:pPr>
              <a:buFont typeface="Arial" panose="020B0604020202020204" pitchFamily="34" charset="0"/>
              <a:buChar char="•"/>
            </a:pPr>
            <a:r>
              <a:rPr lang="en-US" dirty="0">
                <a:latin typeface="Arial Body"/>
              </a:rPr>
              <a:t>Can be used with/out  docker </a:t>
            </a:r>
          </a:p>
          <a:p>
            <a:pPr>
              <a:buFont typeface="Arial" panose="020B0604020202020204" pitchFamily="34" charset="0"/>
              <a:buChar char="•"/>
            </a:pPr>
            <a:r>
              <a:rPr lang="en-US" dirty="0">
                <a:latin typeface="Arial Body"/>
              </a:rPr>
              <a:t>Kubernetes runs containers as pods – which is one or more containers sharing resources and sitting in same Node </a:t>
            </a:r>
          </a:p>
          <a:p>
            <a:pPr>
              <a:buFont typeface="Arial" panose="020B0604020202020204" pitchFamily="34" charset="0"/>
              <a:buChar char="•"/>
            </a:pPr>
            <a:r>
              <a:rPr lang="en-US" dirty="0">
                <a:latin typeface="Arial Body"/>
              </a:rPr>
              <a:t> Kubernetes finds a machine with enough compute capacity to launch a pod</a:t>
            </a:r>
          </a:p>
          <a:p>
            <a:pPr marL="285750" indent="-285750"/>
            <a:r>
              <a:rPr lang="en-US" dirty="0">
                <a:latin typeface="Arial Body"/>
              </a:rPr>
              <a:t>A node agent, called a </a:t>
            </a:r>
            <a:r>
              <a:rPr lang="en-US" dirty="0" err="1">
                <a:latin typeface="Arial Body"/>
              </a:rPr>
              <a:t>Kubelet</a:t>
            </a:r>
            <a:r>
              <a:rPr lang="en-US" dirty="0">
                <a:latin typeface="Arial Body"/>
              </a:rPr>
              <a:t>, manages pods, their containers and their images. </a:t>
            </a:r>
            <a:r>
              <a:rPr lang="en-US" dirty="0" err="1">
                <a:latin typeface="Arial Body"/>
              </a:rPr>
              <a:t>Kubelets</a:t>
            </a:r>
            <a:r>
              <a:rPr lang="en-US" dirty="0">
                <a:latin typeface="Arial Body"/>
              </a:rPr>
              <a:t> also automatically restart a container if it fails</a:t>
            </a:r>
            <a:r>
              <a:rPr lang="en-US" sz="2400" dirty="0"/>
              <a:t>.</a:t>
            </a:r>
          </a:p>
          <a:p>
            <a:pPr>
              <a:buFont typeface="Arial" panose="020B0604020202020204" pitchFamily="34" charset="0"/>
              <a:buChar char="•"/>
            </a:pPr>
            <a:endParaRPr lang="en-GB" dirty="0"/>
          </a:p>
        </p:txBody>
      </p:sp>
    </p:spTree>
    <p:extLst>
      <p:ext uri="{BB962C8B-B14F-4D97-AF65-F5344CB8AC3E}">
        <p14:creationId xmlns:p14="http://schemas.microsoft.com/office/powerpoint/2010/main" val="1654056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1" y="228600"/>
            <a:ext cx="9259747" cy="702000"/>
          </a:xfrm>
        </p:spPr>
        <p:txBody>
          <a:bodyPr/>
          <a:lstStyle/>
          <a:p>
            <a:r>
              <a:rPr lang="en-GB" dirty="0"/>
              <a:t>Kubernetes</a:t>
            </a:r>
          </a:p>
        </p:txBody>
      </p:sp>
      <p:grpSp>
        <p:nvGrpSpPr>
          <p:cNvPr id="47" name="Group 46">
            <a:extLst>
              <a:ext uri="{FF2B5EF4-FFF2-40B4-BE49-F238E27FC236}">
                <a16:creationId xmlns:a16="http://schemas.microsoft.com/office/drawing/2014/main" id="{05FBAB20-41A2-4623-BAD7-FE9B79D977CD}"/>
              </a:ext>
            </a:extLst>
          </p:cNvPr>
          <p:cNvGrpSpPr/>
          <p:nvPr/>
        </p:nvGrpSpPr>
        <p:grpSpPr>
          <a:xfrm>
            <a:off x="4267200" y="2590800"/>
            <a:ext cx="1905000" cy="2514600"/>
            <a:chOff x="3124200" y="2590800"/>
            <a:chExt cx="1905000" cy="2514600"/>
          </a:xfrm>
        </p:grpSpPr>
        <p:sp>
          <p:nvSpPr>
            <p:cNvPr id="3" name="Rectangle 2">
              <a:extLst>
                <a:ext uri="{FF2B5EF4-FFF2-40B4-BE49-F238E27FC236}">
                  <a16:creationId xmlns:a16="http://schemas.microsoft.com/office/drawing/2014/main" id="{1DEFAA19-E5F9-4062-83D4-97B7A8719247}"/>
                </a:ext>
              </a:extLst>
            </p:cNvPr>
            <p:cNvSpPr/>
            <p:nvPr/>
          </p:nvSpPr>
          <p:spPr>
            <a:xfrm>
              <a:off x="3124200" y="2590800"/>
              <a:ext cx="1905000" cy="25146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solidFill>
                    <a:srgbClr val="002060"/>
                  </a:solidFill>
                  <a:latin typeface="Calibri" panose="020F0502020204030204" pitchFamily="34" charset="0"/>
                  <a:cs typeface="Calibri" panose="020F0502020204030204" pitchFamily="34" charset="0"/>
                </a:rPr>
                <a:t>K8S Cluster</a:t>
              </a:r>
            </a:p>
            <a:p>
              <a:pPr algn="r"/>
              <a:r>
                <a:rPr lang="en-US" dirty="0">
                  <a:solidFill>
                    <a:srgbClr val="002060"/>
                  </a:solidFill>
                  <a:latin typeface="Calibri" panose="020F0502020204030204" pitchFamily="34" charset="0"/>
                  <a:cs typeface="Calibri" panose="020F0502020204030204" pitchFamily="34" charset="0"/>
                </a:rPr>
                <a:t> Service</a:t>
              </a:r>
              <a:endParaRPr lang="en-GB" dirty="0">
                <a:solidFill>
                  <a:srgbClr val="002060"/>
                </a:solidFill>
                <a:latin typeface="Calibri" panose="020F0502020204030204" pitchFamily="34" charset="0"/>
                <a:cs typeface="Calibri" panose="020F0502020204030204" pitchFamily="34" charset="0"/>
              </a:endParaRPr>
            </a:p>
          </p:txBody>
        </p:sp>
        <p:sp>
          <p:nvSpPr>
            <p:cNvPr id="4" name="Rectangle 3">
              <a:extLst>
                <a:ext uri="{FF2B5EF4-FFF2-40B4-BE49-F238E27FC236}">
                  <a16:creationId xmlns:a16="http://schemas.microsoft.com/office/drawing/2014/main" id="{CD3BB433-241A-4AAC-86DA-AF8842591AB8}"/>
                </a:ext>
              </a:extLst>
            </p:cNvPr>
            <p:cNvSpPr/>
            <p:nvPr/>
          </p:nvSpPr>
          <p:spPr>
            <a:xfrm>
              <a:off x="3124200" y="3429000"/>
              <a:ext cx="609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API</a:t>
              </a:r>
              <a:endParaRPr lang="en-GB" dirty="0"/>
            </a:p>
          </p:txBody>
        </p:sp>
      </p:grpSp>
      <p:grpSp>
        <p:nvGrpSpPr>
          <p:cNvPr id="44" name="Group 43">
            <a:extLst>
              <a:ext uri="{FF2B5EF4-FFF2-40B4-BE49-F238E27FC236}">
                <a16:creationId xmlns:a16="http://schemas.microsoft.com/office/drawing/2014/main" id="{4AAA6459-78FF-4157-A71B-F6C6BCEC56FA}"/>
              </a:ext>
            </a:extLst>
          </p:cNvPr>
          <p:cNvGrpSpPr/>
          <p:nvPr/>
        </p:nvGrpSpPr>
        <p:grpSpPr>
          <a:xfrm>
            <a:off x="8077200" y="1600200"/>
            <a:ext cx="2514600" cy="1143000"/>
            <a:chOff x="6934200" y="1600200"/>
            <a:chExt cx="2514600" cy="1143000"/>
          </a:xfrm>
        </p:grpSpPr>
        <p:sp>
          <p:nvSpPr>
            <p:cNvPr id="7" name="Rectangle 6">
              <a:extLst>
                <a:ext uri="{FF2B5EF4-FFF2-40B4-BE49-F238E27FC236}">
                  <a16:creationId xmlns:a16="http://schemas.microsoft.com/office/drawing/2014/main" id="{DF6FA154-A2D2-4EC0-B986-A6DF83169980}"/>
                </a:ext>
              </a:extLst>
            </p:cNvPr>
            <p:cNvSpPr/>
            <p:nvPr/>
          </p:nvSpPr>
          <p:spPr>
            <a:xfrm>
              <a:off x="6934200" y="1600200"/>
              <a:ext cx="2514600" cy="1143000"/>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2060"/>
                  </a:solidFill>
                  <a:latin typeface="Calibri" panose="020F0502020204030204" pitchFamily="34" charset="0"/>
                  <a:cs typeface="Calibri" panose="020F0502020204030204" pitchFamily="34" charset="0"/>
                </a:rPr>
                <a:t>Worker 1/Node</a:t>
              </a:r>
            </a:p>
            <a:p>
              <a:pPr algn="r"/>
              <a:r>
                <a:rPr lang="en-US" dirty="0">
                  <a:solidFill>
                    <a:srgbClr val="002060"/>
                  </a:solidFill>
                  <a:latin typeface="Calibri" panose="020F0502020204030204" pitchFamily="34" charset="0"/>
                  <a:cs typeface="Calibri" panose="020F0502020204030204" pitchFamily="34" charset="0"/>
                </a:rPr>
                <a:t>    (</a:t>
              </a:r>
              <a:r>
                <a:rPr lang="en-US" dirty="0" err="1">
                  <a:solidFill>
                    <a:srgbClr val="002060"/>
                  </a:solidFill>
                  <a:latin typeface="Calibri" panose="020F0502020204030204" pitchFamily="34" charset="0"/>
                  <a:cs typeface="Calibri" panose="020F0502020204030204" pitchFamily="34" charset="0"/>
                </a:rPr>
                <a:t>Kuberlet</a:t>
              </a:r>
              <a:r>
                <a:rPr lang="en-US" dirty="0">
                  <a:solidFill>
                    <a:srgbClr val="002060"/>
                  </a:solidFill>
                  <a:latin typeface="Calibri" panose="020F0502020204030204" pitchFamily="34" charset="0"/>
                  <a:cs typeface="Calibri" panose="020F0502020204030204" pitchFamily="34" charset="0"/>
                </a:rPr>
                <a:t> + container run time)</a:t>
              </a:r>
              <a:endParaRPr lang="en-GB" dirty="0">
                <a:solidFill>
                  <a:srgbClr val="002060"/>
                </a:solidFill>
                <a:latin typeface="Calibri" panose="020F0502020204030204" pitchFamily="34" charset="0"/>
                <a:cs typeface="Calibri" panose="020F0502020204030204" pitchFamily="34" charset="0"/>
              </a:endParaRPr>
            </a:p>
          </p:txBody>
        </p:sp>
        <p:sp>
          <p:nvSpPr>
            <p:cNvPr id="9" name="Rectangle 8">
              <a:extLst>
                <a:ext uri="{FF2B5EF4-FFF2-40B4-BE49-F238E27FC236}">
                  <a16:creationId xmlns:a16="http://schemas.microsoft.com/office/drawing/2014/main" id="{987CD44F-8EB7-4823-B834-C7D63AFFE103}"/>
                </a:ext>
              </a:extLst>
            </p:cNvPr>
            <p:cNvSpPr/>
            <p:nvPr/>
          </p:nvSpPr>
          <p:spPr>
            <a:xfrm>
              <a:off x="6934200" y="195712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a:t>
              </a:r>
              <a:endParaRPr lang="en-GB" dirty="0"/>
            </a:p>
          </p:txBody>
        </p:sp>
      </p:grpSp>
      <p:grpSp>
        <p:nvGrpSpPr>
          <p:cNvPr id="45" name="Group 44">
            <a:extLst>
              <a:ext uri="{FF2B5EF4-FFF2-40B4-BE49-F238E27FC236}">
                <a16:creationId xmlns:a16="http://schemas.microsoft.com/office/drawing/2014/main" id="{FCE019F9-58FF-4D3E-9975-A3F0249FBB51}"/>
              </a:ext>
            </a:extLst>
          </p:cNvPr>
          <p:cNvGrpSpPr/>
          <p:nvPr/>
        </p:nvGrpSpPr>
        <p:grpSpPr>
          <a:xfrm>
            <a:off x="8077200" y="3124200"/>
            <a:ext cx="2514600" cy="1143000"/>
            <a:chOff x="6934200" y="3200400"/>
            <a:chExt cx="2514600" cy="1143000"/>
          </a:xfrm>
        </p:grpSpPr>
        <p:sp>
          <p:nvSpPr>
            <p:cNvPr id="25" name="Rectangle 24">
              <a:extLst>
                <a:ext uri="{FF2B5EF4-FFF2-40B4-BE49-F238E27FC236}">
                  <a16:creationId xmlns:a16="http://schemas.microsoft.com/office/drawing/2014/main" id="{4000D43D-9B01-4ABD-9F3A-4C09D75F4004}"/>
                </a:ext>
              </a:extLst>
            </p:cNvPr>
            <p:cNvSpPr/>
            <p:nvPr/>
          </p:nvSpPr>
          <p:spPr>
            <a:xfrm>
              <a:off x="6934200" y="3200400"/>
              <a:ext cx="2514600" cy="1143000"/>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2060"/>
                  </a:solidFill>
                  <a:latin typeface="Calibri" panose="020F0502020204030204" pitchFamily="34" charset="0"/>
                  <a:cs typeface="Calibri" panose="020F0502020204030204" pitchFamily="34" charset="0"/>
                </a:rPr>
                <a:t>Worker 2/Node</a:t>
              </a:r>
              <a:endParaRPr lang="en-GB" dirty="0">
                <a:solidFill>
                  <a:srgbClr val="002060"/>
                </a:solidFill>
                <a:latin typeface="Calibri" panose="020F0502020204030204" pitchFamily="34" charset="0"/>
                <a:cs typeface="Calibri" panose="020F0502020204030204" pitchFamily="34" charset="0"/>
              </a:endParaRPr>
            </a:p>
          </p:txBody>
        </p:sp>
        <p:sp>
          <p:nvSpPr>
            <p:cNvPr id="26" name="Rectangle 25">
              <a:extLst>
                <a:ext uri="{FF2B5EF4-FFF2-40B4-BE49-F238E27FC236}">
                  <a16:creationId xmlns:a16="http://schemas.microsoft.com/office/drawing/2014/main" id="{326B2253-4B9D-445A-9128-C954BD878970}"/>
                </a:ext>
              </a:extLst>
            </p:cNvPr>
            <p:cNvSpPr/>
            <p:nvPr/>
          </p:nvSpPr>
          <p:spPr>
            <a:xfrm>
              <a:off x="6934200" y="355732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a:t>
              </a:r>
              <a:endParaRPr lang="en-GB" dirty="0"/>
            </a:p>
          </p:txBody>
        </p:sp>
      </p:grpSp>
      <p:grpSp>
        <p:nvGrpSpPr>
          <p:cNvPr id="46" name="Group 45">
            <a:extLst>
              <a:ext uri="{FF2B5EF4-FFF2-40B4-BE49-F238E27FC236}">
                <a16:creationId xmlns:a16="http://schemas.microsoft.com/office/drawing/2014/main" id="{D9D36A14-8B2A-479D-B709-734633B4B183}"/>
              </a:ext>
            </a:extLst>
          </p:cNvPr>
          <p:cNvGrpSpPr/>
          <p:nvPr/>
        </p:nvGrpSpPr>
        <p:grpSpPr>
          <a:xfrm>
            <a:off x="7924800" y="4724400"/>
            <a:ext cx="2667000" cy="1143000"/>
            <a:chOff x="6958020" y="5029200"/>
            <a:chExt cx="2514600" cy="1143000"/>
          </a:xfrm>
        </p:grpSpPr>
        <p:sp>
          <p:nvSpPr>
            <p:cNvPr id="27" name="Rectangle 26">
              <a:extLst>
                <a:ext uri="{FF2B5EF4-FFF2-40B4-BE49-F238E27FC236}">
                  <a16:creationId xmlns:a16="http://schemas.microsoft.com/office/drawing/2014/main" id="{125C1E0F-39AF-435E-80E2-3FF80930A2BE}"/>
                </a:ext>
              </a:extLst>
            </p:cNvPr>
            <p:cNvSpPr/>
            <p:nvPr/>
          </p:nvSpPr>
          <p:spPr>
            <a:xfrm>
              <a:off x="6958020" y="5029200"/>
              <a:ext cx="2514600" cy="1143000"/>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2060"/>
                  </a:solidFill>
                  <a:latin typeface="Calibri" panose="020F0502020204030204" pitchFamily="34" charset="0"/>
                  <a:cs typeface="Calibri" panose="020F0502020204030204" pitchFamily="34" charset="0"/>
                </a:rPr>
                <a:t>Worker 3/Node</a:t>
              </a:r>
              <a:endParaRPr lang="en-GB" dirty="0">
                <a:solidFill>
                  <a:srgbClr val="002060"/>
                </a:solidFill>
                <a:latin typeface="Calibri" panose="020F0502020204030204" pitchFamily="34" charset="0"/>
                <a:cs typeface="Calibri" panose="020F0502020204030204" pitchFamily="34" charset="0"/>
              </a:endParaRPr>
            </a:p>
          </p:txBody>
        </p:sp>
        <p:sp>
          <p:nvSpPr>
            <p:cNvPr id="28" name="Rectangle 27">
              <a:extLst>
                <a:ext uri="{FF2B5EF4-FFF2-40B4-BE49-F238E27FC236}">
                  <a16:creationId xmlns:a16="http://schemas.microsoft.com/office/drawing/2014/main" id="{BF38C6B0-3006-492F-B7CD-F3A94A47D235}"/>
                </a:ext>
              </a:extLst>
            </p:cNvPr>
            <p:cNvSpPr/>
            <p:nvPr/>
          </p:nvSpPr>
          <p:spPr>
            <a:xfrm>
              <a:off x="6958020" y="538612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a:t>
              </a:r>
              <a:endParaRPr lang="en-GB" dirty="0"/>
            </a:p>
          </p:txBody>
        </p:sp>
      </p:grpSp>
      <p:grpSp>
        <p:nvGrpSpPr>
          <p:cNvPr id="48" name="Group 47">
            <a:extLst>
              <a:ext uri="{FF2B5EF4-FFF2-40B4-BE49-F238E27FC236}">
                <a16:creationId xmlns:a16="http://schemas.microsoft.com/office/drawing/2014/main" id="{29646F21-18FA-4B91-B0A8-E04186B4B953}"/>
              </a:ext>
            </a:extLst>
          </p:cNvPr>
          <p:cNvGrpSpPr/>
          <p:nvPr/>
        </p:nvGrpSpPr>
        <p:grpSpPr>
          <a:xfrm>
            <a:off x="1455660" y="1973462"/>
            <a:ext cx="1905000" cy="2598538"/>
            <a:chOff x="312660" y="1973462"/>
            <a:chExt cx="1905000" cy="2598538"/>
          </a:xfrm>
        </p:grpSpPr>
        <p:sp>
          <p:nvSpPr>
            <p:cNvPr id="10" name="Flowchart: Document 9">
              <a:extLst>
                <a:ext uri="{FF2B5EF4-FFF2-40B4-BE49-F238E27FC236}">
                  <a16:creationId xmlns:a16="http://schemas.microsoft.com/office/drawing/2014/main" id="{6A665F58-1C2F-4EEA-B729-3B2DFEC79CA3}"/>
                </a:ext>
              </a:extLst>
            </p:cNvPr>
            <p:cNvSpPr/>
            <p:nvPr/>
          </p:nvSpPr>
          <p:spPr>
            <a:xfrm>
              <a:off x="312660" y="2414320"/>
              <a:ext cx="1905000" cy="2157680"/>
            </a:xfrm>
            <a:prstGeom prst="flowChartDocumen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solidFill>
                    <a:srgbClr val="002060"/>
                  </a:solidFill>
                  <a:latin typeface="Calibri" panose="020F0502020204030204" pitchFamily="34" charset="0"/>
                  <a:cs typeface="Calibri" panose="020F0502020204030204" pitchFamily="34" charset="0"/>
                </a:rPr>
                <a:t>POD 1:</a:t>
              </a:r>
            </a:p>
            <a:p>
              <a:r>
                <a:rPr lang="en-US" sz="1400" dirty="0">
                  <a:solidFill>
                    <a:srgbClr val="002060"/>
                  </a:solidFill>
                  <a:latin typeface="Calibri" panose="020F0502020204030204" pitchFamily="34" charset="0"/>
                  <a:cs typeface="Calibri" panose="020F0502020204030204" pitchFamily="34" charset="0"/>
                </a:rPr>
                <a:t>Container 1</a:t>
              </a:r>
            </a:p>
            <a:p>
              <a:r>
                <a:rPr lang="en-US" sz="1400" dirty="0">
                  <a:solidFill>
                    <a:srgbClr val="002060"/>
                  </a:solidFill>
                  <a:latin typeface="Calibri" panose="020F0502020204030204" pitchFamily="34" charset="0"/>
                  <a:cs typeface="Calibri" panose="020F0502020204030204" pitchFamily="34" charset="0"/>
                </a:rPr>
                <a:t>Container 2</a:t>
              </a:r>
            </a:p>
            <a:p>
              <a:r>
                <a:rPr lang="en-US" sz="1400" dirty="0">
                  <a:solidFill>
                    <a:srgbClr val="002060"/>
                  </a:solidFill>
                  <a:latin typeface="Calibri" panose="020F0502020204030204" pitchFamily="34" charset="0"/>
                  <a:cs typeface="Calibri" panose="020F0502020204030204" pitchFamily="34" charset="0"/>
                </a:rPr>
                <a:t>Replicas : 3</a:t>
              </a:r>
            </a:p>
            <a:p>
              <a:endParaRPr lang="en-US" sz="1400" dirty="0">
                <a:solidFill>
                  <a:srgbClr val="002060"/>
                </a:solidFill>
                <a:latin typeface="Calibri" panose="020F0502020204030204" pitchFamily="34" charset="0"/>
                <a:cs typeface="Calibri" panose="020F0502020204030204" pitchFamily="34" charset="0"/>
              </a:endParaRPr>
            </a:p>
            <a:p>
              <a:r>
                <a:rPr lang="en-US" sz="1400" b="1" dirty="0">
                  <a:solidFill>
                    <a:srgbClr val="002060"/>
                  </a:solidFill>
                  <a:latin typeface="Calibri" panose="020F0502020204030204" pitchFamily="34" charset="0"/>
                  <a:cs typeface="Calibri" panose="020F0502020204030204" pitchFamily="34" charset="0"/>
                </a:rPr>
                <a:t>POD 2:</a:t>
              </a:r>
            </a:p>
            <a:p>
              <a:r>
                <a:rPr lang="en-US" sz="1400" dirty="0">
                  <a:solidFill>
                    <a:srgbClr val="002060"/>
                  </a:solidFill>
                  <a:latin typeface="Calibri" panose="020F0502020204030204" pitchFamily="34" charset="0"/>
                  <a:cs typeface="Calibri" panose="020F0502020204030204" pitchFamily="34" charset="0"/>
                </a:rPr>
                <a:t>Container 3</a:t>
              </a:r>
            </a:p>
            <a:p>
              <a:r>
                <a:rPr lang="en-US" sz="1400" dirty="0">
                  <a:solidFill>
                    <a:srgbClr val="002060"/>
                  </a:solidFill>
                  <a:latin typeface="Calibri" panose="020F0502020204030204" pitchFamily="34" charset="0"/>
                  <a:cs typeface="Calibri" panose="020F0502020204030204" pitchFamily="34" charset="0"/>
                </a:rPr>
                <a:t>Replicas : 2</a:t>
              </a:r>
              <a:endParaRPr lang="en-GB" sz="1400" dirty="0">
                <a:solidFill>
                  <a:srgbClr val="002060"/>
                </a:solidFill>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8C3EB167-A3A7-482E-B043-E74BBF54B67E}"/>
                </a:ext>
              </a:extLst>
            </p:cNvPr>
            <p:cNvSpPr txBox="1"/>
            <p:nvPr/>
          </p:nvSpPr>
          <p:spPr>
            <a:xfrm>
              <a:off x="699666" y="1973462"/>
              <a:ext cx="959365" cy="338554"/>
            </a:xfrm>
            <a:prstGeom prst="rect">
              <a:avLst/>
            </a:prstGeom>
            <a:noFill/>
          </p:spPr>
          <p:txBody>
            <a:bodyPr wrap="none" rtlCol="0">
              <a:spAutoFit/>
            </a:bodyPr>
            <a:lstStyle/>
            <a:p>
              <a:r>
                <a:rPr lang="en-US" sz="1600" dirty="0" err="1"/>
                <a:t>App.yaml</a:t>
              </a:r>
              <a:endParaRPr lang="en-GB" sz="1600" dirty="0"/>
            </a:p>
          </p:txBody>
        </p:sp>
      </p:grpSp>
      <p:sp>
        <p:nvSpPr>
          <p:cNvPr id="29" name="TextBox 28">
            <a:extLst>
              <a:ext uri="{FF2B5EF4-FFF2-40B4-BE49-F238E27FC236}">
                <a16:creationId xmlns:a16="http://schemas.microsoft.com/office/drawing/2014/main" id="{32AEDC7E-65CA-4AC3-B20C-54DE2DB32139}"/>
              </a:ext>
            </a:extLst>
          </p:cNvPr>
          <p:cNvSpPr txBox="1"/>
          <p:nvPr/>
        </p:nvSpPr>
        <p:spPr>
          <a:xfrm>
            <a:off x="1335216" y="1168688"/>
            <a:ext cx="2809872" cy="369332"/>
          </a:xfrm>
          <a:prstGeom prst="rect">
            <a:avLst/>
          </a:prstGeom>
          <a:noFill/>
        </p:spPr>
        <p:txBody>
          <a:bodyPr wrap="none" rtlCol="0">
            <a:spAutoFit/>
          </a:bodyPr>
          <a:lstStyle/>
          <a:p>
            <a:r>
              <a:rPr lang="en-US" b="1" u="sng" dirty="0"/>
              <a:t>Desired State Configuration</a:t>
            </a:r>
            <a:endParaRPr lang="en-GB" b="1" u="sng" dirty="0"/>
          </a:p>
        </p:txBody>
      </p:sp>
      <p:cxnSp>
        <p:nvCxnSpPr>
          <p:cNvPr id="31" name="Straight Arrow Connector 30">
            <a:extLst>
              <a:ext uri="{FF2B5EF4-FFF2-40B4-BE49-F238E27FC236}">
                <a16:creationId xmlns:a16="http://schemas.microsoft.com/office/drawing/2014/main" id="{30E45294-77E2-4DFC-8CAE-8CB6F24D9958}"/>
              </a:ext>
            </a:extLst>
          </p:cNvPr>
          <p:cNvCxnSpPr>
            <a:cxnSpLocks/>
            <a:stCxn id="10" idx="3"/>
            <a:endCxn id="4" idx="1"/>
          </p:cNvCxnSpPr>
          <p:nvPr/>
        </p:nvCxnSpPr>
        <p:spPr>
          <a:xfrm>
            <a:off x="3360660" y="3493160"/>
            <a:ext cx="906540" cy="2787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F937AD66-B1F4-472C-A4CF-CF5482154697}"/>
              </a:ext>
            </a:extLst>
          </p:cNvPr>
          <p:cNvCxnSpPr>
            <a:stCxn id="4" idx="3"/>
            <a:endCxn id="9" idx="1"/>
          </p:cNvCxnSpPr>
          <p:nvPr/>
        </p:nvCxnSpPr>
        <p:spPr>
          <a:xfrm flipV="1">
            <a:off x="4876800" y="2185720"/>
            <a:ext cx="3200400" cy="15861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724A19AB-2A63-4F3F-B42C-23B31833CAC5}"/>
              </a:ext>
            </a:extLst>
          </p:cNvPr>
          <p:cNvCxnSpPr>
            <a:stCxn id="4" idx="3"/>
            <a:endCxn id="26" idx="1"/>
          </p:cNvCxnSpPr>
          <p:nvPr/>
        </p:nvCxnSpPr>
        <p:spPr>
          <a:xfrm flipV="1">
            <a:off x="4876800" y="3709720"/>
            <a:ext cx="3200400" cy="621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49D5E0AA-EC16-4BC1-895F-35C8602B4688}"/>
              </a:ext>
            </a:extLst>
          </p:cNvPr>
          <p:cNvCxnSpPr>
            <a:stCxn id="4" idx="3"/>
            <a:endCxn id="28" idx="1"/>
          </p:cNvCxnSpPr>
          <p:nvPr/>
        </p:nvCxnSpPr>
        <p:spPr>
          <a:xfrm>
            <a:off x="4876800" y="3771900"/>
            <a:ext cx="3048000" cy="15380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EC7E37D4-7435-4D95-9983-3420A460D2B5}"/>
              </a:ext>
            </a:extLst>
          </p:cNvPr>
          <p:cNvSpPr txBox="1"/>
          <p:nvPr/>
        </p:nvSpPr>
        <p:spPr>
          <a:xfrm>
            <a:off x="8015280" y="1334166"/>
            <a:ext cx="1111202" cy="307777"/>
          </a:xfrm>
          <a:prstGeom prst="rect">
            <a:avLst/>
          </a:prstGeom>
          <a:noFill/>
        </p:spPr>
        <p:txBody>
          <a:bodyPr wrap="none" rtlCol="0">
            <a:spAutoFit/>
          </a:bodyPr>
          <a:lstStyle/>
          <a:p>
            <a:r>
              <a:rPr lang="en-US" sz="1400" b="1" dirty="0">
                <a:solidFill>
                  <a:srgbClr val="002060"/>
                </a:solidFill>
              </a:rPr>
              <a:t>P1 R1, P2 R1</a:t>
            </a:r>
            <a:endParaRPr lang="en-GB" sz="1400" b="1" dirty="0">
              <a:solidFill>
                <a:srgbClr val="002060"/>
              </a:solidFill>
            </a:endParaRPr>
          </a:p>
        </p:txBody>
      </p:sp>
      <p:sp>
        <p:nvSpPr>
          <p:cNvPr id="39" name="TextBox 38">
            <a:extLst>
              <a:ext uri="{FF2B5EF4-FFF2-40B4-BE49-F238E27FC236}">
                <a16:creationId xmlns:a16="http://schemas.microsoft.com/office/drawing/2014/main" id="{EF7B8FA3-10A3-4CA5-95C1-90AAA9E05903}"/>
              </a:ext>
            </a:extLst>
          </p:cNvPr>
          <p:cNvSpPr txBox="1"/>
          <p:nvPr/>
        </p:nvSpPr>
        <p:spPr>
          <a:xfrm>
            <a:off x="8001001" y="2819401"/>
            <a:ext cx="604653" cy="307777"/>
          </a:xfrm>
          <a:prstGeom prst="rect">
            <a:avLst/>
          </a:prstGeom>
          <a:noFill/>
        </p:spPr>
        <p:txBody>
          <a:bodyPr wrap="none" rtlCol="0">
            <a:spAutoFit/>
          </a:bodyPr>
          <a:lstStyle/>
          <a:p>
            <a:r>
              <a:rPr lang="en-US" sz="1400" b="1" dirty="0">
                <a:solidFill>
                  <a:srgbClr val="002060"/>
                </a:solidFill>
              </a:rPr>
              <a:t>P1 R2</a:t>
            </a:r>
            <a:endParaRPr lang="en-GB" sz="1400" b="1" dirty="0">
              <a:solidFill>
                <a:srgbClr val="002060"/>
              </a:solidFill>
            </a:endParaRPr>
          </a:p>
        </p:txBody>
      </p:sp>
      <p:sp>
        <p:nvSpPr>
          <p:cNvPr id="42" name="TextBox 41">
            <a:extLst>
              <a:ext uri="{FF2B5EF4-FFF2-40B4-BE49-F238E27FC236}">
                <a16:creationId xmlns:a16="http://schemas.microsoft.com/office/drawing/2014/main" id="{CC1F3726-B77A-4391-BEA0-4E5B7F0A0944}"/>
              </a:ext>
            </a:extLst>
          </p:cNvPr>
          <p:cNvSpPr txBox="1"/>
          <p:nvPr/>
        </p:nvSpPr>
        <p:spPr>
          <a:xfrm>
            <a:off x="8001000" y="4343401"/>
            <a:ext cx="1111202" cy="307777"/>
          </a:xfrm>
          <a:prstGeom prst="rect">
            <a:avLst/>
          </a:prstGeom>
          <a:noFill/>
        </p:spPr>
        <p:txBody>
          <a:bodyPr wrap="none" rtlCol="0">
            <a:spAutoFit/>
          </a:bodyPr>
          <a:lstStyle/>
          <a:p>
            <a:r>
              <a:rPr lang="en-US" sz="1400" b="1" dirty="0">
                <a:solidFill>
                  <a:srgbClr val="002060"/>
                </a:solidFill>
              </a:rPr>
              <a:t>P1 R3, P2 R2</a:t>
            </a:r>
            <a:endParaRPr lang="en-GB" sz="1400" b="1" dirty="0">
              <a:solidFill>
                <a:srgbClr val="002060"/>
              </a:solidFill>
            </a:endParaRPr>
          </a:p>
        </p:txBody>
      </p:sp>
      <p:sp>
        <p:nvSpPr>
          <p:cNvPr id="5" name="TextBox 4">
            <a:extLst>
              <a:ext uri="{FF2B5EF4-FFF2-40B4-BE49-F238E27FC236}">
                <a16:creationId xmlns:a16="http://schemas.microsoft.com/office/drawing/2014/main" id="{0FE5BD05-7535-40B6-9C4F-8714DED6D83D}"/>
              </a:ext>
            </a:extLst>
          </p:cNvPr>
          <p:cNvSpPr txBox="1"/>
          <p:nvPr/>
        </p:nvSpPr>
        <p:spPr>
          <a:xfrm>
            <a:off x="4245780" y="4444426"/>
            <a:ext cx="2514600" cy="584775"/>
          </a:xfrm>
          <a:prstGeom prst="rect">
            <a:avLst/>
          </a:prstGeom>
          <a:noFill/>
        </p:spPr>
        <p:txBody>
          <a:bodyPr wrap="square" rtlCol="0">
            <a:spAutoFit/>
          </a:bodyPr>
          <a:lstStyle/>
          <a:p>
            <a:r>
              <a:rPr lang="en-US" sz="1600" dirty="0" err="1"/>
              <a:t>Apiserver</a:t>
            </a:r>
            <a:r>
              <a:rPr lang="en-US" sz="1600" dirty="0"/>
              <a:t>, controller, scheduler</a:t>
            </a:r>
            <a:endParaRPr lang="en-GB" sz="1600" dirty="0"/>
          </a:p>
        </p:txBody>
      </p:sp>
    </p:spTree>
    <p:extLst>
      <p:ext uri="{BB962C8B-B14F-4D97-AF65-F5344CB8AC3E}">
        <p14:creationId xmlns:p14="http://schemas.microsoft.com/office/powerpoint/2010/main" val="7396640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1395</Words>
  <Application>Microsoft Office PowerPoint</Application>
  <PresentationFormat>Widescreen</PresentationFormat>
  <Paragraphs>215</Paragraphs>
  <Slides>19</Slides>
  <Notes>3</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19</vt:i4>
      </vt:variant>
    </vt:vector>
  </HeadingPairs>
  <TitlesOfParts>
    <vt:vector size="30" baseType="lpstr">
      <vt:lpstr> Arial body </vt:lpstr>
      <vt:lpstr>Arial</vt:lpstr>
      <vt:lpstr>Arial Body</vt:lpstr>
      <vt:lpstr>Arial Body </vt:lpstr>
      <vt:lpstr>Body Level 1</vt:lpstr>
      <vt:lpstr>Calibri</vt:lpstr>
      <vt:lpstr>Calibri Light</vt:lpstr>
      <vt:lpstr>Courier New</vt:lpstr>
      <vt:lpstr>Menlo</vt:lpstr>
      <vt:lpstr>Wingdings</vt:lpstr>
      <vt:lpstr>Office Theme</vt:lpstr>
      <vt:lpstr>PowerPoint Presentation</vt:lpstr>
      <vt:lpstr>Agenda</vt:lpstr>
      <vt:lpstr>Introduction to Containerization </vt:lpstr>
      <vt:lpstr>Containers versus Virtual machines</vt:lpstr>
      <vt:lpstr>Advantages of containerization</vt:lpstr>
      <vt:lpstr>Images and containers</vt:lpstr>
      <vt:lpstr>Popular Linux Containers </vt:lpstr>
      <vt:lpstr>Agenda</vt:lpstr>
      <vt:lpstr>Docker </vt:lpstr>
      <vt:lpstr>Docker Engine Architecture</vt:lpstr>
      <vt:lpstr>Understanding Docker images</vt:lpstr>
      <vt:lpstr>Working with docker </vt:lpstr>
      <vt:lpstr>Dockerfile </vt:lpstr>
      <vt:lpstr>Docker life cycle</vt:lpstr>
      <vt:lpstr>Managing data in docker </vt:lpstr>
      <vt:lpstr>Volume vs Bind Mount </vt:lpstr>
      <vt:lpstr>Docker Networking</vt:lpstr>
      <vt:lpstr>Kubernates </vt:lpstr>
      <vt:lpstr>Kubernetes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vishu rudra</dc:creator>
  <cp:lastModifiedBy>vishu rudra</cp:lastModifiedBy>
  <cp:revision>2</cp:revision>
  <dcterms:created xsi:type="dcterms:W3CDTF">2022-12-19T14:22:33Z</dcterms:created>
  <dcterms:modified xsi:type="dcterms:W3CDTF">2023-08-29T14:40:56Z</dcterms:modified>
</cp:coreProperties>
</file>