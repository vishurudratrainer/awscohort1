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411" r:id="rId3"/>
    <p:sldId id="485" r:id="rId4"/>
    <p:sldId id="469" r:id="rId5"/>
    <p:sldId id="410" r:id="rId6"/>
    <p:sldId id="415" r:id="rId7"/>
    <p:sldId id="416" r:id="rId8"/>
    <p:sldId id="417" r:id="rId9"/>
    <p:sldId id="418" r:id="rId10"/>
    <p:sldId id="427" r:id="rId11"/>
    <p:sldId id="486" r:id="rId12"/>
    <p:sldId id="488" r:id="rId13"/>
    <p:sldId id="421" r:id="rId14"/>
    <p:sldId id="422" r:id="rId15"/>
    <p:sldId id="423" r:id="rId16"/>
    <p:sldId id="424" r:id="rId17"/>
    <p:sldId id="425" r:id="rId18"/>
    <p:sldId id="426" r:id="rId19"/>
    <p:sldId id="428" r:id="rId20"/>
    <p:sldId id="473" r:id="rId21"/>
    <p:sldId id="489" r:id="rId22"/>
    <p:sldId id="474" r:id="rId23"/>
    <p:sldId id="432" r:id="rId24"/>
    <p:sldId id="433" r:id="rId25"/>
    <p:sldId id="434" r:id="rId26"/>
    <p:sldId id="435" r:id="rId27"/>
    <p:sldId id="436" r:id="rId28"/>
    <p:sldId id="437" r:id="rId29"/>
    <p:sldId id="438" r:id="rId30"/>
    <p:sldId id="490" r:id="rId31"/>
    <p:sldId id="439" r:id="rId32"/>
    <p:sldId id="491" r:id="rId33"/>
    <p:sldId id="441" r:id="rId34"/>
    <p:sldId id="442" r:id="rId35"/>
    <p:sldId id="443" r:id="rId36"/>
    <p:sldId id="444" r:id="rId37"/>
    <p:sldId id="492" r:id="rId38"/>
    <p:sldId id="445" r:id="rId39"/>
    <p:sldId id="493" r:id="rId40"/>
    <p:sldId id="457" r:id="rId41"/>
    <p:sldId id="458" r:id="rId42"/>
    <p:sldId id="470" r:id="rId43"/>
    <p:sldId id="460" r:id="rId44"/>
    <p:sldId id="459" r:id="rId45"/>
    <p:sldId id="461" r:id="rId46"/>
    <p:sldId id="462" r:id="rId47"/>
    <p:sldId id="471" r:id="rId48"/>
    <p:sldId id="463" r:id="rId49"/>
    <p:sldId id="464" r:id="rId50"/>
    <p:sldId id="472" r:id="rId51"/>
    <p:sldId id="499" r:id="rId52"/>
    <p:sldId id="494" r:id="rId53"/>
    <p:sldId id="447" r:id="rId54"/>
    <p:sldId id="448" r:id="rId55"/>
    <p:sldId id="449" r:id="rId56"/>
    <p:sldId id="450" r:id="rId57"/>
    <p:sldId id="452" r:id="rId58"/>
    <p:sldId id="451" r:id="rId59"/>
    <p:sldId id="453" r:id="rId60"/>
    <p:sldId id="454" r:id="rId61"/>
    <p:sldId id="495" r:id="rId62"/>
    <p:sldId id="475" r:id="rId63"/>
    <p:sldId id="500" r:id="rId64"/>
    <p:sldId id="496" r:id="rId65"/>
    <p:sldId id="477" r:id="rId66"/>
    <p:sldId id="478" r:id="rId67"/>
    <p:sldId id="479" r:id="rId68"/>
    <p:sldId id="480" r:id="rId69"/>
    <p:sldId id="481" r:id="rId70"/>
    <p:sldId id="497" r:id="rId71"/>
    <p:sldId id="482" r:id="rId72"/>
    <p:sldId id="483"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Overview of Cloud and AWS</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Bank strategy on Cloud</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VPC</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dgm:t>
        <a:bodyPr/>
        <a:lstStyle/>
        <a:p>
          <a:r>
            <a:rPr lang="en-US" sz="1600" dirty="0">
              <a:latin typeface="Calibri" panose="020F0502020204030204" pitchFamily="34" charset="0"/>
              <a:cs typeface="Calibri" panose="020F0502020204030204" pitchFamily="34" charset="0"/>
            </a:rPr>
            <a:t>AWS EC2</a:t>
          </a:r>
          <a:endParaRPr lang="en-GB" sz="1600" dirty="0">
            <a:latin typeface="Calibri" panose="020F0502020204030204" pitchFamily="34" charset="0"/>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dgm:t>
        <a:bodyPr/>
        <a:lstStyle/>
        <a:p>
          <a:r>
            <a:rPr lang="en-US" sz="1600" dirty="0">
              <a:latin typeface="Calibri" panose="020F0502020204030204" pitchFamily="34" charset="0"/>
              <a:cs typeface="Calibri" panose="020F0502020204030204" pitchFamily="34" charset="0"/>
            </a:rPr>
            <a:t>EC2 Hand-on</a:t>
          </a:r>
          <a:endParaRPr lang="en-GB" sz="1600" dirty="0">
            <a:latin typeface="Calibri" panose="020F0502020204030204" pitchFamily="34" charset="0"/>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b="1" dirty="0">
              <a:latin typeface="Calibri" panose="020F0502020204030204" pitchFamily="34" charset="0"/>
              <a:cs typeface="Calibri" panose="020F0502020204030204" pitchFamily="34" charset="0"/>
            </a:rPr>
            <a:t>Overview of Cloud and AWS</a:t>
          </a:r>
          <a:endParaRPr lang="en-GB" sz="1600" b="1"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Bank strategy on Cloud</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VPC</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dgm:t>
        <a:bodyPr/>
        <a:lstStyle/>
        <a:p>
          <a:r>
            <a:rPr lang="en-US" sz="1600" dirty="0">
              <a:latin typeface="Calibri" panose="020F0502020204030204" pitchFamily="34" charset="0"/>
              <a:cs typeface="Calibri" panose="020F0502020204030204" pitchFamily="34" charset="0"/>
            </a:rPr>
            <a:t>AWS EC2</a:t>
          </a:r>
          <a:endParaRPr lang="en-GB" sz="1600" dirty="0">
            <a:latin typeface="Calibri" panose="020F0502020204030204" pitchFamily="34" charset="0"/>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dgm:t>
        <a:bodyPr/>
        <a:lstStyle/>
        <a:p>
          <a:r>
            <a:rPr lang="en-US" sz="1600" dirty="0">
              <a:latin typeface="Calibri" panose="020F0502020204030204" pitchFamily="34" charset="0"/>
              <a:cs typeface="Calibri" panose="020F0502020204030204" pitchFamily="34" charset="0"/>
            </a:rPr>
            <a:t>EC2 Hand-on</a:t>
          </a:r>
          <a:endParaRPr lang="en-GB" sz="1600" dirty="0">
            <a:latin typeface="Calibri" panose="020F0502020204030204" pitchFamily="34" charset="0"/>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Bank strategy on Cloud</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VPC</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dgm:t>
        <a:bodyPr/>
        <a:lstStyle/>
        <a:p>
          <a:r>
            <a:rPr lang="en-US" sz="1600" dirty="0">
              <a:latin typeface="Calibri" panose="020F0502020204030204" pitchFamily="34" charset="0"/>
              <a:cs typeface="Calibri" panose="020F0502020204030204" pitchFamily="34" charset="0"/>
            </a:rPr>
            <a:t>AWS EC2</a:t>
          </a:r>
          <a:endParaRPr lang="en-GB" sz="1600" dirty="0">
            <a:latin typeface="Calibri" panose="020F0502020204030204" pitchFamily="34" charset="0"/>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dgm:t>
        <a:bodyPr/>
        <a:lstStyle/>
        <a:p>
          <a:r>
            <a:rPr lang="en-US" sz="1600" dirty="0">
              <a:latin typeface="Calibri" panose="020F0502020204030204" pitchFamily="34" charset="0"/>
              <a:cs typeface="Calibri" panose="020F0502020204030204" pitchFamily="34" charset="0"/>
            </a:rPr>
            <a:t>EC2 Hand-on</a:t>
          </a:r>
          <a:endParaRPr lang="en-GB" sz="1600" dirty="0">
            <a:latin typeface="Calibri" panose="020F0502020204030204" pitchFamily="34" charset="0"/>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VPC</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dgm:t>
        <a:bodyPr/>
        <a:lstStyle/>
        <a:p>
          <a:r>
            <a:rPr lang="en-US" sz="1600" dirty="0">
              <a:latin typeface="Calibri" panose="020F0502020204030204" pitchFamily="34" charset="0"/>
              <a:cs typeface="Calibri" panose="020F0502020204030204" pitchFamily="34" charset="0"/>
            </a:rPr>
            <a:t>AWS EC2</a:t>
          </a:r>
          <a:endParaRPr lang="en-GB" sz="1600" dirty="0">
            <a:latin typeface="Calibri" panose="020F0502020204030204" pitchFamily="34" charset="0"/>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dgm:t>
        <a:bodyPr/>
        <a:lstStyle/>
        <a:p>
          <a:r>
            <a:rPr lang="en-US" sz="1600" dirty="0">
              <a:latin typeface="Calibri" panose="020F0502020204030204" pitchFamily="34" charset="0"/>
              <a:cs typeface="Calibri" panose="020F0502020204030204" pitchFamily="34" charset="0"/>
            </a:rPr>
            <a:t>EC2 Hand-on</a:t>
          </a:r>
          <a:endParaRPr lang="en-GB" sz="1600" dirty="0">
            <a:latin typeface="Calibri" panose="020F0502020204030204" pitchFamily="34" charset="0"/>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6"/>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6"/>
      <dgm:spPr/>
    </dgm:pt>
    <dgm:pt modelId="{B3D49D7E-846E-4597-9C5E-18B263227402}" type="pres">
      <dgm:prSet presAssocID="{F4B64ED3-FCE8-4017-9556-27D4EC8B92FE}" presName="dstNode" presStyleLbl="node1" presStyleIdx="0" presStyleCnt="6"/>
      <dgm:spPr/>
    </dgm:pt>
    <dgm:pt modelId="{CB7C7462-81B4-4838-9BAB-675262662167}" type="pres">
      <dgm:prSet presAssocID="{E9D2B44C-42BA-481F-B55E-270F119A1342}" presName="text_1" presStyleLbl="node1" presStyleIdx="0" presStyleCnt="6">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6"/>
      <dgm:spPr/>
    </dgm:pt>
    <dgm:pt modelId="{200F9977-46AA-4E2C-9830-8869A60C543C}" type="pres">
      <dgm:prSet presAssocID="{833B8425-2A32-436C-8CDA-99BCB79B5A70}" presName="text_2" presStyleLbl="node1" presStyleIdx="1" presStyleCnt="6">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6"/>
      <dgm:spPr/>
    </dgm:pt>
    <dgm:pt modelId="{08F2BC6D-23D2-4A9C-9516-067C14A57305}" type="pres">
      <dgm:prSet presAssocID="{BC1FFFD6-2B19-4D7E-8191-2610F4FF1E1B}" presName="text_3" presStyleLbl="node1" presStyleIdx="2" presStyleCnt="6">
        <dgm:presLayoutVars>
          <dgm:bulletEnabled val="1"/>
        </dgm:presLayoutVars>
      </dgm:prSet>
      <dgm:spPr/>
    </dgm:pt>
    <dgm:pt modelId="{5992A6C4-4804-4E0A-B15C-4D9868C2DC00}" type="pres">
      <dgm:prSet presAssocID="{BC1FFFD6-2B19-4D7E-8191-2610F4FF1E1B}" presName="accent_3" presStyleCnt="0"/>
      <dgm:spPr/>
    </dgm:pt>
    <dgm:pt modelId="{766575DE-7DAD-4DC9-8D69-816F372071D0}" type="pres">
      <dgm:prSet presAssocID="{BC1FFFD6-2B19-4D7E-8191-2610F4FF1E1B}" presName="accentRepeatNode" presStyleLbl="solidFgAcc1" presStyleIdx="2" presStyleCnt="6"/>
      <dgm:spPr/>
    </dgm:pt>
    <dgm:pt modelId="{EB19BB55-B270-458C-81CF-D739299599FA}" type="pres">
      <dgm:prSet presAssocID="{B3D2A232-5163-4D93-A3FF-788D7A3DC78E}" presName="text_4" presStyleLbl="node1" presStyleIdx="3" presStyleCnt="6">
        <dgm:presLayoutVars>
          <dgm:bulletEnabled val="1"/>
        </dgm:presLayoutVars>
      </dgm:prSet>
      <dgm:spPr/>
    </dgm:pt>
    <dgm:pt modelId="{696F994B-BD7B-4A59-A99A-2362652436EC}" type="pres">
      <dgm:prSet presAssocID="{B3D2A232-5163-4D93-A3FF-788D7A3DC78E}" presName="accent_4" presStyleCnt="0"/>
      <dgm:spPr/>
    </dgm:pt>
    <dgm:pt modelId="{7A8D6657-8A4F-45A7-87EE-8B42D7359E29}" type="pres">
      <dgm:prSet presAssocID="{B3D2A232-5163-4D93-A3FF-788D7A3DC78E}" presName="accentRepeatNode" presStyleLbl="solidFgAcc1" presStyleIdx="3" presStyleCnt="6"/>
      <dgm:spPr/>
    </dgm:pt>
    <dgm:pt modelId="{AA750007-DE37-4162-BC1B-F3BE0F9E0B81}" type="pres">
      <dgm:prSet presAssocID="{77AF7D9E-5EF4-4C13-94AD-E433B5F970D0}" presName="text_5" presStyleLbl="node1" presStyleIdx="4" presStyleCnt="6">
        <dgm:presLayoutVars>
          <dgm:bulletEnabled val="1"/>
        </dgm:presLayoutVars>
      </dgm:prSet>
      <dgm:spPr/>
    </dgm:pt>
    <dgm:pt modelId="{A0939BD5-DE4B-4D6C-A557-39B88F23DED4}" type="pres">
      <dgm:prSet presAssocID="{77AF7D9E-5EF4-4C13-94AD-E433B5F970D0}" presName="accent_5" presStyleCnt="0"/>
      <dgm:spPr/>
    </dgm:pt>
    <dgm:pt modelId="{53355EA5-9309-4F94-951D-C76F9426A5F4}" type="pres">
      <dgm:prSet presAssocID="{77AF7D9E-5EF4-4C13-94AD-E433B5F970D0}" presName="accentRepeatNode" presStyleLbl="solidFgAcc1" presStyleIdx="4" presStyleCnt="6"/>
      <dgm:spPr/>
    </dgm:pt>
    <dgm:pt modelId="{13B082C5-2811-4E70-BD11-A25F4AF26791}" type="pres">
      <dgm:prSet presAssocID="{35FB241A-D925-46E6-B571-CA596DE05DA9}" presName="text_6" presStyleLbl="node1" presStyleIdx="5" presStyleCnt="6">
        <dgm:presLayoutVars>
          <dgm:bulletEnabled val="1"/>
        </dgm:presLayoutVars>
      </dgm:prSet>
      <dgm:spPr/>
    </dgm:pt>
    <dgm:pt modelId="{7ABB45A9-240C-4FAD-98C2-D021367D5D1A}" type="pres">
      <dgm:prSet presAssocID="{35FB241A-D925-46E6-B571-CA596DE05DA9}" presName="accent_6" presStyleCnt="0"/>
      <dgm:spPr/>
    </dgm:pt>
    <dgm:pt modelId="{8CE1FD9D-3EEC-4E1E-A7CF-CFFB7CBE701D}" type="pres">
      <dgm:prSet presAssocID="{35FB241A-D925-46E6-B571-CA596DE05DA9}" presName="accentRepeatNode" presStyleLbl="solidFgAcc1" presStyleIdx="5" presStyleCnt="6"/>
      <dgm:spPr/>
    </dgm:pt>
  </dgm:ptLst>
  <dgm:cxnLst>
    <dgm:cxn modelId="{6BFB7516-3455-4283-BA73-F4BB529A94D1}" type="presOf" srcId="{77AF7D9E-5EF4-4C13-94AD-E433B5F970D0}" destId="{AA750007-DE37-4162-BC1B-F3BE0F9E0B8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2"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DB36C769-482A-493D-A085-1C5A768C1132}" type="presOf" srcId="{35FB241A-D925-46E6-B571-CA596DE05DA9}" destId="{13B082C5-2811-4E70-BD11-A25F4AF26791}"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4" destOrd="0" parTransId="{622EBC35-8413-4B37-B462-B088D9C389ED}" sibTransId="{B958EE2E-F3CB-438A-A60C-7B535EC9BB13}"/>
    <dgm:cxn modelId="{9B679353-D90C-4881-B5F1-4DB4D22839FB}" srcId="{F4B64ED3-FCE8-4017-9556-27D4EC8B92FE}" destId="{B3D2A232-5163-4D93-A3FF-788D7A3DC78E}" srcOrd="3" destOrd="0" parTransId="{F53D61A6-B685-42A5-8331-AAE09F1CE394}" sibTransId="{52751847-F177-420D-B983-94357B509962}"/>
    <dgm:cxn modelId="{12C6A38F-0493-4A1C-8110-38C4C3704390}" type="presOf" srcId="{B3D2A232-5163-4D93-A3FF-788D7A3DC78E}" destId="{EB19BB55-B270-458C-81CF-D739299599FA}"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5" destOrd="0" parTransId="{9FE35886-8F1E-4A6B-B077-967AEF3A7EBC}" sibTransId="{2AF9EA21-58E8-4A84-8896-CF57B8A5F52C}"/>
    <dgm:cxn modelId="{1F85F5ED-DBBC-4A8D-9162-507F6440DBFF}" type="presOf" srcId="{BC1FFFD6-2B19-4D7E-8191-2610F4FF1E1B}" destId="{08F2BC6D-23D2-4A9C-9516-067C14A57305}" srcOrd="0" destOrd="0" presId="urn:microsoft.com/office/officeart/2008/layout/VerticalCurvedList"/>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639F10F0-19AC-4C07-BDD8-29FA215CE9D5}" type="presParOf" srcId="{6292EFA8-4C75-4E97-8904-D8F305D7CF22}" destId="{08F2BC6D-23D2-4A9C-9516-067C14A57305}" srcOrd="5" destOrd="0" presId="urn:microsoft.com/office/officeart/2008/layout/VerticalCurvedList"/>
    <dgm:cxn modelId="{239E5DCD-78AE-498B-877C-2427F5766BC8}" type="presParOf" srcId="{6292EFA8-4C75-4E97-8904-D8F305D7CF22}" destId="{5992A6C4-4804-4E0A-B15C-4D9868C2DC00}" srcOrd="6" destOrd="0" presId="urn:microsoft.com/office/officeart/2008/layout/VerticalCurvedList"/>
    <dgm:cxn modelId="{0DB9CB01-C040-479E-8B9A-305085A4BEE0}" type="presParOf" srcId="{5992A6C4-4804-4E0A-B15C-4D9868C2DC00}" destId="{766575DE-7DAD-4DC9-8D69-816F372071D0}" srcOrd="0" destOrd="0" presId="urn:microsoft.com/office/officeart/2008/layout/VerticalCurvedList"/>
    <dgm:cxn modelId="{DE064EAB-85E0-4226-950F-9EDA13D3EC60}" type="presParOf" srcId="{6292EFA8-4C75-4E97-8904-D8F305D7CF22}" destId="{EB19BB55-B270-458C-81CF-D739299599FA}" srcOrd="7" destOrd="0" presId="urn:microsoft.com/office/officeart/2008/layout/VerticalCurvedList"/>
    <dgm:cxn modelId="{96B73F30-4BCB-4E26-AB66-7C4FC0C67F13}" type="presParOf" srcId="{6292EFA8-4C75-4E97-8904-D8F305D7CF22}" destId="{696F994B-BD7B-4A59-A99A-2362652436EC}" srcOrd="8" destOrd="0" presId="urn:microsoft.com/office/officeart/2008/layout/VerticalCurvedList"/>
    <dgm:cxn modelId="{7E70A48E-E9F4-43F4-B586-E89C10A6D7E2}" type="presParOf" srcId="{696F994B-BD7B-4A59-A99A-2362652436EC}" destId="{7A8D6657-8A4F-45A7-87EE-8B42D7359E29}" srcOrd="0" destOrd="0" presId="urn:microsoft.com/office/officeart/2008/layout/VerticalCurvedList"/>
    <dgm:cxn modelId="{384AC663-0787-4E26-95CA-28C25DBFA311}" type="presParOf" srcId="{6292EFA8-4C75-4E97-8904-D8F305D7CF22}" destId="{AA750007-DE37-4162-BC1B-F3BE0F9E0B81}" srcOrd="9" destOrd="0" presId="urn:microsoft.com/office/officeart/2008/layout/VerticalCurvedList"/>
    <dgm:cxn modelId="{FFF9F5D0-F8AD-4A7C-BB05-567E7186B7B9}" type="presParOf" srcId="{6292EFA8-4C75-4E97-8904-D8F305D7CF22}" destId="{A0939BD5-DE4B-4D6C-A557-39B88F23DED4}" srcOrd="10" destOrd="0" presId="urn:microsoft.com/office/officeart/2008/layout/VerticalCurvedList"/>
    <dgm:cxn modelId="{3A4B22B4-50F1-47EC-8543-809A333A6ADF}" type="presParOf" srcId="{A0939BD5-DE4B-4D6C-A557-39B88F23DED4}" destId="{53355EA5-9309-4F94-951D-C76F9426A5F4}" srcOrd="0" destOrd="0" presId="urn:microsoft.com/office/officeart/2008/layout/VerticalCurvedList"/>
    <dgm:cxn modelId="{E356CF46-0DD1-4941-ADE8-B4A3ACC1B20A}" type="presParOf" srcId="{6292EFA8-4C75-4E97-8904-D8F305D7CF22}" destId="{13B082C5-2811-4E70-BD11-A25F4AF26791}" srcOrd="11" destOrd="0" presId="urn:microsoft.com/office/officeart/2008/layout/VerticalCurvedList"/>
    <dgm:cxn modelId="{4B34D91D-FD52-4DF7-B90B-9678AAAC9EB8}" type="presParOf" srcId="{6292EFA8-4C75-4E97-8904-D8F305D7CF22}" destId="{7ABB45A9-240C-4FAD-98C2-D021367D5D1A}" srcOrd="12" destOrd="0" presId="urn:microsoft.com/office/officeart/2008/layout/VerticalCurvedList"/>
    <dgm:cxn modelId="{625FABCD-013E-426A-A49F-F33112A6EB4B}" type="presParOf" srcId="{7ABB45A9-240C-4FAD-98C2-D021367D5D1A}"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dgm:t>
        <a:bodyPr/>
        <a:lstStyle/>
        <a:p>
          <a:r>
            <a:rPr lang="en-US" sz="1600" dirty="0">
              <a:latin typeface="Calibri" panose="020F0502020204030204" pitchFamily="34" charset="0"/>
              <a:cs typeface="Calibri" panose="020F0502020204030204" pitchFamily="34" charset="0"/>
            </a:rPr>
            <a:t>AWS EC2</a:t>
          </a:r>
          <a:endParaRPr lang="en-GB" sz="1600" dirty="0">
            <a:latin typeface="Calibri" panose="020F0502020204030204" pitchFamily="34" charset="0"/>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dgm:t>
        <a:bodyPr/>
        <a:lstStyle/>
        <a:p>
          <a:r>
            <a:rPr lang="en-US" sz="1600" dirty="0">
              <a:latin typeface="Calibri" panose="020F0502020204030204" pitchFamily="34" charset="0"/>
              <a:cs typeface="Calibri" panose="020F0502020204030204" pitchFamily="34" charset="0"/>
            </a:rPr>
            <a:t>EC2 Hand-on</a:t>
          </a:r>
          <a:endParaRPr lang="en-GB" sz="1600" dirty="0">
            <a:latin typeface="Calibri" panose="020F0502020204030204" pitchFamily="34" charset="0"/>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9A381EE-C129-44D5-A704-A6FC3A7959D3}" type="doc">
      <dgm:prSet loTypeId="urn:microsoft.com/office/officeart/2005/8/layout/hProcess9" loCatId="process" qsTypeId="urn:microsoft.com/office/officeart/2005/8/quickstyle/simple1" qsCatId="simple" csTypeId="urn:microsoft.com/office/officeart/2005/8/colors/accent1_2" csCatId="accent1" phldr="1"/>
      <dgm:spPr/>
    </dgm:pt>
    <dgm:pt modelId="{3151E064-3CB3-4E58-9B07-C7D8BA21DD65}">
      <dgm:prSet phldrT="[Text]"/>
      <dgm:spPr/>
      <dgm:t>
        <a:bodyPr/>
        <a:lstStyle/>
        <a:p>
          <a:r>
            <a:rPr lang="en-US" dirty="0">
              <a:latin typeface="Calibri" panose="020F0502020204030204" pitchFamily="34" charset="0"/>
              <a:cs typeface="Calibri" panose="020F0502020204030204" pitchFamily="34" charset="0"/>
            </a:rPr>
            <a:t>Determine the AWS region in which the instance is to be launched	</a:t>
          </a:r>
          <a:endParaRPr lang="en-GB" dirty="0">
            <a:latin typeface="Calibri" panose="020F0502020204030204" pitchFamily="34" charset="0"/>
            <a:cs typeface="Calibri" panose="020F0502020204030204" pitchFamily="34" charset="0"/>
          </a:endParaRPr>
        </a:p>
      </dgm:t>
    </dgm:pt>
    <dgm:pt modelId="{E5D0756D-419E-4F79-A09A-2001DC21132C}" type="parTrans" cxnId="{7771508A-2B53-4B83-9130-52F4EE64FDC6}">
      <dgm:prSet/>
      <dgm:spPr/>
      <dgm:t>
        <a:bodyPr/>
        <a:lstStyle/>
        <a:p>
          <a:endParaRPr lang="en-GB"/>
        </a:p>
      </dgm:t>
    </dgm:pt>
    <dgm:pt modelId="{85B27F57-F823-4359-BA1D-06FF253878B5}" type="sibTrans" cxnId="{7771508A-2B53-4B83-9130-52F4EE64FDC6}">
      <dgm:prSet/>
      <dgm:spPr/>
      <dgm:t>
        <a:bodyPr/>
        <a:lstStyle/>
        <a:p>
          <a:endParaRPr lang="en-GB"/>
        </a:p>
      </dgm:t>
    </dgm:pt>
    <dgm:pt modelId="{C9DE90DB-E64D-4C29-9A00-67BBE3ED6B70}">
      <dgm:prSet phldrT="[Text]"/>
      <dgm:spPr/>
      <dgm:t>
        <a:bodyPr/>
        <a:lstStyle/>
        <a:p>
          <a:r>
            <a:rPr lang="en-US" dirty="0">
              <a:latin typeface="Calibri" panose="020F0502020204030204" pitchFamily="34" charset="0"/>
              <a:cs typeface="Calibri" panose="020F0502020204030204" pitchFamily="34" charset="0"/>
            </a:rPr>
            <a:t>Select the AMI (Amazon Machine Image)</a:t>
          </a:r>
          <a:endParaRPr lang="en-GB" dirty="0">
            <a:latin typeface="Calibri" panose="020F0502020204030204" pitchFamily="34" charset="0"/>
            <a:cs typeface="Calibri" panose="020F0502020204030204" pitchFamily="34" charset="0"/>
          </a:endParaRPr>
        </a:p>
      </dgm:t>
    </dgm:pt>
    <dgm:pt modelId="{16EBA1D9-2272-4F8D-824D-EBFF902D0AA9}" type="parTrans" cxnId="{D95ED05B-B7F7-4755-8910-94F6E77F1308}">
      <dgm:prSet/>
      <dgm:spPr/>
      <dgm:t>
        <a:bodyPr/>
        <a:lstStyle/>
        <a:p>
          <a:endParaRPr lang="en-GB"/>
        </a:p>
      </dgm:t>
    </dgm:pt>
    <dgm:pt modelId="{369796F0-74F6-4A0F-8422-1F10F780DB7C}" type="sibTrans" cxnId="{D95ED05B-B7F7-4755-8910-94F6E77F1308}">
      <dgm:prSet/>
      <dgm:spPr/>
      <dgm:t>
        <a:bodyPr/>
        <a:lstStyle/>
        <a:p>
          <a:endParaRPr lang="en-GB"/>
        </a:p>
      </dgm:t>
    </dgm:pt>
    <dgm:pt modelId="{DC006B2D-F325-4A58-AEE2-BC4F47522BA0}">
      <dgm:prSet phldrT="[Text]"/>
      <dgm:spPr/>
      <dgm:t>
        <a:bodyPr/>
        <a:lstStyle/>
        <a:p>
          <a:r>
            <a:rPr lang="en-US" dirty="0">
              <a:latin typeface="Calibri" panose="020F0502020204030204" pitchFamily="34" charset="0"/>
              <a:cs typeface="Calibri" panose="020F0502020204030204" pitchFamily="34" charset="0"/>
            </a:rPr>
            <a:t>Choose the instance type based on workload </a:t>
          </a:r>
          <a:endParaRPr lang="en-GB" dirty="0">
            <a:latin typeface="Calibri" panose="020F0502020204030204" pitchFamily="34" charset="0"/>
            <a:cs typeface="Calibri" panose="020F0502020204030204" pitchFamily="34" charset="0"/>
          </a:endParaRPr>
        </a:p>
      </dgm:t>
    </dgm:pt>
    <dgm:pt modelId="{0B410A19-B332-47D2-B0D9-993C93EB1BFA}" type="parTrans" cxnId="{6C2751C1-2404-48B0-9C26-BD38400BD71C}">
      <dgm:prSet/>
      <dgm:spPr/>
      <dgm:t>
        <a:bodyPr/>
        <a:lstStyle/>
        <a:p>
          <a:endParaRPr lang="en-GB"/>
        </a:p>
      </dgm:t>
    </dgm:pt>
    <dgm:pt modelId="{FA04E0B8-6334-4A9E-80FE-5B0F61516591}" type="sibTrans" cxnId="{6C2751C1-2404-48B0-9C26-BD38400BD71C}">
      <dgm:prSet/>
      <dgm:spPr/>
      <dgm:t>
        <a:bodyPr/>
        <a:lstStyle/>
        <a:p>
          <a:endParaRPr lang="en-GB"/>
        </a:p>
      </dgm:t>
    </dgm:pt>
    <dgm:pt modelId="{F4ED43FF-8F3F-4AB8-998F-D5C38F97D0FA}">
      <dgm:prSet phldrT="[Text]"/>
      <dgm:spPr/>
      <dgm:t>
        <a:bodyPr/>
        <a:lstStyle/>
        <a:p>
          <a:r>
            <a:rPr lang="en-US" dirty="0">
              <a:latin typeface="Calibri" panose="020F0502020204030204" pitchFamily="34" charset="0"/>
              <a:cs typeface="Calibri" panose="020F0502020204030204" pitchFamily="34" charset="0"/>
            </a:rPr>
            <a:t>Configure N/W , IP address, security groups</a:t>
          </a:r>
          <a:endParaRPr lang="en-GB" dirty="0">
            <a:latin typeface="Calibri" panose="020F0502020204030204" pitchFamily="34" charset="0"/>
            <a:cs typeface="Calibri" panose="020F0502020204030204" pitchFamily="34" charset="0"/>
          </a:endParaRPr>
        </a:p>
      </dgm:t>
    </dgm:pt>
    <dgm:pt modelId="{01935C46-F91E-4355-9D91-25017EFF0423}" type="parTrans" cxnId="{18F9A502-C918-4451-A5AA-CE6BF016ABCF}">
      <dgm:prSet/>
      <dgm:spPr/>
      <dgm:t>
        <a:bodyPr/>
        <a:lstStyle/>
        <a:p>
          <a:endParaRPr lang="en-GB"/>
        </a:p>
      </dgm:t>
    </dgm:pt>
    <dgm:pt modelId="{1FE8ECBD-9FD0-4D40-8045-93FABE2650FB}" type="sibTrans" cxnId="{18F9A502-C918-4451-A5AA-CE6BF016ABCF}">
      <dgm:prSet/>
      <dgm:spPr/>
      <dgm:t>
        <a:bodyPr/>
        <a:lstStyle/>
        <a:p>
          <a:endParaRPr lang="en-GB"/>
        </a:p>
      </dgm:t>
    </dgm:pt>
    <dgm:pt modelId="{DA0A2B49-DC7C-421B-830E-CBBF9EB820D6}">
      <dgm:prSet phldrT="[Text]"/>
      <dgm:spPr/>
      <dgm:t>
        <a:bodyPr/>
        <a:lstStyle/>
        <a:p>
          <a:r>
            <a:rPr lang="en-US" dirty="0">
              <a:latin typeface="Calibri" panose="020F0502020204030204" pitchFamily="34" charset="0"/>
              <a:cs typeface="Calibri" panose="020F0502020204030204" pitchFamily="34" charset="0"/>
            </a:rPr>
            <a:t>Configure storage volumes, tags</a:t>
          </a:r>
          <a:endParaRPr lang="en-GB" dirty="0">
            <a:latin typeface="Calibri" panose="020F0502020204030204" pitchFamily="34" charset="0"/>
            <a:cs typeface="Calibri" panose="020F0502020204030204" pitchFamily="34" charset="0"/>
          </a:endParaRPr>
        </a:p>
      </dgm:t>
    </dgm:pt>
    <dgm:pt modelId="{455DD86A-3EF4-4617-81B2-845B5C61356B}" type="parTrans" cxnId="{CCBDB1D4-9085-43DF-8052-5680D4128CE2}">
      <dgm:prSet/>
      <dgm:spPr/>
      <dgm:t>
        <a:bodyPr/>
        <a:lstStyle/>
        <a:p>
          <a:endParaRPr lang="en-GB"/>
        </a:p>
      </dgm:t>
    </dgm:pt>
    <dgm:pt modelId="{BE2A9878-B8C6-4586-B5BF-F61FE88CB08D}" type="sibTrans" cxnId="{CCBDB1D4-9085-43DF-8052-5680D4128CE2}">
      <dgm:prSet/>
      <dgm:spPr/>
      <dgm:t>
        <a:bodyPr/>
        <a:lstStyle/>
        <a:p>
          <a:endParaRPr lang="en-GB"/>
        </a:p>
      </dgm:t>
    </dgm:pt>
    <dgm:pt modelId="{F096D50F-B583-4F4A-A04C-33EC4AFCDEF1}">
      <dgm:prSet phldrT="[Text]"/>
      <dgm:spPr/>
      <dgm:t>
        <a:bodyPr/>
        <a:lstStyle/>
        <a:p>
          <a:r>
            <a:rPr lang="en-US" dirty="0">
              <a:latin typeface="Calibri" panose="020F0502020204030204" pitchFamily="34" charset="0"/>
              <a:cs typeface="Calibri" panose="020F0502020204030204" pitchFamily="34" charset="0"/>
            </a:rPr>
            <a:t>Generate / re-use key pair for accessing the instance</a:t>
          </a:r>
          <a:endParaRPr lang="en-GB" dirty="0">
            <a:latin typeface="Calibri" panose="020F0502020204030204" pitchFamily="34" charset="0"/>
            <a:cs typeface="Calibri" panose="020F0502020204030204" pitchFamily="34" charset="0"/>
          </a:endParaRPr>
        </a:p>
      </dgm:t>
    </dgm:pt>
    <dgm:pt modelId="{5311B400-9A40-49F3-B057-B535169FF19F}" type="parTrans" cxnId="{CEBBFBE4-ADC1-48DA-8BED-93253F270684}">
      <dgm:prSet/>
      <dgm:spPr/>
      <dgm:t>
        <a:bodyPr/>
        <a:lstStyle/>
        <a:p>
          <a:endParaRPr lang="en-GB"/>
        </a:p>
      </dgm:t>
    </dgm:pt>
    <dgm:pt modelId="{D8CACA88-086C-490A-96EF-93FAD28BFCEC}" type="sibTrans" cxnId="{CEBBFBE4-ADC1-48DA-8BED-93253F270684}">
      <dgm:prSet/>
      <dgm:spPr/>
      <dgm:t>
        <a:bodyPr/>
        <a:lstStyle/>
        <a:p>
          <a:endParaRPr lang="en-GB"/>
        </a:p>
      </dgm:t>
    </dgm:pt>
    <dgm:pt modelId="{CD5CBC38-A404-4E66-AFBA-26E5545B4394}" type="pres">
      <dgm:prSet presAssocID="{39A381EE-C129-44D5-A704-A6FC3A7959D3}" presName="CompostProcess" presStyleCnt="0">
        <dgm:presLayoutVars>
          <dgm:dir/>
          <dgm:resizeHandles val="exact"/>
        </dgm:presLayoutVars>
      </dgm:prSet>
      <dgm:spPr/>
    </dgm:pt>
    <dgm:pt modelId="{8C161A7B-F73C-4102-8144-B926AF1EB95E}" type="pres">
      <dgm:prSet presAssocID="{39A381EE-C129-44D5-A704-A6FC3A7959D3}" presName="arrow" presStyleLbl="bgShp" presStyleIdx="0" presStyleCnt="1"/>
      <dgm:spPr/>
    </dgm:pt>
    <dgm:pt modelId="{096983E3-F081-4814-BD52-390851992F11}" type="pres">
      <dgm:prSet presAssocID="{39A381EE-C129-44D5-A704-A6FC3A7959D3}" presName="linearProcess" presStyleCnt="0"/>
      <dgm:spPr/>
    </dgm:pt>
    <dgm:pt modelId="{EBD49C53-10D8-433F-8783-1FA8B370DBD7}" type="pres">
      <dgm:prSet presAssocID="{3151E064-3CB3-4E58-9B07-C7D8BA21DD65}" presName="textNode" presStyleLbl="node1" presStyleIdx="0" presStyleCnt="6">
        <dgm:presLayoutVars>
          <dgm:bulletEnabled val="1"/>
        </dgm:presLayoutVars>
      </dgm:prSet>
      <dgm:spPr/>
    </dgm:pt>
    <dgm:pt modelId="{A1A4ECC3-0AB4-402F-A677-31FE3EF751BD}" type="pres">
      <dgm:prSet presAssocID="{85B27F57-F823-4359-BA1D-06FF253878B5}" presName="sibTrans" presStyleCnt="0"/>
      <dgm:spPr/>
    </dgm:pt>
    <dgm:pt modelId="{ACB11E57-CA28-4922-9E86-5A0204B9F8D3}" type="pres">
      <dgm:prSet presAssocID="{C9DE90DB-E64D-4C29-9A00-67BBE3ED6B70}" presName="textNode" presStyleLbl="node1" presStyleIdx="1" presStyleCnt="6">
        <dgm:presLayoutVars>
          <dgm:bulletEnabled val="1"/>
        </dgm:presLayoutVars>
      </dgm:prSet>
      <dgm:spPr/>
    </dgm:pt>
    <dgm:pt modelId="{9A7E250A-6555-4285-A57C-30D8C76C9824}" type="pres">
      <dgm:prSet presAssocID="{369796F0-74F6-4A0F-8422-1F10F780DB7C}" presName="sibTrans" presStyleCnt="0"/>
      <dgm:spPr/>
    </dgm:pt>
    <dgm:pt modelId="{CDE8884D-4053-4C4C-89AB-E528B656257F}" type="pres">
      <dgm:prSet presAssocID="{DC006B2D-F325-4A58-AEE2-BC4F47522BA0}" presName="textNode" presStyleLbl="node1" presStyleIdx="2" presStyleCnt="6">
        <dgm:presLayoutVars>
          <dgm:bulletEnabled val="1"/>
        </dgm:presLayoutVars>
      </dgm:prSet>
      <dgm:spPr/>
    </dgm:pt>
    <dgm:pt modelId="{A5C9B1E9-50D6-415A-AB25-D172805B7412}" type="pres">
      <dgm:prSet presAssocID="{FA04E0B8-6334-4A9E-80FE-5B0F61516591}" presName="sibTrans" presStyleCnt="0"/>
      <dgm:spPr/>
    </dgm:pt>
    <dgm:pt modelId="{1883531A-E427-47D8-91A8-AFC8E3603FB2}" type="pres">
      <dgm:prSet presAssocID="{F4ED43FF-8F3F-4AB8-998F-D5C38F97D0FA}" presName="textNode" presStyleLbl="node1" presStyleIdx="3" presStyleCnt="6">
        <dgm:presLayoutVars>
          <dgm:bulletEnabled val="1"/>
        </dgm:presLayoutVars>
      </dgm:prSet>
      <dgm:spPr/>
    </dgm:pt>
    <dgm:pt modelId="{C72CBCED-0F52-4D46-90CB-36BB30DDFC86}" type="pres">
      <dgm:prSet presAssocID="{1FE8ECBD-9FD0-4D40-8045-93FABE2650FB}" presName="sibTrans" presStyleCnt="0"/>
      <dgm:spPr/>
    </dgm:pt>
    <dgm:pt modelId="{63D01D6E-48F1-4B11-A03B-D8E05104A3B9}" type="pres">
      <dgm:prSet presAssocID="{DA0A2B49-DC7C-421B-830E-CBBF9EB820D6}" presName="textNode" presStyleLbl="node1" presStyleIdx="4" presStyleCnt="6">
        <dgm:presLayoutVars>
          <dgm:bulletEnabled val="1"/>
        </dgm:presLayoutVars>
      </dgm:prSet>
      <dgm:spPr/>
    </dgm:pt>
    <dgm:pt modelId="{68F1C3B2-156E-4D03-87EA-6DA36592BA1A}" type="pres">
      <dgm:prSet presAssocID="{BE2A9878-B8C6-4586-B5BF-F61FE88CB08D}" presName="sibTrans" presStyleCnt="0"/>
      <dgm:spPr/>
    </dgm:pt>
    <dgm:pt modelId="{4B789BB3-D168-40DA-A29C-536D30276752}" type="pres">
      <dgm:prSet presAssocID="{F096D50F-B583-4F4A-A04C-33EC4AFCDEF1}" presName="textNode" presStyleLbl="node1" presStyleIdx="5" presStyleCnt="6">
        <dgm:presLayoutVars>
          <dgm:bulletEnabled val="1"/>
        </dgm:presLayoutVars>
      </dgm:prSet>
      <dgm:spPr/>
    </dgm:pt>
  </dgm:ptLst>
  <dgm:cxnLst>
    <dgm:cxn modelId="{18F9A502-C918-4451-A5AA-CE6BF016ABCF}" srcId="{39A381EE-C129-44D5-A704-A6FC3A7959D3}" destId="{F4ED43FF-8F3F-4AB8-998F-D5C38F97D0FA}" srcOrd="3" destOrd="0" parTransId="{01935C46-F91E-4355-9D91-25017EFF0423}" sibTransId="{1FE8ECBD-9FD0-4D40-8045-93FABE2650FB}"/>
    <dgm:cxn modelId="{554F2E08-811A-4ED2-AEF4-340982E51BDD}" type="presOf" srcId="{3151E064-3CB3-4E58-9B07-C7D8BA21DD65}" destId="{EBD49C53-10D8-433F-8783-1FA8B370DBD7}" srcOrd="0" destOrd="0" presId="urn:microsoft.com/office/officeart/2005/8/layout/hProcess9"/>
    <dgm:cxn modelId="{EF02530C-4A70-4F18-8594-854039158802}" type="presOf" srcId="{F4ED43FF-8F3F-4AB8-998F-D5C38F97D0FA}" destId="{1883531A-E427-47D8-91A8-AFC8E3603FB2}" srcOrd="0" destOrd="0" presId="urn:microsoft.com/office/officeart/2005/8/layout/hProcess9"/>
    <dgm:cxn modelId="{EF31461F-B2C6-4331-A019-34E8660770C7}" type="presOf" srcId="{DA0A2B49-DC7C-421B-830E-CBBF9EB820D6}" destId="{63D01D6E-48F1-4B11-A03B-D8E05104A3B9}" srcOrd="0" destOrd="0" presId="urn:microsoft.com/office/officeart/2005/8/layout/hProcess9"/>
    <dgm:cxn modelId="{F1D0B920-4750-4CA1-94E5-C57DB1D5F5AD}" type="presOf" srcId="{C9DE90DB-E64D-4C29-9A00-67BBE3ED6B70}" destId="{ACB11E57-CA28-4922-9E86-5A0204B9F8D3}" srcOrd="0" destOrd="0" presId="urn:microsoft.com/office/officeart/2005/8/layout/hProcess9"/>
    <dgm:cxn modelId="{9D01D123-8D9C-477D-AF40-E32BDCB93BE2}" type="presOf" srcId="{F096D50F-B583-4F4A-A04C-33EC4AFCDEF1}" destId="{4B789BB3-D168-40DA-A29C-536D30276752}" srcOrd="0" destOrd="0" presId="urn:microsoft.com/office/officeart/2005/8/layout/hProcess9"/>
    <dgm:cxn modelId="{E33B9E36-ECE2-468D-A572-F4D8991304B0}" type="presOf" srcId="{DC006B2D-F325-4A58-AEE2-BC4F47522BA0}" destId="{CDE8884D-4053-4C4C-89AB-E528B656257F}" srcOrd="0" destOrd="0" presId="urn:microsoft.com/office/officeart/2005/8/layout/hProcess9"/>
    <dgm:cxn modelId="{D95ED05B-B7F7-4755-8910-94F6E77F1308}" srcId="{39A381EE-C129-44D5-A704-A6FC3A7959D3}" destId="{C9DE90DB-E64D-4C29-9A00-67BBE3ED6B70}" srcOrd="1" destOrd="0" parTransId="{16EBA1D9-2272-4F8D-824D-EBFF902D0AA9}" sibTransId="{369796F0-74F6-4A0F-8422-1F10F780DB7C}"/>
    <dgm:cxn modelId="{7771508A-2B53-4B83-9130-52F4EE64FDC6}" srcId="{39A381EE-C129-44D5-A704-A6FC3A7959D3}" destId="{3151E064-3CB3-4E58-9B07-C7D8BA21DD65}" srcOrd="0" destOrd="0" parTransId="{E5D0756D-419E-4F79-A09A-2001DC21132C}" sibTransId="{85B27F57-F823-4359-BA1D-06FF253878B5}"/>
    <dgm:cxn modelId="{B36EB791-D5AF-49AE-B5D5-C61DF445865D}" type="presOf" srcId="{39A381EE-C129-44D5-A704-A6FC3A7959D3}" destId="{CD5CBC38-A404-4E66-AFBA-26E5545B4394}" srcOrd="0" destOrd="0" presId="urn:microsoft.com/office/officeart/2005/8/layout/hProcess9"/>
    <dgm:cxn modelId="{6C2751C1-2404-48B0-9C26-BD38400BD71C}" srcId="{39A381EE-C129-44D5-A704-A6FC3A7959D3}" destId="{DC006B2D-F325-4A58-AEE2-BC4F47522BA0}" srcOrd="2" destOrd="0" parTransId="{0B410A19-B332-47D2-B0D9-993C93EB1BFA}" sibTransId="{FA04E0B8-6334-4A9E-80FE-5B0F61516591}"/>
    <dgm:cxn modelId="{CCBDB1D4-9085-43DF-8052-5680D4128CE2}" srcId="{39A381EE-C129-44D5-A704-A6FC3A7959D3}" destId="{DA0A2B49-DC7C-421B-830E-CBBF9EB820D6}" srcOrd="4" destOrd="0" parTransId="{455DD86A-3EF4-4617-81B2-845B5C61356B}" sibTransId="{BE2A9878-B8C6-4586-B5BF-F61FE88CB08D}"/>
    <dgm:cxn modelId="{CEBBFBE4-ADC1-48DA-8BED-93253F270684}" srcId="{39A381EE-C129-44D5-A704-A6FC3A7959D3}" destId="{F096D50F-B583-4F4A-A04C-33EC4AFCDEF1}" srcOrd="5" destOrd="0" parTransId="{5311B400-9A40-49F3-B057-B535169FF19F}" sibTransId="{D8CACA88-086C-490A-96EF-93FAD28BFCEC}"/>
    <dgm:cxn modelId="{DD475D9E-4C88-48D6-AD91-A9D6E3C9F469}" type="presParOf" srcId="{CD5CBC38-A404-4E66-AFBA-26E5545B4394}" destId="{8C161A7B-F73C-4102-8144-B926AF1EB95E}" srcOrd="0" destOrd="0" presId="urn:microsoft.com/office/officeart/2005/8/layout/hProcess9"/>
    <dgm:cxn modelId="{7564296E-8787-448F-BE4C-85FBE31103C7}" type="presParOf" srcId="{CD5CBC38-A404-4E66-AFBA-26E5545B4394}" destId="{096983E3-F081-4814-BD52-390851992F11}" srcOrd="1" destOrd="0" presId="urn:microsoft.com/office/officeart/2005/8/layout/hProcess9"/>
    <dgm:cxn modelId="{840FB63E-8C65-450D-A692-3F023C36E4F0}" type="presParOf" srcId="{096983E3-F081-4814-BD52-390851992F11}" destId="{EBD49C53-10D8-433F-8783-1FA8B370DBD7}" srcOrd="0" destOrd="0" presId="urn:microsoft.com/office/officeart/2005/8/layout/hProcess9"/>
    <dgm:cxn modelId="{125718A4-BD96-43CB-8FD6-76EA615C9E52}" type="presParOf" srcId="{096983E3-F081-4814-BD52-390851992F11}" destId="{A1A4ECC3-0AB4-402F-A677-31FE3EF751BD}" srcOrd="1" destOrd="0" presId="urn:microsoft.com/office/officeart/2005/8/layout/hProcess9"/>
    <dgm:cxn modelId="{8CFA7809-B454-40BA-81FA-39796C28DF05}" type="presParOf" srcId="{096983E3-F081-4814-BD52-390851992F11}" destId="{ACB11E57-CA28-4922-9E86-5A0204B9F8D3}" srcOrd="2" destOrd="0" presId="urn:microsoft.com/office/officeart/2005/8/layout/hProcess9"/>
    <dgm:cxn modelId="{5019C73B-2E90-4B0B-8863-715755C00EBD}" type="presParOf" srcId="{096983E3-F081-4814-BD52-390851992F11}" destId="{9A7E250A-6555-4285-A57C-30D8C76C9824}" srcOrd="3" destOrd="0" presId="urn:microsoft.com/office/officeart/2005/8/layout/hProcess9"/>
    <dgm:cxn modelId="{0FCB0881-E62E-4537-9986-61C3F9C73A45}" type="presParOf" srcId="{096983E3-F081-4814-BD52-390851992F11}" destId="{CDE8884D-4053-4C4C-89AB-E528B656257F}" srcOrd="4" destOrd="0" presId="urn:microsoft.com/office/officeart/2005/8/layout/hProcess9"/>
    <dgm:cxn modelId="{BBBAFF5A-DC7B-4BEC-B745-F2419C78E08C}" type="presParOf" srcId="{096983E3-F081-4814-BD52-390851992F11}" destId="{A5C9B1E9-50D6-415A-AB25-D172805B7412}" srcOrd="5" destOrd="0" presId="urn:microsoft.com/office/officeart/2005/8/layout/hProcess9"/>
    <dgm:cxn modelId="{9D954AE9-CED2-4F48-8B03-45C49739B4C2}" type="presParOf" srcId="{096983E3-F081-4814-BD52-390851992F11}" destId="{1883531A-E427-47D8-91A8-AFC8E3603FB2}" srcOrd="6" destOrd="0" presId="urn:microsoft.com/office/officeart/2005/8/layout/hProcess9"/>
    <dgm:cxn modelId="{88C9EEDD-369C-4773-B56A-38000D578052}" type="presParOf" srcId="{096983E3-F081-4814-BD52-390851992F11}" destId="{C72CBCED-0F52-4D46-90CB-36BB30DDFC86}" srcOrd="7" destOrd="0" presId="urn:microsoft.com/office/officeart/2005/8/layout/hProcess9"/>
    <dgm:cxn modelId="{6788BE5E-6AEC-405D-A3C9-542A1854B7D5}" type="presParOf" srcId="{096983E3-F081-4814-BD52-390851992F11}" destId="{63D01D6E-48F1-4B11-A03B-D8E05104A3B9}" srcOrd="8" destOrd="0" presId="urn:microsoft.com/office/officeart/2005/8/layout/hProcess9"/>
    <dgm:cxn modelId="{5DD2E7AF-8340-43C2-93E6-F5BEAC4DF241}" type="presParOf" srcId="{096983E3-F081-4814-BD52-390851992F11}" destId="{68F1C3B2-156E-4D03-87EA-6DA36592BA1A}" srcOrd="9" destOrd="0" presId="urn:microsoft.com/office/officeart/2005/8/layout/hProcess9"/>
    <dgm:cxn modelId="{3EB82280-4667-4DDA-91F0-535315B32F81}" type="presParOf" srcId="{096983E3-F081-4814-BD52-390851992F11}" destId="{4B789BB3-D168-40DA-A29C-536D30276752}"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5529CD1-311A-4096-95EF-38599EA2B4C0}"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GB"/>
        </a:p>
      </dgm:t>
    </dgm:pt>
    <dgm:pt modelId="{01346C48-AEC3-409F-8096-005901ED153A}">
      <dgm:prSet phldrT="[Text]"/>
      <dgm:spPr/>
      <dgm:t>
        <a:bodyPr/>
        <a:lstStyle/>
        <a:p>
          <a:r>
            <a:rPr lang="en-US" dirty="0"/>
            <a:t>Purchase</a:t>
          </a:r>
        </a:p>
        <a:p>
          <a:r>
            <a:rPr lang="en-US" dirty="0"/>
            <a:t>Options</a:t>
          </a:r>
          <a:endParaRPr lang="en-GB" dirty="0"/>
        </a:p>
      </dgm:t>
    </dgm:pt>
    <dgm:pt modelId="{2A8EA2F2-1336-494F-9359-0A0B564298B3}" type="parTrans" cxnId="{0DA2D3A1-3804-4711-83C5-F2E169156FD2}">
      <dgm:prSet/>
      <dgm:spPr/>
      <dgm:t>
        <a:bodyPr/>
        <a:lstStyle/>
        <a:p>
          <a:endParaRPr lang="en-GB"/>
        </a:p>
      </dgm:t>
    </dgm:pt>
    <dgm:pt modelId="{AF9E523C-768F-4B1C-BE4B-0728531BA088}" type="sibTrans" cxnId="{0DA2D3A1-3804-4711-83C5-F2E169156FD2}">
      <dgm:prSet/>
      <dgm:spPr/>
      <dgm:t>
        <a:bodyPr/>
        <a:lstStyle/>
        <a:p>
          <a:endParaRPr lang="en-GB"/>
        </a:p>
      </dgm:t>
    </dgm:pt>
    <dgm:pt modelId="{351438BD-6CB8-4BD7-B84B-2441207AFDFF}">
      <dgm:prSet phldrT="[Text]"/>
      <dgm:spPr>
        <a:solidFill>
          <a:schemeClr val="accent4"/>
        </a:solidFill>
      </dgm:spPr>
      <dgm:t>
        <a:bodyPr/>
        <a:lstStyle/>
        <a:p>
          <a:r>
            <a:rPr lang="en-US" dirty="0"/>
            <a:t>On Demand</a:t>
          </a:r>
          <a:endParaRPr lang="en-GB" dirty="0"/>
        </a:p>
      </dgm:t>
    </dgm:pt>
    <dgm:pt modelId="{7C9C9043-3B84-46EC-9FCD-8C374466455E}" type="parTrans" cxnId="{2EB3DAA6-B2CA-4B8A-89E6-3A5D0365E134}">
      <dgm:prSet/>
      <dgm:spPr/>
      <dgm:t>
        <a:bodyPr/>
        <a:lstStyle/>
        <a:p>
          <a:endParaRPr lang="en-GB"/>
        </a:p>
      </dgm:t>
    </dgm:pt>
    <dgm:pt modelId="{3260A0BC-D63A-4C2D-9881-2DD06308FDF6}" type="sibTrans" cxnId="{2EB3DAA6-B2CA-4B8A-89E6-3A5D0365E134}">
      <dgm:prSet/>
      <dgm:spPr/>
      <dgm:t>
        <a:bodyPr/>
        <a:lstStyle/>
        <a:p>
          <a:endParaRPr lang="en-GB"/>
        </a:p>
      </dgm:t>
    </dgm:pt>
    <dgm:pt modelId="{A3249E61-9083-43FF-B4E6-DC88031DA363}">
      <dgm:prSet phldrT="[Text]"/>
      <dgm:spPr>
        <a:solidFill>
          <a:schemeClr val="tx2">
            <a:lumMod val="25000"/>
            <a:lumOff val="75000"/>
          </a:schemeClr>
        </a:solidFill>
      </dgm:spPr>
      <dgm:t>
        <a:bodyPr/>
        <a:lstStyle/>
        <a:p>
          <a:r>
            <a:rPr lang="en-US" dirty="0"/>
            <a:t>Reserved</a:t>
          </a:r>
          <a:endParaRPr lang="en-GB" dirty="0"/>
        </a:p>
      </dgm:t>
    </dgm:pt>
    <dgm:pt modelId="{5CE6C419-67E3-4BC9-BFA3-BB3DD3214624}" type="parTrans" cxnId="{FDCDD8F2-94C6-4FB8-B5E7-E3F0BC979AD0}">
      <dgm:prSet/>
      <dgm:spPr/>
      <dgm:t>
        <a:bodyPr/>
        <a:lstStyle/>
        <a:p>
          <a:endParaRPr lang="en-GB"/>
        </a:p>
      </dgm:t>
    </dgm:pt>
    <dgm:pt modelId="{2CC4FB2D-92C8-4ADC-B847-68BF6831AD1C}" type="sibTrans" cxnId="{FDCDD8F2-94C6-4FB8-B5E7-E3F0BC979AD0}">
      <dgm:prSet/>
      <dgm:spPr/>
      <dgm:t>
        <a:bodyPr/>
        <a:lstStyle/>
        <a:p>
          <a:endParaRPr lang="en-GB"/>
        </a:p>
      </dgm:t>
    </dgm:pt>
    <dgm:pt modelId="{83A0AF5D-75B9-4278-8964-088DFE5ECD10}">
      <dgm:prSet phldrT="[Text]"/>
      <dgm:spPr>
        <a:solidFill>
          <a:srgbClr val="FFFF00"/>
        </a:solidFill>
      </dgm:spPr>
      <dgm:t>
        <a:bodyPr/>
        <a:lstStyle/>
        <a:p>
          <a:r>
            <a:rPr lang="en-US" dirty="0">
              <a:solidFill>
                <a:schemeClr val="tx2"/>
              </a:solidFill>
            </a:rPr>
            <a:t>Scheduled</a:t>
          </a:r>
          <a:endParaRPr lang="en-GB" dirty="0">
            <a:solidFill>
              <a:schemeClr val="tx2"/>
            </a:solidFill>
          </a:endParaRPr>
        </a:p>
      </dgm:t>
    </dgm:pt>
    <dgm:pt modelId="{1EAC84E8-9C5C-4A47-BF2D-F690E3E6CB77}" type="parTrans" cxnId="{604858E7-0F62-47D6-AA65-26AB03A5E84D}">
      <dgm:prSet/>
      <dgm:spPr/>
      <dgm:t>
        <a:bodyPr/>
        <a:lstStyle/>
        <a:p>
          <a:endParaRPr lang="en-GB"/>
        </a:p>
      </dgm:t>
    </dgm:pt>
    <dgm:pt modelId="{54578558-D395-4393-A1EA-0EB511F5EDF5}" type="sibTrans" cxnId="{604858E7-0F62-47D6-AA65-26AB03A5E84D}">
      <dgm:prSet/>
      <dgm:spPr/>
      <dgm:t>
        <a:bodyPr/>
        <a:lstStyle/>
        <a:p>
          <a:endParaRPr lang="en-GB"/>
        </a:p>
      </dgm:t>
    </dgm:pt>
    <dgm:pt modelId="{DE211CA3-321C-40D4-9061-C51B6C621861}">
      <dgm:prSet phldrT="[Text]"/>
      <dgm:spPr>
        <a:solidFill>
          <a:srgbClr val="FFC000"/>
        </a:solidFill>
      </dgm:spPr>
      <dgm:t>
        <a:bodyPr/>
        <a:lstStyle/>
        <a:p>
          <a:r>
            <a:rPr lang="en-US" dirty="0"/>
            <a:t>Spot</a:t>
          </a:r>
          <a:endParaRPr lang="en-GB" dirty="0"/>
        </a:p>
      </dgm:t>
    </dgm:pt>
    <dgm:pt modelId="{6DEFF55A-BC77-407D-BF3A-D4A179548B0B}" type="parTrans" cxnId="{A6293329-3108-40AB-906C-5E606C264A66}">
      <dgm:prSet/>
      <dgm:spPr/>
      <dgm:t>
        <a:bodyPr/>
        <a:lstStyle/>
        <a:p>
          <a:endParaRPr lang="en-GB"/>
        </a:p>
      </dgm:t>
    </dgm:pt>
    <dgm:pt modelId="{34003D99-FEC3-4EC9-8AED-6535D3117537}" type="sibTrans" cxnId="{A6293329-3108-40AB-906C-5E606C264A66}">
      <dgm:prSet/>
      <dgm:spPr/>
      <dgm:t>
        <a:bodyPr/>
        <a:lstStyle/>
        <a:p>
          <a:endParaRPr lang="en-GB"/>
        </a:p>
      </dgm:t>
    </dgm:pt>
    <dgm:pt modelId="{2C961FDC-105A-44CF-8CCF-D7119FD0B46F}">
      <dgm:prSet phldrT="[Text]"/>
      <dgm:spPr>
        <a:solidFill>
          <a:srgbClr val="00B0F0"/>
        </a:solidFill>
      </dgm:spPr>
      <dgm:t>
        <a:bodyPr/>
        <a:lstStyle/>
        <a:p>
          <a:r>
            <a:rPr lang="en-US" dirty="0"/>
            <a:t>Dedicated instances</a:t>
          </a:r>
          <a:endParaRPr lang="en-GB" dirty="0"/>
        </a:p>
      </dgm:t>
    </dgm:pt>
    <dgm:pt modelId="{E69D5129-CD6A-4899-A8A7-36389452A40A}" type="parTrans" cxnId="{09D8E0B9-A26D-424D-A541-95B3307C2E6B}">
      <dgm:prSet/>
      <dgm:spPr/>
      <dgm:t>
        <a:bodyPr/>
        <a:lstStyle/>
        <a:p>
          <a:endParaRPr lang="en-GB"/>
        </a:p>
      </dgm:t>
    </dgm:pt>
    <dgm:pt modelId="{DB59B22C-2619-4225-9035-404F15D197C5}" type="sibTrans" cxnId="{09D8E0B9-A26D-424D-A541-95B3307C2E6B}">
      <dgm:prSet/>
      <dgm:spPr/>
      <dgm:t>
        <a:bodyPr/>
        <a:lstStyle/>
        <a:p>
          <a:endParaRPr lang="en-GB"/>
        </a:p>
      </dgm:t>
    </dgm:pt>
    <dgm:pt modelId="{6E44C011-E436-4F42-89A9-C79FD6F6DF74}">
      <dgm:prSet phldrT="[Text]" phldr="1"/>
      <dgm:spPr/>
      <dgm:t>
        <a:bodyPr/>
        <a:lstStyle/>
        <a:p>
          <a:endParaRPr lang="en-GB"/>
        </a:p>
      </dgm:t>
    </dgm:pt>
    <dgm:pt modelId="{7169075E-2B19-45D7-83B6-71F4D3823F78}" type="parTrans" cxnId="{DCE5F9F4-C86A-43AA-B9A5-73D0AEB5F68F}">
      <dgm:prSet/>
      <dgm:spPr/>
      <dgm:t>
        <a:bodyPr/>
        <a:lstStyle/>
        <a:p>
          <a:endParaRPr lang="en-GB"/>
        </a:p>
      </dgm:t>
    </dgm:pt>
    <dgm:pt modelId="{2704857F-2D78-4604-8BE4-D6BA5858FA32}" type="sibTrans" cxnId="{DCE5F9F4-C86A-43AA-B9A5-73D0AEB5F68F}">
      <dgm:prSet/>
      <dgm:spPr/>
      <dgm:t>
        <a:bodyPr/>
        <a:lstStyle/>
        <a:p>
          <a:endParaRPr lang="en-GB"/>
        </a:p>
      </dgm:t>
    </dgm:pt>
    <dgm:pt modelId="{B5229710-5F88-42E3-BAFE-E6AA2177470F}">
      <dgm:prSet phldrT="[Text]"/>
      <dgm:spPr>
        <a:solidFill>
          <a:srgbClr val="7030A0"/>
        </a:solidFill>
      </dgm:spPr>
      <dgm:t>
        <a:bodyPr/>
        <a:lstStyle/>
        <a:p>
          <a:r>
            <a:rPr lang="en-US" dirty="0"/>
            <a:t>Dedicated host</a:t>
          </a:r>
          <a:endParaRPr lang="en-GB" dirty="0"/>
        </a:p>
      </dgm:t>
    </dgm:pt>
    <dgm:pt modelId="{7F02C20A-A2C1-49B5-B6ED-D3836A547624}" type="parTrans" cxnId="{F66CA42E-E9DD-4BB3-9294-746C9BDE3C67}">
      <dgm:prSet/>
      <dgm:spPr/>
      <dgm:t>
        <a:bodyPr/>
        <a:lstStyle/>
        <a:p>
          <a:endParaRPr lang="en-GB"/>
        </a:p>
      </dgm:t>
    </dgm:pt>
    <dgm:pt modelId="{B2591646-3A7D-4A8B-AC28-DAE3B32102D4}" type="sibTrans" cxnId="{F66CA42E-E9DD-4BB3-9294-746C9BDE3C67}">
      <dgm:prSet/>
      <dgm:spPr/>
      <dgm:t>
        <a:bodyPr/>
        <a:lstStyle/>
        <a:p>
          <a:endParaRPr lang="en-GB"/>
        </a:p>
      </dgm:t>
    </dgm:pt>
    <dgm:pt modelId="{40534AE3-0188-4C07-A4AE-8BF831EAADB9}" type="pres">
      <dgm:prSet presAssocID="{65529CD1-311A-4096-95EF-38599EA2B4C0}" presName="Name0" presStyleCnt="0">
        <dgm:presLayoutVars>
          <dgm:chMax val="1"/>
          <dgm:chPref val="1"/>
          <dgm:dir/>
          <dgm:animOne val="branch"/>
          <dgm:animLvl val="lvl"/>
        </dgm:presLayoutVars>
      </dgm:prSet>
      <dgm:spPr/>
    </dgm:pt>
    <dgm:pt modelId="{5E250283-B0DA-4DFC-A5CD-BA61765FF1E2}" type="pres">
      <dgm:prSet presAssocID="{01346C48-AEC3-409F-8096-005901ED153A}" presName="Parent" presStyleLbl="node0" presStyleIdx="0" presStyleCnt="1">
        <dgm:presLayoutVars>
          <dgm:chMax val="6"/>
          <dgm:chPref val="6"/>
        </dgm:presLayoutVars>
      </dgm:prSet>
      <dgm:spPr/>
    </dgm:pt>
    <dgm:pt modelId="{9E157AB5-41F6-4DB1-B56E-0123CAF5B737}" type="pres">
      <dgm:prSet presAssocID="{351438BD-6CB8-4BD7-B84B-2441207AFDFF}" presName="Accent1" presStyleCnt="0"/>
      <dgm:spPr/>
    </dgm:pt>
    <dgm:pt modelId="{15CAE897-2CC6-452E-9A17-7E5C29E675B4}" type="pres">
      <dgm:prSet presAssocID="{351438BD-6CB8-4BD7-B84B-2441207AFDFF}" presName="Accent" presStyleLbl="bgShp" presStyleIdx="0" presStyleCnt="6"/>
      <dgm:spPr/>
    </dgm:pt>
    <dgm:pt modelId="{0D8F12FA-7571-4EF5-B44D-4A07F299281E}" type="pres">
      <dgm:prSet presAssocID="{351438BD-6CB8-4BD7-B84B-2441207AFDFF}" presName="Child1" presStyleLbl="node1" presStyleIdx="0" presStyleCnt="6">
        <dgm:presLayoutVars>
          <dgm:chMax val="0"/>
          <dgm:chPref val="0"/>
          <dgm:bulletEnabled val="1"/>
        </dgm:presLayoutVars>
      </dgm:prSet>
      <dgm:spPr/>
    </dgm:pt>
    <dgm:pt modelId="{BE39AE06-7444-410D-B2FD-EC8C9C1AB4CA}" type="pres">
      <dgm:prSet presAssocID="{A3249E61-9083-43FF-B4E6-DC88031DA363}" presName="Accent2" presStyleCnt="0"/>
      <dgm:spPr/>
    </dgm:pt>
    <dgm:pt modelId="{58459A7D-3872-49B1-9A36-1D1064B69D6B}" type="pres">
      <dgm:prSet presAssocID="{A3249E61-9083-43FF-B4E6-DC88031DA363}" presName="Accent" presStyleLbl="bgShp" presStyleIdx="1" presStyleCnt="6"/>
      <dgm:spPr/>
    </dgm:pt>
    <dgm:pt modelId="{083385CD-A2F1-47CD-A6B2-8D0A04BC38AC}" type="pres">
      <dgm:prSet presAssocID="{A3249E61-9083-43FF-B4E6-DC88031DA363}" presName="Child2" presStyleLbl="node1" presStyleIdx="1" presStyleCnt="6">
        <dgm:presLayoutVars>
          <dgm:chMax val="0"/>
          <dgm:chPref val="0"/>
          <dgm:bulletEnabled val="1"/>
        </dgm:presLayoutVars>
      </dgm:prSet>
      <dgm:spPr/>
    </dgm:pt>
    <dgm:pt modelId="{E100DC49-3B0B-4D70-8440-C1069312F059}" type="pres">
      <dgm:prSet presAssocID="{83A0AF5D-75B9-4278-8964-088DFE5ECD10}" presName="Accent3" presStyleCnt="0"/>
      <dgm:spPr/>
    </dgm:pt>
    <dgm:pt modelId="{61216ED0-B341-4257-BE76-E7B9E5162F44}" type="pres">
      <dgm:prSet presAssocID="{83A0AF5D-75B9-4278-8964-088DFE5ECD10}" presName="Accent" presStyleLbl="bgShp" presStyleIdx="2" presStyleCnt="6"/>
      <dgm:spPr/>
    </dgm:pt>
    <dgm:pt modelId="{F9B97268-DFD8-4095-A8BF-D004E8E8FB7B}" type="pres">
      <dgm:prSet presAssocID="{83A0AF5D-75B9-4278-8964-088DFE5ECD10}" presName="Child3" presStyleLbl="node1" presStyleIdx="2" presStyleCnt="6">
        <dgm:presLayoutVars>
          <dgm:chMax val="0"/>
          <dgm:chPref val="0"/>
          <dgm:bulletEnabled val="1"/>
        </dgm:presLayoutVars>
      </dgm:prSet>
      <dgm:spPr/>
    </dgm:pt>
    <dgm:pt modelId="{3891ADC2-9CD1-4585-B102-D0F9D0576500}" type="pres">
      <dgm:prSet presAssocID="{DE211CA3-321C-40D4-9061-C51B6C621861}" presName="Accent4" presStyleCnt="0"/>
      <dgm:spPr/>
    </dgm:pt>
    <dgm:pt modelId="{23F99C00-E425-4F96-8B13-D61996367F13}" type="pres">
      <dgm:prSet presAssocID="{DE211CA3-321C-40D4-9061-C51B6C621861}" presName="Accent" presStyleLbl="bgShp" presStyleIdx="3" presStyleCnt="6"/>
      <dgm:spPr/>
    </dgm:pt>
    <dgm:pt modelId="{B67C469B-7DD2-49B1-8638-6BB12140D6C2}" type="pres">
      <dgm:prSet presAssocID="{DE211CA3-321C-40D4-9061-C51B6C621861}" presName="Child4" presStyleLbl="node1" presStyleIdx="3" presStyleCnt="6">
        <dgm:presLayoutVars>
          <dgm:chMax val="0"/>
          <dgm:chPref val="0"/>
          <dgm:bulletEnabled val="1"/>
        </dgm:presLayoutVars>
      </dgm:prSet>
      <dgm:spPr/>
    </dgm:pt>
    <dgm:pt modelId="{196333BB-2D3C-4E52-98A1-ABDFF60C516B}" type="pres">
      <dgm:prSet presAssocID="{2C961FDC-105A-44CF-8CCF-D7119FD0B46F}" presName="Accent5" presStyleCnt="0"/>
      <dgm:spPr/>
    </dgm:pt>
    <dgm:pt modelId="{D40567B2-A492-4800-95D1-0996D49C81B6}" type="pres">
      <dgm:prSet presAssocID="{2C961FDC-105A-44CF-8CCF-D7119FD0B46F}" presName="Accent" presStyleLbl="bgShp" presStyleIdx="4" presStyleCnt="6"/>
      <dgm:spPr/>
    </dgm:pt>
    <dgm:pt modelId="{67D927DB-6FD8-49C2-8444-255F86A26E80}" type="pres">
      <dgm:prSet presAssocID="{2C961FDC-105A-44CF-8CCF-D7119FD0B46F}" presName="Child5" presStyleLbl="node1" presStyleIdx="4" presStyleCnt="6">
        <dgm:presLayoutVars>
          <dgm:chMax val="0"/>
          <dgm:chPref val="0"/>
          <dgm:bulletEnabled val="1"/>
        </dgm:presLayoutVars>
      </dgm:prSet>
      <dgm:spPr/>
    </dgm:pt>
    <dgm:pt modelId="{5B167E0B-A8F5-4977-B2DE-D381D35036D8}" type="pres">
      <dgm:prSet presAssocID="{B5229710-5F88-42E3-BAFE-E6AA2177470F}" presName="Accent6" presStyleCnt="0"/>
      <dgm:spPr/>
    </dgm:pt>
    <dgm:pt modelId="{6EB38AA3-5010-4F61-B50C-8C6A86FBB039}" type="pres">
      <dgm:prSet presAssocID="{B5229710-5F88-42E3-BAFE-E6AA2177470F}" presName="Accent" presStyleLbl="bgShp" presStyleIdx="5" presStyleCnt="6"/>
      <dgm:spPr/>
    </dgm:pt>
    <dgm:pt modelId="{EDF19899-1002-43D3-A956-BCB26F9D8B9D}" type="pres">
      <dgm:prSet presAssocID="{B5229710-5F88-42E3-BAFE-E6AA2177470F}" presName="Child6" presStyleLbl="node1" presStyleIdx="5" presStyleCnt="6">
        <dgm:presLayoutVars>
          <dgm:chMax val="0"/>
          <dgm:chPref val="0"/>
          <dgm:bulletEnabled val="1"/>
        </dgm:presLayoutVars>
      </dgm:prSet>
      <dgm:spPr/>
    </dgm:pt>
  </dgm:ptLst>
  <dgm:cxnLst>
    <dgm:cxn modelId="{A6293329-3108-40AB-906C-5E606C264A66}" srcId="{01346C48-AEC3-409F-8096-005901ED153A}" destId="{DE211CA3-321C-40D4-9061-C51B6C621861}" srcOrd="3" destOrd="0" parTransId="{6DEFF55A-BC77-407D-BF3A-D4A179548B0B}" sibTransId="{34003D99-FEC3-4EC9-8AED-6535D3117537}"/>
    <dgm:cxn modelId="{F66CA42E-E9DD-4BB3-9294-746C9BDE3C67}" srcId="{01346C48-AEC3-409F-8096-005901ED153A}" destId="{B5229710-5F88-42E3-BAFE-E6AA2177470F}" srcOrd="5" destOrd="0" parTransId="{7F02C20A-A2C1-49B5-B6ED-D3836A547624}" sibTransId="{B2591646-3A7D-4A8B-AC28-DAE3B32102D4}"/>
    <dgm:cxn modelId="{FAC31B38-7E3A-4128-97C1-25375A2F0D17}" type="presOf" srcId="{2C961FDC-105A-44CF-8CCF-D7119FD0B46F}" destId="{67D927DB-6FD8-49C2-8444-255F86A26E80}" srcOrd="0" destOrd="0" presId="urn:microsoft.com/office/officeart/2011/layout/HexagonRadial"/>
    <dgm:cxn modelId="{1536163F-A67B-4F7A-A432-11BAE7421AB4}" type="presOf" srcId="{A3249E61-9083-43FF-B4E6-DC88031DA363}" destId="{083385CD-A2F1-47CD-A6B2-8D0A04BC38AC}" srcOrd="0" destOrd="0" presId="urn:microsoft.com/office/officeart/2011/layout/HexagonRadial"/>
    <dgm:cxn modelId="{1091657B-18AD-49AF-868E-1C0AE6AE2945}" type="presOf" srcId="{DE211CA3-321C-40D4-9061-C51B6C621861}" destId="{B67C469B-7DD2-49B1-8638-6BB12140D6C2}" srcOrd="0" destOrd="0" presId="urn:microsoft.com/office/officeart/2011/layout/HexagonRadial"/>
    <dgm:cxn modelId="{0DA2D3A1-3804-4711-83C5-F2E169156FD2}" srcId="{65529CD1-311A-4096-95EF-38599EA2B4C0}" destId="{01346C48-AEC3-409F-8096-005901ED153A}" srcOrd="0" destOrd="0" parTransId="{2A8EA2F2-1336-494F-9359-0A0B564298B3}" sibTransId="{AF9E523C-768F-4B1C-BE4B-0728531BA088}"/>
    <dgm:cxn modelId="{2EB3DAA6-B2CA-4B8A-89E6-3A5D0365E134}" srcId="{01346C48-AEC3-409F-8096-005901ED153A}" destId="{351438BD-6CB8-4BD7-B84B-2441207AFDFF}" srcOrd="0" destOrd="0" parTransId="{7C9C9043-3B84-46EC-9FCD-8C374466455E}" sibTransId="{3260A0BC-D63A-4C2D-9881-2DD06308FDF6}"/>
    <dgm:cxn modelId="{D8AF02B3-B4B5-427E-9614-29EE0B773770}" type="presOf" srcId="{B5229710-5F88-42E3-BAFE-E6AA2177470F}" destId="{EDF19899-1002-43D3-A956-BCB26F9D8B9D}" srcOrd="0" destOrd="0" presId="urn:microsoft.com/office/officeart/2011/layout/HexagonRadial"/>
    <dgm:cxn modelId="{09D8E0B9-A26D-424D-A541-95B3307C2E6B}" srcId="{01346C48-AEC3-409F-8096-005901ED153A}" destId="{2C961FDC-105A-44CF-8CCF-D7119FD0B46F}" srcOrd="4" destOrd="0" parTransId="{E69D5129-CD6A-4899-A8A7-36389452A40A}" sibTransId="{DB59B22C-2619-4225-9035-404F15D197C5}"/>
    <dgm:cxn modelId="{853859C0-5F05-4E1C-A651-B43D1594091A}" type="presOf" srcId="{351438BD-6CB8-4BD7-B84B-2441207AFDFF}" destId="{0D8F12FA-7571-4EF5-B44D-4A07F299281E}" srcOrd="0" destOrd="0" presId="urn:microsoft.com/office/officeart/2011/layout/HexagonRadial"/>
    <dgm:cxn modelId="{CE64DAD0-C79A-4F71-8F9A-38CAB82FCBA2}" type="presOf" srcId="{65529CD1-311A-4096-95EF-38599EA2B4C0}" destId="{40534AE3-0188-4C07-A4AE-8BF831EAADB9}" srcOrd="0" destOrd="0" presId="urn:microsoft.com/office/officeart/2011/layout/HexagonRadial"/>
    <dgm:cxn modelId="{604858E7-0F62-47D6-AA65-26AB03A5E84D}" srcId="{01346C48-AEC3-409F-8096-005901ED153A}" destId="{83A0AF5D-75B9-4278-8964-088DFE5ECD10}" srcOrd="2" destOrd="0" parTransId="{1EAC84E8-9C5C-4A47-BF2D-F690E3E6CB77}" sibTransId="{54578558-D395-4393-A1EA-0EB511F5EDF5}"/>
    <dgm:cxn modelId="{E5E39CE7-04D3-43E2-A506-75B6013EEE1A}" type="presOf" srcId="{01346C48-AEC3-409F-8096-005901ED153A}" destId="{5E250283-B0DA-4DFC-A5CD-BA61765FF1E2}" srcOrd="0" destOrd="0" presId="urn:microsoft.com/office/officeart/2011/layout/HexagonRadial"/>
    <dgm:cxn modelId="{FDCDD8F2-94C6-4FB8-B5E7-E3F0BC979AD0}" srcId="{01346C48-AEC3-409F-8096-005901ED153A}" destId="{A3249E61-9083-43FF-B4E6-DC88031DA363}" srcOrd="1" destOrd="0" parTransId="{5CE6C419-67E3-4BC9-BFA3-BB3DD3214624}" sibTransId="{2CC4FB2D-92C8-4ADC-B847-68BF6831AD1C}"/>
    <dgm:cxn modelId="{DCE5F9F4-C86A-43AA-B9A5-73D0AEB5F68F}" srcId="{01346C48-AEC3-409F-8096-005901ED153A}" destId="{6E44C011-E436-4F42-89A9-C79FD6F6DF74}" srcOrd="6" destOrd="0" parTransId="{7169075E-2B19-45D7-83B6-71F4D3823F78}" sibTransId="{2704857F-2D78-4604-8BE4-D6BA5858FA32}"/>
    <dgm:cxn modelId="{6A2B93F7-53C5-4C57-8D31-B6DC0240E74B}" type="presOf" srcId="{83A0AF5D-75B9-4278-8964-088DFE5ECD10}" destId="{F9B97268-DFD8-4095-A8BF-D004E8E8FB7B}" srcOrd="0" destOrd="0" presId="urn:microsoft.com/office/officeart/2011/layout/HexagonRadial"/>
    <dgm:cxn modelId="{E8074C3A-63D6-4705-A8F5-5767BB151BC1}" type="presParOf" srcId="{40534AE3-0188-4C07-A4AE-8BF831EAADB9}" destId="{5E250283-B0DA-4DFC-A5CD-BA61765FF1E2}" srcOrd="0" destOrd="0" presId="urn:microsoft.com/office/officeart/2011/layout/HexagonRadial"/>
    <dgm:cxn modelId="{E6841184-70BC-4AF0-8C97-09CCEE755519}" type="presParOf" srcId="{40534AE3-0188-4C07-A4AE-8BF831EAADB9}" destId="{9E157AB5-41F6-4DB1-B56E-0123CAF5B737}" srcOrd="1" destOrd="0" presId="urn:microsoft.com/office/officeart/2011/layout/HexagonRadial"/>
    <dgm:cxn modelId="{88759854-3603-4E8F-A41C-35C4FC202342}" type="presParOf" srcId="{9E157AB5-41F6-4DB1-B56E-0123CAF5B737}" destId="{15CAE897-2CC6-452E-9A17-7E5C29E675B4}" srcOrd="0" destOrd="0" presId="urn:microsoft.com/office/officeart/2011/layout/HexagonRadial"/>
    <dgm:cxn modelId="{0E50B73F-69E4-4A86-8118-40F6CAA53339}" type="presParOf" srcId="{40534AE3-0188-4C07-A4AE-8BF831EAADB9}" destId="{0D8F12FA-7571-4EF5-B44D-4A07F299281E}" srcOrd="2" destOrd="0" presId="urn:microsoft.com/office/officeart/2011/layout/HexagonRadial"/>
    <dgm:cxn modelId="{FC6F6CA5-23FD-4A1D-8FDB-8894C2A15D12}" type="presParOf" srcId="{40534AE3-0188-4C07-A4AE-8BF831EAADB9}" destId="{BE39AE06-7444-410D-B2FD-EC8C9C1AB4CA}" srcOrd="3" destOrd="0" presId="urn:microsoft.com/office/officeart/2011/layout/HexagonRadial"/>
    <dgm:cxn modelId="{7AAFEDC1-1A0C-4B85-8304-57B9E17957E9}" type="presParOf" srcId="{BE39AE06-7444-410D-B2FD-EC8C9C1AB4CA}" destId="{58459A7D-3872-49B1-9A36-1D1064B69D6B}" srcOrd="0" destOrd="0" presId="urn:microsoft.com/office/officeart/2011/layout/HexagonRadial"/>
    <dgm:cxn modelId="{A935D16D-F71A-49D6-B064-564DC341B5E5}" type="presParOf" srcId="{40534AE3-0188-4C07-A4AE-8BF831EAADB9}" destId="{083385CD-A2F1-47CD-A6B2-8D0A04BC38AC}" srcOrd="4" destOrd="0" presId="urn:microsoft.com/office/officeart/2011/layout/HexagonRadial"/>
    <dgm:cxn modelId="{1D22DC08-C890-4E5C-BFC4-C1FC4E8EBA73}" type="presParOf" srcId="{40534AE3-0188-4C07-A4AE-8BF831EAADB9}" destId="{E100DC49-3B0B-4D70-8440-C1069312F059}" srcOrd="5" destOrd="0" presId="urn:microsoft.com/office/officeart/2011/layout/HexagonRadial"/>
    <dgm:cxn modelId="{B6CDC991-C525-4D3F-A532-156F601A5271}" type="presParOf" srcId="{E100DC49-3B0B-4D70-8440-C1069312F059}" destId="{61216ED0-B341-4257-BE76-E7B9E5162F44}" srcOrd="0" destOrd="0" presId="urn:microsoft.com/office/officeart/2011/layout/HexagonRadial"/>
    <dgm:cxn modelId="{FEC260E0-ADDF-435C-9A25-B1E80952309A}" type="presParOf" srcId="{40534AE3-0188-4C07-A4AE-8BF831EAADB9}" destId="{F9B97268-DFD8-4095-A8BF-D004E8E8FB7B}" srcOrd="6" destOrd="0" presId="urn:microsoft.com/office/officeart/2011/layout/HexagonRadial"/>
    <dgm:cxn modelId="{F1C6AA32-F200-4A30-B1CF-2D940C3DB9ED}" type="presParOf" srcId="{40534AE3-0188-4C07-A4AE-8BF831EAADB9}" destId="{3891ADC2-9CD1-4585-B102-D0F9D0576500}" srcOrd="7" destOrd="0" presId="urn:microsoft.com/office/officeart/2011/layout/HexagonRadial"/>
    <dgm:cxn modelId="{47D99928-6928-4B69-B6BB-0F6F23B5A12D}" type="presParOf" srcId="{3891ADC2-9CD1-4585-B102-D0F9D0576500}" destId="{23F99C00-E425-4F96-8B13-D61996367F13}" srcOrd="0" destOrd="0" presId="urn:microsoft.com/office/officeart/2011/layout/HexagonRadial"/>
    <dgm:cxn modelId="{4B1D4214-B5E2-4D07-9900-4295DAFAAB1A}" type="presParOf" srcId="{40534AE3-0188-4C07-A4AE-8BF831EAADB9}" destId="{B67C469B-7DD2-49B1-8638-6BB12140D6C2}" srcOrd="8" destOrd="0" presId="urn:microsoft.com/office/officeart/2011/layout/HexagonRadial"/>
    <dgm:cxn modelId="{C7D21E80-D214-4D50-8509-92080D8311F8}" type="presParOf" srcId="{40534AE3-0188-4C07-A4AE-8BF831EAADB9}" destId="{196333BB-2D3C-4E52-98A1-ABDFF60C516B}" srcOrd="9" destOrd="0" presId="urn:microsoft.com/office/officeart/2011/layout/HexagonRadial"/>
    <dgm:cxn modelId="{6EB023D0-04F2-49C5-87F8-BE1277B0A00C}" type="presParOf" srcId="{196333BB-2D3C-4E52-98A1-ABDFF60C516B}" destId="{D40567B2-A492-4800-95D1-0996D49C81B6}" srcOrd="0" destOrd="0" presId="urn:microsoft.com/office/officeart/2011/layout/HexagonRadial"/>
    <dgm:cxn modelId="{13872BD0-3A2F-4EEF-8FB6-6D8547DE4222}" type="presParOf" srcId="{40534AE3-0188-4C07-A4AE-8BF831EAADB9}" destId="{67D927DB-6FD8-49C2-8444-255F86A26E80}" srcOrd="10" destOrd="0" presId="urn:microsoft.com/office/officeart/2011/layout/HexagonRadial"/>
    <dgm:cxn modelId="{1B9A6564-424E-4864-8F63-0F22B0910720}" type="presParOf" srcId="{40534AE3-0188-4C07-A4AE-8BF831EAADB9}" destId="{5B167E0B-A8F5-4977-B2DE-D381D35036D8}" srcOrd="11" destOrd="0" presId="urn:microsoft.com/office/officeart/2011/layout/HexagonRadial"/>
    <dgm:cxn modelId="{0E975477-6B9D-4E1D-986D-CCD3740CA75F}" type="presParOf" srcId="{5B167E0B-A8F5-4977-B2DE-D381D35036D8}" destId="{6EB38AA3-5010-4F61-B50C-8C6A86FBB039}" srcOrd="0" destOrd="0" presId="urn:microsoft.com/office/officeart/2011/layout/HexagonRadial"/>
    <dgm:cxn modelId="{4FCD734E-3DA3-44F4-9FDC-89D720A5736E}" type="presParOf" srcId="{40534AE3-0188-4C07-A4AE-8BF831EAADB9}" destId="{EDF19899-1002-43D3-A956-BCB26F9D8B9D}"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dgm:t>
        <a:bodyPr/>
        <a:lstStyle/>
        <a:p>
          <a:r>
            <a:rPr lang="en-US" sz="1600" dirty="0">
              <a:latin typeface="Calibri" panose="020F0502020204030204" pitchFamily="34" charset="0"/>
              <a:cs typeface="Calibri" panose="020F0502020204030204" pitchFamily="34" charset="0"/>
            </a:rPr>
            <a:t>EC2 Hand-on</a:t>
          </a:r>
          <a:endParaRPr lang="en-GB" sz="1600" dirty="0">
            <a:latin typeface="Calibri" panose="020F0502020204030204" pitchFamily="34" charset="0"/>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dgm:t>
        <a:bodyPr/>
        <a:lstStyle/>
        <a:p>
          <a:r>
            <a:rPr lang="en-US" sz="1600" dirty="0">
              <a:latin typeface="Calibri" panose="020F0502020204030204" pitchFamily="34" charset="0"/>
              <a:cs typeface="Calibri" panose="020F0502020204030204" pitchFamily="34" charset="0"/>
            </a:rPr>
            <a:t>AWS RDS</a:t>
          </a:r>
          <a:endParaRPr lang="en-GB" sz="1600" dirty="0">
            <a:latin typeface="Calibri" panose="020F0502020204030204" pitchFamily="34" charset="0"/>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pt>
    <dgm:pt modelId="{244698EC-D096-4094-8EFB-47FE7C4EE0EA}" type="sibTrans" cxnId="{0428EDD3-AB6E-47CA-9371-DBA2BD3526CF}">
      <dgm:prSet/>
      <dgm:spPr/>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pt>
    <dgm:pt modelId="{304B33C1-8D27-4F6F-AD3B-16D00ACEE488}" type="sibTrans" cxnId="{B591E9DE-4867-4DDC-A41E-4F6D2CA736A6}">
      <dgm:prSet/>
      <dgm:spPr/>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pt>
    <dgm:pt modelId="{FD7FB98B-5511-4C26-89F8-DDF09C83F859}" type="sibTrans" cxnId="{CCAC71F1-08F7-4BE0-87A7-433D0F239EC8}">
      <dgm:prSet/>
      <dgm:spPr/>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a:xfrm>
          <a:off x="326368" y="4018121"/>
          <a:ext cx="4951871" cy="422813"/>
        </a:xfrm>
        <a:prstGeom prst="rect">
          <a:avLst/>
        </a:prstGeom>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dgm:t>
        <a:bodyPr/>
        <a:lstStyle/>
        <a:p>
          <a:r>
            <a:rPr lang="en-US" sz="1600" dirty="0">
              <a:latin typeface="Calibri" panose="020F0502020204030204" pitchFamily="34" charset="0"/>
              <a:cs typeface="Calibri" panose="020F0502020204030204" pitchFamily="34" charset="0"/>
            </a:rPr>
            <a:t>AWS RDS Hands-on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t>
        <a:bodyPr/>
        <a:lstStyle/>
        <a:p>
          <a:endParaRPr lang="en-GB"/>
        </a:p>
      </dgm:t>
    </dgm:pt>
    <dgm:pt modelId="{244698EC-D096-4094-8EFB-47FE7C4EE0EA}" type="sibTrans" cxnId="{0428EDD3-AB6E-47CA-9371-DBA2BD3526CF}">
      <dgm:prSet/>
      <dgm:spPr/>
      <dgm:t>
        <a:bodyPr/>
        <a:lstStyle/>
        <a:p>
          <a:endParaRPr lang="en-GB"/>
        </a:p>
      </dgm:t>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t>
        <a:bodyPr/>
        <a:lstStyle/>
        <a:p>
          <a:endParaRPr lang="en-GB"/>
        </a:p>
      </dgm:t>
    </dgm:pt>
    <dgm:pt modelId="{304B33C1-8D27-4F6F-AD3B-16D00ACEE488}" type="sibTrans" cxnId="{B591E9DE-4867-4DDC-A41E-4F6D2CA736A6}">
      <dgm:prSet/>
      <dgm:spPr/>
      <dgm:t>
        <a:bodyPr/>
        <a:lstStyle/>
        <a:p>
          <a:endParaRPr lang="en-GB"/>
        </a:p>
      </dgm:t>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t>
        <a:bodyPr/>
        <a:lstStyle/>
        <a:p>
          <a:endParaRPr lang="en-GB"/>
        </a:p>
      </dgm:t>
    </dgm:pt>
    <dgm:pt modelId="{FD7FB98B-5511-4C26-89F8-DDF09C83F859}" type="sibTrans" cxnId="{CCAC71F1-08F7-4BE0-87A7-433D0F239EC8}">
      <dgm:prSet/>
      <dgm:spPr/>
      <dgm:t>
        <a:bodyPr/>
        <a:lstStyle/>
        <a:p>
          <a:endParaRPr lang="en-GB"/>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a:xfrm>
          <a:off x="326368" y="4018121"/>
          <a:ext cx="4951871" cy="422813"/>
        </a:xfrm>
        <a:prstGeom prst="rect">
          <a:avLst/>
        </a:prstGeom>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dgm:t>
        <a:bodyPr/>
        <a:lstStyle/>
        <a:p>
          <a:r>
            <a:rPr lang="en-US" sz="1600" dirty="0">
              <a:latin typeface="Calibri" panose="020F0502020204030204" pitchFamily="34" charset="0"/>
              <a:cs typeface="Calibri" panose="020F0502020204030204" pitchFamily="34" charset="0"/>
            </a:rPr>
            <a:t>AWS Storage</a:t>
          </a:r>
          <a:endParaRPr lang="en-GB" sz="1600" dirty="0">
            <a:latin typeface="Calibri" panose="020F0502020204030204" pitchFamily="34" charset="0"/>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dgm:t>
        <a:bodyPr/>
        <a:lstStyle/>
        <a:p>
          <a:r>
            <a:rPr lang="en-US" sz="1600" dirty="0">
              <a:latin typeface="Calibri" panose="020F0502020204030204" pitchFamily="34" charset="0"/>
              <a:cs typeface="Calibri" panose="020F0502020204030204" pitchFamily="34" charset="0"/>
            </a:rPr>
            <a:t>AWS Auto scaling</a:t>
          </a:r>
          <a:endParaRPr lang="en-GB" sz="1600" dirty="0">
            <a:latin typeface="Calibri" panose="020F0502020204030204" pitchFamily="34" charset="0"/>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dgm:t>
        <a:bodyPr/>
        <a:lstStyle/>
        <a:p>
          <a:r>
            <a:rPr lang="en-US" sz="1600" dirty="0">
              <a:latin typeface="Calibri" panose="020F0502020204030204" pitchFamily="34" charset="0"/>
              <a:cs typeface="Calibri" panose="020F0502020204030204" pitchFamily="34" charset="0"/>
            </a:rPr>
            <a:t>Demo on AWS EBS</a:t>
          </a:r>
          <a:endParaRPr lang="en-GB" sz="16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t>
        <a:bodyPr/>
        <a:lstStyle/>
        <a:p>
          <a:endParaRPr lang="en-GB"/>
        </a:p>
      </dgm:t>
    </dgm:pt>
    <dgm:pt modelId="{244698EC-D096-4094-8EFB-47FE7C4EE0EA}" type="sibTrans" cxnId="{0428EDD3-AB6E-47CA-9371-DBA2BD3526CF}">
      <dgm:prSet/>
      <dgm:spPr/>
      <dgm:t>
        <a:bodyPr/>
        <a:lstStyle/>
        <a:p>
          <a:endParaRPr lang="en-GB"/>
        </a:p>
      </dgm:t>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t>
        <a:bodyPr/>
        <a:lstStyle/>
        <a:p>
          <a:endParaRPr lang="en-GB"/>
        </a:p>
      </dgm:t>
    </dgm:pt>
    <dgm:pt modelId="{304B33C1-8D27-4F6F-AD3B-16D00ACEE488}" type="sibTrans" cxnId="{B591E9DE-4867-4DDC-A41E-4F6D2CA736A6}">
      <dgm:prSet/>
      <dgm:spPr/>
      <dgm:t>
        <a:bodyPr/>
        <a:lstStyle/>
        <a:p>
          <a:endParaRPr lang="en-GB"/>
        </a:p>
      </dgm:t>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t>
        <a:bodyPr/>
        <a:lstStyle/>
        <a:p>
          <a:endParaRPr lang="en-GB"/>
        </a:p>
      </dgm:t>
    </dgm:pt>
    <dgm:pt modelId="{FD7FB98B-5511-4C26-89F8-DDF09C83F859}" type="sibTrans" cxnId="{CCAC71F1-08F7-4BE0-87A7-433D0F239EC8}">
      <dgm:prSet/>
      <dgm:spPr/>
      <dgm:t>
        <a:bodyPr/>
        <a:lstStyle/>
        <a:p>
          <a:endParaRPr lang="en-GB"/>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a:xfrm>
          <a:off x="326368" y="211499"/>
          <a:ext cx="4951871" cy="422813"/>
        </a:xfrm>
        <a:prstGeom prst="rect">
          <a:avLst/>
        </a:prstGeom>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8630884-A530-47CC-9468-96EB7F8F6C99}"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GB"/>
        </a:p>
      </dgm:t>
    </dgm:pt>
    <dgm:pt modelId="{231DF0B9-4E51-4191-BAB7-D0313D147953}">
      <dgm:prSet phldrT="[Text]"/>
      <dgm:spPr/>
      <dgm:t>
        <a:bodyPr/>
        <a:lstStyle/>
        <a:p>
          <a:r>
            <a:rPr lang="en-US" dirty="0">
              <a:latin typeface="Calibri" panose="020F0502020204030204" pitchFamily="34" charset="0"/>
              <a:cs typeface="Calibri" panose="020F0502020204030204" pitchFamily="34" charset="0"/>
            </a:rPr>
            <a:t>Create volume</a:t>
          </a:r>
          <a:endParaRPr lang="en-GB" dirty="0">
            <a:latin typeface="Calibri" panose="020F0502020204030204" pitchFamily="34" charset="0"/>
            <a:cs typeface="Calibri" panose="020F0502020204030204" pitchFamily="34" charset="0"/>
          </a:endParaRPr>
        </a:p>
      </dgm:t>
    </dgm:pt>
    <dgm:pt modelId="{4AA65943-CE88-4AFC-8750-8C8516BA5DBC}" type="parTrans" cxnId="{C819BDFF-A48D-485F-9EDC-754759C2F1CD}">
      <dgm:prSet/>
      <dgm:spPr/>
      <dgm:t>
        <a:bodyPr/>
        <a:lstStyle/>
        <a:p>
          <a:endParaRPr lang="en-GB">
            <a:latin typeface="Calibri" panose="020F0502020204030204" pitchFamily="34" charset="0"/>
            <a:cs typeface="Calibri" panose="020F0502020204030204" pitchFamily="34" charset="0"/>
          </a:endParaRPr>
        </a:p>
      </dgm:t>
    </dgm:pt>
    <dgm:pt modelId="{5DA6FF7E-E3BE-48B9-B994-2CCFF78B67EC}" type="sibTrans" cxnId="{C819BDFF-A48D-485F-9EDC-754759C2F1CD}">
      <dgm:prSet/>
      <dgm:spPr/>
      <dgm:t>
        <a:bodyPr/>
        <a:lstStyle/>
        <a:p>
          <a:endParaRPr lang="en-GB">
            <a:latin typeface="Calibri" panose="020F0502020204030204" pitchFamily="34" charset="0"/>
            <a:cs typeface="Calibri" panose="020F0502020204030204" pitchFamily="34" charset="0"/>
          </a:endParaRPr>
        </a:p>
      </dgm:t>
    </dgm:pt>
    <dgm:pt modelId="{94534EE6-F70B-448C-8E9E-D0A866A4ABDD}">
      <dgm:prSet phldrT="[Text]"/>
      <dgm:spPr/>
      <dgm:t>
        <a:bodyPr/>
        <a:lstStyle/>
        <a:p>
          <a:r>
            <a:rPr lang="en-US" dirty="0">
              <a:latin typeface="Calibri" panose="020F0502020204030204" pitchFamily="34" charset="0"/>
              <a:cs typeface="Calibri" panose="020F0502020204030204" pitchFamily="34" charset="0"/>
            </a:rPr>
            <a:t>Attach to EC2 instance</a:t>
          </a:r>
          <a:endParaRPr lang="en-GB" dirty="0">
            <a:latin typeface="Calibri" panose="020F0502020204030204" pitchFamily="34" charset="0"/>
            <a:cs typeface="Calibri" panose="020F0502020204030204" pitchFamily="34" charset="0"/>
          </a:endParaRPr>
        </a:p>
      </dgm:t>
    </dgm:pt>
    <dgm:pt modelId="{0288A275-95F5-4468-80F4-B3E7C6483F87}" type="parTrans" cxnId="{A4DF6403-C78D-47CC-B6BE-81D79AB3DFDF}">
      <dgm:prSet/>
      <dgm:spPr/>
      <dgm:t>
        <a:bodyPr/>
        <a:lstStyle/>
        <a:p>
          <a:endParaRPr lang="en-GB">
            <a:latin typeface="Calibri" panose="020F0502020204030204" pitchFamily="34" charset="0"/>
            <a:cs typeface="Calibri" panose="020F0502020204030204" pitchFamily="34" charset="0"/>
          </a:endParaRPr>
        </a:p>
      </dgm:t>
    </dgm:pt>
    <dgm:pt modelId="{9CDA69F5-F843-45C3-B91C-1ADE0FDD95C7}" type="sibTrans" cxnId="{A4DF6403-C78D-47CC-B6BE-81D79AB3DFDF}">
      <dgm:prSet/>
      <dgm:spPr/>
      <dgm:t>
        <a:bodyPr/>
        <a:lstStyle/>
        <a:p>
          <a:endParaRPr lang="en-GB">
            <a:latin typeface="Calibri" panose="020F0502020204030204" pitchFamily="34" charset="0"/>
            <a:cs typeface="Calibri" panose="020F0502020204030204" pitchFamily="34" charset="0"/>
          </a:endParaRPr>
        </a:p>
      </dgm:t>
    </dgm:pt>
    <dgm:pt modelId="{EF7A7F4F-891C-4B6C-83CA-621112A7A9A5}">
      <dgm:prSet phldrT="[Text]"/>
      <dgm:spPr/>
      <dgm:t>
        <a:bodyPr/>
        <a:lstStyle/>
        <a:p>
          <a:r>
            <a:rPr lang="en-US" dirty="0">
              <a:latin typeface="Calibri" panose="020F0502020204030204" pitchFamily="34" charset="0"/>
              <a:cs typeface="Calibri" panose="020F0502020204030204" pitchFamily="34" charset="0"/>
            </a:rPr>
            <a:t>Format and Use</a:t>
          </a:r>
          <a:endParaRPr lang="en-GB" dirty="0">
            <a:latin typeface="Calibri" panose="020F0502020204030204" pitchFamily="34" charset="0"/>
            <a:cs typeface="Calibri" panose="020F0502020204030204" pitchFamily="34" charset="0"/>
          </a:endParaRPr>
        </a:p>
      </dgm:t>
    </dgm:pt>
    <dgm:pt modelId="{BEAEB151-1F80-44B1-A3F5-576E7EB44109}" type="parTrans" cxnId="{E1B5BDE7-BC69-46B3-9270-3B9BA36CC83C}">
      <dgm:prSet/>
      <dgm:spPr/>
      <dgm:t>
        <a:bodyPr/>
        <a:lstStyle/>
        <a:p>
          <a:endParaRPr lang="en-GB">
            <a:latin typeface="Calibri" panose="020F0502020204030204" pitchFamily="34" charset="0"/>
            <a:cs typeface="Calibri" panose="020F0502020204030204" pitchFamily="34" charset="0"/>
          </a:endParaRPr>
        </a:p>
      </dgm:t>
    </dgm:pt>
    <dgm:pt modelId="{38E84DF9-13F4-4A31-B15B-8E99191EC43F}" type="sibTrans" cxnId="{E1B5BDE7-BC69-46B3-9270-3B9BA36CC83C}">
      <dgm:prSet/>
      <dgm:spPr/>
      <dgm:t>
        <a:bodyPr/>
        <a:lstStyle/>
        <a:p>
          <a:endParaRPr lang="en-GB">
            <a:latin typeface="Calibri" panose="020F0502020204030204" pitchFamily="34" charset="0"/>
            <a:cs typeface="Calibri" panose="020F0502020204030204" pitchFamily="34" charset="0"/>
          </a:endParaRPr>
        </a:p>
      </dgm:t>
    </dgm:pt>
    <dgm:pt modelId="{20440FD1-BF54-4846-BE2C-CC06FE845C1E}">
      <dgm:prSet phldrT="[Text]"/>
      <dgm:spPr/>
      <dgm:t>
        <a:bodyPr/>
        <a:lstStyle/>
        <a:p>
          <a:r>
            <a:rPr lang="en-US" dirty="0">
              <a:latin typeface="Calibri" panose="020F0502020204030204" pitchFamily="34" charset="0"/>
              <a:cs typeface="Calibri" panose="020F0502020204030204" pitchFamily="34" charset="0"/>
            </a:rPr>
            <a:t>Snapshot to S3</a:t>
          </a:r>
          <a:endParaRPr lang="en-GB" dirty="0">
            <a:latin typeface="Calibri" panose="020F0502020204030204" pitchFamily="34" charset="0"/>
            <a:cs typeface="Calibri" panose="020F0502020204030204" pitchFamily="34" charset="0"/>
          </a:endParaRPr>
        </a:p>
      </dgm:t>
    </dgm:pt>
    <dgm:pt modelId="{2E049008-16CC-45B5-81C9-F339136FE7F1}" type="parTrans" cxnId="{F011FF43-78B2-4AE5-937C-E965348F11A8}">
      <dgm:prSet/>
      <dgm:spPr/>
      <dgm:t>
        <a:bodyPr/>
        <a:lstStyle/>
        <a:p>
          <a:endParaRPr lang="en-GB">
            <a:latin typeface="Calibri" panose="020F0502020204030204" pitchFamily="34" charset="0"/>
            <a:cs typeface="Calibri" panose="020F0502020204030204" pitchFamily="34" charset="0"/>
          </a:endParaRPr>
        </a:p>
      </dgm:t>
    </dgm:pt>
    <dgm:pt modelId="{CF969547-131C-45F6-ACA2-0969155EEEDE}" type="sibTrans" cxnId="{F011FF43-78B2-4AE5-937C-E965348F11A8}">
      <dgm:prSet/>
      <dgm:spPr/>
      <dgm:t>
        <a:bodyPr/>
        <a:lstStyle/>
        <a:p>
          <a:endParaRPr lang="en-GB">
            <a:latin typeface="Calibri" panose="020F0502020204030204" pitchFamily="34" charset="0"/>
            <a:cs typeface="Calibri" panose="020F0502020204030204" pitchFamily="34" charset="0"/>
          </a:endParaRPr>
        </a:p>
      </dgm:t>
    </dgm:pt>
    <dgm:pt modelId="{EEE5D75E-15FC-4283-A5C4-63EE1EAE60C7}">
      <dgm:prSet phldrT="[Text]"/>
      <dgm:spPr/>
      <dgm:t>
        <a:bodyPr/>
        <a:lstStyle/>
        <a:p>
          <a:r>
            <a:rPr lang="en-US" dirty="0">
              <a:latin typeface="Calibri" panose="020F0502020204030204" pitchFamily="34" charset="0"/>
              <a:cs typeface="Calibri" panose="020F0502020204030204" pitchFamily="34" charset="0"/>
            </a:rPr>
            <a:t>Detach from EC2</a:t>
          </a:r>
          <a:endParaRPr lang="en-GB" dirty="0">
            <a:latin typeface="Calibri" panose="020F0502020204030204" pitchFamily="34" charset="0"/>
            <a:cs typeface="Calibri" panose="020F0502020204030204" pitchFamily="34" charset="0"/>
          </a:endParaRPr>
        </a:p>
      </dgm:t>
    </dgm:pt>
    <dgm:pt modelId="{B0302563-A406-4217-A18A-87802FEBFC12}" type="parTrans" cxnId="{D12E3BCF-821A-44F4-92FC-14B0E0D1041E}">
      <dgm:prSet/>
      <dgm:spPr/>
      <dgm:t>
        <a:bodyPr/>
        <a:lstStyle/>
        <a:p>
          <a:endParaRPr lang="en-GB">
            <a:latin typeface="Calibri" panose="020F0502020204030204" pitchFamily="34" charset="0"/>
            <a:cs typeface="Calibri" panose="020F0502020204030204" pitchFamily="34" charset="0"/>
          </a:endParaRPr>
        </a:p>
      </dgm:t>
    </dgm:pt>
    <dgm:pt modelId="{B339DE1E-7B7D-4BB0-83E3-F01463D2AB64}" type="sibTrans" cxnId="{D12E3BCF-821A-44F4-92FC-14B0E0D1041E}">
      <dgm:prSet/>
      <dgm:spPr/>
      <dgm:t>
        <a:bodyPr/>
        <a:lstStyle/>
        <a:p>
          <a:endParaRPr lang="en-GB">
            <a:latin typeface="Calibri" panose="020F0502020204030204" pitchFamily="34" charset="0"/>
            <a:cs typeface="Calibri" panose="020F0502020204030204" pitchFamily="34" charset="0"/>
          </a:endParaRPr>
        </a:p>
      </dgm:t>
    </dgm:pt>
    <dgm:pt modelId="{40BDD376-D8A3-49C3-A05B-F57DDE004B85}">
      <dgm:prSet phldrT="[Text]"/>
      <dgm:spPr/>
      <dgm:t>
        <a:bodyPr/>
        <a:lstStyle/>
        <a:p>
          <a:r>
            <a:rPr lang="en-US" dirty="0">
              <a:latin typeface="Calibri" panose="020F0502020204030204" pitchFamily="34" charset="0"/>
              <a:cs typeface="Calibri" panose="020F0502020204030204" pitchFamily="34" charset="0"/>
            </a:rPr>
            <a:t>Delete volume</a:t>
          </a:r>
          <a:endParaRPr lang="en-GB" dirty="0">
            <a:latin typeface="Calibri" panose="020F0502020204030204" pitchFamily="34" charset="0"/>
            <a:cs typeface="Calibri" panose="020F0502020204030204" pitchFamily="34" charset="0"/>
          </a:endParaRPr>
        </a:p>
      </dgm:t>
    </dgm:pt>
    <dgm:pt modelId="{E5D17025-2296-475E-947E-99D61617A471}" type="parTrans" cxnId="{513AD307-3D64-42C6-8AA9-59B0E476D46B}">
      <dgm:prSet/>
      <dgm:spPr/>
      <dgm:t>
        <a:bodyPr/>
        <a:lstStyle/>
        <a:p>
          <a:endParaRPr lang="en-GB">
            <a:latin typeface="Calibri" panose="020F0502020204030204" pitchFamily="34" charset="0"/>
            <a:cs typeface="Calibri" panose="020F0502020204030204" pitchFamily="34" charset="0"/>
          </a:endParaRPr>
        </a:p>
      </dgm:t>
    </dgm:pt>
    <dgm:pt modelId="{F7F8B51B-6B86-4296-8D3C-A1800B4D37F0}" type="sibTrans" cxnId="{513AD307-3D64-42C6-8AA9-59B0E476D46B}">
      <dgm:prSet/>
      <dgm:spPr/>
      <dgm:t>
        <a:bodyPr/>
        <a:lstStyle/>
        <a:p>
          <a:endParaRPr lang="en-GB">
            <a:latin typeface="Calibri" panose="020F0502020204030204" pitchFamily="34" charset="0"/>
            <a:cs typeface="Calibri" panose="020F0502020204030204" pitchFamily="34" charset="0"/>
          </a:endParaRPr>
        </a:p>
      </dgm:t>
    </dgm:pt>
    <dgm:pt modelId="{5C195248-D45C-4338-9F9E-0BAE2039CB17}" type="pres">
      <dgm:prSet presAssocID="{B8630884-A530-47CC-9468-96EB7F8F6C99}" presName="cycle" presStyleCnt="0">
        <dgm:presLayoutVars>
          <dgm:dir/>
          <dgm:resizeHandles val="exact"/>
        </dgm:presLayoutVars>
      </dgm:prSet>
      <dgm:spPr/>
    </dgm:pt>
    <dgm:pt modelId="{72C2ADDC-5F20-469D-9320-6C47916F3D02}" type="pres">
      <dgm:prSet presAssocID="{231DF0B9-4E51-4191-BAB7-D0313D147953}" presName="dummy" presStyleCnt="0"/>
      <dgm:spPr/>
    </dgm:pt>
    <dgm:pt modelId="{15CC6472-444F-47CC-BBF0-9A94310509EB}" type="pres">
      <dgm:prSet presAssocID="{231DF0B9-4E51-4191-BAB7-D0313D147953}" presName="node" presStyleLbl="revTx" presStyleIdx="0" presStyleCnt="6">
        <dgm:presLayoutVars>
          <dgm:bulletEnabled val="1"/>
        </dgm:presLayoutVars>
      </dgm:prSet>
      <dgm:spPr/>
    </dgm:pt>
    <dgm:pt modelId="{662292C0-12D9-4BFB-A81D-5BA79B9A6EB2}" type="pres">
      <dgm:prSet presAssocID="{5DA6FF7E-E3BE-48B9-B994-2CCFF78B67EC}" presName="sibTrans" presStyleLbl="node1" presStyleIdx="0" presStyleCnt="6"/>
      <dgm:spPr/>
    </dgm:pt>
    <dgm:pt modelId="{792F701B-9F7B-44F7-B740-347A59517BE5}" type="pres">
      <dgm:prSet presAssocID="{94534EE6-F70B-448C-8E9E-D0A866A4ABDD}" presName="dummy" presStyleCnt="0"/>
      <dgm:spPr/>
    </dgm:pt>
    <dgm:pt modelId="{7DC022C6-B686-48E6-8C8F-CC88CDDCA80D}" type="pres">
      <dgm:prSet presAssocID="{94534EE6-F70B-448C-8E9E-D0A866A4ABDD}" presName="node" presStyleLbl="revTx" presStyleIdx="1" presStyleCnt="6">
        <dgm:presLayoutVars>
          <dgm:bulletEnabled val="1"/>
        </dgm:presLayoutVars>
      </dgm:prSet>
      <dgm:spPr/>
    </dgm:pt>
    <dgm:pt modelId="{F2C50644-AC2F-4525-B23F-2A2A8F241817}" type="pres">
      <dgm:prSet presAssocID="{9CDA69F5-F843-45C3-B91C-1ADE0FDD95C7}" presName="sibTrans" presStyleLbl="node1" presStyleIdx="1" presStyleCnt="6"/>
      <dgm:spPr/>
    </dgm:pt>
    <dgm:pt modelId="{7EAAA391-FFD8-4B8C-904E-E093554890A8}" type="pres">
      <dgm:prSet presAssocID="{EF7A7F4F-891C-4B6C-83CA-621112A7A9A5}" presName="dummy" presStyleCnt="0"/>
      <dgm:spPr/>
    </dgm:pt>
    <dgm:pt modelId="{BB79B71A-54F7-4C2E-8A17-C651C0B8EF37}" type="pres">
      <dgm:prSet presAssocID="{EF7A7F4F-891C-4B6C-83CA-621112A7A9A5}" presName="node" presStyleLbl="revTx" presStyleIdx="2" presStyleCnt="6">
        <dgm:presLayoutVars>
          <dgm:bulletEnabled val="1"/>
        </dgm:presLayoutVars>
      </dgm:prSet>
      <dgm:spPr/>
    </dgm:pt>
    <dgm:pt modelId="{C9B12903-E53A-4182-9C81-6432EBF19E61}" type="pres">
      <dgm:prSet presAssocID="{38E84DF9-13F4-4A31-B15B-8E99191EC43F}" presName="sibTrans" presStyleLbl="node1" presStyleIdx="2" presStyleCnt="6"/>
      <dgm:spPr/>
    </dgm:pt>
    <dgm:pt modelId="{3809F04D-F0BC-451B-A412-1D0DBCA975BC}" type="pres">
      <dgm:prSet presAssocID="{20440FD1-BF54-4846-BE2C-CC06FE845C1E}" presName="dummy" presStyleCnt="0"/>
      <dgm:spPr/>
    </dgm:pt>
    <dgm:pt modelId="{F9C59A17-5631-4A15-8C21-FBF7EA918E25}" type="pres">
      <dgm:prSet presAssocID="{20440FD1-BF54-4846-BE2C-CC06FE845C1E}" presName="node" presStyleLbl="revTx" presStyleIdx="3" presStyleCnt="6">
        <dgm:presLayoutVars>
          <dgm:bulletEnabled val="1"/>
        </dgm:presLayoutVars>
      </dgm:prSet>
      <dgm:spPr/>
    </dgm:pt>
    <dgm:pt modelId="{06BB59F6-D99B-47E7-98DC-5745CEE523E6}" type="pres">
      <dgm:prSet presAssocID="{CF969547-131C-45F6-ACA2-0969155EEEDE}" presName="sibTrans" presStyleLbl="node1" presStyleIdx="3" presStyleCnt="6"/>
      <dgm:spPr/>
    </dgm:pt>
    <dgm:pt modelId="{ADADC8E8-2833-4DDD-9AE5-47AF1817D161}" type="pres">
      <dgm:prSet presAssocID="{EEE5D75E-15FC-4283-A5C4-63EE1EAE60C7}" presName="dummy" presStyleCnt="0"/>
      <dgm:spPr/>
    </dgm:pt>
    <dgm:pt modelId="{B652CFFE-CCC0-477C-9844-43773D7E344D}" type="pres">
      <dgm:prSet presAssocID="{EEE5D75E-15FC-4283-A5C4-63EE1EAE60C7}" presName="node" presStyleLbl="revTx" presStyleIdx="4" presStyleCnt="6">
        <dgm:presLayoutVars>
          <dgm:bulletEnabled val="1"/>
        </dgm:presLayoutVars>
      </dgm:prSet>
      <dgm:spPr/>
    </dgm:pt>
    <dgm:pt modelId="{1ABE9B8E-641C-44E1-AEB4-E8D86E65C837}" type="pres">
      <dgm:prSet presAssocID="{B339DE1E-7B7D-4BB0-83E3-F01463D2AB64}" presName="sibTrans" presStyleLbl="node1" presStyleIdx="4" presStyleCnt="6"/>
      <dgm:spPr/>
    </dgm:pt>
    <dgm:pt modelId="{EDF5C907-F4C3-45E6-AD5C-83409FFCF0A6}" type="pres">
      <dgm:prSet presAssocID="{40BDD376-D8A3-49C3-A05B-F57DDE004B85}" presName="dummy" presStyleCnt="0"/>
      <dgm:spPr/>
    </dgm:pt>
    <dgm:pt modelId="{07E2FD53-9397-419A-8F91-5D3B0CFF547C}" type="pres">
      <dgm:prSet presAssocID="{40BDD376-D8A3-49C3-A05B-F57DDE004B85}" presName="node" presStyleLbl="revTx" presStyleIdx="5" presStyleCnt="6">
        <dgm:presLayoutVars>
          <dgm:bulletEnabled val="1"/>
        </dgm:presLayoutVars>
      </dgm:prSet>
      <dgm:spPr/>
    </dgm:pt>
    <dgm:pt modelId="{08C5A597-0514-401E-887F-8083C073C8C4}" type="pres">
      <dgm:prSet presAssocID="{F7F8B51B-6B86-4296-8D3C-A1800B4D37F0}" presName="sibTrans" presStyleLbl="node1" presStyleIdx="5" presStyleCnt="6"/>
      <dgm:spPr/>
    </dgm:pt>
  </dgm:ptLst>
  <dgm:cxnLst>
    <dgm:cxn modelId="{A4DF6403-C78D-47CC-B6BE-81D79AB3DFDF}" srcId="{B8630884-A530-47CC-9468-96EB7F8F6C99}" destId="{94534EE6-F70B-448C-8E9E-D0A866A4ABDD}" srcOrd="1" destOrd="0" parTransId="{0288A275-95F5-4468-80F4-B3E7C6483F87}" sibTransId="{9CDA69F5-F843-45C3-B91C-1ADE0FDD95C7}"/>
    <dgm:cxn modelId="{899E5504-76AE-4632-B1E0-2DD9AB698A67}" type="presOf" srcId="{5DA6FF7E-E3BE-48B9-B994-2CCFF78B67EC}" destId="{662292C0-12D9-4BFB-A81D-5BA79B9A6EB2}" srcOrd="0" destOrd="0" presId="urn:microsoft.com/office/officeart/2005/8/layout/cycle1"/>
    <dgm:cxn modelId="{8BF97205-ADD2-40B8-8644-2FFD660686F3}" type="presOf" srcId="{40BDD376-D8A3-49C3-A05B-F57DDE004B85}" destId="{07E2FD53-9397-419A-8F91-5D3B0CFF547C}" srcOrd="0" destOrd="0" presId="urn:microsoft.com/office/officeart/2005/8/layout/cycle1"/>
    <dgm:cxn modelId="{513AD307-3D64-42C6-8AA9-59B0E476D46B}" srcId="{B8630884-A530-47CC-9468-96EB7F8F6C99}" destId="{40BDD376-D8A3-49C3-A05B-F57DDE004B85}" srcOrd="5" destOrd="0" parTransId="{E5D17025-2296-475E-947E-99D61617A471}" sibTransId="{F7F8B51B-6B86-4296-8D3C-A1800B4D37F0}"/>
    <dgm:cxn modelId="{9EFCF814-4303-4D15-8868-9EEA583661FE}" type="presOf" srcId="{9CDA69F5-F843-45C3-B91C-1ADE0FDD95C7}" destId="{F2C50644-AC2F-4525-B23F-2A2A8F241817}" srcOrd="0" destOrd="0" presId="urn:microsoft.com/office/officeart/2005/8/layout/cycle1"/>
    <dgm:cxn modelId="{E751A622-2465-41EC-958F-FBF184E0B31E}" type="presOf" srcId="{EF7A7F4F-891C-4B6C-83CA-621112A7A9A5}" destId="{BB79B71A-54F7-4C2E-8A17-C651C0B8EF37}" srcOrd="0" destOrd="0" presId="urn:microsoft.com/office/officeart/2005/8/layout/cycle1"/>
    <dgm:cxn modelId="{EF08915C-70E8-40A0-9554-8F1CBE297D34}" type="presOf" srcId="{CF969547-131C-45F6-ACA2-0969155EEEDE}" destId="{06BB59F6-D99B-47E7-98DC-5745CEE523E6}" srcOrd="0" destOrd="0" presId="urn:microsoft.com/office/officeart/2005/8/layout/cycle1"/>
    <dgm:cxn modelId="{F011FF43-78B2-4AE5-937C-E965348F11A8}" srcId="{B8630884-A530-47CC-9468-96EB7F8F6C99}" destId="{20440FD1-BF54-4846-BE2C-CC06FE845C1E}" srcOrd="3" destOrd="0" parTransId="{2E049008-16CC-45B5-81C9-F339136FE7F1}" sibTransId="{CF969547-131C-45F6-ACA2-0969155EEEDE}"/>
    <dgm:cxn modelId="{C2CEDE69-68A0-4363-A30F-FDFA464DFED8}" type="presOf" srcId="{B339DE1E-7B7D-4BB0-83E3-F01463D2AB64}" destId="{1ABE9B8E-641C-44E1-AEB4-E8D86E65C837}" srcOrd="0" destOrd="0" presId="urn:microsoft.com/office/officeart/2005/8/layout/cycle1"/>
    <dgm:cxn modelId="{A7E42D4E-FB4F-4081-A748-2D4E7C33472F}" type="presOf" srcId="{94534EE6-F70B-448C-8E9E-D0A866A4ABDD}" destId="{7DC022C6-B686-48E6-8C8F-CC88CDDCA80D}" srcOrd="0" destOrd="0" presId="urn:microsoft.com/office/officeart/2005/8/layout/cycle1"/>
    <dgm:cxn modelId="{A589655A-6B6B-46B9-B1D4-76AB326CAB65}" type="presOf" srcId="{F7F8B51B-6B86-4296-8D3C-A1800B4D37F0}" destId="{08C5A597-0514-401E-887F-8083C073C8C4}" srcOrd="0" destOrd="0" presId="urn:microsoft.com/office/officeart/2005/8/layout/cycle1"/>
    <dgm:cxn modelId="{D3B71D8B-EC27-460D-B6FD-87DE2422FADC}" type="presOf" srcId="{231DF0B9-4E51-4191-BAB7-D0313D147953}" destId="{15CC6472-444F-47CC-BBF0-9A94310509EB}" srcOrd="0" destOrd="0" presId="urn:microsoft.com/office/officeart/2005/8/layout/cycle1"/>
    <dgm:cxn modelId="{B3575EA5-3FFA-4798-96FF-04F61CEBFEC1}" type="presOf" srcId="{38E84DF9-13F4-4A31-B15B-8E99191EC43F}" destId="{C9B12903-E53A-4182-9C81-6432EBF19E61}" srcOrd="0" destOrd="0" presId="urn:microsoft.com/office/officeart/2005/8/layout/cycle1"/>
    <dgm:cxn modelId="{8F36CAC6-2521-4575-8063-786A6B4307BD}" type="presOf" srcId="{20440FD1-BF54-4846-BE2C-CC06FE845C1E}" destId="{F9C59A17-5631-4A15-8C21-FBF7EA918E25}" srcOrd="0" destOrd="0" presId="urn:microsoft.com/office/officeart/2005/8/layout/cycle1"/>
    <dgm:cxn modelId="{D12E3BCF-821A-44F4-92FC-14B0E0D1041E}" srcId="{B8630884-A530-47CC-9468-96EB7F8F6C99}" destId="{EEE5D75E-15FC-4283-A5C4-63EE1EAE60C7}" srcOrd="4" destOrd="0" parTransId="{B0302563-A406-4217-A18A-87802FEBFC12}" sibTransId="{B339DE1E-7B7D-4BB0-83E3-F01463D2AB64}"/>
    <dgm:cxn modelId="{E1B5BDE7-BC69-46B3-9270-3B9BA36CC83C}" srcId="{B8630884-A530-47CC-9468-96EB7F8F6C99}" destId="{EF7A7F4F-891C-4B6C-83CA-621112A7A9A5}" srcOrd="2" destOrd="0" parTransId="{BEAEB151-1F80-44B1-A3F5-576E7EB44109}" sibTransId="{38E84DF9-13F4-4A31-B15B-8E99191EC43F}"/>
    <dgm:cxn modelId="{0123E4EF-950B-4C7A-9869-CF3163B2F81A}" type="presOf" srcId="{B8630884-A530-47CC-9468-96EB7F8F6C99}" destId="{5C195248-D45C-4338-9F9E-0BAE2039CB17}" srcOrd="0" destOrd="0" presId="urn:microsoft.com/office/officeart/2005/8/layout/cycle1"/>
    <dgm:cxn modelId="{4AB47AFB-9145-426E-B2DF-295C36338709}" type="presOf" srcId="{EEE5D75E-15FC-4283-A5C4-63EE1EAE60C7}" destId="{B652CFFE-CCC0-477C-9844-43773D7E344D}" srcOrd="0" destOrd="0" presId="urn:microsoft.com/office/officeart/2005/8/layout/cycle1"/>
    <dgm:cxn modelId="{C819BDFF-A48D-485F-9EDC-754759C2F1CD}" srcId="{B8630884-A530-47CC-9468-96EB7F8F6C99}" destId="{231DF0B9-4E51-4191-BAB7-D0313D147953}" srcOrd="0" destOrd="0" parTransId="{4AA65943-CE88-4AFC-8750-8C8516BA5DBC}" sibTransId="{5DA6FF7E-E3BE-48B9-B994-2CCFF78B67EC}"/>
    <dgm:cxn modelId="{4EEAA46A-F739-4317-BA20-F9DF257F0B40}" type="presParOf" srcId="{5C195248-D45C-4338-9F9E-0BAE2039CB17}" destId="{72C2ADDC-5F20-469D-9320-6C47916F3D02}" srcOrd="0" destOrd="0" presId="urn:microsoft.com/office/officeart/2005/8/layout/cycle1"/>
    <dgm:cxn modelId="{058BD104-1636-4934-AF1A-15493726891F}" type="presParOf" srcId="{5C195248-D45C-4338-9F9E-0BAE2039CB17}" destId="{15CC6472-444F-47CC-BBF0-9A94310509EB}" srcOrd="1" destOrd="0" presId="urn:microsoft.com/office/officeart/2005/8/layout/cycle1"/>
    <dgm:cxn modelId="{316A3CF6-6B99-4643-956C-48A1F3F1DD08}" type="presParOf" srcId="{5C195248-D45C-4338-9F9E-0BAE2039CB17}" destId="{662292C0-12D9-4BFB-A81D-5BA79B9A6EB2}" srcOrd="2" destOrd="0" presId="urn:microsoft.com/office/officeart/2005/8/layout/cycle1"/>
    <dgm:cxn modelId="{05D78D6C-6C59-4A01-8388-E5682AD2C3D0}" type="presParOf" srcId="{5C195248-D45C-4338-9F9E-0BAE2039CB17}" destId="{792F701B-9F7B-44F7-B740-347A59517BE5}" srcOrd="3" destOrd="0" presId="urn:microsoft.com/office/officeart/2005/8/layout/cycle1"/>
    <dgm:cxn modelId="{F6387412-A7E6-4792-9FED-9ED076BE1F92}" type="presParOf" srcId="{5C195248-D45C-4338-9F9E-0BAE2039CB17}" destId="{7DC022C6-B686-48E6-8C8F-CC88CDDCA80D}" srcOrd="4" destOrd="0" presId="urn:microsoft.com/office/officeart/2005/8/layout/cycle1"/>
    <dgm:cxn modelId="{856254D4-B76D-4400-9322-1227CC3DC789}" type="presParOf" srcId="{5C195248-D45C-4338-9F9E-0BAE2039CB17}" destId="{F2C50644-AC2F-4525-B23F-2A2A8F241817}" srcOrd="5" destOrd="0" presId="urn:microsoft.com/office/officeart/2005/8/layout/cycle1"/>
    <dgm:cxn modelId="{038EA766-A543-4A49-A0A5-4CE0942F9FEE}" type="presParOf" srcId="{5C195248-D45C-4338-9F9E-0BAE2039CB17}" destId="{7EAAA391-FFD8-4B8C-904E-E093554890A8}" srcOrd="6" destOrd="0" presId="urn:microsoft.com/office/officeart/2005/8/layout/cycle1"/>
    <dgm:cxn modelId="{D1DFBDC0-254A-4E83-B815-BE811C0D158A}" type="presParOf" srcId="{5C195248-D45C-4338-9F9E-0BAE2039CB17}" destId="{BB79B71A-54F7-4C2E-8A17-C651C0B8EF37}" srcOrd="7" destOrd="0" presId="urn:microsoft.com/office/officeart/2005/8/layout/cycle1"/>
    <dgm:cxn modelId="{26A63EDF-7982-48B3-802D-0985F1C8F627}" type="presParOf" srcId="{5C195248-D45C-4338-9F9E-0BAE2039CB17}" destId="{C9B12903-E53A-4182-9C81-6432EBF19E61}" srcOrd="8" destOrd="0" presId="urn:microsoft.com/office/officeart/2005/8/layout/cycle1"/>
    <dgm:cxn modelId="{2BA2329E-C952-4A22-B6E5-59198A9D635E}" type="presParOf" srcId="{5C195248-D45C-4338-9F9E-0BAE2039CB17}" destId="{3809F04D-F0BC-451B-A412-1D0DBCA975BC}" srcOrd="9" destOrd="0" presId="urn:microsoft.com/office/officeart/2005/8/layout/cycle1"/>
    <dgm:cxn modelId="{DA3239A3-BF60-46C7-8C96-794C3323CA99}" type="presParOf" srcId="{5C195248-D45C-4338-9F9E-0BAE2039CB17}" destId="{F9C59A17-5631-4A15-8C21-FBF7EA918E25}" srcOrd="10" destOrd="0" presId="urn:microsoft.com/office/officeart/2005/8/layout/cycle1"/>
    <dgm:cxn modelId="{72E05E4F-5517-4A2B-8E0C-5C3EBDEC6088}" type="presParOf" srcId="{5C195248-D45C-4338-9F9E-0BAE2039CB17}" destId="{06BB59F6-D99B-47E7-98DC-5745CEE523E6}" srcOrd="11" destOrd="0" presId="urn:microsoft.com/office/officeart/2005/8/layout/cycle1"/>
    <dgm:cxn modelId="{9EE1AB12-2FBF-48D5-824D-F4EF4BC01611}" type="presParOf" srcId="{5C195248-D45C-4338-9F9E-0BAE2039CB17}" destId="{ADADC8E8-2833-4DDD-9AE5-47AF1817D161}" srcOrd="12" destOrd="0" presId="urn:microsoft.com/office/officeart/2005/8/layout/cycle1"/>
    <dgm:cxn modelId="{4FB3AB3D-29FA-4599-824C-DD89D55E6C12}" type="presParOf" srcId="{5C195248-D45C-4338-9F9E-0BAE2039CB17}" destId="{B652CFFE-CCC0-477C-9844-43773D7E344D}" srcOrd="13" destOrd="0" presId="urn:microsoft.com/office/officeart/2005/8/layout/cycle1"/>
    <dgm:cxn modelId="{3A057A3D-CB4D-423C-8E91-1D1323E1D97F}" type="presParOf" srcId="{5C195248-D45C-4338-9F9E-0BAE2039CB17}" destId="{1ABE9B8E-641C-44E1-AEB4-E8D86E65C837}" srcOrd="14" destOrd="0" presId="urn:microsoft.com/office/officeart/2005/8/layout/cycle1"/>
    <dgm:cxn modelId="{6007E885-D868-4A5B-8A66-2FB4E6BA0C1D}" type="presParOf" srcId="{5C195248-D45C-4338-9F9E-0BAE2039CB17}" destId="{EDF5C907-F4C3-45E6-AD5C-83409FFCF0A6}" srcOrd="15" destOrd="0" presId="urn:microsoft.com/office/officeart/2005/8/layout/cycle1"/>
    <dgm:cxn modelId="{B26DB0C5-8B6D-43C0-8221-469E87CD3CAF}" type="presParOf" srcId="{5C195248-D45C-4338-9F9E-0BAE2039CB17}" destId="{07E2FD53-9397-419A-8F91-5D3B0CFF547C}" srcOrd="16" destOrd="0" presId="urn:microsoft.com/office/officeart/2005/8/layout/cycle1"/>
    <dgm:cxn modelId="{C2FB5FAD-A38E-4701-B664-A1AF6AAC7459}" type="presParOf" srcId="{5C195248-D45C-4338-9F9E-0BAE2039CB17}" destId="{08C5A597-0514-401E-887F-8083C073C8C4}" srcOrd="17"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a:xfrm>
          <a:off x="326368" y="4018121"/>
          <a:ext cx="4951871" cy="422813"/>
        </a:xfrm>
        <a:prstGeom prst="rect">
          <a:avLst/>
        </a:prstGeom>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0075B0">
            <a:hueOff val="0"/>
            <a:satOff val="0"/>
            <a:lumOff val="0"/>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t>
        <a:bodyPr/>
        <a:lstStyle/>
        <a:p>
          <a:endParaRPr lang="en-GB"/>
        </a:p>
      </dgm:t>
    </dgm:pt>
    <dgm:pt modelId="{244698EC-D096-4094-8EFB-47FE7C4EE0EA}" type="sibTrans" cxnId="{0428EDD3-AB6E-47CA-9371-DBA2BD3526CF}">
      <dgm:prSet/>
      <dgm:spPr/>
      <dgm:t>
        <a:bodyPr/>
        <a:lstStyle/>
        <a:p>
          <a:endParaRPr lang="en-GB"/>
        </a:p>
      </dgm:t>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t>
        <a:bodyPr/>
        <a:lstStyle/>
        <a:p>
          <a:endParaRPr lang="en-GB"/>
        </a:p>
      </dgm:t>
    </dgm:pt>
    <dgm:pt modelId="{304B33C1-8D27-4F6F-AD3B-16D00ACEE488}" type="sibTrans" cxnId="{B591E9DE-4867-4DDC-A41E-4F6D2CA736A6}">
      <dgm:prSet/>
      <dgm:spPr/>
      <dgm:t>
        <a:bodyPr/>
        <a:lstStyle/>
        <a:p>
          <a:endParaRPr lang="en-GB"/>
        </a:p>
      </dgm:t>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t>
        <a:bodyPr/>
        <a:lstStyle/>
        <a:p>
          <a:endParaRPr lang="en-GB"/>
        </a:p>
      </dgm:t>
    </dgm:pt>
    <dgm:pt modelId="{FD7FB98B-5511-4C26-89F8-DDF09C83F859}" type="sibTrans" cxnId="{CCAC71F1-08F7-4BE0-87A7-433D0F239EC8}">
      <dgm:prSet/>
      <dgm:spPr/>
      <dgm:t>
        <a:bodyPr/>
        <a:lstStyle/>
        <a:p>
          <a:endParaRPr lang="en-GB"/>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a:xfrm>
          <a:off x="326368" y="211499"/>
          <a:ext cx="4951871" cy="422813"/>
        </a:xfrm>
        <a:prstGeom prst="rect">
          <a:avLst/>
        </a:prstGeom>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a:xfrm>
          <a:off x="919088" y="1480218"/>
          <a:ext cx="4359151" cy="422813"/>
        </a:xfrm>
        <a:prstGeom prst="rect">
          <a:avLst/>
        </a:prstGeom>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a:xfrm>
          <a:off x="986083" y="2114810"/>
          <a:ext cx="4292156" cy="422813"/>
        </a:xfrm>
        <a:prstGeom prst="rect">
          <a:avLst/>
        </a:prstGeom>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a:xfrm>
          <a:off x="326368" y="4018121"/>
          <a:ext cx="4951871" cy="422813"/>
        </a:xfrm>
        <a:prstGeom prst="rect">
          <a:avLst/>
        </a:prstGeom>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t>
        <a:bodyPr/>
        <a:lstStyle/>
        <a:p>
          <a:endParaRPr lang="en-GB"/>
        </a:p>
      </dgm:t>
    </dgm:pt>
    <dgm:pt modelId="{244698EC-D096-4094-8EFB-47FE7C4EE0EA}" type="sibTrans" cxnId="{0428EDD3-AB6E-47CA-9371-DBA2BD3526CF}">
      <dgm:prSet/>
      <dgm:spPr/>
      <dgm:t>
        <a:bodyPr/>
        <a:lstStyle/>
        <a:p>
          <a:endParaRPr lang="en-GB"/>
        </a:p>
      </dgm:t>
    </dgm:pt>
    <dgm:pt modelId="{234C6E09-03EE-4C1F-A76D-060F10876D44}">
      <dgm:prSet phldrT="[Text]" custT="1"/>
      <dgm:spPr/>
      <dgm:t>
        <a:bodyPr/>
        <a:lstStyle/>
        <a:p>
          <a:r>
            <a:rPr lang="en-US" sz="1600" dirty="0">
              <a:latin typeface="Calibri" panose="020F0502020204030204" pitchFamily="34" charset="0"/>
              <a:cs typeface="Calibri" panose="020F0502020204030204" pitchFamily="34" charset="0"/>
            </a:rPr>
            <a:t>Auto Scaling Hands-on</a:t>
          </a:r>
          <a:endParaRPr lang="en-GB" sz="1600" dirty="0">
            <a:latin typeface="Calibri" panose="020F0502020204030204" pitchFamily="34" charset="0"/>
            <a:cs typeface="Calibri" panose="020F0502020204030204" pitchFamily="34" charset="0"/>
          </a:endParaRPr>
        </a:p>
      </dgm:t>
    </dgm:pt>
    <dgm:pt modelId="{6E45224A-F1B7-4998-BC61-231B6660675E}" type="parTrans" cxnId="{B591E9DE-4867-4DDC-A41E-4F6D2CA736A6}">
      <dgm:prSet/>
      <dgm:spPr/>
      <dgm:t>
        <a:bodyPr/>
        <a:lstStyle/>
        <a:p>
          <a:endParaRPr lang="en-GB"/>
        </a:p>
      </dgm:t>
    </dgm:pt>
    <dgm:pt modelId="{304B33C1-8D27-4F6F-AD3B-16D00ACEE488}" type="sibTrans" cxnId="{B591E9DE-4867-4DDC-A41E-4F6D2CA736A6}">
      <dgm:prSet/>
      <dgm:spPr/>
      <dgm:t>
        <a:bodyPr/>
        <a:lstStyle/>
        <a:p>
          <a:endParaRPr lang="en-GB"/>
        </a:p>
      </dgm:t>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t>
        <a:bodyPr/>
        <a:lstStyle/>
        <a:p>
          <a:endParaRPr lang="en-GB"/>
        </a:p>
      </dgm:t>
    </dgm:pt>
    <dgm:pt modelId="{FD7FB98B-5511-4C26-89F8-DDF09C83F859}" type="sibTrans" cxnId="{CCAC71F1-08F7-4BE0-87A7-433D0F239EC8}">
      <dgm:prSet/>
      <dgm:spPr/>
      <dgm:t>
        <a:bodyPr/>
        <a:lstStyle/>
        <a:p>
          <a:endParaRPr lang="en-GB"/>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a:xfrm>
          <a:off x="326368" y="211499"/>
          <a:ext cx="4951871" cy="422813"/>
        </a:xfrm>
        <a:prstGeom prst="rect">
          <a:avLst/>
        </a:prstGeom>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a:xfrm>
          <a:off x="919088" y="1480218"/>
          <a:ext cx="4359151" cy="422813"/>
        </a:xfrm>
        <a:prstGeom prst="rect">
          <a:avLst/>
        </a:prstGeom>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a:xfrm>
          <a:off x="986083" y="2114810"/>
          <a:ext cx="4292156" cy="422813"/>
        </a:xfrm>
        <a:prstGeom prst="rect">
          <a:avLst/>
        </a:prstGeom>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a:xfrm>
          <a:off x="326368" y="4018121"/>
          <a:ext cx="4951871" cy="422813"/>
        </a:xfrm>
        <a:prstGeom prst="rect">
          <a:avLst/>
        </a:prstGeom>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dgm:t>
        <a:bodyPr/>
        <a:lstStyle/>
        <a:p>
          <a:r>
            <a:rPr lang="en-US" sz="1600" dirty="0">
              <a:latin typeface="Calibri" panose="020F0502020204030204" pitchFamily="34" charset="0"/>
              <a:cs typeface="Calibri" panose="020F0502020204030204" pitchFamily="34" charset="0"/>
            </a:rPr>
            <a:t>AWS Security &amp; IAM</a:t>
          </a:r>
          <a:endParaRPr lang="en-GB" sz="1600" dirty="0">
            <a:latin typeface="Calibri" panose="020F0502020204030204" pitchFamily="34" charset="0"/>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t>
        <a:bodyPr/>
        <a:lstStyle/>
        <a:p>
          <a:endParaRPr lang="en-GB"/>
        </a:p>
      </dgm:t>
    </dgm:pt>
    <dgm:pt modelId="{244698EC-D096-4094-8EFB-47FE7C4EE0EA}" type="sibTrans" cxnId="{0428EDD3-AB6E-47CA-9371-DBA2BD3526CF}">
      <dgm:prSet/>
      <dgm:spPr/>
      <dgm:t>
        <a:bodyPr/>
        <a:lstStyle/>
        <a:p>
          <a:endParaRPr lang="en-GB"/>
        </a:p>
      </dgm:t>
    </dgm:pt>
    <dgm:pt modelId="{234C6E09-03EE-4C1F-A76D-060F10876D44}">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Auto Scaling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E45224A-F1B7-4998-BC61-231B6660675E}" type="parTrans" cxnId="{B591E9DE-4867-4DDC-A41E-4F6D2CA736A6}">
      <dgm:prSet/>
      <dgm:spPr/>
      <dgm:t>
        <a:bodyPr/>
        <a:lstStyle/>
        <a:p>
          <a:endParaRPr lang="en-GB"/>
        </a:p>
      </dgm:t>
    </dgm:pt>
    <dgm:pt modelId="{304B33C1-8D27-4F6F-AD3B-16D00ACEE488}" type="sibTrans" cxnId="{B591E9DE-4867-4DDC-A41E-4F6D2CA736A6}">
      <dgm:prSet/>
      <dgm:spPr/>
      <dgm:t>
        <a:bodyPr/>
        <a:lstStyle/>
        <a:p>
          <a:endParaRPr lang="en-GB"/>
        </a:p>
      </dgm:t>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t>
        <a:bodyPr/>
        <a:lstStyle/>
        <a:p>
          <a:endParaRPr lang="en-GB"/>
        </a:p>
      </dgm:t>
    </dgm:pt>
    <dgm:pt modelId="{FD7FB98B-5511-4C26-89F8-DDF09C83F859}" type="sibTrans" cxnId="{CCAC71F1-08F7-4BE0-87A7-433D0F239EC8}">
      <dgm:prSet/>
      <dgm:spPr/>
      <dgm:t>
        <a:bodyPr/>
        <a:lstStyle/>
        <a:p>
          <a:endParaRPr lang="en-GB"/>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a:xfrm>
          <a:off x="326368" y="211499"/>
          <a:ext cx="4951871" cy="422813"/>
        </a:xfrm>
        <a:prstGeom prst="rect">
          <a:avLst/>
        </a:prstGeom>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a:xfrm>
          <a:off x="919088" y="1480218"/>
          <a:ext cx="4359151" cy="422813"/>
        </a:xfrm>
        <a:prstGeom prst="rect">
          <a:avLst/>
        </a:prstGeom>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a:xfrm>
          <a:off x="986083" y="2114810"/>
          <a:ext cx="4292156" cy="422813"/>
        </a:xfrm>
        <a:prstGeom prst="rect">
          <a:avLst/>
        </a:prstGeom>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a:xfrm>
          <a:off x="919088" y="2749402"/>
          <a:ext cx="4359151" cy="422813"/>
        </a:xfrm>
        <a:prstGeom prst="rect">
          <a:avLst/>
        </a:prstGeom>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chemeClr val="accent3"/>
        </a:solidFill>
      </dgm:spPr>
      <dgm:t>
        <a:bodyPr/>
        <a:lstStyle/>
        <a:p>
          <a:r>
            <a:rPr lang="en-US" sz="1600" dirty="0">
              <a:latin typeface="Calibri" panose="020F0502020204030204" pitchFamily="34" charset="0"/>
              <a:cs typeface="Calibri" panose="020F0502020204030204" pitchFamily="34" charset="0"/>
            </a:rPr>
            <a:t>Introduction</a:t>
          </a:r>
          <a:endParaRPr lang="en-GB" sz="1600" dirty="0">
            <a:latin typeface="Calibri" panose="020F0502020204030204" pitchFamily="34" charset="0"/>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B3D2A232-5163-4D93-A3FF-788D7A3DC78E}">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F53D61A6-B685-42A5-8331-AAE09F1CE394}" type="par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52751847-F177-420D-B983-94357B509962}" type="sibTrans" cxnId="{9B679353-D90C-4881-B5F1-4DB4D22839FB}">
      <dgm:prSet/>
      <dgm:spPr/>
      <dgm:t>
        <a:bodyPr/>
        <a:lstStyle/>
        <a:p>
          <a:endParaRPr lang="en-GB" sz="1600">
            <a:latin typeface="Calibri" panose="020F0502020204030204" pitchFamily="34" charset="0"/>
            <a:cs typeface="Calibri" panose="020F0502020204030204" pitchFamily="34" charset="0"/>
          </a:endParaRPr>
        </a:p>
      </dgm:t>
    </dgm:pt>
    <dgm:pt modelId="{35FB241A-D925-46E6-B571-CA596DE05DA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9FE35886-8F1E-4A6B-B077-967AEF3A7EBC}" type="par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2AF9EA21-58E8-4A84-8896-CF57B8A5F52C}" type="sibTrans" cxnId="{42A57ED2-FC83-4458-8558-6B2E9FAA2916}">
      <dgm:prSet/>
      <dgm:spPr/>
      <dgm:t>
        <a:bodyPr/>
        <a:lstStyle/>
        <a:p>
          <a:endParaRPr lang="en-GB" sz="1600">
            <a:latin typeface="Calibri" panose="020F0502020204030204" pitchFamily="34" charset="0"/>
            <a:cs typeface="Calibri" panose="020F0502020204030204" pitchFamily="34" charset="0"/>
          </a:endParaRPr>
        </a:p>
      </dgm:t>
    </dgm:pt>
    <dgm:pt modelId="{77AF7D9E-5EF4-4C13-94AD-E433B5F970D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22EBC35-8413-4B37-B462-B088D9C389ED}" type="par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B958EE2E-F3CB-438A-A60C-7B535EC9BB13}" type="sibTrans" cxnId="{4F2E766E-736A-47A7-A936-675DD3CCA785}">
      <dgm:prSet/>
      <dgm:spPr/>
      <dgm:t>
        <a:bodyPr/>
        <a:lstStyle/>
        <a:p>
          <a:endParaRPr lang="en-GB" sz="1600">
            <a:latin typeface="Calibri" panose="020F0502020204030204" pitchFamily="34" charset="0"/>
            <a:cs typeface="Calibri" panose="020F0502020204030204" pitchFamily="34" charset="0"/>
          </a:endParaRPr>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681A6E71-0541-4A6D-9D6F-1C4074E2D914}" type="pres">
      <dgm:prSet presAssocID="{92052083-FCCA-4D65-8CCF-403DDB1ADA62}" presName="text_3" presStyleLbl="node1" presStyleIdx="2" presStyleCnt="7">
        <dgm:presLayoutVars>
          <dgm:bulletEnabled val="1"/>
        </dgm:presLayoutVars>
      </dgm:prSet>
      <dgm:spPr>
        <a:xfrm>
          <a:off x="919088" y="1480218"/>
          <a:ext cx="4359151" cy="422813"/>
        </a:xfrm>
        <a:prstGeom prst="rect">
          <a:avLst/>
        </a:prstGeom>
      </dgm:spPr>
    </dgm:pt>
    <dgm:pt modelId="{9E1517E3-E7C9-4F77-8891-A71563E8F573}" type="pres">
      <dgm:prSet presAssocID="{92052083-FCCA-4D65-8CCF-403DDB1ADA62}" presName="accent_3" presStyleCnt="0"/>
      <dgm:spPr/>
    </dgm:pt>
    <dgm:pt modelId="{942F9894-DC6C-4B16-9FAF-0D4DECB423C0}" type="pres">
      <dgm:prSet presAssocID="{92052083-FCCA-4D65-8CCF-403DDB1ADA62}" presName="accentRepeatNode" presStyleLbl="solidFgAcc1" presStyleIdx="2" presStyleCnt="7"/>
      <dgm:spPr/>
    </dgm:pt>
    <dgm:pt modelId="{620A7005-1206-4F6D-93A7-17750FE8904D}" type="pres">
      <dgm:prSet presAssocID="{BC1FFFD6-2B19-4D7E-8191-2610F4FF1E1B}" presName="text_4" presStyleLbl="node1" presStyleIdx="3" presStyleCnt="7">
        <dgm:presLayoutVars>
          <dgm:bulletEnabled val="1"/>
        </dgm:presLayoutVars>
      </dgm:prSet>
      <dgm:spPr>
        <a:xfrm>
          <a:off x="986083" y="2114810"/>
          <a:ext cx="4292156" cy="422813"/>
        </a:xfrm>
        <a:prstGeom prst="rect">
          <a:avLst/>
        </a:prstGeom>
      </dgm:spPr>
    </dgm:pt>
    <dgm:pt modelId="{57EC7F4B-DA5F-4C4E-8D2C-8DB889AC6B0B}" type="pres">
      <dgm:prSet presAssocID="{BC1FFFD6-2B19-4D7E-8191-2610F4FF1E1B}" presName="accent_4" presStyleCnt="0"/>
      <dgm:spPr/>
    </dgm:pt>
    <dgm:pt modelId="{766575DE-7DAD-4DC9-8D69-816F372071D0}" type="pres">
      <dgm:prSet presAssocID="{BC1FFFD6-2B19-4D7E-8191-2610F4FF1E1B}" presName="accentRepeatNode" presStyleLbl="solidFgAcc1" presStyleIdx="3" presStyleCnt="7"/>
      <dgm:spPr/>
    </dgm:pt>
    <dgm:pt modelId="{24CD6C31-00F3-4260-B3AA-55BC6953CDC6}" type="pres">
      <dgm:prSet presAssocID="{B3D2A232-5163-4D93-A3FF-788D7A3DC78E}" presName="text_5" presStyleLbl="node1" presStyleIdx="4" presStyleCnt="7">
        <dgm:presLayoutVars>
          <dgm:bulletEnabled val="1"/>
        </dgm:presLayoutVars>
      </dgm:prSet>
      <dgm:spPr>
        <a:xfrm>
          <a:off x="919088" y="2749402"/>
          <a:ext cx="4359151" cy="422813"/>
        </a:xfrm>
        <a:prstGeom prst="rect">
          <a:avLst/>
        </a:prstGeom>
      </dgm:spPr>
    </dgm:pt>
    <dgm:pt modelId="{9819A2DA-18D2-44E5-9E29-52741F1BCE33}" type="pres">
      <dgm:prSet presAssocID="{B3D2A232-5163-4D93-A3FF-788D7A3DC78E}" presName="accent_5" presStyleCnt="0"/>
      <dgm:spPr/>
    </dgm:pt>
    <dgm:pt modelId="{7A8D6657-8A4F-45A7-87EE-8B42D7359E29}" type="pres">
      <dgm:prSet presAssocID="{B3D2A232-5163-4D93-A3FF-788D7A3DC78E}" presName="accentRepeatNode" presStyleLbl="solidFgAcc1" presStyleIdx="4" presStyleCnt="7"/>
      <dgm:spPr/>
    </dgm:pt>
    <dgm:pt modelId="{E51A47F5-6531-4C23-BA7E-99A8416EDDF9}" type="pres">
      <dgm:prSet presAssocID="{77AF7D9E-5EF4-4C13-94AD-E433B5F970D0}" presName="text_6" presStyleLbl="node1" presStyleIdx="5" presStyleCnt="7">
        <dgm:presLayoutVars>
          <dgm:bulletEnabled val="1"/>
        </dgm:presLayoutVars>
      </dgm:prSet>
      <dgm:spPr>
        <a:xfrm>
          <a:off x="709263" y="3383529"/>
          <a:ext cx="4568976" cy="422813"/>
        </a:xfrm>
        <a:prstGeom prst="rect">
          <a:avLst/>
        </a:prstGeom>
      </dgm:spPr>
    </dgm:pt>
    <dgm:pt modelId="{10EC1F62-F52B-45FB-8939-7C6FC4673C66}" type="pres">
      <dgm:prSet presAssocID="{77AF7D9E-5EF4-4C13-94AD-E433B5F970D0}" presName="accent_6" presStyleCnt="0"/>
      <dgm:spPr/>
    </dgm:pt>
    <dgm:pt modelId="{53355EA5-9309-4F94-951D-C76F9426A5F4}" type="pres">
      <dgm:prSet presAssocID="{77AF7D9E-5EF4-4C13-94AD-E433B5F970D0}" presName="accentRepeatNode" presStyleLbl="solidFgAcc1" presStyleIdx="5" presStyleCnt="7"/>
      <dgm:spPr/>
    </dgm:pt>
    <dgm:pt modelId="{B6D60CCA-C208-468C-9D35-EE7F6C96327B}" type="pres">
      <dgm:prSet presAssocID="{35FB241A-D925-46E6-B571-CA596DE05DA9}" presName="text_7" presStyleLbl="node1" presStyleIdx="6" presStyleCnt="7">
        <dgm:presLayoutVars>
          <dgm:bulletEnabled val="1"/>
        </dgm:presLayoutVars>
      </dgm:prSet>
      <dgm:spPr>
        <a:xfrm>
          <a:off x="326368" y="4018121"/>
          <a:ext cx="4951871" cy="422813"/>
        </a:xfrm>
        <a:prstGeom prst="rect">
          <a:avLst/>
        </a:prstGeom>
      </dgm:spPr>
    </dgm:pt>
    <dgm:pt modelId="{8D36F3F4-40FE-4B0E-816A-F83819888CF5}" type="pres">
      <dgm:prSet presAssocID="{35FB241A-D925-46E6-B571-CA596DE05DA9}" presName="accent_7" presStyleCnt="0"/>
      <dgm:spPr/>
    </dgm:pt>
    <dgm:pt modelId="{8CE1FD9D-3EEC-4E1E-A7CF-CFFB7CBE701D}" type="pres">
      <dgm:prSet presAssocID="{35FB241A-D925-46E6-B571-CA596DE05DA9}" presName="accentRepeatNode" presStyleLbl="solidFgAcc1" presStyleIdx="6" presStyleCnt="7"/>
      <dgm:spPr/>
    </dgm:pt>
  </dgm:ptLst>
  <dgm:cxnLst>
    <dgm:cxn modelId="{4C3C530B-2A68-4EFA-AA07-42408D203115}" type="presOf" srcId="{BC1FFFD6-2B19-4D7E-8191-2610F4FF1E1B}" destId="{620A7005-1206-4F6D-93A7-17750FE8904D}"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E71F4933-4C2B-48A4-A3EF-3A606920F22A}" type="presOf" srcId="{35FB241A-D925-46E6-B571-CA596DE05DA9}" destId="{B6D60CCA-C208-468C-9D35-EE7F6C96327B}"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3" destOrd="0" parTransId="{E6C78AFE-8BD0-45AB-B55D-7418E473455F}" sibTransId="{DC1A4F20-6E4C-4D45-9471-2D1D08EFD11F}"/>
    <dgm:cxn modelId="{03691164-6B1C-414C-BA47-175CB47393B2}" type="presOf" srcId="{77AF7D9E-5EF4-4C13-94AD-E433B5F970D0}" destId="{E51A47F5-6531-4C23-BA7E-99A8416EDDF9}" srcOrd="0" destOrd="0" presId="urn:microsoft.com/office/officeart/2008/layout/VerticalCurvedList"/>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4F2E766E-736A-47A7-A936-675DD3CCA785}" srcId="{F4B64ED3-FCE8-4017-9556-27D4EC8B92FE}" destId="{77AF7D9E-5EF4-4C13-94AD-E433B5F970D0}" srcOrd="5" destOrd="0" parTransId="{622EBC35-8413-4B37-B462-B088D9C389ED}" sibTransId="{B958EE2E-F3CB-438A-A60C-7B535EC9BB13}"/>
    <dgm:cxn modelId="{9B679353-D90C-4881-B5F1-4DB4D22839FB}" srcId="{F4B64ED3-FCE8-4017-9556-27D4EC8B92FE}" destId="{B3D2A232-5163-4D93-A3FF-788D7A3DC78E}" srcOrd="4" destOrd="0" parTransId="{F53D61A6-B685-42A5-8331-AAE09F1CE394}" sibTransId="{52751847-F177-420D-B983-94357B509962}"/>
    <dgm:cxn modelId="{D5880E92-980E-4B59-B7ED-65C05FB59B73}" srcId="{F4B64ED3-FCE8-4017-9556-27D4EC8B92FE}" destId="{92052083-FCCA-4D65-8CCF-403DDB1ADA62}" srcOrd="2" destOrd="0" parTransId="{4177515C-20A6-41F0-8F9F-581FBAC93037}" sibTransId="{1CF59C1B-7577-4B69-9A0B-5FF2BBE2BDC5}"/>
    <dgm:cxn modelId="{353B7A9B-E10D-4D7D-BB89-9F4550092075}" type="presOf" srcId="{92052083-FCCA-4D65-8CCF-403DDB1ADA62}" destId="{681A6E71-0541-4A6D-9D6F-1C4074E2D914}" srcOrd="0" destOrd="0" presId="urn:microsoft.com/office/officeart/2008/layout/VerticalCurvedList"/>
    <dgm:cxn modelId="{1E5192B5-9D16-4EDF-AAC2-D653D43EA799}" type="presOf" srcId="{B3D2A232-5163-4D93-A3FF-788D7A3DC78E}" destId="{24CD6C31-00F3-4260-B3AA-55BC6953CDC6}"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42A57ED2-FC83-4458-8558-6B2E9FAA2916}" srcId="{F4B64ED3-FCE8-4017-9556-27D4EC8B92FE}" destId="{35FB241A-D925-46E6-B571-CA596DE05DA9}" srcOrd="6" destOrd="0" parTransId="{9FE35886-8F1E-4A6B-B077-967AEF3A7EBC}" sibTransId="{2AF9EA21-58E8-4A84-8896-CF57B8A5F52C}"/>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9C7C1C5C-1744-4C35-9829-FCAF13AD3CD6}" type="presParOf" srcId="{6292EFA8-4C75-4E97-8904-D8F305D7CF22}" destId="{681A6E71-0541-4A6D-9D6F-1C4074E2D914}" srcOrd="5" destOrd="0" presId="urn:microsoft.com/office/officeart/2008/layout/VerticalCurvedList"/>
    <dgm:cxn modelId="{94AFCF50-CE67-4E59-A642-F2753FD29C4E}" type="presParOf" srcId="{6292EFA8-4C75-4E97-8904-D8F305D7CF22}" destId="{9E1517E3-E7C9-4F77-8891-A71563E8F573}" srcOrd="6" destOrd="0" presId="urn:microsoft.com/office/officeart/2008/layout/VerticalCurvedList"/>
    <dgm:cxn modelId="{5B38BF42-DFFE-4536-AD0F-B4532716F11A}" type="presParOf" srcId="{9E1517E3-E7C9-4F77-8891-A71563E8F573}" destId="{942F9894-DC6C-4B16-9FAF-0D4DECB423C0}" srcOrd="0" destOrd="0" presId="urn:microsoft.com/office/officeart/2008/layout/VerticalCurvedList"/>
    <dgm:cxn modelId="{E1807F01-1254-4F8D-885A-E8CD0F0F14CB}" type="presParOf" srcId="{6292EFA8-4C75-4E97-8904-D8F305D7CF22}" destId="{620A7005-1206-4F6D-93A7-17750FE8904D}" srcOrd="7" destOrd="0" presId="urn:microsoft.com/office/officeart/2008/layout/VerticalCurvedList"/>
    <dgm:cxn modelId="{4FF1C84C-F49C-4EBB-8C3F-1B730DC3B9D8}" type="presParOf" srcId="{6292EFA8-4C75-4E97-8904-D8F305D7CF22}" destId="{57EC7F4B-DA5F-4C4E-8D2C-8DB889AC6B0B}" srcOrd="8" destOrd="0" presId="urn:microsoft.com/office/officeart/2008/layout/VerticalCurvedList"/>
    <dgm:cxn modelId="{8E9801E4-BED5-4841-BA90-A489F3191506}" type="presParOf" srcId="{57EC7F4B-DA5F-4C4E-8D2C-8DB889AC6B0B}" destId="{766575DE-7DAD-4DC9-8D69-816F372071D0}" srcOrd="0" destOrd="0" presId="urn:microsoft.com/office/officeart/2008/layout/VerticalCurvedList"/>
    <dgm:cxn modelId="{A5473F91-6C15-48A1-A58F-FD9764F6C2FB}" type="presParOf" srcId="{6292EFA8-4C75-4E97-8904-D8F305D7CF22}" destId="{24CD6C31-00F3-4260-B3AA-55BC6953CDC6}" srcOrd="9" destOrd="0" presId="urn:microsoft.com/office/officeart/2008/layout/VerticalCurvedList"/>
    <dgm:cxn modelId="{05AECA37-5BFD-4A6F-9911-575E7BAB4012}" type="presParOf" srcId="{6292EFA8-4C75-4E97-8904-D8F305D7CF22}" destId="{9819A2DA-18D2-44E5-9E29-52741F1BCE33}" srcOrd="10" destOrd="0" presId="urn:microsoft.com/office/officeart/2008/layout/VerticalCurvedList"/>
    <dgm:cxn modelId="{AFB5582C-B80A-4CF1-9210-D58A6BA267EE}" type="presParOf" srcId="{9819A2DA-18D2-44E5-9E29-52741F1BCE33}" destId="{7A8D6657-8A4F-45A7-87EE-8B42D7359E29}" srcOrd="0" destOrd="0" presId="urn:microsoft.com/office/officeart/2008/layout/VerticalCurvedList"/>
    <dgm:cxn modelId="{36249C7D-5F28-4A93-9963-930D10D68B35}" type="presParOf" srcId="{6292EFA8-4C75-4E97-8904-D8F305D7CF22}" destId="{E51A47F5-6531-4C23-BA7E-99A8416EDDF9}" srcOrd="11" destOrd="0" presId="urn:microsoft.com/office/officeart/2008/layout/VerticalCurvedList"/>
    <dgm:cxn modelId="{4457B039-DE3A-4FA6-864F-025EF37D80FD}" type="presParOf" srcId="{6292EFA8-4C75-4E97-8904-D8F305D7CF22}" destId="{10EC1F62-F52B-45FB-8939-7C6FC4673C66}" srcOrd="12" destOrd="0" presId="urn:microsoft.com/office/officeart/2008/layout/VerticalCurvedList"/>
    <dgm:cxn modelId="{F7382A54-A31F-4646-83FF-B78732BA6B7C}" type="presParOf" srcId="{10EC1F62-F52B-45FB-8939-7C6FC4673C66}" destId="{53355EA5-9309-4F94-951D-C76F9426A5F4}" srcOrd="0" destOrd="0" presId="urn:microsoft.com/office/officeart/2008/layout/VerticalCurvedList"/>
    <dgm:cxn modelId="{17F92941-C81F-4E3A-8E75-04D2EBC9A3A5}" type="presParOf" srcId="{6292EFA8-4C75-4E97-8904-D8F305D7CF22}" destId="{B6D60CCA-C208-468C-9D35-EE7F6C96327B}" srcOrd="13" destOrd="0" presId="urn:microsoft.com/office/officeart/2008/layout/VerticalCurvedList"/>
    <dgm:cxn modelId="{2CC77BEF-5441-4BF1-BB61-B4E7D17DF97A}" type="presParOf" srcId="{6292EFA8-4C75-4E97-8904-D8F305D7CF22}" destId="{8D36F3F4-40FE-4B0E-816A-F83819888CF5}" srcOrd="14" destOrd="0" presId="urn:microsoft.com/office/officeart/2008/layout/VerticalCurvedList"/>
    <dgm:cxn modelId="{455EB883-900C-4049-ABE3-725A7AA3A0CF}" type="presParOf" srcId="{8D36F3F4-40FE-4B0E-816A-F83819888CF5}" destId="{8CE1FD9D-3EEC-4E1E-A7CF-CFFB7CBE701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F4B64ED3-FCE8-4017-9556-27D4EC8B92F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GB"/>
        </a:p>
      </dgm:t>
    </dgm:pt>
    <dgm:pt modelId="{E9D2B44C-42BA-481F-B55E-270F119A134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85887EBD-A10C-447D-AE70-D9BBA707BC44}" type="par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DD6D6DAC-12E0-4896-99ED-7D2293A83694}" type="sibTrans" cxnId="{CB3FCF3D-45CF-4915-B9AD-915201633665}">
      <dgm:prSet/>
      <dgm:spPr/>
      <dgm:t>
        <a:bodyPr/>
        <a:lstStyle/>
        <a:p>
          <a:endParaRPr lang="en-GB" sz="1600">
            <a:latin typeface="Calibri" panose="020F0502020204030204" pitchFamily="34" charset="0"/>
            <a:cs typeface="Calibri" panose="020F0502020204030204" pitchFamily="34" charset="0"/>
          </a:endParaRPr>
        </a:p>
      </dgm:t>
    </dgm:pt>
    <dgm:pt modelId="{833B8425-2A32-436C-8CDA-99BCB79B5A70}">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CB7F046-3675-4D97-B391-EBDF7298BE5E}" type="par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135A0A92-2986-4568-8B0F-AFFC87E909ED}" type="sibTrans" cxnId="{E477126E-C588-483E-AF8F-E7D6DE83CE44}">
      <dgm:prSet/>
      <dgm:spPr/>
      <dgm:t>
        <a:bodyPr/>
        <a:lstStyle/>
        <a:p>
          <a:endParaRPr lang="en-GB" sz="1600">
            <a:latin typeface="Calibri" panose="020F0502020204030204" pitchFamily="34" charset="0"/>
            <a:cs typeface="Calibri" panose="020F0502020204030204" pitchFamily="34" charset="0"/>
          </a:endParaRPr>
        </a:p>
      </dgm:t>
    </dgm:pt>
    <dgm:pt modelId="{92052083-FCCA-4D65-8CCF-403DDB1ADA62}">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4177515C-20A6-41F0-8F9F-581FBAC93037}" type="par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1CF59C1B-7577-4B69-9A0B-5FF2BBE2BDC5}" type="sibTrans" cxnId="{D5880E92-980E-4B59-B7ED-65C05FB59B73}">
      <dgm:prSet/>
      <dgm:spPr/>
      <dgm:t>
        <a:bodyPr/>
        <a:lstStyle/>
        <a:p>
          <a:endParaRPr lang="en-GB" sz="1600">
            <a:latin typeface="Calibri" panose="020F0502020204030204" pitchFamily="34" charset="0"/>
            <a:cs typeface="Calibri" panose="020F0502020204030204" pitchFamily="34" charset="0"/>
          </a:endParaRPr>
        </a:p>
      </dgm:t>
    </dgm:pt>
    <dgm:pt modelId="{BC1FFFD6-2B19-4D7E-8191-2610F4FF1E1B}">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Security &amp; IAM</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E6C78AFE-8BD0-45AB-B55D-7418E473455F}" type="par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DC1A4F20-6E4C-4D45-9471-2D1D08EFD11F}" type="sibTrans" cxnId="{818E8E43-B1A8-4BA3-89BF-9A189A25E0AF}">
      <dgm:prSet/>
      <dgm:spPr/>
      <dgm:t>
        <a:bodyPr/>
        <a:lstStyle/>
        <a:p>
          <a:endParaRPr lang="en-GB" sz="1600">
            <a:latin typeface="Calibri" panose="020F0502020204030204" pitchFamily="34" charset="0"/>
            <a:cs typeface="Calibri" panose="020F0502020204030204" pitchFamily="34" charset="0"/>
          </a:endParaRPr>
        </a:p>
      </dgm:t>
    </dgm:pt>
    <dgm:pt modelId="{80A76B11-420D-4B63-9212-CB171EC753D9}">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gm:t>
    </dgm:pt>
    <dgm:pt modelId="{D5C7CA35-101F-4195-84D9-D021163AC84F}" type="parTrans" cxnId="{0428EDD3-AB6E-47CA-9371-DBA2BD3526CF}">
      <dgm:prSet/>
      <dgm:spPr/>
      <dgm:t>
        <a:bodyPr/>
        <a:lstStyle/>
        <a:p>
          <a:endParaRPr lang="en-GB"/>
        </a:p>
      </dgm:t>
    </dgm:pt>
    <dgm:pt modelId="{244698EC-D096-4094-8EFB-47FE7C4EE0EA}" type="sibTrans" cxnId="{0428EDD3-AB6E-47CA-9371-DBA2BD3526CF}">
      <dgm:prSet/>
      <dgm:spPr/>
      <dgm:t>
        <a:bodyPr/>
        <a:lstStyle/>
        <a:p>
          <a:endParaRPr lang="en-GB"/>
        </a:p>
      </dgm:t>
    </dgm:pt>
    <dgm:pt modelId="{234C6E09-03EE-4C1F-A76D-060F10876D44}">
      <dgm:prSet phldrT="[Text]" custT="1"/>
      <dgm:spPr>
        <a:solidFill>
          <a:srgbClr val="3F9C35"/>
        </a:solidFill>
        <a:ln w="12700" cap="flat" cmpd="sng" algn="ctr">
          <a:solidFill>
            <a:prstClr val="white">
              <a:hueOff val="0"/>
              <a:satOff val="0"/>
              <a:lumOff val="0"/>
              <a:alphaOff val="0"/>
            </a:prstClr>
          </a:solidFill>
          <a:prstDash val="solid"/>
          <a:miter lim="800000"/>
        </a:ln>
        <a:effectLst/>
      </dgm:spPr>
      <dgm:t>
        <a:bodyPr spcFirstLastPara="0" vert="horz" wrap="square" lIns="335608" tIns="40640" rIns="40640" bIns="40640" numCol="1" spcCol="1270" anchor="ctr" anchorCtr="0"/>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Auto Scaling Hands-on</a:t>
          </a:r>
          <a:endParaRPr lang="en-GB" sz="1600" kern="1200" dirty="0">
            <a:solidFill>
              <a:prstClr val="white"/>
            </a:solidFill>
            <a:latin typeface="Calibri" panose="020F0502020204030204" pitchFamily="34" charset="0"/>
            <a:ea typeface="+mn-ea"/>
            <a:cs typeface="Calibri" panose="020F0502020204030204" pitchFamily="34" charset="0"/>
          </a:endParaRPr>
        </a:p>
      </dgm:t>
    </dgm:pt>
    <dgm:pt modelId="{6E45224A-F1B7-4998-BC61-231B6660675E}" type="parTrans" cxnId="{B591E9DE-4867-4DDC-A41E-4F6D2CA736A6}">
      <dgm:prSet/>
      <dgm:spPr/>
      <dgm:t>
        <a:bodyPr/>
        <a:lstStyle/>
        <a:p>
          <a:endParaRPr lang="en-GB"/>
        </a:p>
      </dgm:t>
    </dgm:pt>
    <dgm:pt modelId="{304B33C1-8D27-4F6F-AD3B-16D00ACEE488}" type="sibTrans" cxnId="{B591E9DE-4867-4DDC-A41E-4F6D2CA736A6}">
      <dgm:prSet/>
      <dgm:spPr/>
      <dgm:t>
        <a:bodyPr/>
        <a:lstStyle/>
        <a:p>
          <a:endParaRPr lang="en-GB"/>
        </a:p>
      </dgm:t>
    </dgm:pt>
    <dgm:pt modelId="{465E8C06-8528-4427-9A61-95E5725377F7}">
      <dgm:prSet phldrT="[Text]" custT="1"/>
      <dgm:spPr/>
      <dgm:t>
        <a:bodyPr/>
        <a:lstStyle/>
        <a:p>
          <a:r>
            <a:rPr lang="en-US" sz="1600" dirty="0">
              <a:latin typeface="Calibri" panose="020F0502020204030204" pitchFamily="34" charset="0"/>
              <a:cs typeface="Calibri" panose="020F0502020204030204" pitchFamily="34" charset="0"/>
            </a:rPr>
            <a:t>Wrap-up</a:t>
          </a:r>
          <a:endParaRPr lang="en-GB" sz="1600" dirty="0">
            <a:latin typeface="Calibri" panose="020F0502020204030204" pitchFamily="34" charset="0"/>
            <a:cs typeface="Calibri" panose="020F0502020204030204" pitchFamily="34" charset="0"/>
          </a:endParaRPr>
        </a:p>
      </dgm:t>
    </dgm:pt>
    <dgm:pt modelId="{6C1E4489-F1DB-44FA-A7FB-2D2AACB950D8}" type="parTrans" cxnId="{CCAC71F1-08F7-4BE0-87A7-433D0F239EC8}">
      <dgm:prSet/>
      <dgm:spPr/>
      <dgm:t>
        <a:bodyPr/>
        <a:lstStyle/>
        <a:p>
          <a:endParaRPr lang="en-GB"/>
        </a:p>
      </dgm:t>
    </dgm:pt>
    <dgm:pt modelId="{FD7FB98B-5511-4C26-89F8-DDF09C83F859}" type="sibTrans" cxnId="{CCAC71F1-08F7-4BE0-87A7-433D0F239EC8}">
      <dgm:prSet/>
      <dgm:spPr/>
      <dgm:t>
        <a:bodyPr/>
        <a:lstStyle/>
        <a:p>
          <a:endParaRPr lang="en-GB"/>
        </a:p>
      </dgm:t>
    </dgm:pt>
    <dgm:pt modelId="{EC8B59DD-5506-4CEF-BAEB-3F121B5E62EB}" type="pres">
      <dgm:prSet presAssocID="{F4B64ED3-FCE8-4017-9556-27D4EC8B92FE}" presName="Name0" presStyleCnt="0">
        <dgm:presLayoutVars>
          <dgm:chMax val="7"/>
          <dgm:chPref val="7"/>
          <dgm:dir/>
        </dgm:presLayoutVars>
      </dgm:prSet>
      <dgm:spPr/>
    </dgm:pt>
    <dgm:pt modelId="{6292EFA8-4C75-4E97-8904-D8F305D7CF22}" type="pres">
      <dgm:prSet presAssocID="{F4B64ED3-FCE8-4017-9556-27D4EC8B92FE}" presName="Name1" presStyleCnt="0"/>
      <dgm:spPr/>
    </dgm:pt>
    <dgm:pt modelId="{5B5AACED-4C44-4EED-9C81-E7BBF45EC28E}" type="pres">
      <dgm:prSet presAssocID="{F4B64ED3-FCE8-4017-9556-27D4EC8B92FE}" presName="cycle" presStyleCnt="0"/>
      <dgm:spPr/>
    </dgm:pt>
    <dgm:pt modelId="{6BB9C2B7-A452-476F-8A19-D60FCFF2BBCA}" type="pres">
      <dgm:prSet presAssocID="{F4B64ED3-FCE8-4017-9556-27D4EC8B92FE}" presName="srcNode" presStyleLbl="node1" presStyleIdx="0" presStyleCnt="7"/>
      <dgm:spPr/>
    </dgm:pt>
    <dgm:pt modelId="{E414893E-411A-49D2-8A07-2BF2AE374FAA}" type="pres">
      <dgm:prSet presAssocID="{F4B64ED3-FCE8-4017-9556-27D4EC8B92FE}" presName="conn" presStyleLbl="parChTrans1D2" presStyleIdx="0" presStyleCnt="1"/>
      <dgm:spPr/>
    </dgm:pt>
    <dgm:pt modelId="{32959BE0-7C43-4FD8-9475-BBC71980CCEC}" type="pres">
      <dgm:prSet presAssocID="{F4B64ED3-FCE8-4017-9556-27D4EC8B92FE}" presName="extraNode" presStyleLbl="node1" presStyleIdx="0" presStyleCnt="7"/>
      <dgm:spPr/>
    </dgm:pt>
    <dgm:pt modelId="{B3D49D7E-846E-4597-9C5E-18B263227402}" type="pres">
      <dgm:prSet presAssocID="{F4B64ED3-FCE8-4017-9556-27D4EC8B92FE}" presName="dstNode" presStyleLbl="node1" presStyleIdx="0" presStyleCnt="7"/>
      <dgm:spPr/>
    </dgm:pt>
    <dgm:pt modelId="{CB7C7462-81B4-4838-9BAB-675262662167}" type="pres">
      <dgm:prSet presAssocID="{E9D2B44C-42BA-481F-B55E-270F119A1342}" presName="text_1" presStyleLbl="node1" presStyleIdx="0" presStyleCnt="7">
        <dgm:presLayoutVars>
          <dgm:bulletEnabled val="1"/>
        </dgm:presLayoutVars>
      </dgm:prSet>
      <dgm:spPr>
        <a:xfrm>
          <a:off x="326368" y="211499"/>
          <a:ext cx="4951871" cy="422813"/>
        </a:xfrm>
        <a:prstGeom prst="rect">
          <a:avLst/>
        </a:prstGeom>
      </dgm:spPr>
    </dgm:pt>
    <dgm:pt modelId="{DD9A1A41-D7BD-43D6-A40B-F054AA95438A}" type="pres">
      <dgm:prSet presAssocID="{E9D2B44C-42BA-481F-B55E-270F119A1342}" presName="accent_1" presStyleCnt="0"/>
      <dgm:spPr/>
    </dgm:pt>
    <dgm:pt modelId="{9F6DC638-21FF-4C40-BC69-A3168EBF6E6D}" type="pres">
      <dgm:prSet presAssocID="{E9D2B44C-42BA-481F-B55E-270F119A1342}" presName="accentRepeatNode" presStyleLbl="solidFgAcc1" presStyleIdx="0" presStyleCnt="7"/>
      <dgm:spPr/>
    </dgm:pt>
    <dgm:pt modelId="{200F9977-46AA-4E2C-9830-8869A60C543C}" type="pres">
      <dgm:prSet presAssocID="{833B8425-2A32-436C-8CDA-99BCB79B5A70}" presName="text_2" presStyleLbl="node1" presStyleIdx="1" presStyleCnt="7">
        <dgm:presLayoutVars>
          <dgm:bulletEnabled val="1"/>
        </dgm:presLayoutVars>
      </dgm:prSet>
      <dgm:spPr>
        <a:xfrm>
          <a:off x="709263" y="846091"/>
          <a:ext cx="4568976" cy="422813"/>
        </a:xfrm>
        <a:prstGeom prst="rect">
          <a:avLst/>
        </a:prstGeom>
      </dgm:spPr>
    </dgm:pt>
    <dgm:pt modelId="{B9E200A4-EA74-43BE-8499-75F65C7FB04C}" type="pres">
      <dgm:prSet presAssocID="{833B8425-2A32-436C-8CDA-99BCB79B5A70}" presName="accent_2" presStyleCnt="0"/>
      <dgm:spPr/>
    </dgm:pt>
    <dgm:pt modelId="{389B32DD-2D5A-48D3-A38D-55AE984982F2}" type="pres">
      <dgm:prSet presAssocID="{833B8425-2A32-436C-8CDA-99BCB79B5A70}" presName="accentRepeatNode" presStyleLbl="solidFgAcc1" presStyleIdx="1" presStyleCnt="7"/>
      <dgm:spPr/>
    </dgm:pt>
    <dgm:pt modelId="{399E2005-F8EF-4A5A-AC29-2002F8935911}" type="pres">
      <dgm:prSet presAssocID="{80A76B11-420D-4B63-9212-CB171EC753D9}" presName="text_3" presStyleLbl="node1" presStyleIdx="2" presStyleCnt="7">
        <dgm:presLayoutVars>
          <dgm:bulletEnabled val="1"/>
        </dgm:presLayoutVars>
      </dgm:prSet>
      <dgm:spPr>
        <a:xfrm>
          <a:off x="919088" y="1480218"/>
          <a:ext cx="4359151" cy="422813"/>
        </a:xfrm>
        <a:prstGeom prst="rect">
          <a:avLst/>
        </a:prstGeom>
      </dgm:spPr>
    </dgm:pt>
    <dgm:pt modelId="{7615C237-7414-4CE2-88BC-087C17D8F49C}" type="pres">
      <dgm:prSet presAssocID="{80A76B11-420D-4B63-9212-CB171EC753D9}" presName="accent_3" presStyleCnt="0"/>
      <dgm:spPr/>
    </dgm:pt>
    <dgm:pt modelId="{E6F302B6-CE8F-4A04-9D9E-FE0EC930A322}" type="pres">
      <dgm:prSet presAssocID="{80A76B11-420D-4B63-9212-CB171EC753D9}" presName="accentRepeatNode" presStyleLbl="solidFgAcc1" presStyleIdx="2" presStyleCnt="7"/>
      <dgm:spPr/>
    </dgm:pt>
    <dgm:pt modelId="{CC909C44-B8C2-4827-9285-B6FAE6471E2C}" type="pres">
      <dgm:prSet presAssocID="{92052083-FCCA-4D65-8CCF-403DDB1ADA62}" presName="text_4" presStyleLbl="node1" presStyleIdx="3" presStyleCnt="7">
        <dgm:presLayoutVars>
          <dgm:bulletEnabled val="1"/>
        </dgm:presLayoutVars>
      </dgm:prSet>
      <dgm:spPr>
        <a:xfrm>
          <a:off x="986083" y="2114810"/>
          <a:ext cx="4292156" cy="422813"/>
        </a:xfrm>
        <a:prstGeom prst="rect">
          <a:avLst/>
        </a:prstGeom>
      </dgm:spPr>
    </dgm:pt>
    <dgm:pt modelId="{5A8DD897-7093-4F0A-BCE3-FF713CBC430F}" type="pres">
      <dgm:prSet presAssocID="{92052083-FCCA-4D65-8CCF-403DDB1ADA62}" presName="accent_4" presStyleCnt="0"/>
      <dgm:spPr/>
    </dgm:pt>
    <dgm:pt modelId="{942F9894-DC6C-4B16-9FAF-0D4DECB423C0}" type="pres">
      <dgm:prSet presAssocID="{92052083-FCCA-4D65-8CCF-403DDB1ADA62}" presName="accentRepeatNode" presStyleLbl="solidFgAcc1" presStyleIdx="3" presStyleCnt="7"/>
      <dgm:spPr/>
    </dgm:pt>
    <dgm:pt modelId="{D497EA27-2170-4E34-9FFE-09D8ADCB11CE}" type="pres">
      <dgm:prSet presAssocID="{234C6E09-03EE-4C1F-A76D-060F10876D44}" presName="text_5" presStyleLbl="node1" presStyleIdx="4" presStyleCnt="7">
        <dgm:presLayoutVars>
          <dgm:bulletEnabled val="1"/>
        </dgm:presLayoutVars>
      </dgm:prSet>
      <dgm:spPr>
        <a:xfrm>
          <a:off x="919088" y="2749402"/>
          <a:ext cx="4359151" cy="422813"/>
        </a:xfrm>
        <a:prstGeom prst="rect">
          <a:avLst/>
        </a:prstGeom>
      </dgm:spPr>
    </dgm:pt>
    <dgm:pt modelId="{53A1DC43-6418-47B0-B688-8D7F524223AC}" type="pres">
      <dgm:prSet presAssocID="{234C6E09-03EE-4C1F-A76D-060F10876D44}" presName="accent_5" presStyleCnt="0"/>
      <dgm:spPr/>
    </dgm:pt>
    <dgm:pt modelId="{00C23005-E420-4A0A-A094-E84F91E9EE51}" type="pres">
      <dgm:prSet presAssocID="{234C6E09-03EE-4C1F-A76D-060F10876D44}" presName="accentRepeatNode" presStyleLbl="solidFgAcc1" presStyleIdx="4" presStyleCnt="7"/>
      <dgm:spPr/>
    </dgm:pt>
    <dgm:pt modelId="{C09BA9DB-7857-4542-9D78-B03AF8C22F26}" type="pres">
      <dgm:prSet presAssocID="{BC1FFFD6-2B19-4D7E-8191-2610F4FF1E1B}" presName="text_6" presStyleLbl="node1" presStyleIdx="5" presStyleCnt="7">
        <dgm:presLayoutVars>
          <dgm:bulletEnabled val="1"/>
        </dgm:presLayoutVars>
      </dgm:prSet>
      <dgm:spPr>
        <a:xfrm>
          <a:off x="709263" y="3383529"/>
          <a:ext cx="4568976" cy="422813"/>
        </a:xfrm>
        <a:prstGeom prst="rect">
          <a:avLst/>
        </a:prstGeom>
      </dgm:spPr>
    </dgm:pt>
    <dgm:pt modelId="{5F60FC03-99AB-41EC-BE2D-2FD0196D91A2}" type="pres">
      <dgm:prSet presAssocID="{BC1FFFD6-2B19-4D7E-8191-2610F4FF1E1B}" presName="accent_6" presStyleCnt="0"/>
      <dgm:spPr/>
    </dgm:pt>
    <dgm:pt modelId="{766575DE-7DAD-4DC9-8D69-816F372071D0}" type="pres">
      <dgm:prSet presAssocID="{BC1FFFD6-2B19-4D7E-8191-2610F4FF1E1B}" presName="accentRepeatNode" presStyleLbl="solidFgAcc1" presStyleIdx="5" presStyleCnt="7"/>
      <dgm:spPr/>
    </dgm:pt>
    <dgm:pt modelId="{6B4CAF55-F222-48DF-B074-32FE63563D12}" type="pres">
      <dgm:prSet presAssocID="{465E8C06-8528-4427-9A61-95E5725377F7}" presName="text_7" presStyleLbl="node1" presStyleIdx="6" presStyleCnt="7">
        <dgm:presLayoutVars>
          <dgm:bulletEnabled val="1"/>
        </dgm:presLayoutVars>
      </dgm:prSet>
      <dgm:spPr/>
    </dgm:pt>
    <dgm:pt modelId="{9422D2C5-59F3-493C-9E7B-526E874E4C00}" type="pres">
      <dgm:prSet presAssocID="{465E8C06-8528-4427-9A61-95E5725377F7}" presName="accent_7" presStyleCnt="0"/>
      <dgm:spPr/>
    </dgm:pt>
    <dgm:pt modelId="{D675AB5E-F0EC-4FCB-A2CD-4A01280A41A1}" type="pres">
      <dgm:prSet presAssocID="{465E8C06-8528-4427-9A61-95E5725377F7}" presName="accentRepeatNode" presStyleLbl="solidFgAcc1" presStyleIdx="6" presStyleCnt="7"/>
      <dgm:spPr/>
    </dgm:pt>
  </dgm:ptLst>
  <dgm:cxnLst>
    <dgm:cxn modelId="{40571D10-6E11-4E72-8AD9-67E0C3CE62A2}" type="presOf" srcId="{80A76B11-420D-4B63-9212-CB171EC753D9}" destId="{399E2005-F8EF-4A5A-AC29-2002F8935911}" srcOrd="0" destOrd="0" presId="urn:microsoft.com/office/officeart/2008/layout/VerticalCurvedList"/>
    <dgm:cxn modelId="{E64C4917-82BF-457A-9021-84F4E94BBBC5}" type="presOf" srcId="{E9D2B44C-42BA-481F-B55E-270F119A1342}" destId="{CB7C7462-81B4-4838-9BAB-675262662167}" srcOrd="0" destOrd="0" presId="urn:microsoft.com/office/officeart/2008/layout/VerticalCurvedList"/>
    <dgm:cxn modelId="{31F8521C-186D-41C5-AD73-BEFD5F55B5A4}" type="presOf" srcId="{833B8425-2A32-436C-8CDA-99BCB79B5A70}" destId="{200F9977-46AA-4E2C-9830-8869A60C543C}" srcOrd="0" destOrd="0" presId="urn:microsoft.com/office/officeart/2008/layout/VerticalCurvedList"/>
    <dgm:cxn modelId="{A452CB1E-8629-4735-823C-A53E0F8A7FF0}" type="presOf" srcId="{BC1FFFD6-2B19-4D7E-8191-2610F4FF1E1B}" destId="{C09BA9DB-7857-4542-9D78-B03AF8C22F26}" srcOrd="0" destOrd="0" presId="urn:microsoft.com/office/officeart/2008/layout/VerticalCurvedList"/>
    <dgm:cxn modelId="{CB3FCF3D-45CF-4915-B9AD-915201633665}" srcId="{F4B64ED3-FCE8-4017-9556-27D4EC8B92FE}" destId="{E9D2B44C-42BA-481F-B55E-270F119A1342}" srcOrd="0" destOrd="0" parTransId="{85887EBD-A10C-447D-AE70-D9BBA707BC44}" sibTransId="{DD6D6DAC-12E0-4896-99ED-7D2293A83694}"/>
    <dgm:cxn modelId="{818E8E43-B1A8-4BA3-89BF-9A189A25E0AF}" srcId="{F4B64ED3-FCE8-4017-9556-27D4EC8B92FE}" destId="{BC1FFFD6-2B19-4D7E-8191-2610F4FF1E1B}" srcOrd="5" destOrd="0" parTransId="{E6C78AFE-8BD0-45AB-B55D-7418E473455F}" sibTransId="{DC1A4F20-6E4C-4D45-9471-2D1D08EFD11F}"/>
    <dgm:cxn modelId="{13988467-2CAE-4858-B843-3A301F85F466}" type="presOf" srcId="{DD6D6DAC-12E0-4896-99ED-7D2293A83694}" destId="{E414893E-411A-49D2-8A07-2BF2AE374FAA}" srcOrd="0" destOrd="0" presId="urn:microsoft.com/office/officeart/2008/layout/VerticalCurvedList"/>
    <dgm:cxn modelId="{E477126E-C588-483E-AF8F-E7D6DE83CE44}" srcId="{F4B64ED3-FCE8-4017-9556-27D4EC8B92FE}" destId="{833B8425-2A32-436C-8CDA-99BCB79B5A70}" srcOrd="1" destOrd="0" parTransId="{ECB7F046-3675-4D97-B391-EBDF7298BE5E}" sibTransId="{135A0A92-2986-4568-8B0F-AFFC87E909ED}"/>
    <dgm:cxn modelId="{6C6D117A-B0CA-40F0-85E1-0E28B4AD2027}" type="presOf" srcId="{92052083-FCCA-4D65-8CCF-403DDB1ADA62}" destId="{CC909C44-B8C2-4827-9285-B6FAE6471E2C}" srcOrd="0" destOrd="0" presId="urn:microsoft.com/office/officeart/2008/layout/VerticalCurvedList"/>
    <dgm:cxn modelId="{D5880E92-980E-4B59-B7ED-65C05FB59B73}" srcId="{F4B64ED3-FCE8-4017-9556-27D4EC8B92FE}" destId="{92052083-FCCA-4D65-8CCF-403DDB1ADA62}" srcOrd="3" destOrd="0" parTransId="{4177515C-20A6-41F0-8F9F-581FBAC93037}" sibTransId="{1CF59C1B-7577-4B69-9A0B-5FF2BBE2BDC5}"/>
    <dgm:cxn modelId="{56F5EC9D-0249-48DB-AC68-CD792C30E46A}" type="presOf" srcId="{234C6E09-03EE-4C1F-A76D-060F10876D44}" destId="{D497EA27-2170-4E34-9FFE-09D8ADCB11CE}" srcOrd="0" destOrd="0" presId="urn:microsoft.com/office/officeart/2008/layout/VerticalCurvedList"/>
    <dgm:cxn modelId="{FF41CBC2-A1A3-44C9-94FC-56C998F8AC76}" type="presOf" srcId="{465E8C06-8528-4427-9A61-95E5725377F7}" destId="{6B4CAF55-F222-48DF-B074-32FE63563D12}" srcOrd="0" destOrd="0" presId="urn:microsoft.com/office/officeart/2008/layout/VerticalCurvedList"/>
    <dgm:cxn modelId="{3BFB9ECC-2821-4767-A61B-B3D355E730DB}" type="presOf" srcId="{F4B64ED3-FCE8-4017-9556-27D4EC8B92FE}" destId="{EC8B59DD-5506-4CEF-BAEB-3F121B5E62EB}" srcOrd="0" destOrd="0" presId="urn:microsoft.com/office/officeart/2008/layout/VerticalCurvedList"/>
    <dgm:cxn modelId="{0428EDD3-AB6E-47CA-9371-DBA2BD3526CF}" srcId="{F4B64ED3-FCE8-4017-9556-27D4EC8B92FE}" destId="{80A76B11-420D-4B63-9212-CB171EC753D9}" srcOrd="2" destOrd="0" parTransId="{D5C7CA35-101F-4195-84D9-D021163AC84F}" sibTransId="{244698EC-D096-4094-8EFB-47FE7C4EE0EA}"/>
    <dgm:cxn modelId="{B591E9DE-4867-4DDC-A41E-4F6D2CA736A6}" srcId="{F4B64ED3-FCE8-4017-9556-27D4EC8B92FE}" destId="{234C6E09-03EE-4C1F-A76D-060F10876D44}" srcOrd="4" destOrd="0" parTransId="{6E45224A-F1B7-4998-BC61-231B6660675E}" sibTransId="{304B33C1-8D27-4F6F-AD3B-16D00ACEE488}"/>
    <dgm:cxn modelId="{CCAC71F1-08F7-4BE0-87A7-433D0F239EC8}" srcId="{F4B64ED3-FCE8-4017-9556-27D4EC8B92FE}" destId="{465E8C06-8528-4427-9A61-95E5725377F7}" srcOrd="6" destOrd="0" parTransId="{6C1E4489-F1DB-44FA-A7FB-2D2AACB950D8}" sibTransId="{FD7FB98B-5511-4C26-89F8-DDF09C83F859}"/>
    <dgm:cxn modelId="{72CB9203-791D-460A-9051-F6348582706E}" type="presParOf" srcId="{EC8B59DD-5506-4CEF-BAEB-3F121B5E62EB}" destId="{6292EFA8-4C75-4E97-8904-D8F305D7CF22}" srcOrd="0" destOrd="0" presId="urn:microsoft.com/office/officeart/2008/layout/VerticalCurvedList"/>
    <dgm:cxn modelId="{D7F8B399-33CB-4518-A8D1-4A95BFA3A369}" type="presParOf" srcId="{6292EFA8-4C75-4E97-8904-D8F305D7CF22}" destId="{5B5AACED-4C44-4EED-9C81-E7BBF45EC28E}" srcOrd="0" destOrd="0" presId="urn:microsoft.com/office/officeart/2008/layout/VerticalCurvedList"/>
    <dgm:cxn modelId="{777D7900-9289-4F78-A816-EAD0BDBEAED1}" type="presParOf" srcId="{5B5AACED-4C44-4EED-9C81-E7BBF45EC28E}" destId="{6BB9C2B7-A452-476F-8A19-D60FCFF2BBCA}" srcOrd="0" destOrd="0" presId="urn:microsoft.com/office/officeart/2008/layout/VerticalCurvedList"/>
    <dgm:cxn modelId="{B644C11F-E1A2-4AE1-B504-AC4D6A3CBAB9}" type="presParOf" srcId="{5B5AACED-4C44-4EED-9C81-E7BBF45EC28E}" destId="{E414893E-411A-49D2-8A07-2BF2AE374FAA}" srcOrd="1" destOrd="0" presId="urn:microsoft.com/office/officeart/2008/layout/VerticalCurvedList"/>
    <dgm:cxn modelId="{BBC74971-8A5B-4D1D-80A7-7258D78DEF9F}" type="presParOf" srcId="{5B5AACED-4C44-4EED-9C81-E7BBF45EC28E}" destId="{32959BE0-7C43-4FD8-9475-BBC71980CCEC}" srcOrd="2" destOrd="0" presId="urn:microsoft.com/office/officeart/2008/layout/VerticalCurvedList"/>
    <dgm:cxn modelId="{CEA5775C-0DA0-4D91-9C35-0FA45244B906}" type="presParOf" srcId="{5B5AACED-4C44-4EED-9C81-E7BBF45EC28E}" destId="{B3D49D7E-846E-4597-9C5E-18B263227402}" srcOrd="3" destOrd="0" presId="urn:microsoft.com/office/officeart/2008/layout/VerticalCurvedList"/>
    <dgm:cxn modelId="{DC17B404-8F3D-44F1-A0E9-B9144F128E1D}" type="presParOf" srcId="{6292EFA8-4C75-4E97-8904-D8F305D7CF22}" destId="{CB7C7462-81B4-4838-9BAB-675262662167}" srcOrd="1" destOrd="0" presId="urn:microsoft.com/office/officeart/2008/layout/VerticalCurvedList"/>
    <dgm:cxn modelId="{5B7ADF2C-D5F8-42B9-B738-801439E4991F}" type="presParOf" srcId="{6292EFA8-4C75-4E97-8904-D8F305D7CF22}" destId="{DD9A1A41-D7BD-43D6-A40B-F054AA95438A}" srcOrd="2" destOrd="0" presId="urn:microsoft.com/office/officeart/2008/layout/VerticalCurvedList"/>
    <dgm:cxn modelId="{9335A1D0-5053-4E30-95B6-2BE00D760F11}" type="presParOf" srcId="{DD9A1A41-D7BD-43D6-A40B-F054AA95438A}" destId="{9F6DC638-21FF-4C40-BC69-A3168EBF6E6D}" srcOrd="0" destOrd="0" presId="urn:microsoft.com/office/officeart/2008/layout/VerticalCurvedList"/>
    <dgm:cxn modelId="{DA447B2A-D80C-4E72-A987-DB76B2A2056C}" type="presParOf" srcId="{6292EFA8-4C75-4E97-8904-D8F305D7CF22}" destId="{200F9977-46AA-4E2C-9830-8869A60C543C}" srcOrd="3" destOrd="0" presId="urn:microsoft.com/office/officeart/2008/layout/VerticalCurvedList"/>
    <dgm:cxn modelId="{C17C3F69-5817-4664-91E4-F81844BFEF59}" type="presParOf" srcId="{6292EFA8-4C75-4E97-8904-D8F305D7CF22}" destId="{B9E200A4-EA74-43BE-8499-75F65C7FB04C}" srcOrd="4" destOrd="0" presId="urn:microsoft.com/office/officeart/2008/layout/VerticalCurvedList"/>
    <dgm:cxn modelId="{E6272FB6-4977-41CB-99EC-46BB305DE323}" type="presParOf" srcId="{B9E200A4-EA74-43BE-8499-75F65C7FB04C}" destId="{389B32DD-2D5A-48D3-A38D-55AE984982F2}" srcOrd="0" destOrd="0" presId="urn:microsoft.com/office/officeart/2008/layout/VerticalCurvedList"/>
    <dgm:cxn modelId="{0F3A1811-CE25-4A2C-B4C2-B186995F52B8}" type="presParOf" srcId="{6292EFA8-4C75-4E97-8904-D8F305D7CF22}" destId="{399E2005-F8EF-4A5A-AC29-2002F8935911}" srcOrd="5" destOrd="0" presId="urn:microsoft.com/office/officeart/2008/layout/VerticalCurvedList"/>
    <dgm:cxn modelId="{F73F5CD6-AAD6-4773-9F97-0063DE91725C}" type="presParOf" srcId="{6292EFA8-4C75-4E97-8904-D8F305D7CF22}" destId="{7615C237-7414-4CE2-88BC-087C17D8F49C}" srcOrd="6" destOrd="0" presId="urn:microsoft.com/office/officeart/2008/layout/VerticalCurvedList"/>
    <dgm:cxn modelId="{C094D712-F4C2-4C5E-AD16-CA3354037837}" type="presParOf" srcId="{7615C237-7414-4CE2-88BC-087C17D8F49C}" destId="{E6F302B6-CE8F-4A04-9D9E-FE0EC930A322}" srcOrd="0" destOrd="0" presId="urn:microsoft.com/office/officeart/2008/layout/VerticalCurvedList"/>
    <dgm:cxn modelId="{DEDBFF87-6E12-490D-9D34-B832121B1F9A}" type="presParOf" srcId="{6292EFA8-4C75-4E97-8904-D8F305D7CF22}" destId="{CC909C44-B8C2-4827-9285-B6FAE6471E2C}" srcOrd="7" destOrd="0" presId="urn:microsoft.com/office/officeart/2008/layout/VerticalCurvedList"/>
    <dgm:cxn modelId="{195BD5B8-76CC-4408-8D49-942D3E8F2C30}" type="presParOf" srcId="{6292EFA8-4C75-4E97-8904-D8F305D7CF22}" destId="{5A8DD897-7093-4F0A-BCE3-FF713CBC430F}" srcOrd="8" destOrd="0" presId="urn:microsoft.com/office/officeart/2008/layout/VerticalCurvedList"/>
    <dgm:cxn modelId="{00D36107-41D9-42F2-87AA-DFFC8D0A6CE7}" type="presParOf" srcId="{5A8DD897-7093-4F0A-BCE3-FF713CBC430F}" destId="{942F9894-DC6C-4B16-9FAF-0D4DECB423C0}" srcOrd="0" destOrd="0" presId="urn:microsoft.com/office/officeart/2008/layout/VerticalCurvedList"/>
    <dgm:cxn modelId="{2A75F555-5262-4202-B39B-FAA34834855B}" type="presParOf" srcId="{6292EFA8-4C75-4E97-8904-D8F305D7CF22}" destId="{D497EA27-2170-4E34-9FFE-09D8ADCB11CE}" srcOrd="9" destOrd="0" presId="urn:microsoft.com/office/officeart/2008/layout/VerticalCurvedList"/>
    <dgm:cxn modelId="{BCA19529-AAC3-4DED-A603-E4D5AD5A68AF}" type="presParOf" srcId="{6292EFA8-4C75-4E97-8904-D8F305D7CF22}" destId="{53A1DC43-6418-47B0-B688-8D7F524223AC}" srcOrd="10" destOrd="0" presId="urn:microsoft.com/office/officeart/2008/layout/VerticalCurvedList"/>
    <dgm:cxn modelId="{8200B991-98A7-4059-ADF2-32616844B3DF}" type="presParOf" srcId="{53A1DC43-6418-47B0-B688-8D7F524223AC}" destId="{00C23005-E420-4A0A-A094-E84F91E9EE51}" srcOrd="0" destOrd="0" presId="urn:microsoft.com/office/officeart/2008/layout/VerticalCurvedList"/>
    <dgm:cxn modelId="{1B07E736-5B12-4946-B086-6B12F0C05B08}" type="presParOf" srcId="{6292EFA8-4C75-4E97-8904-D8F305D7CF22}" destId="{C09BA9DB-7857-4542-9D78-B03AF8C22F26}" srcOrd="11" destOrd="0" presId="urn:microsoft.com/office/officeart/2008/layout/VerticalCurvedList"/>
    <dgm:cxn modelId="{B272189C-65EE-4BD4-898E-925B8CCDDC87}" type="presParOf" srcId="{6292EFA8-4C75-4E97-8904-D8F305D7CF22}" destId="{5F60FC03-99AB-41EC-BE2D-2FD0196D91A2}" srcOrd="12" destOrd="0" presId="urn:microsoft.com/office/officeart/2008/layout/VerticalCurvedList"/>
    <dgm:cxn modelId="{FAEA99EE-4FF7-4B74-827B-E86FCB2ADBA1}" type="presParOf" srcId="{5F60FC03-99AB-41EC-BE2D-2FD0196D91A2}" destId="{766575DE-7DAD-4DC9-8D69-816F372071D0}" srcOrd="0" destOrd="0" presId="urn:microsoft.com/office/officeart/2008/layout/VerticalCurvedList"/>
    <dgm:cxn modelId="{55CC34AA-9C89-4A3E-91E9-76FE13A26007}" type="presParOf" srcId="{6292EFA8-4C75-4E97-8904-D8F305D7CF22}" destId="{6B4CAF55-F222-48DF-B074-32FE63563D12}" srcOrd="13" destOrd="0" presId="urn:microsoft.com/office/officeart/2008/layout/VerticalCurvedList"/>
    <dgm:cxn modelId="{44EFAA63-D249-454E-9A8A-AAD06B13EA98}" type="presParOf" srcId="{6292EFA8-4C75-4E97-8904-D8F305D7CF22}" destId="{9422D2C5-59F3-493C-9E7B-526E874E4C00}" srcOrd="14" destOrd="0" presId="urn:microsoft.com/office/officeart/2008/layout/VerticalCurvedList"/>
    <dgm:cxn modelId="{4EE55276-B4FF-404B-8858-5FB8461677BD}" type="presParOf" srcId="{9422D2C5-59F3-493C-9E7B-526E874E4C00}" destId="{D675AB5E-F0EC-4FCB-A2CD-4A01280A41A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Overview of Cloud and AWS</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Cloud</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VPC</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EC2</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EC2 Hand-on</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latin typeface="Calibri" panose="020F0502020204030204" pitchFamily="34" charset="0"/>
              <a:cs typeface="Calibri" panose="020F0502020204030204" pitchFamily="34" charset="0"/>
            </a:rPr>
            <a:t>Overview of Cloud and AWS</a:t>
          </a:r>
          <a:endParaRPr lang="en-GB" sz="1600" b="1"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Cloud</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VPC</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EC2</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EC2 Hand-on</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Cloud</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VPC</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EC2</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EC2 Hand-on</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60079"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74244" y="244997"/>
          <a:ext cx="4901625" cy="489808"/>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8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74244" y="244997"/>
        <a:ext cx="4901625" cy="489808"/>
      </dsp:txXfrm>
    </dsp:sp>
    <dsp:sp modelId="{9F6DC638-21FF-4C40-BC69-A3168EBF6E6D}">
      <dsp:nvSpPr>
        <dsp:cNvPr id="0" name=""/>
        <dsp:cNvSpPr/>
      </dsp:nvSpPr>
      <dsp:spPr>
        <a:xfrm>
          <a:off x="68114" y="183771"/>
          <a:ext cx="612260" cy="61226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77145" y="979616"/>
          <a:ext cx="4498724" cy="489808"/>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77145" y="979616"/>
        <a:ext cx="4498724" cy="489808"/>
      </dsp:txXfrm>
    </dsp:sp>
    <dsp:sp modelId="{389B32DD-2D5A-48D3-A38D-55AE984982F2}">
      <dsp:nvSpPr>
        <dsp:cNvPr id="0" name=""/>
        <dsp:cNvSpPr/>
      </dsp:nvSpPr>
      <dsp:spPr>
        <a:xfrm>
          <a:off x="471014" y="918390"/>
          <a:ext cx="612260" cy="61226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F2BC6D-23D2-4A9C-9516-067C14A57305}">
      <dsp:nvSpPr>
        <dsp:cNvPr id="0" name=""/>
        <dsp:cNvSpPr/>
      </dsp:nvSpPr>
      <dsp:spPr>
        <a:xfrm>
          <a:off x="961381" y="1714235"/>
          <a:ext cx="4314488" cy="4898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8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VPC</a:t>
          </a:r>
          <a:endParaRPr lang="en-GB" sz="1600" kern="1200" dirty="0">
            <a:latin typeface="Calibri" panose="020F0502020204030204" pitchFamily="34" charset="0"/>
            <a:cs typeface="Calibri" panose="020F0502020204030204" pitchFamily="34" charset="0"/>
          </a:endParaRPr>
        </a:p>
      </dsp:txBody>
      <dsp:txXfrm>
        <a:off x="961381" y="1714235"/>
        <a:ext cx="4314488" cy="489808"/>
      </dsp:txXfrm>
    </dsp:sp>
    <dsp:sp modelId="{766575DE-7DAD-4DC9-8D69-816F372071D0}">
      <dsp:nvSpPr>
        <dsp:cNvPr id="0" name=""/>
        <dsp:cNvSpPr/>
      </dsp:nvSpPr>
      <dsp:spPr>
        <a:xfrm>
          <a:off x="655251" y="1653009"/>
          <a:ext cx="612260" cy="61226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19BB55-B270-458C-81CF-D739299599FA}">
      <dsp:nvSpPr>
        <dsp:cNvPr id="0" name=""/>
        <dsp:cNvSpPr/>
      </dsp:nvSpPr>
      <dsp:spPr>
        <a:xfrm>
          <a:off x="961381" y="2448389"/>
          <a:ext cx="4314488" cy="4898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8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EC2</a:t>
          </a:r>
          <a:endParaRPr lang="en-GB" sz="1600" kern="1200" dirty="0">
            <a:latin typeface="Calibri" panose="020F0502020204030204" pitchFamily="34" charset="0"/>
            <a:cs typeface="Calibri" panose="020F0502020204030204" pitchFamily="34" charset="0"/>
          </a:endParaRPr>
        </a:p>
      </dsp:txBody>
      <dsp:txXfrm>
        <a:off x="961381" y="2448389"/>
        <a:ext cx="4314488" cy="489808"/>
      </dsp:txXfrm>
    </dsp:sp>
    <dsp:sp modelId="{7A8D6657-8A4F-45A7-87EE-8B42D7359E29}">
      <dsp:nvSpPr>
        <dsp:cNvPr id="0" name=""/>
        <dsp:cNvSpPr/>
      </dsp:nvSpPr>
      <dsp:spPr>
        <a:xfrm>
          <a:off x="655251" y="2387163"/>
          <a:ext cx="612260" cy="61226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750007-DE37-4162-BC1B-F3BE0F9E0B81}">
      <dsp:nvSpPr>
        <dsp:cNvPr id="0" name=""/>
        <dsp:cNvSpPr/>
      </dsp:nvSpPr>
      <dsp:spPr>
        <a:xfrm>
          <a:off x="777145" y="3183009"/>
          <a:ext cx="4498724" cy="4898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8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EC2 Hand-on</a:t>
          </a:r>
          <a:endParaRPr lang="en-GB" sz="1600" kern="1200" dirty="0">
            <a:latin typeface="Calibri" panose="020F0502020204030204" pitchFamily="34" charset="0"/>
            <a:cs typeface="Calibri" panose="020F0502020204030204" pitchFamily="34" charset="0"/>
          </a:endParaRPr>
        </a:p>
      </dsp:txBody>
      <dsp:txXfrm>
        <a:off x="777145" y="3183009"/>
        <a:ext cx="4498724" cy="489808"/>
      </dsp:txXfrm>
    </dsp:sp>
    <dsp:sp modelId="{53355EA5-9309-4F94-951D-C76F9426A5F4}">
      <dsp:nvSpPr>
        <dsp:cNvPr id="0" name=""/>
        <dsp:cNvSpPr/>
      </dsp:nvSpPr>
      <dsp:spPr>
        <a:xfrm>
          <a:off x="471014" y="3121783"/>
          <a:ext cx="612260" cy="61226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B082C5-2811-4E70-BD11-A25F4AF26791}">
      <dsp:nvSpPr>
        <dsp:cNvPr id="0" name=""/>
        <dsp:cNvSpPr/>
      </dsp:nvSpPr>
      <dsp:spPr>
        <a:xfrm>
          <a:off x="374244" y="3917628"/>
          <a:ext cx="4901625" cy="4898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8785"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74244" y="3917628"/>
        <a:ext cx="4901625" cy="489808"/>
      </dsp:txXfrm>
    </dsp:sp>
    <dsp:sp modelId="{8CE1FD9D-3EEC-4E1E-A7CF-CFFB7CBE701D}">
      <dsp:nvSpPr>
        <dsp:cNvPr id="0" name=""/>
        <dsp:cNvSpPr/>
      </dsp:nvSpPr>
      <dsp:spPr>
        <a:xfrm>
          <a:off x="68114" y="3856402"/>
          <a:ext cx="612260" cy="612260"/>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EC2</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EC2 Hand-on</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61A7B-F73C-4102-8144-B926AF1EB95E}">
      <dsp:nvSpPr>
        <dsp:cNvPr id="0" name=""/>
        <dsp:cNvSpPr/>
      </dsp:nvSpPr>
      <dsp:spPr>
        <a:xfrm>
          <a:off x="694491" y="0"/>
          <a:ext cx="7870904" cy="484822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D49C53-10D8-433F-8783-1FA8B370DBD7}">
      <dsp:nvSpPr>
        <dsp:cNvPr id="0" name=""/>
        <dsp:cNvSpPr/>
      </dsp:nvSpPr>
      <dsp:spPr>
        <a:xfrm>
          <a:off x="2543" y="1454467"/>
          <a:ext cx="1480768" cy="19392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Determine the AWS region in which the instance is to be launched	</a:t>
          </a:r>
          <a:endParaRPr lang="en-GB" sz="1700" kern="1200" dirty="0">
            <a:latin typeface="Calibri" panose="020F0502020204030204" pitchFamily="34" charset="0"/>
            <a:cs typeface="Calibri" panose="020F0502020204030204" pitchFamily="34" charset="0"/>
          </a:endParaRPr>
        </a:p>
      </dsp:txBody>
      <dsp:txXfrm>
        <a:off x="74828" y="1526752"/>
        <a:ext cx="1336198" cy="1794720"/>
      </dsp:txXfrm>
    </dsp:sp>
    <dsp:sp modelId="{ACB11E57-CA28-4922-9E86-5A0204B9F8D3}">
      <dsp:nvSpPr>
        <dsp:cNvPr id="0" name=""/>
        <dsp:cNvSpPr/>
      </dsp:nvSpPr>
      <dsp:spPr>
        <a:xfrm>
          <a:off x="1557349" y="1454467"/>
          <a:ext cx="1480768" cy="19392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Select the AMI (Amazon Machine Image)</a:t>
          </a:r>
          <a:endParaRPr lang="en-GB" sz="1700" kern="1200" dirty="0">
            <a:latin typeface="Calibri" panose="020F0502020204030204" pitchFamily="34" charset="0"/>
            <a:cs typeface="Calibri" panose="020F0502020204030204" pitchFamily="34" charset="0"/>
          </a:endParaRPr>
        </a:p>
      </dsp:txBody>
      <dsp:txXfrm>
        <a:off x="1629634" y="1526752"/>
        <a:ext cx="1336198" cy="1794720"/>
      </dsp:txXfrm>
    </dsp:sp>
    <dsp:sp modelId="{CDE8884D-4053-4C4C-89AB-E528B656257F}">
      <dsp:nvSpPr>
        <dsp:cNvPr id="0" name=""/>
        <dsp:cNvSpPr/>
      </dsp:nvSpPr>
      <dsp:spPr>
        <a:xfrm>
          <a:off x="3112156" y="1454467"/>
          <a:ext cx="1480768" cy="19392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Choose the instance type based on workload </a:t>
          </a:r>
          <a:endParaRPr lang="en-GB" sz="1700" kern="1200" dirty="0">
            <a:latin typeface="Calibri" panose="020F0502020204030204" pitchFamily="34" charset="0"/>
            <a:cs typeface="Calibri" panose="020F0502020204030204" pitchFamily="34" charset="0"/>
          </a:endParaRPr>
        </a:p>
      </dsp:txBody>
      <dsp:txXfrm>
        <a:off x="3184441" y="1526752"/>
        <a:ext cx="1336198" cy="1794720"/>
      </dsp:txXfrm>
    </dsp:sp>
    <dsp:sp modelId="{1883531A-E427-47D8-91A8-AFC8E3603FB2}">
      <dsp:nvSpPr>
        <dsp:cNvPr id="0" name=""/>
        <dsp:cNvSpPr/>
      </dsp:nvSpPr>
      <dsp:spPr>
        <a:xfrm>
          <a:off x="4666963" y="1454467"/>
          <a:ext cx="1480768" cy="19392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Configure N/W , IP address, security groups</a:t>
          </a:r>
          <a:endParaRPr lang="en-GB" sz="1700" kern="1200" dirty="0">
            <a:latin typeface="Calibri" panose="020F0502020204030204" pitchFamily="34" charset="0"/>
            <a:cs typeface="Calibri" panose="020F0502020204030204" pitchFamily="34" charset="0"/>
          </a:endParaRPr>
        </a:p>
      </dsp:txBody>
      <dsp:txXfrm>
        <a:off x="4739248" y="1526752"/>
        <a:ext cx="1336198" cy="1794720"/>
      </dsp:txXfrm>
    </dsp:sp>
    <dsp:sp modelId="{63D01D6E-48F1-4B11-A03B-D8E05104A3B9}">
      <dsp:nvSpPr>
        <dsp:cNvPr id="0" name=""/>
        <dsp:cNvSpPr/>
      </dsp:nvSpPr>
      <dsp:spPr>
        <a:xfrm>
          <a:off x="6221769" y="1454467"/>
          <a:ext cx="1480768" cy="19392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Configure storage volumes, tags</a:t>
          </a:r>
          <a:endParaRPr lang="en-GB" sz="1700" kern="1200" dirty="0">
            <a:latin typeface="Calibri" panose="020F0502020204030204" pitchFamily="34" charset="0"/>
            <a:cs typeface="Calibri" panose="020F0502020204030204" pitchFamily="34" charset="0"/>
          </a:endParaRPr>
        </a:p>
      </dsp:txBody>
      <dsp:txXfrm>
        <a:off x="6294054" y="1526752"/>
        <a:ext cx="1336198" cy="1794720"/>
      </dsp:txXfrm>
    </dsp:sp>
    <dsp:sp modelId="{4B789BB3-D168-40DA-A29C-536D30276752}">
      <dsp:nvSpPr>
        <dsp:cNvPr id="0" name=""/>
        <dsp:cNvSpPr/>
      </dsp:nvSpPr>
      <dsp:spPr>
        <a:xfrm>
          <a:off x="7776576" y="1454467"/>
          <a:ext cx="1480768" cy="19392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Generate / re-use key pair for accessing the instance</a:t>
          </a:r>
          <a:endParaRPr lang="en-GB" sz="1700" kern="1200" dirty="0">
            <a:latin typeface="Calibri" panose="020F0502020204030204" pitchFamily="34" charset="0"/>
            <a:cs typeface="Calibri" panose="020F0502020204030204" pitchFamily="34" charset="0"/>
          </a:endParaRPr>
        </a:p>
      </dsp:txBody>
      <dsp:txXfrm>
        <a:off x="7848861" y="1526752"/>
        <a:ext cx="1336198" cy="17947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50283-B0DA-4DFC-A5CD-BA61765FF1E2}">
      <dsp:nvSpPr>
        <dsp:cNvPr id="0" name=""/>
        <dsp:cNvSpPr/>
      </dsp:nvSpPr>
      <dsp:spPr>
        <a:xfrm>
          <a:off x="2399158" y="1420300"/>
          <a:ext cx="1805263" cy="1561625"/>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Purchase</a:t>
          </a:r>
        </a:p>
        <a:p>
          <a:pPr marL="0" lvl="0" indent="0" algn="ctr" defTabSz="755650">
            <a:lnSpc>
              <a:spcPct val="90000"/>
            </a:lnSpc>
            <a:spcBef>
              <a:spcPct val="0"/>
            </a:spcBef>
            <a:spcAft>
              <a:spcPct val="35000"/>
            </a:spcAft>
            <a:buNone/>
          </a:pPr>
          <a:r>
            <a:rPr lang="en-US" sz="1700" kern="1200" dirty="0"/>
            <a:t>Options</a:t>
          </a:r>
          <a:endParaRPr lang="en-GB" sz="1700" kern="1200" dirty="0"/>
        </a:p>
      </dsp:txBody>
      <dsp:txXfrm>
        <a:off x="2698315" y="1679083"/>
        <a:ext cx="1206949" cy="1044059"/>
      </dsp:txXfrm>
    </dsp:sp>
    <dsp:sp modelId="{58459A7D-3872-49B1-9A36-1D1064B69D6B}">
      <dsp:nvSpPr>
        <dsp:cNvPr id="0" name=""/>
        <dsp:cNvSpPr/>
      </dsp:nvSpPr>
      <dsp:spPr>
        <a:xfrm>
          <a:off x="3529600" y="673167"/>
          <a:ext cx="681120" cy="58687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8F12FA-7571-4EF5-B44D-4A07F299281E}">
      <dsp:nvSpPr>
        <dsp:cNvPr id="0" name=""/>
        <dsp:cNvSpPr/>
      </dsp:nvSpPr>
      <dsp:spPr>
        <a:xfrm>
          <a:off x="2565449" y="0"/>
          <a:ext cx="1479400" cy="1279855"/>
        </a:xfrm>
        <a:prstGeom prst="hexagon">
          <a:avLst>
            <a:gd name="adj" fmla="val 28570"/>
            <a:gd name="vf" fmla="val 115470"/>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On Demand</a:t>
          </a:r>
          <a:endParaRPr lang="en-GB" sz="1700" kern="1200" dirty="0"/>
        </a:p>
      </dsp:txBody>
      <dsp:txXfrm>
        <a:off x="2810617" y="212099"/>
        <a:ext cx="989064" cy="855657"/>
      </dsp:txXfrm>
    </dsp:sp>
    <dsp:sp modelId="{61216ED0-B341-4257-BE76-E7B9E5162F44}">
      <dsp:nvSpPr>
        <dsp:cNvPr id="0" name=""/>
        <dsp:cNvSpPr/>
      </dsp:nvSpPr>
      <dsp:spPr>
        <a:xfrm>
          <a:off x="4324520" y="1770312"/>
          <a:ext cx="681120" cy="58687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3385CD-A2F1-47CD-A6B2-8D0A04BC38AC}">
      <dsp:nvSpPr>
        <dsp:cNvPr id="0" name=""/>
        <dsp:cNvSpPr/>
      </dsp:nvSpPr>
      <dsp:spPr>
        <a:xfrm>
          <a:off x="3922231" y="787196"/>
          <a:ext cx="1479400" cy="1279855"/>
        </a:xfrm>
        <a:prstGeom prst="hexagon">
          <a:avLst>
            <a:gd name="adj" fmla="val 28570"/>
            <a:gd name="vf" fmla="val 115470"/>
          </a:avLst>
        </a:prstGeom>
        <a:solidFill>
          <a:schemeClr val="tx2">
            <a:lumMod val="25000"/>
            <a:lumOff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Reserved</a:t>
          </a:r>
          <a:endParaRPr lang="en-GB" sz="1700" kern="1200" dirty="0"/>
        </a:p>
      </dsp:txBody>
      <dsp:txXfrm>
        <a:off x="4167399" y="999295"/>
        <a:ext cx="989064" cy="855657"/>
      </dsp:txXfrm>
    </dsp:sp>
    <dsp:sp modelId="{23F99C00-E425-4F96-8B13-D61996367F13}">
      <dsp:nvSpPr>
        <dsp:cNvPr id="0" name=""/>
        <dsp:cNvSpPr/>
      </dsp:nvSpPr>
      <dsp:spPr>
        <a:xfrm>
          <a:off x="3772317" y="3008782"/>
          <a:ext cx="681120" cy="58687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B97268-DFD8-4095-A8BF-D004E8E8FB7B}">
      <dsp:nvSpPr>
        <dsp:cNvPr id="0" name=""/>
        <dsp:cNvSpPr/>
      </dsp:nvSpPr>
      <dsp:spPr>
        <a:xfrm>
          <a:off x="3922231" y="2334734"/>
          <a:ext cx="1479400" cy="1279855"/>
        </a:xfrm>
        <a:prstGeom prst="hexagon">
          <a:avLst>
            <a:gd name="adj" fmla="val 28570"/>
            <a:gd name="vf" fmla="val 115470"/>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chemeClr val="tx2"/>
              </a:solidFill>
            </a:rPr>
            <a:t>Scheduled</a:t>
          </a:r>
          <a:endParaRPr lang="en-GB" sz="1700" kern="1200" dirty="0">
            <a:solidFill>
              <a:schemeClr val="tx2"/>
            </a:solidFill>
          </a:endParaRPr>
        </a:p>
      </dsp:txBody>
      <dsp:txXfrm>
        <a:off x="4167399" y="2546833"/>
        <a:ext cx="989064" cy="855657"/>
      </dsp:txXfrm>
    </dsp:sp>
    <dsp:sp modelId="{D40567B2-A492-4800-95D1-0996D49C81B6}">
      <dsp:nvSpPr>
        <dsp:cNvPr id="0" name=""/>
        <dsp:cNvSpPr/>
      </dsp:nvSpPr>
      <dsp:spPr>
        <a:xfrm>
          <a:off x="2402517" y="3137340"/>
          <a:ext cx="681120" cy="58687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7C469B-7DD2-49B1-8638-6BB12140D6C2}">
      <dsp:nvSpPr>
        <dsp:cNvPr id="0" name=""/>
        <dsp:cNvSpPr/>
      </dsp:nvSpPr>
      <dsp:spPr>
        <a:xfrm>
          <a:off x="2565449" y="3122811"/>
          <a:ext cx="1479400" cy="1279855"/>
        </a:xfrm>
        <a:prstGeom prst="hexagon">
          <a:avLst>
            <a:gd name="adj" fmla="val 28570"/>
            <a:gd name="vf" fmla="val 11547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Spot</a:t>
          </a:r>
          <a:endParaRPr lang="en-GB" sz="1700" kern="1200" dirty="0"/>
        </a:p>
      </dsp:txBody>
      <dsp:txXfrm>
        <a:off x="2810617" y="3334910"/>
        <a:ext cx="989064" cy="855657"/>
      </dsp:txXfrm>
    </dsp:sp>
    <dsp:sp modelId="{6EB38AA3-5010-4F61-B50C-8C6A86FBB039}">
      <dsp:nvSpPr>
        <dsp:cNvPr id="0" name=""/>
        <dsp:cNvSpPr/>
      </dsp:nvSpPr>
      <dsp:spPr>
        <a:xfrm>
          <a:off x="1594579" y="2040636"/>
          <a:ext cx="681120" cy="58687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D927DB-6FD8-49C2-8444-255F86A26E80}">
      <dsp:nvSpPr>
        <dsp:cNvPr id="0" name=""/>
        <dsp:cNvSpPr/>
      </dsp:nvSpPr>
      <dsp:spPr>
        <a:xfrm>
          <a:off x="1202368" y="2335614"/>
          <a:ext cx="1479400" cy="1279855"/>
        </a:xfrm>
        <a:prstGeom prst="hexagon">
          <a:avLst>
            <a:gd name="adj" fmla="val 28570"/>
            <a:gd name="vf" fmla="val 11547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Dedicated instances</a:t>
          </a:r>
          <a:endParaRPr lang="en-GB" sz="1700" kern="1200" dirty="0"/>
        </a:p>
      </dsp:txBody>
      <dsp:txXfrm>
        <a:off x="1447536" y="2547713"/>
        <a:ext cx="989064" cy="855657"/>
      </dsp:txXfrm>
    </dsp:sp>
    <dsp:sp modelId="{EDF19899-1002-43D3-A956-BCB26F9D8B9D}">
      <dsp:nvSpPr>
        <dsp:cNvPr id="0" name=""/>
        <dsp:cNvSpPr/>
      </dsp:nvSpPr>
      <dsp:spPr>
        <a:xfrm>
          <a:off x="1202368" y="785435"/>
          <a:ext cx="1479400" cy="1279855"/>
        </a:xfrm>
        <a:prstGeom prst="hexagon">
          <a:avLst>
            <a:gd name="adj" fmla="val 28570"/>
            <a:gd name="vf" fmla="val 11547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Dedicated host</a:t>
          </a:r>
          <a:endParaRPr lang="en-GB" sz="1700" kern="1200" dirty="0"/>
        </a:p>
      </dsp:txBody>
      <dsp:txXfrm>
        <a:off x="1447536" y="997534"/>
        <a:ext cx="989064" cy="85565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EC2 Hand-on</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RDS Hands-on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Storage</a:t>
          </a:r>
          <a:endParaRPr lang="en-GB" sz="1600" kern="1200" dirty="0">
            <a:latin typeface="Calibri" panose="020F0502020204030204" pitchFamily="34" charset="0"/>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AWS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Auto scaling</a:t>
          </a:r>
          <a:endParaRPr lang="en-GB" sz="1600" kern="1200" dirty="0">
            <a:latin typeface="Calibri" panose="020F0502020204030204" pitchFamily="34" charset="0"/>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CC6472-444F-47CC-BBF0-9A94310509EB}">
      <dsp:nvSpPr>
        <dsp:cNvPr id="0" name=""/>
        <dsp:cNvSpPr/>
      </dsp:nvSpPr>
      <dsp:spPr>
        <a:xfrm>
          <a:off x="3856880" y="11284"/>
          <a:ext cx="899666" cy="899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Create volume</a:t>
          </a:r>
          <a:endParaRPr lang="en-GB" sz="1700" kern="1200" dirty="0">
            <a:latin typeface="Calibri" panose="020F0502020204030204" pitchFamily="34" charset="0"/>
            <a:cs typeface="Calibri" panose="020F0502020204030204" pitchFamily="34" charset="0"/>
          </a:endParaRPr>
        </a:p>
      </dsp:txBody>
      <dsp:txXfrm>
        <a:off x="3856880" y="11284"/>
        <a:ext cx="899666" cy="899666"/>
      </dsp:txXfrm>
    </dsp:sp>
    <dsp:sp modelId="{662292C0-12D9-4BFB-A81D-5BA79B9A6EB2}">
      <dsp:nvSpPr>
        <dsp:cNvPr id="0" name=""/>
        <dsp:cNvSpPr/>
      </dsp:nvSpPr>
      <dsp:spPr>
        <a:xfrm>
          <a:off x="1102517" y="1851"/>
          <a:ext cx="4398964" cy="4398964"/>
        </a:xfrm>
        <a:prstGeom prst="circularArrow">
          <a:avLst>
            <a:gd name="adj1" fmla="val 3988"/>
            <a:gd name="adj2" fmla="val 250168"/>
            <a:gd name="adj3" fmla="val 20573676"/>
            <a:gd name="adj4" fmla="val 18982452"/>
            <a:gd name="adj5" fmla="val 465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C022C6-B686-48E6-8C8F-CC88CDDCA80D}">
      <dsp:nvSpPr>
        <dsp:cNvPr id="0" name=""/>
        <dsp:cNvSpPr/>
      </dsp:nvSpPr>
      <dsp:spPr>
        <a:xfrm>
          <a:off x="4861594" y="1751500"/>
          <a:ext cx="899666" cy="899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Attach to EC2 instance</a:t>
          </a:r>
          <a:endParaRPr lang="en-GB" sz="1700" kern="1200" dirty="0">
            <a:latin typeface="Calibri" panose="020F0502020204030204" pitchFamily="34" charset="0"/>
            <a:cs typeface="Calibri" panose="020F0502020204030204" pitchFamily="34" charset="0"/>
          </a:endParaRPr>
        </a:p>
      </dsp:txBody>
      <dsp:txXfrm>
        <a:off x="4861594" y="1751500"/>
        <a:ext cx="899666" cy="899666"/>
      </dsp:txXfrm>
    </dsp:sp>
    <dsp:sp modelId="{F2C50644-AC2F-4525-B23F-2A2A8F241817}">
      <dsp:nvSpPr>
        <dsp:cNvPr id="0" name=""/>
        <dsp:cNvSpPr/>
      </dsp:nvSpPr>
      <dsp:spPr>
        <a:xfrm>
          <a:off x="1102517" y="1851"/>
          <a:ext cx="4398964" cy="4398964"/>
        </a:xfrm>
        <a:prstGeom prst="circularArrow">
          <a:avLst>
            <a:gd name="adj1" fmla="val 3988"/>
            <a:gd name="adj2" fmla="val 250168"/>
            <a:gd name="adj3" fmla="val 2367380"/>
            <a:gd name="adj4" fmla="val 776155"/>
            <a:gd name="adj5" fmla="val 465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79B71A-54F7-4C2E-8A17-C651C0B8EF37}">
      <dsp:nvSpPr>
        <dsp:cNvPr id="0" name=""/>
        <dsp:cNvSpPr/>
      </dsp:nvSpPr>
      <dsp:spPr>
        <a:xfrm>
          <a:off x="3856880" y="3491716"/>
          <a:ext cx="899666" cy="899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Format and Use</a:t>
          </a:r>
          <a:endParaRPr lang="en-GB" sz="1700" kern="1200" dirty="0">
            <a:latin typeface="Calibri" panose="020F0502020204030204" pitchFamily="34" charset="0"/>
            <a:cs typeface="Calibri" panose="020F0502020204030204" pitchFamily="34" charset="0"/>
          </a:endParaRPr>
        </a:p>
      </dsp:txBody>
      <dsp:txXfrm>
        <a:off x="3856880" y="3491716"/>
        <a:ext cx="899666" cy="899666"/>
      </dsp:txXfrm>
    </dsp:sp>
    <dsp:sp modelId="{C9B12903-E53A-4182-9C81-6432EBF19E61}">
      <dsp:nvSpPr>
        <dsp:cNvPr id="0" name=""/>
        <dsp:cNvSpPr/>
      </dsp:nvSpPr>
      <dsp:spPr>
        <a:xfrm>
          <a:off x="1102517" y="1851"/>
          <a:ext cx="4398964" cy="4398964"/>
        </a:xfrm>
        <a:prstGeom prst="circularArrow">
          <a:avLst>
            <a:gd name="adj1" fmla="val 3988"/>
            <a:gd name="adj2" fmla="val 250168"/>
            <a:gd name="adj3" fmla="val 6111625"/>
            <a:gd name="adj4" fmla="val 4438207"/>
            <a:gd name="adj5" fmla="val 465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C59A17-5631-4A15-8C21-FBF7EA918E25}">
      <dsp:nvSpPr>
        <dsp:cNvPr id="0" name=""/>
        <dsp:cNvSpPr/>
      </dsp:nvSpPr>
      <dsp:spPr>
        <a:xfrm>
          <a:off x="1847453" y="3491716"/>
          <a:ext cx="899666" cy="899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Snapshot to S3</a:t>
          </a:r>
          <a:endParaRPr lang="en-GB" sz="1700" kern="1200" dirty="0">
            <a:latin typeface="Calibri" panose="020F0502020204030204" pitchFamily="34" charset="0"/>
            <a:cs typeface="Calibri" panose="020F0502020204030204" pitchFamily="34" charset="0"/>
          </a:endParaRPr>
        </a:p>
      </dsp:txBody>
      <dsp:txXfrm>
        <a:off x="1847453" y="3491716"/>
        <a:ext cx="899666" cy="899666"/>
      </dsp:txXfrm>
    </dsp:sp>
    <dsp:sp modelId="{06BB59F6-D99B-47E7-98DC-5745CEE523E6}">
      <dsp:nvSpPr>
        <dsp:cNvPr id="0" name=""/>
        <dsp:cNvSpPr/>
      </dsp:nvSpPr>
      <dsp:spPr>
        <a:xfrm>
          <a:off x="1102517" y="1851"/>
          <a:ext cx="4398964" cy="4398964"/>
        </a:xfrm>
        <a:prstGeom prst="circularArrow">
          <a:avLst>
            <a:gd name="adj1" fmla="val 3988"/>
            <a:gd name="adj2" fmla="val 250168"/>
            <a:gd name="adj3" fmla="val 9773676"/>
            <a:gd name="adj4" fmla="val 8182452"/>
            <a:gd name="adj5" fmla="val 465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52CFFE-CCC0-477C-9844-43773D7E344D}">
      <dsp:nvSpPr>
        <dsp:cNvPr id="0" name=""/>
        <dsp:cNvSpPr/>
      </dsp:nvSpPr>
      <dsp:spPr>
        <a:xfrm>
          <a:off x="842739" y="1751500"/>
          <a:ext cx="899666" cy="899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Detach from EC2</a:t>
          </a:r>
          <a:endParaRPr lang="en-GB" sz="1700" kern="1200" dirty="0">
            <a:latin typeface="Calibri" panose="020F0502020204030204" pitchFamily="34" charset="0"/>
            <a:cs typeface="Calibri" panose="020F0502020204030204" pitchFamily="34" charset="0"/>
          </a:endParaRPr>
        </a:p>
      </dsp:txBody>
      <dsp:txXfrm>
        <a:off x="842739" y="1751500"/>
        <a:ext cx="899666" cy="899666"/>
      </dsp:txXfrm>
    </dsp:sp>
    <dsp:sp modelId="{1ABE9B8E-641C-44E1-AEB4-E8D86E65C837}">
      <dsp:nvSpPr>
        <dsp:cNvPr id="0" name=""/>
        <dsp:cNvSpPr/>
      </dsp:nvSpPr>
      <dsp:spPr>
        <a:xfrm>
          <a:off x="1102517" y="1851"/>
          <a:ext cx="4398964" cy="4398964"/>
        </a:xfrm>
        <a:prstGeom prst="circularArrow">
          <a:avLst>
            <a:gd name="adj1" fmla="val 3988"/>
            <a:gd name="adj2" fmla="val 250168"/>
            <a:gd name="adj3" fmla="val 13167380"/>
            <a:gd name="adj4" fmla="val 11576155"/>
            <a:gd name="adj5" fmla="val 465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E2FD53-9397-419A-8F91-5D3B0CFF547C}">
      <dsp:nvSpPr>
        <dsp:cNvPr id="0" name=""/>
        <dsp:cNvSpPr/>
      </dsp:nvSpPr>
      <dsp:spPr>
        <a:xfrm>
          <a:off x="1847453" y="11284"/>
          <a:ext cx="899666" cy="899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Delete volume</a:t>
          </a:r>
          <a:endParaRPr lang="en-GB" sz="1700" kern="1200" dirty="0">
            <a:latin typeface="Calibri" panose="020F0502020204030204" pitchFamily="34" charset="0"/>
            <a:cs typeface="Calibri" panose="020F0502020204030204" pitchFamily="34" charset="0"/>
          </a:endParaRPr>
        </a:p>
      </dsp:txBody>
      <dsp:txXfrm>
        <a:off x="1847453" y="11284"/>
        <a:ext cx="899666" cy="899666"/>
      </dsp:txXfrm>
    </dsp:sp>
    <dsp:sp modelId="{08C5A597-0514-401E-887F-8083C073C8C4}">
      <dsp:nvSpPr>
        <dsp:cNvPr id="0" name=""/>
        <dsp:cNvSpPr/>
      </dsp:nvSpPr>
      <dsp:spPr>
        <a:xfrm>
          <a:off x="1102517" y="1851"/>
          <a:ext cx="4398964" cy="4398964"/>
        </a:xfrm>
        <a:prstGeom prst="circularArrow">
          <a:avLst>
            <a:gd name="adj1" fmla="val 3988"/>
            <a:gd name="adj2" fmla="val 250168"/>
            <a:gd name="adj3" fmla="val 16911625"/>
            <a:gd name="adj4" fmla="val 15238207"/>
            <a:gd name="adj5" fmla="val 465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rgbClr val="0075B0">
            <a:hueOff val="0"/>
            <a:satOff val="0"/>
            <a:lumOff val="0"/>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Auto Scaling Hands-on</a:t>
          </a:r>
          <a:endParaRPr lang="en-GB" sz="1600" kern="1200" dirty="0">
            <a:latin typeface="Calibri" panose="020F0502020204030204" pitchFamily="34" charset="0"/>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Auto Scaling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Security &amp; IAM</a:t>
          </a:r>
          <a:endParaRPr lang="en-GB" sz="1600" kern="1200" dirty="0">
            <a:latin typeface="Calibri" panose="020F0502020204030204" pitchFamily="34" charset="0"/>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Introduction</a:t>
          </a:r>
          <a:endParaRPr lang="en-GB" sz="1600" kern="1200" dirty="0">
            <a:latin typeface="Calibri" panose="020F0502020204030204" pitchFamily="34" charset="0"/>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Overview of Cloud and AWS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1A6E71-0541-4A6D-9D6F-1C4074E2D914}">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Bank strategy on </a:t>
          </a:r>
          <a:r>
            <a:rPr lang="en-US" sz="1600" kern="1200" dirty="0">
              <a:solidFill>
                <a:prstClr val="white"/>
              </a:solidFill>
              <a:latin typeface="Calibri" panose="020F0502020204030204" pitchFamily="34" charset="0"/>
              <a:ea typeface="+mn-ea"/>
              <a:cs typeface="Calibri" panose="020F0502020204030204" pitchFamily="34" charset="0"/>
            </a:rPr>
            <a:t>Cloud</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1480218"/>
        <a:ext cx="4359151" cy="422813"/>
      </dsp:txXfrm>
    </dsp:sp>
    <dsp:sp modelId="{942F9894-DC6C-4B16-9FAF-0D4DECB423C0}">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0A7005-1206-4F6D-93A7-17750FE8904D}">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VPC</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766575DE-7DAD-4DC9-8D69-816F372071D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4CD6C31-00F3-4260-B3AA-55BC6953CDC6}">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EC2</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7A8D6657-8A4F-45A7-87EE-8B42D7359E29}">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1A47F5-6531-4C23-BA7E-99A8416EDDF9}">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EC2 Hand-on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53355EA5-9309-4F94-951D-C76F9426A5F4}">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D60CCA-C208-468C-9D35-EE7F6C96327B}">
      <dsp:nvSpPr>
        <dsp:cNvPr id="0" name=""/>
        <dsp:cNvSpPr/>
      </dsp:nvSpPr>
      <dsp:spPr>
        <a:xfrm>
          <a:off x="326368" y="4018121"/>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4018121"/>
        <a:ext cx="4951871" cy="422813"/>
      </dsp:txXfrm>
    </dsp:sp>
    <dsp:sp modelId="{8CE1FD9D-3EEC-4E1E-A7CF-CFFB7CBE701D}">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4893E-411A-49D2-8A07-2BF2AE374FAA}">
      <dsp:nvSpPr>
        <dsp:cNvPr id="0" name=""/>
        <dsp:cNvSpPr/>
      </dsp:nvSpPr>
      <dsp:spPr>
        <a:xfrm>
          <a:off x="-5257708" y="-805618"/>
          <a:ext cx="6263671" cy="6263671"/>
        </a:xfrm>
        <a:prstGeom prst="blockArc">
          <a:avLst>
            <a:gd name="adj1" fmla="val 18900000"/>
            <a:gd name="adj2" fmla="val 2700000"/>
            <a:gd name="adj3" fmla="val 34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C7462-81B4-4838-9BAB-675262662167}">
      <dsp:nvSpPr>
        <dsp:cNvPr id="0" name=""/>
        <dsp:cNvSpPr/>
      </dsp:nvSpPr>
      <dsp:spPr>
        <a:xfrm>
          <a:off x="326368" y="211499"/>
          <a:ext cx="495187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RDS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326368" y="211499"/>
        <a:ext cx="4951871" cy="422813"/>
      </dsp:txXfrm>
    </dsp:sp>
    <dsp:sp modelId="{9F6DC638-21FF-4C40-BC69-A3168EBF6E6D}">
      <dsp:nvSpPr>
        <dsp:cNvPr id="0" name=""/>
        <dsp:cNvSpPr/>
      </dsp:nvSpPr>
      <dsp:spPr>
        <a:xfrm>
          <a:off x="62109" y="15864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0F9977-46AA-4E2C-9830-8869A60C543C}">
      <dsp:nvSpPr>
        <dsp:cNvPr id="0" name=""/>
        <dsp:cNvSpPr/>
      </dsp:nvSpPr>
      <dsp:spPr>
        <a:xfrm>
          <a:off x="709263" y="846091"/>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AWS </a:t>
          </a:r>
          <a:r>
            <a:rPr lang="en-US" sz="1600" kern="1200" dirty="0">
              <a:solidFill>
                <a:prstClr val="white"/>
              </a:solidFill>
              <a:latin typeface="Calibri" panose="020F0502020204030204" pitchFamily="34" charset="0"/>
              <a:ea typeface="+mn-ea"/>
              <a:cs typeface="Calibri" panose="020F0502020204030204" pitchFamily="34" charset="0"/>
            </a:rPr>
            <a:t>Storage</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846091"/>
        <a:ext cx="4568976" cy="422813"/>
      </dsp:txXfrm>
    </dsp:sp>
    <dsp:sp modelId="{389B32DD-2D5A-48D3-A38D-55AE984982F2}">
      <dsp:nvSpPr>
        <dsp:cNvPr id="0" name=""/>
        <dsp:cNvSpPr/>
      </dsp:nvSpPr>
      <dsp:spPr>
        <a:xfrm>
          <a:off x="445005" y="79323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9E2005-F8EF-4A5A-AC29-2002F8935911}">
      <dsp:nvSpPr>
        <dsp:cNvPr id="0" name=""/>
        <dsp:cNvSpPr/>
      </dsp:nvSpPr>
      <dsp:spPr>
        <a:xfrm>
          <a:off x="919088" y="1480218"/>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Demo on </a:t>
          </a:r>
          <a:r>
            <a:rPr lang="en-US" sz="1600" kern="1200" dirty="0">
              <a:solidFill>
                <a:prstClr val="white"/>
              </a:solidFill>
              <a:latin typeface="Calibri" panose="020F0502020204030204" pitchFamily="34" charset="0"/>
              <a:ea typeface="+mn-ea"/>
              <a:cs typeface="Calibri" panose="020F0502020204030204" pitchFamily="34" charset="0"/>
            </a:rPr>
            <a:t>AWS</a:t>
          </a:r>
          <a:r>
            <a:rPr lang="en-US" sz="1600" kern="1200" dirty="0">
              <a:latin typeface="Calibri" panose="020F0502020204030204" pitchFamily="34" charset="0"/>
              <a:cs typeface="Calibri" panose="020F0502020204030204" pitchFamily="34" charset="0"/>
            </a:rPr>
            <a:t> EBS</a:t>
          </a:r>
          <a:endParaRPr lang="en-GB" sz="1600" kern="1200" dirty="0">
            <a:latin typeface="Calibri" panose="020F0502020204030204" pitchFamily="34" charset="0"/>
            <a:cs typeface="Calibri" panose="020F0502020204030204" pitchFamily="34" charset="0"/>
          </a:endParaRPr>
        </a:p>
      </dsp:txBody>
      <dsp:txXfrm>
        <a:off x="919088" y="1480218"/>
        <a:ext cx="4359151" cy="422813"/>
      </dsp:txXfrm>
    </dsp:sp>
    <dsp:sp modelId="{E6F302B6-CE8F-4A04-9D9E-FE0EC930A322}">
      <dsp:nvSpPr>
        <dsp:cNvPr id="0" name=""/>
        <dsp:cNvSpPr/>
      </dsp:nvSpPr>
      <dsp:spPr>
        <a:xfrm>
          <a:off x="654830" y="1427366"/>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909C44-B8C2-4827-9285-B6FAE6471E2C}">
      <dsp:nvSpPr>
        <dsp:cNvPr id="0" name=""/>
        <dsp:cNvSpPr/>
      </dsp:nvSpPr>
      <dsp:spPr>
        <a:xfrm>
          <a:off x="986083" y="2114810"/>
          <a:ext cx="429215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Auto scaling</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86083" y="2114810"/>
        <a:ext cx="4292156" cy="422813"/>
      </dsp:txXfrm>
    </dsp:sp>
    <dsp:sp modelId="{942F9894-DC6C-4B16-9FAF-0D4DECB423C0}">
      <dsp:nvSpPr>
        <dsp:cNvPr id="0" name=""/>
        <dsp:cNvSpPr/>
      </dsp:nvSpPr>
      <dsp:spPr>
        <a:xfrm>
          <a:off x="721825" y="2061958"/>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97EA27-2170-4E34-9FFE-09D8ADCB11CE}">
      <dsp:nvSpPr>
        <dsp:cNvPr id="0" name=""/>
        <dsp:cNvSpPr/>
      </dsp:nvSpPr>
      <dsp:spPr>
        <a:xfrm>
          <a:off x="919088" y="2749402"/>
          <a:ext cx="4359151"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Auto Scaling Hands-on</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919088" y="2749402"/>
        <a:ext cx="4359151" cy="422813"/>
      </dsp:txXfrm>
    </dsp:sp>
    <dsp:sp modelId="{00C23005-E420-4A0A-A094-E84F91E9EE51}">
      <dsp:nvSpPr>
        <dsp:cNvPr id="0" name=""/>
        <dsp:cNvSpPr/>
      </dsp:nvSpPr>
      <dsp:spPr>
        <a:xfrm>
          <a:off x="654830" y="2696550"/>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9BA9DB-7857-4542-9D78-B03AF8C22F26}">
      <dsp:nvSpPr>
        <dsp:cNvPr id="0" name=""/>
        <dsp:cNvSpPr/>
      </dsp:nvSpPr>
      <dsp:spPr>
        <a:xfrm>
          <a:off x="709263" y="3383529"/>
          <a:ext cx="4568976" cy="422813"/>
        </a:xfrm>
        <a:prstGeom prst="rect">
          <a:avLst/>
        </a:prstGeom>
        <a:solidFill>
          <a:srgbClr val="3F9C35"/>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solidFill>
                <a:prstClr val="white"/>
              </a:solidFill>
              <a:latin typeface="Calibri" panose="020F0502020204030204" pitchFamily="34" charset="0"/>
              <a:ea typeface="+mn-ea"/>
              <a:cs typeface="Calibri" panose="020F0502020204030204" pitchFamily="34" charset="0"/>
            </a:rPr>
            <a:t>AWS Security &amp; IAM</a:t>
          </a:r>
          <a:endParaRPr lang="en-GB" sz="1600" kern="1200" dirty="0">
            <a:solidFill>
              <a:prstClr val="white"/>
            </a:solidFill>
            <a:latin typeface="Calibri" panose="020F0502020204030204" pitchFamily="34" charset="0"/>
            <a:ea typeface="+mn-ea"/>
            <a:cs typeface="Calibri" panose="020F0502020204030204" pitchFamily="34" charset="0"/>
          </a:endParaRPr>
        </a:p>
      </dsp:txBody>
      <dsp:txXfrm>
        <a:off x="709263" y="3383529"/>
        <a:ext cx="4568976" cy="422813"/>
      </dsp:txXfrm>
    </dsp:sp>
    <dsp:sp modelId="{766575DE-7DAD-4DC9-8D69-816F372071D0}">
      <dsp:nvSpPr>
        <dsp:cNvPr id="0" name=""/>
        <dsp:cNvSpPr/>
      </dsp:nvSpPr>
      <dsp:spPr>
        <a:xfrm>
          <a:off x="445005" y="3330677"/>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4CAF55-F222-48DF-B074-32FE63563D12}">
      <dsp:nvSpPr>
        <dsp:cNvPr id="0" name=""/>
        <dsp:cNvSpPr/>
      </dsp:nvSpPr>
      <dsp:spPr>
        <a:xfrm>
          <a:off x="326368" y="4018121"/>
          <a:ext cx="4951871" cy="422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5608"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alibri" panose="020F0502020204030204" pitchFamily="34" charset="0"/>
              <a:cs typeface="Calibri" panose="020F0502020204030204" pitchFamily="34" charset="0"/>
            </a:rPr>
            <a:t>Wrap-up</a:t>
          </a:r>
          <a:endParaRPr lang="en-GB" sz="1600" kern="1200" dirty="0">
            <a:latin typeface="Calibri" panose="020F0502020204030204" pitchFamily="34" charset="0"/>
            <a:cs typeface="Calibri" panose="020F0502020204030204" pitchFamily="34" charset="0"/>
          </a:endParaRPr>
        </a:p>
      </dsp:txBody>
      <dsp:txXfrm>
        <a:off x="326368" y="4018121"/>
        <a:ext cx="4951871" cy="422813"/>
      </dsp:txXfrm>
    </dsp:sp>
    <dsp:sp modelId="{D675AB5E-F0EC-4FCB-A2CD-4A01280A41A1}">
      <dsp:nvSpPr>
        <dsp:cNvPr id="0" name=""/>
        <dsp:cNvSpPr/>
      </dsp:nvSpPr>
      <dsp:spPr>
        <a:xfrm>
          <a:off x="62109" y="3965269"/>
          <a:ext cx="528516" cy="52851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417760-C51A-4C5D-B1DE-AC9A0589095F}" type="datetimeFigureOut">
              <a:rPr lang="en-IN" smtClean="0"/>
              <a:t>29-11-2025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18511D-E211-48F0-B966-13DB4CCBA505}" type="slidenum">
              <a:rPr lang="en-IN" smtClean="0"/>
              <a:t>‹#›</a:t>
            </a:fld>
            <a:endParaRPr lang="en-IN"/>
          </a:p>
        </p:txBody>
      </p:sp>
    </p:spTree>
    <p:extLst>
      <p:ext uri="{BB962C8B-B14F-4D97-AF65-F5344CB8AC3E}">
        <p14:creationId xmlns:p14="http://schemas.microsoft.com/office/powerpoint/2010/main" val="3233513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earchsecurity.techtarget.com/definition/distributed-denial-of-service-attack"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aws.amazon.com/cloudfront/" TargetMode="External"/><Relationship Id="rId4" Type="http://schemas.openxmlformats.org/officeDocument/2006/relationships/hyperlink" Target="https://aws.amazon.com/route53/what-is-dn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aws.amazon.com/ec2/instance-types/#burst"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docs.aws.amazon.com/AWSEC2/latest/UserGuide/t2-instances.html#t2-instances-cpu-credits"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aws.amazon.com/AWSEC2/latest/UserGuide/ComponentsAMIs.html#storage-for-the-root-device"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aws.amazon.com/efs/when-to-choose-efs/"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a:t>
            </a:fld>
            <a:endParaRPr lang="en-GB"/>
          </a:p>
        </p:txBody>
      </p:sp>
    </p:spTree>
    <p:extLst>
      <p:ext uri="{BB962C8B-B14F-4D97-AF65-F5344CB8AC3E}">
        <p14:creationId xmlns:p14="http://schemas.microsoft.com/office/powerpoint/2010/main" val="92414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a:t>
            </a:fld>
            <a:endParaRPr lang="en-GB"/>
          </a:p>
        </p:txBody>
      </p:sp>
    </p:spTree>
    <p:extLst>
      <p:ext uri="{BB962C8B-B14F-4D97-AF65-F5344CB8AC3E}">
        <p14:creationId xmlns:p14="http://schemas.microsoft.com/office/powerpoint/2010/main" val="2512762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PaaS – Azure, AWS Lambda, AWS Elastic Beanstalk, Google App Engine etc.</a:t>
            </a:r>
          </a:p>
          <a:p>
            <a:endParaRPr lang="en-US" dirty="0"/>
          </a:p>
          <a:p>
            <a:r>
              <a:rPr lang="en-US" dirty="0"/>
              <a:t>Hybrid Model – mix of private and public cloud to manage workloads. Usually there is some level of connection / orchestration between the two. E.g. cloud burst to scale workloads to public when high demand is witnessed OR move non sensitive processing to public like Big Data processing or Test /Dev environments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a:t>
            </a:fld>
            <a:endParaRPr lang="en-GB"/>
          </a:p>
        </p:txBody>
      </p:sp>
    </p:spTree>
    <p:extLst>
      <p:ext uri="{BB962C8B-B14F-4D97-AF65-F5344CB8AC3E}">
        <p14:creationId xmlns:p14="http://schemas.microsoft.com/office/powerpoint/2010/main" val="899601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5F3102E-6C56-4F81-B30B-581BE2EC6691}" type="slidenum">
              <a:rPr lang="en-GB" smtClean="0"/>
              <a:t>5</a:t>
            </a:fld>
            <a:endParaRPr lang="en-GB"/>
          </a:p>
        </p:txBody>
      </p:sp>
    </p:spTree>
    <p:extLst>
      <p:ext uri="{BB962C8B-B14F-4D97-AF65-F5344CB8AC3E}">
        <p14:creationId xmlns:p14="http://schemas.microsoft.com/office/powerpoint/2010/main" val="1339099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5F3102E-6C56-4F81-B30B-581BE2EC6691}" type="slidenum">
              <a:rPr lang="en-GB" smtClean="0"/>
              <a:t>6</a:t>
            </a:fld>
            <a:endParaRPr lang="en-GB"/>
          </a:p>
        </p:txBody>
      </p:sp>
    </p:spTree>
    <p:extLst>
      <p:ext uri="{BB962C8B-B14F-4D97-AF65-F5344CB8AC3E}">
        <p14:creationId xmlns:p14="http://schemas.microsoft.com/office/powerpoint/2010/main" val="2507012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5F3102E-6C56-4F81-B30B-581BE2EC6691}" type="slidenum">
              <a:rPr lang="en-GB" smtClean="0"/>
              <a:t>7</a:t>
            </a:fld>
            <a:endParaRPr lang="en-GB"/>
          </a:p>
        </p:txBody>
      </p:sp>
    </p:spTree>
    <p:extLst>
      <p:ext uri="{BB962C8B-B14F-4D97-AF65-F5344CB8AC3E}">
        <p14:creationId xmlns:p14="http://schemas.microsoft.com/office/powerpoint/2010/main" val="214118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zones takes into consideration natural disasters and fault lines for earthquakes so that multiple </a:t>
            </a:r>
            <a:r>
              <a:rPr lang="en-US" dirty="0" err="1"/>
              <a:t>Azs</a:t>
            </a:r>
            <a:r>
              <a:rPr lang="en-US" dirty="0"/>
              <a:t> are not impacted at the same time</a:t>
            </a:r>
          </a:p>
          <a:p>
            <a:r>
              <a:rPr lang="en-US" dirty="0"/>
              <a:t>All </a:t>
            </a:r>
            <a:r>
              <a:rPr lang="en-US" dirty="0" err="1"/>
              <a:t>Azs</a:t>
            </a:r>
            <a:r>
              <a:rPr lang="en-US" dirty="0"/>
              <a:t> are interconnected by optic fibers completely owned and managed by AWS</a:t>
            </a:r>
          </a:p>
          <a:p>
            <a:r>
              <a:rPr lang="en-US" dirty="0"/>
              <a:t>The latency within a region is less than 9 </a:t>
            </a:r>
            <a:r>
              <a:rPr lang="en-US" dirty="0" err="1"/>
              <a:t>ms</a:t>
            </a:r>
            <a:r>
              <a:rPr lang="en-US" dirty="0"/>
              <a:t> , across regions is less than 1 sec (depends which two regions are communicating)</a:t>
            </a:r>
          </a:p>
          <a:p>
            <a:r>
              <a:rPr lang="en-US" dirty="0"/>
              <a:t>All services are not available in all regions</a:t>
            </a:r>
          </a:p>
          <a:p>
            <a:r>
              <a:rPr lang="en-US" dirty="0"/>
              <a:t>Prices differ across regions</a:t>
            </a:r>
          </a:p>
          <a:p>
            <a:r>
              <a:rPr lang="en-US" dirty="0"/>
              <a:t>Cheapest one is North Virginia (also all services available here and 6 AZs)</a:t>
            </a:r>
          </a:p>
          <a:p>
            <a:r>
              <a:rPr lang="en-US" dirty="0"/>
              <a:t>Mumbai has 3 </a:t>
            </a:r>
            <a:r>
              <a:rPr lang="en-US" dirty="0" err="1"/>
              <a:t>Azs</a:t>
            </a:r>
            <a:endParaRPr lang="en-US" dirty="0"/>
          </a:p>
          <a:p>
            <a:r>
              <a:rPr lang="en-US" dirty="0"/>
              <a:t>Recommended to distribute workload across </a:t>
            </a:r>
            <a:r>
              <a:rPr lang="en-US" dirty="0" err="1"/>
              <a:t>Azs</a:t>
            </a:r>
            <a:r>
              <a:rPr lang="en-US" dirty="0"/>
              <a:t> to provide better availability</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8</a:t>
            </a:fld>
            <a:endParaRPr lang="en-GB"/>
          </a:p>
        </p:txBody>
      </p:sp>
    </p:spTree>
    <p:extLst>
      <p:ext uri="{BB962C8B-B14F-4D97-AF65-F5344CB8AC3E}">
        <p14:creationId xmlns:p14="http://schemas.microsoft.com/office/powerpoint/2010/main" val="3035891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CloudFront is a fast content delivery network (CDN) service that securely delivers data, videos, applications, and APIs to customers globally with low latency, high transfer speeds, all within a developer-friendly environment</a:t>
            </a:r>
          </a:p>
          <a:p>
            <a:r>
              <a:rPr lang="en-US" dirty="0"/>
              <a:t>AWS WAF is a web application firewall that helps protect your web applications from common web exploits that could affect application availability, compromise security, or consume excessive resources. AWS WAF gives you control over which traffic to allow or block to your web applications by defining customizable web security rules. You can use AWS WAF to create custom rules that block common attack patterns, such as SQL injection or cross-site scripting, and rules that are designed for your specific application.</a:t>
            </a:r>
          </a:p>
          <a:p>
            <a:r>
              <a:rPr lang="en-US" dirty="0"/>
              <a:t>AWS Shield is a security service that protects web applications hosted on the Amazon Web Services public cloud against distributed denial of service (</a:t>
            </a:r>
            <a:r>
              <a:rPr lang="en-US" u="sng" dirty="0">
                <a:hlinkClick r:id="rId3"/>
              </a:rPr>
              <a:t>DDoS</a:t>
            </a:r>
            <a:r>
              <a:rPr lang="en-US" dirty="0"/>
              <a:t>) attacks.</a:t>
            </a:r>
          </a:p>
          <a:p>
            <a:r>
              <a:rPr lang="en-US" dirty="0"/>
              <a:t>Amazon Route 53 is a highly available and scalable cloud </a:t>
            </a:r>
            <a:r>
              <a:rPr lang="en-US" dirty="0">
                <a:hlinkClick r:id="rId4"/>
              </a:rPr>
              <a:t>Domain Name System (DNS)</a:t>
            </a:r>
            <a:r>
              <a:rPr lang="en-US" dirty="0"/>
              <a:t> web service. Amazon Route 53 effectively connects user requests to infrastructure running in AWS – such as Amazon EC2 instances, Elastic Load Balancing load balancers, or Amazon S3 buckets – and can also be used to route users to infrastructure outside of AWS. You can use Amazon Route 53 to configure DNS health checks to route traffic to healthy endpoints or to independently monitor the health of your application and its endpoints. Amazon Route 53 Traffic Flow makes it easy for you to manage traffic globally through a variety of routing types, including Latency Based Routing, Geo DNS, </a:t>
            </a:r>
            <a:r>
              <a:rPr lang="en-US" dirty="0" err="1"/>
              <a:t>Geoproximity</a:t>
            </a:r>
            <a:r>
              <a:rPr lang="en-US" dirty="0"/>
              <a:t>, and Weighted Round Robin—all of which can be combined with DNS Failover in order to enable a variety of low-latency, fault-tolerant architectures</a:t>
            </a:r>
          </a:p>
          <a:p>
            <a:r>
              <a:rPr lang="en-US" dirty="0" err="1"/>
              <a:t>Lambda@Edge</a:t>
            </a:r>
            <a:r>
              <a:rPr lang="en-US" dirty="0"/>
              <a:t> is a feature of </a:t>
            </a:r>
            <a:r>
              <a:rPr lang="en-US" dirty="0">
                <a:hlinkClick r:id="rId5"/>
              </a:rPr>
              <a:t>Amazon CloudFront</a:t>
            </a:r>
            <a:r>
              <a:rPr lang="en-US" dirty="0"/>
              <a:t> that lets you run code closer to users of your application, which improves performance and reduces latency</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9</a:t>
            </a:fld>
            <a:endParaRPr lang="en-GB"/>
          </a:p>
        </p:txBody>
      </p:sp>
    </p:spTree>
    <p:extLst>
      <p:ext uri="{BB962C8B-B14F-4D97-AF65-F5344CB8AC3E}">
        <p14:creationId xmlns:p14="http://schemas.microsoft.com/office/powerpoint/2010/main" val="3631517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10</a:t>
            </a:fld>
            <a:endParaRPr lang="en-GB"/>
          </a:p>
        </p:txBody>
      </p:sp>
    </p:spTree>
    <p:extLst>
      <p:ext uri="{BB962C8B-B14F-4D97-AF65-F5344CB8AC3E}">
        <p14:creationId xmlns:p14="http://schemas.microsoft.com/office/powerpoint/2010/main" val="526218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11</a:t>
            </a:fld>
            <a:endParaRPr lang="en-GB"/>
          </a:p>
        </p:txBody>
      </p:sp>
    </p:spTree>
    <p:extLst>
      <p:ext uri="{BB962C8B-B14F-4D97-AF65-F5344CB8AC3E}">
        <p14:creationId xmlns:p14="http://schemas.microsoft.com/office/powerpoint/2010/main" val="2102039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12</a:t>
            </a:fld>
            <a:endParaRPr lang="en-GB"/>
          </a:p>
        </p:txBody>
      </p:sp>
    </p:spTree>
    <p:extLst>
      <p:ext uri="{BB962C8B-B14F-4D97-AF65-F5344CB8AC3E}">
        <p14:creationId xmlns:p14="http://schemas.microsoft.com/office/powerpoint/2010/main" val="3088630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13</a:t>
            </a:fld>
            <a:endParaRPr lang="en-GB"/>
          </a:p>
        </p:txBody>
      </p:sp>
    </p:spTree>
    <p:extLst>
      <p:ext uri="{BB962C8B-B14F-4D97-AF65-F5344CB8AC3E}">
        <p14:creationId xmlns:p14="http://schemas.microsoft.com/office/powerpoint/2010/main" val="393299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14</a:t>
            </a:fld>
            <a:endParaRPr lang="en-GB"/>
          </a:p>
        </p:txBody>
      </p:sp>
    </p:spTree>
    <p:extLst>
      <p:ext uri="{BB962C8B-B14F-4D97-AF65-F5344CB8AC3E}">
        <p14:creationId xmlns:p14="http://schemas.microsoft.com/office/powerpoint/2010/main" val="1275045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recommends only following resources on public subnet – ELB, NAT Gateway , Bastion host</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15</a:t>
            </a:fld>
            <a:endParaRPr lang="en-GB"/>
          </a:p>
        </p:txBody>
      </p:sp>
    </p:spTree>
    <p:extLst>
      <p:ext uri="{BB962C8B-B14F-4D97-AF65-F5344CB8AC3E}">
        <p14:creationId xmlns:p14="http://schemas.microsoft.com/office/powerpoint/2010/main" val="2151273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class A, leading bit is 0, so we have 2 raised to 7 combinations for the n/w addresses</a:t>
            </a:r>
          </a:p>
          <a:p>
            <a:r>
              <a:rPr lang="en-US" dirty="0"/>
              <a:t>127.0.0.0 to 127.255.255.255 is reserved ….</a:t>
            </a:r>
          </a:p>
          <a:p>
            <a:r>
              <a:rPr lang="en-US" dirty="0"/>
              <a:t>Hence first octet is 1 to 126 only</a:t>
            </a:r>
          </a:p>
          <a:p>
            <a:endParaRPr lang="en-US" dirty="0"/>
          </a:p>
          <a:p>
            <a:endParaRPr lang="en-US" dirty="0"/>
          </a:p>
          <a:p>
            <a:r>
              <a:rPr lang="en-US" dirty="0"/>
              <a:t>In class B, leading bits is 10 , hence 2 raised to 14 (16 minus 2)</a:t>
            </a:r>
          </a:p>
          <a:p>
            <a:r>
              <a:rPr lang="en-US" dirty="0"/>
              <a:t>In class C, leading bits is 110 hence 2 raised to 21 (24 minus 3)</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16</a:t>
            </a:fld>
            <a:endParaRPr lang="en-GB"/>
          </a:p>
        </p:txBody>
      </p:sp>
    </p:spTree>
    <p:extLst>
      <p:ext uri="{BB962C8B-B14F-4D97-AF65-F5344CB8AC3E}">
        <p14:creationId xmlns:p14="http://schemas.microsoft.com/office/powerpoint/2010/main" val="2981184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17</a:t>
            </a:fld>
            <a:endParaRPr lang="en-GB"/>
          </a:p>
        </p:txBody>
      </p:sp>
    </p:spTree>
    <p:extLst>
      <p:ext uri="{BB962C8B-B14F-4D97-AF65-F5344CB8AC3E}">
        <p14:creationId xmlns:p14="http://schemas.microsoft.com/office/powerpoint/2010/main" val="1946697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VPC endpoint (slip route) ...traffic can go to AWS service without going through internet gateway</a:t>
            </a:r>
          </a:p>
          <a:p>
            <a:r>
              <a:rPr lang="en-US" dirty="0"/>
              <a:t>Transit gateway  - for </a:t>
            </a:r>
            <a:r>
              <a:rPr lang="en-US" dirty="0" err="1"/>
              <a:t>mxn</a:t>
            </a:r>
            <a:r>
              <a:rPr lang="en-US" dirty="0"/>
              <a:t> mesh of VPCs within same region </a:t>
            </a:r>
          </a:p>
          <a:p>
            <a:r>
              <a:rPr lang="en-US" dirty="0"/>
              <a:t>	create gateway, attach the VPCs and update route tables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18</a:t>
            </a:fld>
            <a:endParaRPr lang="en-GB"/>
          </a:p>
        </p:txBody>
      </p:sp>
    </p:spTree>
    <p:extLst>
      <p:ext uri="{BB962C8B-B14F-4D97-AF65-F5344CB8AC3E}">
        <p14:creationId xmlns:p14="http://schemas.microsoft.com/office/powerpoint/2010/main" val="90985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a:t>
            </a:r>
          </a:p>
          <a:p>
            <a:pPr marL="174982" indent="-174982">
              <a:buFontTx/>
              <a:buChar char="-"/>
            </a:pPr>
            <a:r>
              <a:rPr lang="en-US" dirty="0"/>
              <a:t>Hardware VPN </a:t>
            </a:r>
          </a:p>
          <a:p>
            <a:pPr marL="174982" indent="-174982">
              <a:buFontTx/>
              <a:buChar char="-"/>
            </a:pPr>
            <a:r>
              <a:rPr lang="en-US" dirty="0"/>
              <a:t>EC2 instance running a VPN software</a:t>
            </a:r>
          </a:p>
          <a:p>
            <a:pPr marL="174982" indent="-174982">
              <a:buFontTx/>
              <a:buChar char="-"/>
            </a:pPr>
            <a:r>
              <a:rPr lang="en-US" dirty="0"/>
              <a:t>VPN Cloud Hub to link VPC to multiple private networks</a:t>
            </a:r>
          </a:p>
          <a:p>
            <a:pPr marL="174982" indent="-174982">
              <a:buFontTx/>
              <a:buChar char="-"/>
            </a:pPr>
            <a:r>
              <a:rPr lang="en-US" dirty="0"/>
              <a:t>Direct connect</a:t>
            </a:r>
          </a:p>
          <a:p>
            <a:pPr marL="174982" indent="-174982">
              <a:buFontTx/>
              <a:buChar char="-"/>
            </a:pPr>
            <a:endParaRPr lang="en-US" dirty="0"/>
          </a:p>
          <a:p>
            <a:r>
              <a:rPr lang="en-US" dirty="0"/>
              <a:t>A note on security groups and NACL</a:t>
            </a:r>
          </a:p>
          <a:p>
            <a:endParaRPr lang="en-US" dirty="0"/>
          </a:p>
          <a:p>
            <a:r>
              <a:rPr lang="en-US" dirty="0"/>
              <a:t>NACL is firewall at Subnet level while sec group is firewall at instance level</a:t>
            </a:r>
          </a:p>
          <a:p>
            <a:r>
              <a:rPr lang="en-US" dirty="0"/>
              <a:t>NACL supports both allow and deny rules while sec group supports only allow rules</a:t>
            </a:r>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19</a:t>
            </a:fld>
            <a:endParaRPr lang="en-GB"/>
          </a:p>
        </p:txBody>
      </p:sp>
    </p:spTree>
    <p:extLst>
      <p:ext uri="{BB962C8B-B14F-4D97-AF65-F5344CB8AC3E}">
        <p14:creationId xmlns:p14="http://schemas.microsoft.com/office/powerpoint/2010/main" val="4287062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20</a:t>
            </a:fld>
            <a:endParaRPr lang="en-GB"/>
          </a:p>
        </p:txBody>
      </p:sp>
    </p:spTree>
    <p:extLst>
      <p:ext uri="{BB962C8B-B14F-4D97-AF65-F5344CB8AC3E}">
        <p14:creationId xmlns:p14="http://schemas.microsoft.com/office/powerpoint/2010/main" val="1115558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21</a:t>
            </a:fld>
            <a:endParaRPr lang="en-GB"/>
          </a:p>
        </p:txBody>
      </p:sp>
    </p:spTree>
    <p:extLst>
      <p:ext uri="{BB962C8B-B14F-4D97-AF65-F5344CB8AC3E}">
        <p14:creationId xmlns:p14="http://schemas.microsoft.com/office/powerpoint/2010/main" val="23846629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22</a:t>
            </a:fld>
            <a:endParaRPr lang="en-GB"/>
          </a:p>
        </p:txBody>
      </p:sp>
    </p:spTree>
    <p:extLst>
      <p:ext uri="{BB962C8B-B14F-4D97-AF65-F5344CB8AC3E}">
        <p14:creationId xmlns:p14="http://schemas.microsoft.com/office/powerpoint/2010/main" val="9329524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Amazon burstable instances</a:t>
            </a:r>
            <a:r>
              <a:rPr lang="en-US" dirty="0"/>
              <a:t> ( or T2 instances) are an instance family from Amazon Web Services which provide a guaranteed level of CPU performance with the ability to burst to high levels of CPU utilization for transient loads. Each instance has a “baseline” of CPU utilization which is governed using what Amazon calls </a:t>
            </a:r>
            <a:r>
              <a:rPr lang="en-US" dirty="0">
                <a:hlinkClick r:id="rId4"/>
              </a:rPr>
              <a:t>CPU Credits</a:t>
            </a:r>
            <a:r>
              <a:rPr lang="en-US" dirty="0"/>
              <a:t>. CPU Credits are burned down while the instance is active, and accumulate when the instance is operating below the CPU baseline. </a:t>
            </a:r>
          </a:p>
          <a:p>
            <a:r>
              <a:rPr lang="en-US" dirty="0"/>
              <a:t>E.g. if a t2.small instance has a baseline CPU </a:t>
            </a:r>
            <a:r>
              <a:rPr lang="en-US" dirty="0" err="1"/>
              <a:t>util</a:t>
            </a:r>
            <a:r>
              <a:rPr lang="en-US" dirty="0"/>
              <a:t> of 20 % …then credits are gained when operating below 20% and can be used to pay for </a:t>
            </a:r>
            <a:r>
              <a:rPr lang="en-US" dirty="0" err="1"/>
              <a:t>util</a:t>
            </a:r>
            <a:r>
              <a:rPr lang="en-US" dirty="0"/>
              <a:t> higher than 20% for a transient spike</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23</a:t>
            </a:fld>
            <a:endParaRPr lang="en-GB"/>
          </a:p>
        </p:txBody>
      </p:sp>
    </p:spTree>
    <p:extLst>
      <p:ext uri="{BB962C8B-B14F-4D97-AF65-F5344CB8AC3E}">
        <p14:creationId xmlns:p14="http://schemas.microsoft.com/office/powerpoint/2010/main" val="22805493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24</a:t>
            </a:fld>
            <a:endParaRPr lang="en-GB"/>
          </a:p>
        </p:txBody>
      </p:sp>
    </p:spTree>
    <p:extLst>
      <p:ext uri="{BB962C8B-B14F-4D97-AF65-F5344CB8AC3E}">
        <p14:creationId xmlns:p14="http://schemas.microsoft.com/office/powerpoint/2010/main" val="2507431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AMIs are categorized as either </a:t>
            </a:r>
            <a:r>
              <a:rPr lang="en-US" i="1" dirty="0"/>
              <a:t>backed by Amazon EBS</a:t>
            </a:r>
            <a:r>
              <a:rPr lang="en-US" dirty="0"/>
              <a:t> or </a:t>
            </a:r>
            <a:r>
              <a:rPr lang="en-US" i="1" dirty="0"/>
              <a:t>backed by instance store</a:t>
            </a:r>
            <a:r>
              <a:rPr lang="en-US" dirty="0"/>
              <a:t>. The former means that the root device for an instance launched from the AMI is an Amazon EBS volume created from an Amazon EBS snapshot. The latter means that the root device for an instance launched from the AMI is an instance store volume created from a template stored in Amazon S3.</a:t>
            </a:r>
          </a:p>
          <a:p>
            <a:r>
              <a:rPr lang="en-GB" dirty="0">
                <a:hlinkClick r:id="rId3"/>
              </a:rPr>
              <a:t>https://docs.aws.amazon.com/AWSEC2/latest/UserGuide/ComponentsAMIs.html#storage-for-the-root-device</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25</a:t>
            </a:fld>
            <a:endParaRPr lang="en-GB"/>
          </a:p>
        </p:txBody>
      </p:sp>
    </p:spTree>
    <p:extLst>
      <p:ext uri="{BB962C8B-B14F-4D97-AF65-F5344CB8AC3E}">
        <p14:creationId xmlns:p14="http://schemas.microsoft.com/office/powerpoint/2010/main" val="2203379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 Instance is billed whether idle or not</a:t>
            </a:r>
          </a:p>
          <a:p>
            <a:r>
              <a:rPr lang="en-US" dirty="0"/>
              <a:t>Rebooting : instance stays on the same host, IP is retained and so is instance data. Doesn’t start a new billing hour</a:t>
            </a:r>
          </a:p>
          <a:p>
            <a:r>
              <a:rPr lang="en-US" dirty="0"/>
              <a:t>Terminated : Cannot recover a terminated instance</a:t>
            </a:r>
          </a:p>
          <a:p>
            <a:r>
              <a:rPr lang="en-US" dirty="0"/>
              <a:t>Stopped : Stops the instance hourly billing (but still charged for storage volumes) , when started you will lose the instance data and instance moves to new host</a:t>
            </a:r>
          </a:p>
          <a:p>
            <a:r>
              <a:rPr lang="en-US" dirty="0"/>
              <a:t>Private IP , Elastic IP is retained but public IP is not. </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26</a:t>
            </a:fld>
            <a:endParaRPr lang="en-GB"/>
          </a:p>
        </p:txBody>
      </p:sp>
    </p:spTree>
    <p:extLst>
      <p:ext uri="{BB962C8B-B14F-4D97-AF65-F5344CB8AC3E}">
        <p14:creationId xmlns:p14="http://schemas.microsoft.com/office/powerpoint/2010/main" val="29412273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27</a:t>
            </a:fld>
            <a:endParaRPr lang="en-GB"/>
          </a:p>
        </p:txBody>
      </p:sp>
    </p:spTree>
    <p:extLst>
      <p:ext uri="{BB962C8B-B14F-4D97-AF65-F5344CB8AC3E}">
        <p14:creationId xmlns:p14="http://schemas.microsoft.com/office/powerpoint/2010/main" val="3288378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Reserved – Around 70% discount</a:t>
            </a:r>
          </a:p>
          <a:p>
            <a:r>
              <a:rPr lang="en-US" dirty="0"/>
              <a:t>Spot – 90%</a:t>
            </a:r>
          </a:p>
          <a:p>
            <a:r>
              <a:rPr lang="en-US" dirty="0"/>
              <a:t>Scheduled – 30 to 40% discount</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28</a:t>
            </a:fld>
            <a:endParaRPr lang="en-GB"/>
          </a:p>
        </p:txBody>
      </p:sp>
    </p:spTree>
    <p:extLst>
      <p:ext uri="{BB962C8B-B14F-4D97-AF65-F5344CB8AC3E}">
        <p14:creationId xmlns:p14="http://schemas.microsoft.com/office/powerpoint/2010/main" val="3434985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29</a:t>
            </a:fld>
            <a:endParaRPr lang="en-GB"/>
          </a:p>
        </p:txBody>
      </p:sp>
    </p:spTree>
    <p:extLst>
      <p:ext uri="{BB962C8B-B14F-4D97-AF65-F5344CB8AC3E}">
        <p14:creationId xmlns:p14="http://schemas.microsoft.com/office/powerpoint/2010/main" val="805123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30</a:t>
            </a:fld>
            <a:endParaRPr lang="en-GB"/>
          </a:p>
        </p:txBody>
      </p:sp>
    </p:spTree>
    <p:extLst>
      <p:ext uri="{BB962C8B-B14F-4D97-AF65-F5344CB8AC3E}">
        <p14:creationId xmlns:p14="http://schemas.microsoft.com/office/powerpoint/2010/main" val="13730397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31</a:t>
            </a:fld>
            <a:endParaRPr lang="en-GB"/>
          </a:p>
        </p:txBody>
      </p:sp>
    </p:spTree>
    <p:extLst>
      <p:ext uri="{BB962C8B-B14F-4D97-AF65-F5344CB8AC3E}">
        <p14:creationId xmlns:p14="http://schemas.microsoft.com/office/powerpoint/2010/main" val="28029377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32</a:t>
            </a:fld>
            <a:endParaRPr lang="en-GB"/>
          </a:p>
        </p:txBody>
      </p:sp>
    </p:spTree>
    <p:extLst>
      <p:ext uri="{BB962C8B-B14F-4D97-AF65-F5344CB8AC3E}">
        <p14:creationId xmlns:p14="http://schemas.microsoft.com/office/powerpoint/2010/main" val="16943528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33</a:t>
            </a:fld>
            <a:endParaRPr lang="en-GB"/>
          </a:p>
        </p:txBody>
      </p:sp>
    </p:spTree>
    <p:extLst>
      <p:ext uri="{BB962C8B-B14F-4D97-AF65-F5344CB8AC3E}">
        <p14:creationId xmlns:p14="http://schemas.microsoft.com/office/powerpoint/2010/main" val="41805640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34</a:t>
            </a:fld>
            <a:endParaRPr lang="en-GB"/>
          </a:p>
        </p:txBody>
      </p:sp>
    </p:spTree>
    <p:extLst>
      <p:ext uri="{BB962C8B-B14F-4D97-AF65-F5344CB8AC3E}">
        <p14:creationId xmlns:p14="http://schemas.microsoft.com/office/powerpoint/2010/main" val="27040173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Aurora is fully managed</a:t>
            </a:r>
          </a:p>
          <a:p>
            <a:r>
              <a:rPr lang="en-US" dirty="0"/>
              <a:t>Aurora has 5 times the throughput of MySQL and 3 times of </a:t>
            </a:r>
            <a:r>
              <a:rPr lang="en-US" dirty="0" err="1"/>
              <a:t>PostGre</a:t>
            </a:r>
            <a:r>
              <a:rPr lang="en-US" dirty="0"/>
              <a:t> SQL. Replicates data six ways across 3 AZs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35</a:t>
            </a:fld>
            <a:endParaRPr lang="en-GB"/>
          </a:p>
        </p:txBody>
      </p:sp>
    </p:spTree>
    <p:extLst>
      <p:ext uri="{BB962C8B-B14F-4D97-AF65-F5344CB8AC3E}">
        <p14:creationId xmlns:p14="http://schemas.microsoft.com/office/powerpoint/2010/main" val="6281469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36</a:t>
            </a:fld>
            <a:endParaRPr lang="en-GB"/>
          </a:p>
        </p:txBody>
      </p:sp>
    </p:spTree>
    <p:extLst>
      <p:ext uri="{BB962C8B-B14F-4D97-AF65-F5344CB8AC3E}">
        <p14:creationId xmlns:p14="http://schemas.microsoft.com/office/powerpoint/2010/main" val="148464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37</a:t>
            </a:fld>
            <a:endParaRPr lang="en-GB"/>
          </a:p>
        </p:txBody>
      </p:sp>
    </p:spTree>
    <p:extLst>
      <p:ext uri="{BB962C8B-B14F-4D97-AF65-F5344CB8AC3E}">
        <p14:creationId xmlns:p14="http://schemas.microsoft.com/office/powerpoint/2010/main" val="15670875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38</a:t>
            </a:fld>
            <a:endParaRPr lang="en-GB"/>
          </a:p>
        </p:txBody>
      </p:sp>
    </p:spTree>
    <p:extLst>
      <p:ext uri="{BB962C8B-B14F-4D97-AF65-F5344CB8AC3E}">
        <p14:creationId xmlns:p14="http://schemas.microsoft.com/office/powerpoint/2010/main" val="8109889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39</a:t>
            </a:fld>
            <a:endParaRPr lang="en-GB"/>
          </a:p>
        </p:txBody>
      </p:sp>
    </p:spTree>
    <p:extLst>
      <p:ext uri="{BB962C8B-B14F-4D97-AF65-F5344CB8AC3E}">
        <p14:creationId xmlns:p14="http://schemas.microsoft.com/office/powerpoint/2010/main" val="35102445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40</a:t>
            </a:fld>
            <a:endParaRPr lang="en-GB"/>
          </a:p>
        </p:txBody>
      </p:sp>
    </p:spTree>
    <p:extLst>
      <p:ext uri="{BB962C8B-B14F-4D97-AF65-F5344CB8AC3E}">
        <p14:creationId xmlns:p14="http://schemas.microsoft.com/office/powerpoint/2010/main" val="133763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level storage means there is no concept of update to a file – entire file needs to be re-uploaded</a:t>
            </a:r>
          </a:p>
          <a:p>
            <a:r>
              <a:rPr lang="en-US" dirty="0"/>
              <a:t>There is no restriction to amount of data inside a bucket</a:t>
            </a:r>
          </a:p>
          <a:p>
            <a:r>
              <a:rPr lang="en-US" dirty="0"/>
              <a:t>Pay for storage and transfer out to other regions and for the read and put/post requests</a:t>
            </a:r>
          </a:p>
          <a:p>
            <a:r>
              <a:rPr lang="en-US" dirty="0"/>
              <a:t>Not pay for transfer IN to S3 and for moving to EC2 instances in same region</a:t>
            </a:r>
          </a:p>
          <a:p>
            <a:endParaRPr lang="en-US" dirty="0"/>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41</a:t>
            </a:fld>
            <a:endParaRPr lang="en-GB"/>
          </a:p>
        </p:txBody>
      </p:sp>
    </p:spTree>
    <p:extLst>
      <p:ext uri="{BB962C8B-B14F-4D97-AF65-F5344CB8AC3E}">
        <p14:creationId xmlns:p14="http://schemas.microsoft.com/office/powerpoint/2010/main" val="39532802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Cannot have buckets inside buckets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42</a:t>
            </a:fld>
            <a:endParaRPr lang="en-GB"/>
          </a:p>
        </p:txBody>
      </p:sp>
    </p:spTree>
    <p:extLst>
      <p:ext uri="{BB962C8B-B14F-4D97-AF65-F5344CB8AC3E}">
        <p14:creationId xmlns:p14="http://schemas.microsoft.com/office/powerpoint/2010/main" val="4376233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policies to transition between storage classes</a:t>
            </a:r>
          </a:p>
          <a:p>
            <a:r>
              <a:rPr lang="en-US" dirty="0"/>
              <a:t>All storage classes support 11 nines durability </a:t>
            </a:r>
          </a:p>
          <a:p>
            <a:r>
              <a:rPr lang="en-US" dirty="0"/>
              <a:t>Refer - https://aws.amazon.com/s3/storage-classes/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43</a:t>
            </a:fld>
            <a:endParaRPr lang="en-GB"/>
          </a:p>
        </p:txBody>
      </p:sp>
    </p:spTree>
    <p:extLst>
      <p:ext uri="{BB962C8B-B14F-4D97-AF65-F5344CB8AC3E}">
        <p14:creationId xmlns:p14="http://schemas.microsoft.com/office/powerpoint/2010/main" val="33322795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44</a:t>
            </a:fld>
            <a:endParaRPr lang="en-GB"/>
          </a:p>
        </p:txBody>
      </p:sp>
    </p:spTree>
    <p:extLst>
      <p:ext uri="{BB962C8B-B14F-4D97-AF65-F5344CB8AC3E}">
        <p14:creationId xmlns:p14="http://schemas.microsoft.com/office/powerpoint/2010/main" val="10667055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45</a:t>
            </a:fld>
            <a:endParaRPr lang="en-GB"/>
          </a:p>
        </p:txBody>
      </p:sp>
    </p:spTree>
    <p:extLst>
      <p:ext uri="{BB962C8B-B14F-4D97-AF65-F5344CB8AC3E}">
        <p14:creationId xmlns:p14="http://schemas.microsoft.com/office/powerpoint/2010/main" val="42254372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Ephemeral -</a:t>
            </a:r>
          </a:p>
          <a:p>
            <a:pPr rtl="0" fontAlgn="ctr"/>
            <a:r>
              <a:rPr lang="en-US" sz="1200" kern="1200" dirty="0">
                <a:solidFill>
                  <a:schemeClr val="tx1"/>
                </a:solidFill>
                <a:effectLst/>
                <a:latin typeface="+mn-lt"/>
                <a:ea typeface="+mn-ea"/>
                <a:cs typeface="+mn-cs"/>
              </a:rPr>
              <a:t>Free, part of the instance</a:t>
            </a:r>
          </a:p>
          <a:p>
            <a:pPr rtl="0" fontAlgn="ctr"/>
            <a:r>
              <a:rPr lang="en-US" sz="1200" kern="1200" dirty="0">
                <a:solidFill>
                  <a:schemeClr val="tx1"/>
                </a:solidFill>
                <a:effectLst/>
                <a:latin typeface="+mn-lt"/>
                <a:ea typeface="+mn-ea"/>
                <a:cs typeface="+mn-cs"/>
              </a:rPr>
              <a:t>Block storage</a:t>
            </a:r>
          </a:p>
          <a:p>
            <a:pPr rtl="0" fontAlgn="ctr"/>
            <a:r>
              <a:rPr lang="en-US" sz="1200" kern="1200" dirty="0">
                <a:solidFill>
                  <a:schemeClr val="tx1"/>
                </a:solidFill>
                <a:effectLst/>
                <a:latin typeface="+mn-lt"/>
                <a:ea typeface="+mn-ea"/>
                <a:cs typeface="+mn-cs"/>
              </a:rPr>
              <a:t>No guarantee of performance</a:t>
            </a:r>
          </a:p>
          <a:p>
            <a:pPr rtl="0" fontAlgn="ctr"/>
            <a:r>
              <a:rPr lang="en-US" sz="1200" kern="1200" dirty="0">
                <a:solidFill>
                  <a:schemeClr val="tx1"/>
                </a:solidFill>
                <a:effectLst/>
                <a:latin typeface="+mn-lt"/>
                <a:ea typeface="+mn-ea"/>
                <a:cs typeface="+mn-cs"/>
              </a:rPr>
              <a:t>Ideal for Buffer, cache, replicated data, scratch</a:t>
            </a:r>
          </a:p>
          <a:p>
            <a:pPr rtl="0" fontAlgn="ctr"/>
            <a:endParaRPr lang="en-US" sz="1200" kern="1200" dirty="0">
              <a:solidFill>
                <a:schemeClr val="tx1"/>
              </a:solidFill>
              <a:effectLst/>
              <a:latin typeface="+mn-lt"/>
              <a:ea typeface="+mn-ea"/>
              <a:cs typeface="+mn-cs"/>
            </a:endParaRPr>
          </a:p>
          <a:p>
            <a:pPr rtl="0" fontAlgn="ctr"/>
            <a:r>
              <a:rPr lang="en-US" sz="1200" kern="1200" dirty="0">
                <a:solidFill>
                  <a:schemeClr val="tx1"/>
                </a:solidFill>
                <a:effectLst/>
                <a:latin typeface="+mn-lt"/>
                <a:ea typeface="+mn-ea"/>
                <a:cs typeface="+mn-cs"/>
              </a:rPr>
              <a:t>EBS</a:t>
            </a:r>
          </a:p>
          <a:p>
            <a:pPr marL="171450" indent="-171450" rtl="0" fontAlgn="ctr">
              <a:buFontTx/>
              <a:buChar char="-"/>
            </a:pPr>
            <a:r>
              <a:rPr lang="en-US" sz="1200" kern="1200" dirty="0">
                <a:solidFill>
                  <a:schemeClr val="tx1"/>
                </a:solidFill>
                <a:effectLst/>
                <a:latin typeface="+mn-lt"/>
                <a:ea typeface="+mn-ea"/>
                <a:cs typeface="+mn-cs"/>
              </a:rPr>
              <a:t>Supports incremental snapshots (on private area in S3)</a:t>
            </a:r>
          </a:p>
          <a:p>
            <a:pPr marL="171450" indent="-171450" rtl="0" fontAlgn="ctr">
              <a:buFontTx/>
              <a:buChar char="-"/>
            </a:pPr>
            <a:r>
              <a:rPr lang="en-US" sz="1200" kern="1200" dirty="0">
                <a:solidFill>
                  <a:schemeClr val="tx1"/>
                </a:solidFill>
                <a:effectLst/>
                <a:latin typeface="+mn-lt"/>
                <a:ea typeface="+mn-ea"/>
                <a:cs typeface="+mn-cs"/>
              </a:rPr>
              <a:t>Can be moved to other AZs</a:t>
            </a:r>
          </a:p>
        </p:txBody>
      </p:sp>
      <p:sp>
        <p:nvSpPr>
          <p:cNvPr id="4" name="Slide Number Placeholder 3"/>
          <p:cNvSpPr>
            <a:spLocks noGrp="1"/>
          </p:cNvSpPr>
          <p:nvPr>
            <p:ph type="sldNum" sz="quarter" idx="5"/>
          </p:nvPr>
        </p:nvSpPr>
        <p:spPr/>
        <p:txBody>
          <a:bodyPr/>
          <a:lstStyle/>
          <a:p>
            <a:fld id="{A5F3102E-6C56-4F81-B30B-581BE2EC6691}" type="slidenum">
              <a:rPr lang="en-GB" smtClean="0"/>
              <a:t>46</a:t>
            </a:fld>
            <a:endParaRPr lang="en-GB"/>
          </a:p>
        </p:txBody>
      </p:sp>
    </p:spTree>
    <p:extLst>
      <p:ext uri="{BB962C8B-B14F-4D97-AF65-F5344CB8AC3E}">
        <p14:creationId xmlns:p14="http://schemas.microsoft.com/office/powerpoint/2010/main" val="17411280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create a volume from an existing snapshot</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47</a:t>
            </a:fld>
            <a:endParaRPr lang="en-GB"/>
          </a:p>
        </p:txBody>
      </p:sp>
    </p:spTree>
    <p:extLst>
      <p:ext uri="{BB962C8B-B14F-4D97-AF65-F5344CB8AC3E}">
        <p14:creationId xmlns:p14="http://schemas.microsoft.com/office/powerpoint/2010/main" val="15356769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Gp</a:t>
            </a:r>
            <a:r>
              <a:rPr lang="en-US" dirty="0"/>
              <a:t> SSD – the IOPS scales linearly per GB with a minimum of 100 IOPS and a maximum of 16000 IOPS</a:t>
            </a:r>
          </a:p>
          <a:p>
            <a:r>
              <a:rPr lang="en-US" dirty="0"/>
              <a:t>Provisioned IOPS allows you to specify a target IOPS for your application so you will get the guaranteed IOPS </a:t>
            </a:r>
          </a:p>
          <a:p>
            <a:endParaRPr lang="en-US" dirty="0"/>
          </a:p>
          <a:p>
            <a:r>
              <a:rPr lang="en-US" dirty="0"/>
              <a:t>SSD backed is good for transactional workloads involving frequent read / write operations with small I/O size , where dominant performance  attribute is IOPS</a:t>
            </a:r>
          </a:p>
          <a:p>
            <a:endParaRPr lang="en-US" dirty="0"/>
          </a:p>
          <a:p>
            <a:r>
              <a:rPr lang="en-US" dirty="0"/>
              <a:t>HDD backed is good for large streaming workloads  where throughput is a better measure than IOPS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48</a:t>
            </a:fld>
            <a:endParaRPr lang="en-GB"/>
          </a:p>
        </p:txBody>
      </p:sp>
    </p:spTree>
    <p:extLst>
      <p:ext uri="{BB962C8B-B14F-4D97-AF65-F5344CB8AC3E}">
        <p14:creationId xmlns:p14="http://schemas.microsoft.com/office/powerpoint/2010/main" val="16011195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https://aws.amazon.com/efs/when-to-choose-efs/</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49</a:t>
            </a:fld>
            <a:endParaRPr lang="en-GB"/>
          </a:p>
        </p:txBody>
      </p:sp>
    </p:spTree>
    <p:extLst>
      <p:ext uri="{BB962C8B-B14F-4D97-AF65-F5344CB8AC3E}">
        <p14:creationId xmlns:p14="http://schemas.microsoft.com/office/powerpoint/2010/main" val="23671681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50</a:t>
            </a:fld>
            <a:endParaRPr lang="en-GB"/>
          </a:p>
        </p:txBody>
      </p:sp>
    </p:spTree>
    <p:extLst>
      <p:ext uri="{BB962C8B-B14F-4D97-AF65-F5344CB8AC3E}">
        <p14:creationId xmlns:p14="http://schemas.microsoft.com/office/powerpoint/2010/main" val="15592551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3554D6-21BA-4DC8-A21F-294822D1DCA0}" type="slidenum">
              <a:rPr lang="en-US" smtClean="0"/>
              <a:t>51</a:t>
            </a:fld>
            <a:endParaRPr lang="en-US"/>
          </a:p>
        </p:txBody>
      </p:sp>
    </p:spTree>
    <p:extLst>
      <p:ext uri="{BB962C8B-B14F-4D97-AF65-F5344CB8AC3E}">
        <p14:creationId xmlns:p14="http://schemas.microsoft.com/office/powerpoint/2010/main" val="19852831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52</a:t>
            </a:fld>
            <a:endParaRPr lang="en-GB"/>
          </a:p>
        </p:txBody>
      </p:sp>
    </p:spTree>
    <p:extLst>
      <p:ext uri="{BB962C8B-B14F-4D97-AF65-F5344CB8AC3E}">
        <p14:creationId xmlns:p14="http://schemas.microsoft.com/office/powerpoint/2010/main" val="14339988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instances and ELB feed  metrics to Cloud Watch</a:t>
            </a:r>
          </a:p>
          <a:p>
            <a:r>
              <a:rPr lang="en-US" dirty="0"/>
              <a:t>Auto scaling group defines a group with launch configurations  and auto scale policies</a:t>
            </a:r>
          </a:p>
          <a:p>
            <a:r>
              <a:rPr lang="en-US" dirty="0"/>
              <a:t>Cloud watch alarms execute the policies to affect the size of the fleet</a:t>
            </a:r>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53</a:t>
            </a:fld>
            <a:endParaRPr lang="en-GB"/>
          </a:p>
        </p:txBody>
      </p:sp>
    </p:spTree>
    <p:extLst>
      <p:ext uri="{BB962C8B-B14F-4D97-AF65-F5344CB8AC3E}">
        <p14:creationId xmlns:p14="http://schemas.microsoft.com/office/powerpoint/2010/main" val="16726523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54</a:t>
            </a:fld>
            <a:endParaRPr lang="en-GB"/>
          </a:p>
        </p:txBody>
      </p:sp>
    </p:spTree>
    <p:extLst>
      <p:ext uri="{BB962C8B-B14F-4D97-AF65-F5344CB8AC3E}">
        <p14:creationId xmlns:p14="http://schemas.microsoft.com/office/powerpoint/2010/main" val="28865138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55</a:t>
            </a:fld>
            <a:endParaRPr lang="en-GB"/>
          </a:p>
        </p:txBody>
      </p:sp>
    </p:spTree>
    <p:extLst>
      <p:ext uri="{BB962C8B-B14F-4D97-AF65-F5344CB8AC3E}">
        <p14:creationId xmlns:p14="http://schemas.microsoft.com/office/powerpoint/2010/main" val="41676376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of Migrating from a Classic Load Balancer</a:t>
            </a:r>
          </a:p>
          <a:p>
            <a:r>
              <a:rPr lang="en-US" dirty="0"/>
              <a:t>Using an Application Load Balancer instead of a Classic Load Balancer has the following benefits:</a:t>
            </a:r>
          </a:p>
          <a:p>
            <a:pPr marL="174982" indent="-174982">
              <a:buFont typeface="Arial" panose="020B0604020202020204" pitchFamily="34" charset="0"/>
              <a:buChar char="•"/>
            </a:pPr>
            <a:r>
              <a:rPr lang="en-US" dirty="0"/>
              <a:t>Support for path-based routing. You can configure rules for your listener that forward requests based on the URL in the request. This enables you to structure your application as smaller services, and route requests to the correct service based on the content of the URL.</a:t>
            </a:r>
          </a:p>
          <a:p>
            <a:pPr marL="174982" indent="-174982">
              <a:buFont typeface="Arial" panose="020B0604020202020204" pitchFamily="34" charset="0"/>
              <a:buChar char="•"/>
            </a:pPr>
            <a:r>
              <a:rPr lang="en-US" dirty="0"/>
              <a:t>Support for host-based routing. You can configure rules for your listener that forward requests based on the host field in the HTTP header. This enables you to route requests to multiple domains using a single load balancer.</a:t>
            </a:r>
          </a:p>
          <a:p>
            <a:pPr marL="174982" indent="-174982">
              <a:buFont typeface="Arial" panose="020B0604020202020204" pitchFamily="34" charset="0"/>
              <a:buChar char="•"/>
            </a:pPr>
            <a:r>
              <a:rPr lang="en-US" dirty="0"/>
              <a:t>Support for routing based on fields in the request, such as standard and custom HTTP headers and methods, query parameters, and source IP addresses.</a:t>
            </a:r>
          </a:p>
          <a:p>
            <a:pPr marL="174982" indent="-174982">
              <a:buFont typeface="Arial" panose="020B0604020202020204" pitchFamily="34" charset="0"/>
              <a:buChar char="•"/>
            </a:pPr>
            <a:r>
              <a:rPr lang="en-US" dirty="0"/>
              <a:t>Support for routing requests to multiple applications on a single EC2 instance. You can register each instance or IP address with the same target group using multiple ports.</a:t>
            </a:r>
          </a:p>
          <a:p>
            <a:pPr marL="174982" indent="-174982">
              <a:buFont typeface="Arial" panose="020B0604020202020204" pitchFamily="34" charset="0"/>
              <a:buChar char="•"/>
            </a:pPr>
            <a:r>
              <a:rPr lang="en-US" dirty="0"/>
              <a:t>Support for redirecting requests from one URL to another.</a:t>
            </a:r>
          </a:p>
          <a:p>
            <a:pPr marL="174982" indent="-174982">
              <a:buFont typeface="Arial" panose="020B0604020202020204" pitchFamily="34" charset="0"/>
              <a:buChar char="•"/>
            </a:pPr>
            <a:r>
              <a:rPr lang="en-US" dirty="0"/>
              <a:t>Support for returning a custom HTTP response.</a:t>
            </a:r>
          </a:p>
          <a:p>
            <a:pPr marL="174982" indent="-174982">
              <a:buFont typeface="Arial" panose="020B0604020202020204" pitchFamily="34" charset="0"/>
              <a:buChar char="•"/>
            </a:pPr>
            <a:r>
              <a:rPr lang="en-US" dirty="0"/>
              <a:t>Support for registering targets by IP address, including targets outside the VPC for the load balancer.</a:t>
            </a:r>
          </a:p>
          <a:p>
            <a:pPr marL="174982" indent="-174982">
              <a:buFont typeface="Arial" panose="020B0604020202020204" pitchFamily="34" charset="0"/>
              <a:buChar char="•"/>
            </a:pPr>
            <a:r>
              <a:rPr lang="en-US" dirty="0"/>
              <a:t>Support for registering Lambda functions as targets.</a:t>
            </a:r>
          </a:p>
          <a:p>
            <a:pPr marL="174982" indent="-174982">
              <a:buFont typeface="Arial" panose="020B0604020202020204" pitchFamily="34" charset="0"/>
              <a:buChar char="•"/>
            </a:pPr>
            <a:r>
              <a:rPr lang="en-US" dirty="0"/>
              <a:t>Support for the load balancer to authenticate users of your applications through their corporate or social identities before routing requests.</a:t>
            </a:r>
          </a:p>
          <a:p>
            <a:pPr marL="174982" indent="-174982">
              <a:buFont typeface="Arial" panose="020B0604020202020204" pitchFamily="34" charset="0"/>
              <a:buChar char="•"/>
            </a:pPr>
            <a:r>
              <a:rPr lang="en-US" dirty="0"/>
              <a:t>Support for containerized applications. Amazon Elastic Container Service (Amazon ECS) can select an unused port when scheduling a task and register the task with a target group using this port. This enables you to make efficient use of your clusters.</a:t>
            </a:r>
          </a:p>
          <a:p>
            <a:pPr marL="174982" indent="-174982">
              <a:buFont typeface="Arial" panose="020B0604020202020204" pitchFamily="34" charset="0"/>
              <a:buChar char="•"/>
            </a:pPr>
            <a:r>
              <a:rPr lang="en-US" dirty="0"/>
              <a:t>Support for monitoring the health of each service independently, as health checks are defined at the target group level and many CloudWatch metrics are reported at the target group level. Attaching a target group to an Auto Scaling group enables you to scale each service dynamically based on demand.</a:t>
            </a:r>
          </a:p>
          <a:p>
            <a:pPr marL="174982" indent="-174982">
              <a:buFont typeface="Arial" panose="020B0604020202020204" pitchFamily="34" charset="0"/>
              <a:buChar char="•"/>
            </a:pPr>
            <a:r>
              <a:rPr lang="en-US" dirty="0"/>
              <a:t>Access logs contain additional information and are stored in compressed format.</a:t>
            </a:r>
          </a:p>
          <a:p>
            <a:pPr marL="174982" indent="-174982">
              <a:buFont typeface="Arial" panose="020B0604020202020204" pitchFamily="34" charset="0"/>
              <a:buChar char="•"/>
            </a:pPr>
            <a:r>
              <a:rPr lang="en-US" dirty="0"/>
              <a:t>Improved load balancer performance.</a:t>
            </a:r>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56</a:t>
            </a:fld>
            <a:endParaRPr lang="en-GB"/>
          </a:p>
        </p:txBody>
      </p:sp>
    </p:spTree>
    <p:extLst>
      <p:ext uri="{BB962C8B-B14F-4D97-AF65-F5344CB8AC3E}">
        <p14:creationId xmlns:p14="http://schemas.microsoft.com/office/powerpoint/2010/main" val="17911537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57</a:t>
            </a:fld>
            <a:endParaRPr lang="en-GB"/>
          </a:p>
        </p:txBody>
      </p:sp>
    </p:spTree>
    <p:extLst>
      <p:ext uri="{BB962C8B-B14F-4D97-AF65-F5344CB8AC3E}">
        <p14:creationId xmlns:p14="http://schemas.microsoft.com/office/powerpoint/2010/main" val="22383539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IP support &gt;&gt; Normally ELB IP addresses change and only DNS name is provided to client ; but NW LB has option of providing a static IP</a:t>
            </a:r>
          </a:p>
          <a:p>
            <a:endParaRPr lang="en-US" dirty="0"/>
          </a:p>
          <a:p>
            <a:r>
              <a:rPr lang="en-US" dirty="0"/>
              <a:t>If you need flexible application management, use ALB</a:t>
            </a:r>
          </a:p>
          <a:p>
            <a:r>
              <a:rPr lang="en-US" dirty="0"/>
              <a:t>If you need extreme performance and static IP support, use Network LB</a:t>
            </a:r>
          </a:p>
          <a:p>
            <a:r>
              <a:rPr lang="en-US" dirty="0"/>
              <a:t>If you need compatibility with EC2 classic, use Classic LB</a:t>
            </a:r>
          </a:p>
          <a:p>
            <a:endParaRPr lang="en-US" dirty="0"/>
          </a:p>
          <a:p>
            <a:r>
              <a:rPr lang="en-US" dirty="0"/>
              <a:t>Sticky sessions :</a:t>
            </a:r>
          </a:p>
          <a:p>
            <a:r>
              <a:rPr lang="en-US" dirty="0"/>
              <a:t>In classic, sticky sessions can be used using the application cookies </a:t>
            </a:r>
          </a:p>
          <a:p>
            <a:r>
              <a:rPr lang="en-US" dirty="0"/>
              <a:t>In ALB, stick sessions can be defined at target group level and ELB generates a cookie called AWSELB to handle the same</a:t>
            </a:r>
          </a:p>
          <a:p>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58</a:t>
            </a:fld>
            <a:endParaRPr lang="en-GB"/>
          </a:p>
        </p:txBody>
      </p:sp>
    </p:spTree>
    <p:extLst>
      <p:ext uri="{BB962C8B-B14F-4D97-AF65-F5344CB8AC3E}">
        <p14:creationId xmlns:p14="http://schemas.microsoft.com/office/powerpoint/2010/main" val="36154935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59</a:t>
            </a:fld>
            <a:endParaRPr lang="en-GB"/>
          </a:p>
        </p:txBody>
      </p:sp>
    </p:spTree>
    <p:extLst>
      <p:ext uri="{BB962C8B-B14F-4D97-AF65-F5344CB8AC3E}">
        <p14:creationId xmlns:p14="http://schemas.microsoft.com/office/powerpoint/2010/main" val="22922958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60</a:t>
            </a:fld>
            <a:endParaRPr lang="en-GB"/>
          </a:p>
        </p:txBody>
      </p:sp>
    </p:spTree>
    <p:extLst>
      <p:ext uri="{BB962C8B-B14F-4D97-AF65-F5344CB8AC3E}">
        <p14:creationId xmlns:p14="http://schemas.microsoft.com/office/powerpoint/2010/main" val="9670767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61</a:t>
            </a:fld>
            <a:endParaRPr lang="en-GB"/>
          </a:p>
        </p:txBody>
      </p:sp>
    </p:spTree>
    <p:extLst>
      <p:ext uri="{BB962C8B-B14F-4D97-AF65-F5344CB8AC3E}">
        <p14:creationId xmlns:p14="http://schemas.microsoft.com/office/powerpoint/2010/main" val="42756546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62</a:t>
            </a:fld>
            <a:endParaRPr lang="en-GB"/>
          </a:p>
        </p:txBody>
      </p:sp>
    </p:spTree>
    <p:extLst>
      <p:ext uri="{BB962C8B-B14F-4D97-AF65-F5344CB8AC3E}">
        <p14:creationId xmlns:p14="http://schemas.microsoft.com/office/powerpoint/2010/main" val="39449834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3554D6-21BA-4DC8-A21F-294822D1DCA0}" type="slidenum">
              <a:rPr lang="en-US" smtClean="0"/>
              <a:t>63</a:t>
            </a:fld>
            <a:endParaRPr lang="en-US"/>
          </a:p>
        </p:txBody>
      </p:sp>
    </p:spTree>
    <p:extLst>
      <p:ext uri="{BB962C8B-B14F-4D97-AF65-F5344CB8AC3E}">
        <p14:creationId xmlns:p14="http://schemas.microsoft.com/office/powerpoint/2010/main" val="6019404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64</a:t>
            </a:fld>
            <a:endParaRPr lang="en-GB"/>
          </a:p>
        </p:txBody>
      </p:sp>
    </p:spTree>
    <p:extLst>
      <p:ext uri="{BB962C8B-B14F-4D97-AF65-F5344CB8AC3E}">
        <p14:creationId xmlns:p14="http://schemas.microsoft.com/office/powerpoint/2010/main" val="25198060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65</a:t>
            </a:fld>
            <a:endParaRPr lang="en-GB"/>
          </a:p>
        </p:txBody>
      </p:sp>
    </p:spTree>
    <p:extLst>
      <p:ext uri="{BB962C8B-B14F-4D97-AF65-F5344CB8AC3E}">
        <p14:creationId xmlns:p14="http://schemas.microsoft.com/office/powerpoint/2010/main" val="87706003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66</a:t>
            </a:fld>
            <a:endParaRPr lang="en-GB"/>
          </a:p>
        </p:txBody>
      </p:sp>
    </p:spTree>
    <p:extLst>
      <p:ext uri="{BB962C8B-B14F-4D97-AF65-F5344CB8AC3E}">
        <p14:creationId xmlns:p14="http://schemas.microsoft.com/office/powerpoint/2010/main" val="25079518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effectLst/>
              </a:rPr>
              <a:t>Role</a:t>
            </a:r>
            <a:r>
              <a:rPr lang="en-US" dirty="0" err="1"/>
              <a:t>An</a:t>
            </a:r>
            <a:r>
              <a:rPr lang="en-US" dirty="0"/>
              <a:t> IAM identity that you can create in your account that has specific permissions. An IAM role has some similarities to an IAM user. Roles and users are both AWS identities with permissions policies that determine what the identity can and cannot do in AWS. However, instead of being uniquely associated with one person, a role is intended to be assumable by anyone who needs it. Also, a role does not have standard long-term credentials such as a password or access keys associated with it. Instead, when you assume a role, it provides you with temporary security credentials for your role session.</a:t>
            </a:r>
          </a:p>
          <a:p>
            <a:r>
              <a:rPr lang="en-US" dirty="0"/>
              <a:t>Roles can be used by the following:</a:t>
            </a:r>
          </a:p>
          <a:p>
            <a:r>
              <a:rPr lang="en-US" dirty="0"/>
              <a:t>An IAM user in the same AWS account as the role</a:t>
            </a:r>
          </a:p>
          <a:p>
            <a:r>
              <a:rPr lang="en-US" dirty="0"/>
              <a:t>An IAM user in a different AWS account than the role</a:t>
            </a:r>
          </a:p>
          <a:p>
            <a:r>
              <a:rPr lang="en-US" dirty="0"/>
              <a:t>A web service offered by AWS such as Amazon Elastic Compute Cloud (Amazon EC2)</a:t>
            </a:r>
          </a:p>
          <a:p>
            <a:r>
              <a:rPr lang="en-US" dirty="0"/>
              <a:t>An external user authenticated by an external identity provider (</a:t>
            </a:r>
            <a:r>
              <a:rPr lang="en-US" dirty="0" err="1"/>
              <a:t>IdP</a:t>
            </a:r>
            <a:r>
              <a:rPr lang="en-US" dirty="0"/>
              <a:t>) service that is compatible with SAML 2.0 or OpenID Connect, or a custom-built identity broker.</a:t>
            </a:r>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67</a:t>
            </a:fld>
            <a:endParaRPr lang="en-GB"/>
          </a:p>
        </p:txBody>
      </p:sp>
    </p:spTree>
    <p:extLst>
      <p:ext uri="{BB962C8B-B14F-4D97-AF65-F5344CB8AC3E}">
        <p14:creationId xmlns:p14="http://schemas.microsoft.com/office/powerpoint/2010/main" val="21576521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68</a:t>
            </a:fld>
            <a:endParaRPr lang="en-GB"/>
          </a:p>
        </p:txBody>
      </p:sp>
    </p:spTree>
    <p:extLst>
      <p:ext uri="{BB962C8B-B14F-4D97-AF65-F5344CB8AC3E}">
        <p14:creationId xmlns:p14="http://schemas.microsoft.com/office/powerpoint/2010/main" val="27413828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69</a:t>
            </a:fld>
            <a:endParaRPr lang="en-GB"/>
          </a:p>
        </p:txBody>
      </p:sp>
    </p:spTree>
    <p:extLst>
      <p:ext uri="{BB962C8B-B14F-4D97-AF65-F5344CB8AC3E}">
        <p14:creationId xmlns:p14="http://schemas.microsoft.com/office/powerpoint/2010/main" val="11223287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70</a:t>
            </a:fld>
            <a:endParaRPr lang="en-GB"/>
          </a:p>
        </p:txBody>
      </p:sp>
    </p:spTree>
    <p:extLst>
      <p:ext uri="{BB962C8B-B14F-4D97-AF65-F5344CB8AC3E}">
        <p14:creationId xmlns:p14="http://schemas.microsoft.com/office/powerpoint/2010/main" val="24370095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71</a:t>
            </a:fld>
            <a:endParaRPr lang="en-GB"/>
          </a:p>
        </p:txBody>
      </p:sp>
    </p:spTree>
    <p:extLst>
      <p:ext uri="{BB962C8B-B14F-4D97-AF65-F5344CB8AC3E}">
        <p14:creationId xmlns:p14="http://schemas.microsoft.com/office/powerpoint/2010/main" val="22371552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72</a:t>
            </a:fld>
            <a:endParaRPr lang="en-GB"/>
          </a:p>
        </p:txBody>
      </p:sp>
    </p:spTree>
    <p:extLst>
      <p:ext uri="{BB962C8B-B14F-4D97-AF65-F5344CB8AC3E}">
        <p14:creationId xmlns:p14="http://schemas.microsoft.com/office/powerpoint/2010/main" val="2181079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36C95-1C25-95FC-4330-8C154D6403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C848EB-B22E-FADA-F16C-1622EBFD3E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D086FF-A837-21CA-D19C-C5BA89D81E39}"/>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5" name="Footer Placeholder 4">
            <a:extLst>
              <a:ext uri="{FF2B5EF4-FFF2-40B4-BE49-F238E27FC236}">
                <a16:creationId xmlns:a16="http://schemas.microsoft.com/office/drawing/2014/main" id="{4D897A45-BFE6-7FC2-A14A-78C0CE22A1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F49981-C012-00CA-CD93-40133462C4CF}"/>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308110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CA38-88DB-03EE-58CA-B2DB65489D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67AB89-DCB5-05AF-BE0E-DDBFAF7AA0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F7D84B-A288-BED0-8891-3BB76D70A983}"/>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5" name="Footer Placeholder 4">
            <a:extLst>
              <a:ext uri="{FF2B5EF4-FFF2-40B4-BE49-F238E27FC236}">
                <a16:creationId xmlns:a16="http://schemas.microsoft.com/office/drawing/2014/main" id="{F0E467C6-ACA1-6C64-2B9B-D02F48F94D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2709BB-8823-4543-24AB-F69F455DBF61}"/>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2300295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CDA8-DC35-1508-B3A1-3A5742CB1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0E415E-9FE4-170E-B27C-BD0CC59F76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9940AC-ADBD-3DEA-84B7-235BBDFCFDDE}"/>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5" name="Footer Placeholder 4">
            <a:extLst>
              <a:ext uri="{FF2B5EF4-FFF2-40B4-BE49-F238E27FC236}">
                <a16:creationId xmlns:a16="http://schemas.microsoft.com/office/drawing/2014/main" id="{B78BBE0C-A5AC-6621-6E2D-8E24F6EA83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81694E-27F4-63CA-1687-ACD2E53BAE4A}"/>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1130551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5EF30-7A4F-0104-25CA-39D88445BF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BB4BB4-9C41-6A06-70EA-264018F8DE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EBE41C-10FC-EE3A-55F0-DF30FB5FDB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C670E2-A4A1-2057-62E1-741BB9B4C182}"/>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6" name="Footer Placeholder 5">
            <a:extLst>
              <a:ext uri="{FF2B5EF4-FFF2-40B4-BE49-F238E27FC236}">
                <a16:creationId xmlns:a16="http://schemas.microsoft.com/office/drawing/2014/main" id="{75AD957E-EF4F-25B4-A0D8-E49F4E4205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C4433B-F1AD-E232-E49C-BD234363F7FB}"/>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24300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09AD-7639-ED45-CDCE-BF3045281D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9C7977-70DC-63EB-28FA-67F356290C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AD078C-FAF6-FD26-0AE5-996573C493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1D8726-1F80-B59A-7A69-718FE00BC9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6626E2-26C5-1A60-82B3-8C33090E46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139480-86DD-D628-D8A7-89323E9F8DAB}"/>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8" name="Footer Placeholder 7">
            <a:extLst>
              <a:ext uri="{FF2B5EF4-FFF2-40B4-BE49-F238E27FC236}">
                <a16:creationId xmlns:a16="http://schemas.microsoft.com/office/drawing/2014/main" id="{39A5B3E5-1640-2602-7A5A-4A2EF66895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499B44-4ED2-8E3A-5D57-E585B5B74AFE}"/>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3361559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15A39-9789-E740-48B3-34425A98DA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CEDEAA-FF07-E4D5-2573-43AC53FD8C0E}"/>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4" name="Footer Placeholder 3">
            <a:extLst>
              <a:ext uri="{FF2B5EF4-FFF2-40B4-BE49-F238E27FC236}">
                <a16:creationId xmlns:a16="http://schemas.microsoft.com/office/drawing/2014/main" id="{1C9BD5AD-5B62-A665-3A5A-CC38C52BD3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738C73-EA23-CC19-9D99-739B10549E33}"/>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4929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8E29CB-0E04-0460-BC9A-235DB8360134}"/>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3" name="Footer Placeholder 2">
            <a:extLst>
              <a:ext uri="{FF2B5EF4-FFF2-40B4-BE49-F238E27FC236}">
                <a16:creationId xmlns:a16="http://schemas.microsoft.com/office/drawing/2014/main" id="{155B908B-9162-274B-B5E9-9C674E27AD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11D2E8-0BB7-9AB5-0286-09BF6E5A27F4}"/>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514649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7752-00AA-563E-0ED1-64A1179E1D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6D0804-E6AB-2C80-9733-E0D528E75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BFB2B2-2D8A-7EEE-0717-6040192E32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1D8F8-8AB5-4725-1293-695BEA30CBF7}"/>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6" name="Footer Placeholder 5">
            <a:extLst>
              <a:ext uri="{FF2B5EF4-FFF2-40B4-BE49-F238E27FC236}">
                <a16:creationId xmlns:a16="http://schemas.microsoft.com/office/drawing/2014/main" id="{44099E0F-E32B-35C6-B086-45C4C01C8A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129293-A050-4986-B05C-41D268932527}"/>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160416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73E6-ED98-286E-389B-9BC38CD7F7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B3C279-BAD3-DE66-E493-DC13A8C73F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297E07-DD6C-6B28-9B9B-C037E6752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191DE7-CF04-3979-58AF-80BDBAC09908}"/>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6" name="Footer Placeholder 5">
            <a:extLst>
              <a:ext uri="{FF2B5EF4-FFF2-40B4-BE49-F238E27FC236}">
                <a16:creationId xmlns:a16="http://schemas.microsoft.com/office/drawing/2014/main" id="{1BC5A2E3-244E-B5AA-AF84-512AC3A1E1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0B0353-25A7-7697-086D-7E4EBB4741DE}"/>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1872926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1EF35-6E56-D891-0988-8C868A995C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88226A-64E3-EC8F-1D06-2AD442190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A797D0-C050-2544-F312-E192B01CE026}"/>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5" name="Footer Placeholder 4">
            <a:extLst>
              <a:ext uri="{FF2B5EF4-FFF2-40B4-BE49-F238E27FC236}">
                <a16:creationId xmlns:a16="http://schemas.microsoft.com/office/drawing/2014/main" id="{90505F27-6FFD-EDE5-EA5C-A757668D10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3FBF89-1476-7F20-1085-316F9E408AAF}"/>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2228072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08DC7D-EC2D-8A93-3C7C-3F71CD7196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07ACF5-8C41-EC70-9184-815C621B68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BD03E3-E969-57C2-3487-153D85ECCD14}"/>
              </a:ext>
            </a:extLst>
          </p:cNvPr>
          <p:cNvSpPr>
            <a:spLocks noGrp="1"/>
          </p:cNvSpPr>
          <p:nvPr>
            <p:ph type="dt" sz="half" idx="10"/>
          </p:nvPr>
        </p:nvSpPr>
        <p:spPr/>
        <p:txBody>
          <a:bodyPr/>
          <a:lstStyle/>
          <a:p>
            <a:fld id="{71CF9D4A-FF91-4596-A80B-1BCE00AAA564}" type="datetimeFigureOut">
              <a:rPr lang="en-IN" smtClean="0"/>
              <a:t>29-11-2025</a:t>
            </a:fld>
            <a:endParaRPr lang="en-IN"/>
          </a:p>
        </p:txBody>
      </p:sp>
      <p:sp>
        <p:nvSpPr>
          <p:cNvPr id="5" name="Footer Placeholder 4">
            <a:extLst>
              <a:ext uri="{FF2B5EF4-FFF2-40B4-BE49-F238E27FC236}">
                <a16:creationId xmlns:a16="http://schemas.microsoft.com/office/drawing/2014/main" id="{D3A2FA2A-ECF3-068F-EC21-733B501649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30694C-129D-46A8-C05B-5CE1ABC1405A}"/>
              </a:ext>
            </a:extLst>
          </p:cNvPr>
          <p:cNvSpPr>
            <a:spLocks noGrp="1"/>
          </p:cNvSpPr>
          <p:nvPr>
            <p:ph type="sldNum" sz="quarter" idx="12"/>
          </p:nvPr>
        </p:nvSpPr>
        <p:spPr/>
        <p:txBody>
          <a:bodyPr/>
          <a:lstStyle/>
          <a:p>
            <a:fld id="{331D6584-D45A-4E81-A73E-B022F5F95013}" type="slidenum">
              <a:rPr lang="en-IN" smtClean="0"/>
              <a:t>‹#›</a:t>
            </a:fld>
            <a:endParaRPr lang="en-IN"/>
          </a:p>
        </p:txBody>
      </p:sp>
    </p:spTree>
    <p:extLst>
      <p:ext uri="{BB962C8B-B14F-4D97-AF65-F5344CB8AC3E}">
        <p14:creationId xmlns:p14="http://schemas.microsoft.com/office/powerpoint/2010/main" val="4004836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98882" y="1323001"/>
            <a:ext cx="11396612"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252331518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1AB162-91BB-91D2-AE48-35367934C4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D0745D-54CB-1F73-C78E-108F7430E8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EF637-AA37-3D4D-FF6B-4A0E9395FD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CF9D4A-FF91-4596-A80B-1BCE00AAA564}" type="datetimeFigureOut">
              <a:rPr lang="en-IN" smtClean="0"/>
              <a:t>29-11-2025</a:t>
            </a:fld>
            <a:endParaRPr lang="en-IN"/>
          </a:p>
        </p:txBody>
      </p:sp>
      <p:sp>
        <p:nvSpPr>
          <p:cNvPr id="5" name="Footer Placeholder 4">
            <a:extLst>
              <a:ext uri="{FF2B5EF4-FFF2-40B4-BE49-F238E27FC236}">
                <a16:creationId xmlns:a16="http://schemas.microsoft.com/office/drawing/2014/main" id="{41801EA4-BA6B-BCEB-2ADF-216EBFB105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5D4E4E-BBB0-04C8-896A-85B2B2389F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1D6584-D45A-4E81-A73E-B022F5F95013}" type="slidenum">
              <a:rPr lang="en-IN" smtClean="0"/>
              <a:t>‹#›</a:t>
            </a:fld>
            <a:endParaRPr lang="en-IN"/>
          </a:p>
        </p:txBody>
      </p:sp>
    </p:spTree>
    <p:extLst>
      <p:ext uri="{BB962C8B-B14F-4D97-AF65-F5344CB8AC3E}">
        <p14:creationId xmlns:p14="http://schemas.microsoft.com/office/powerpoint/2010/main" val="1723239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1.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image" Target="../media/image3.png"/><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www.infrastructure.aws/"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image" Target="../media/image1.png"/><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0.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5" Type="http://schemas.openxmlformats.org/officeDocument/2006/relationships/image" Target="../media/image3.png"/><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 Id="rId1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1.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11.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5" Type="http://schemas.openxmlformats.org/officeDocument/2006/relationships/image" Target="../media/image3.png"/><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image" Target="../media/image2.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13.xml"/><Relationship Id="rId16" Type="http://schemas.openxmlformats.org/officeDocument/2006/relationships/image" Target="../media/image24.svg"/><Relationship Id="rId1" Type="http://schemas.openxmlformats.org/officeDocument/2006/relationships/slideLayout" Target="../slideLayouts/slideLayout1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27.png"/><Relationship Id="rId12" Type="http://schemas.openxmlformats.org/officeDocument/2006/relationships/image" Target="../media/image12.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6.svg"/><Relationship Id="rId11" Type="http://schemas.openxmlformats.org/officeDocument/2006/relationships/image" Target="../media/image11.png"/><Relationship Id="rId5" Type="http://schemas.openxmlformats.org/officeDocument/2006/relationships/image" Target="../media/image25.png"/><Relationship Id="rId10" Type="http://schemas.openxmlformats.org/officeDocument/2006/relationships/image" Target="../media/image22.svg"/><Relationship Id="rId4" Type="http://schemas.openxmlformats.org/officeDocument/2006/relationships/image" Target="../media/image14.svg"/><Relationship Id="rId9" Type="http://schemas.openxmlformats.org/officeDocument/2006/relationships/image" Target="../media/image21.png"/><Relationship Id="rId14" Type="http://schemas.openxmlformats.org/officeDocument/2006/relationships/image" Target="../media/image18.svg"/></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1.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20.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image" Target="../media/image3.png"/><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2.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30.svg"/></Relationships>
</file>

<file path=ppt/slides/_rels/slide27.xml.rels><?xml version="1.0" encoding="UTF-8" standalone="yes"?>
<Relationships xmlns="http://schemas.openxmlformats.org/package/2006/relationships"><Relationship Id="rId3" Type="http://schemas.openxmlformats.org/officeDocument/2006/relationships/hyperlink" Target="http://16.254.169.254/latest/meta-data"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hyperlink" Target="http://16.254.169.254/latest/user-data" TargetMode="Externa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aws.amazon.com/marketplace" TargetMode="External"/><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diagramData" Target="../diagrams/data14.xml"/><Relationship Id="rId13" Type="http://schemas.openxmlformats.org/officeDocument/2006/relationships/image" Target="../media/image1.png"/><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29.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5" Type="http://schemas.openxmlformats.org/officeDocument/2006/relationships/image" Target="../media/image3.png"/><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 Id="rId14" Type="http://schemas.openxmlformats.org/officeDocument/2006/relationships/image" Target="../media/image2.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16.xml"/><Relationship Id="rId13" Type="http://schemas.openxmlformats.org/officeDocument/2006/relationships/image" Target="../media/image1.png"/><Relationship Id="rId3" Type="http://schemas.openxmlformats.org/officeDocument/2006/relationships/diagramData" Target="../diagrams/data15.xml"/><Relationship Id="rId7" Type="http://schemas.microsoft.com/office/2007/relationships/diagramDrawing" Target="../diagrams/drawing15.xml"/><Relationship Id="rId12" Type="http://schemas.microsoft.com/office/2007/relationships/diagramDrawing" Target="../diagrams/drawing16.xml"/><Relationship Id="rId2" Type="http://schemas.openxmlformats.org/officeDocument/2006/relationships/notesSlide" Target="../notesSlides/notesSlide31.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15.xml"/><Relationship Id="rId11" Type="http://schemas.openxmlformats.org/officeDocument/2006/relationships/diagramColors" Target="../diagrams/colors16.xml"/><Relationship Id="rId5" Type="http://schemas.openxmlformats.org/officeDocument/2006/relationships/diagramQuickStyle" Target="../diagrams/quickStyle15.xml"/><Relationship Id="rId15" Type="http://schemas.openxmlformats.org/officeDocument/2006/relationships/image" Target="../media/image3.png"/><Relationship Id="rId10" Type="http://schemas.openxmlformats.org/officeDocument/2006/relationships/diagramQuickStyle" Target="../diagrams/quickStyle16.xml"/><Relationship Id="rId4" Type="http://schemas.openxmlformats.org/officeDocument/2006/relationships/diagramLayout" Target="../diagrams/layout15.xml"/><Relationship Id="rId9" Type="http://schemas.openxmlformats.org/officeDocument/2006/relationships/diagramLayout" Target="../diagrams/layout16.xml"/><Relationship Id="rId14" Type="http://schemas.openxmlformats.org/officeDocument/2006/relationships/image" Target="../media/image2.svg"/></Relationships>
</file>

<file path=ppt/slides/_rels/slide33.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png"/><Relationship Id="rId2" Type="http://schemas.openxmlformats.org/officeDocument/2006/relationships/notesSlide" Target="../notesSlides/notesSlide32.xml"/><Relationship Id="rId16" Type="http://schemas.openxmlformats.org/officeDocument/2006/relationships/image" Target="../media/image44.svg"/><Relationship Id="rId20"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svg"/><Relationship Id="rId10" Type="http://schemas.openxmlformats.org/officeDocument/2006/relationships/image" Target="../media/image38.svg"/><Relationship Id="rId19" Type="http://schemas.openxmlformats.org/officeDocument/2006/relationships/image" Target="../media/image47.pn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 Id="rId22" Type="http://schemas.openxmlformats.org/officeDocument/2006/relationships/image" Target="../media/image5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52.png"/><Relationship Id="rId7"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image" Target="../media/image1.png"/><Relationship Id="rId3" Type="http://schemas.openxmlformats.org/officeDocument/2006/relationships/diagramData" Target="../diagrams/data17.xml"/><Relationship Id="rId7" Type="http://schemas.microsoft.com/office/2007/relationships/diagramDrawing" Target="../diagrams/drawing17.xml"/><Relationship Id="rId12" Type="http://schemas.microsoft.com/office/2007/relationships/diagramDrawing" Target="../diagrams/drawing18.xml"/><Relationship Id="rId2" Type="http://schemas.openxmlformats.org/officeDocument/2006/relationships/notesSlide" Target="../notesSlides/notesSlide36.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17.xml"/><Relationship Id="rId11" Type="http://schemas.openxmlformats.org/officeDocument/2006/relationships/diagramColors" Target="../diagrams/colors18.xml"/><Relationship Id="rId5" Type="http://schemas.openxmlformats.org/officeDocument/2006/relationships/diagramQuickStyle" Target="../diagrams/quickStyle17.xml"/><Relationship Id="rId15" Type="http://schemas.openxmlformats.org/officeDocument/2006/relationships/image" Target="../media/image3.png"/><Relationship Id="rId10" Type="http://schemas.openxmlformats.org/officeDocument/2006/relationships/diagramQuickStyle" Target="../diagrams/quickStyle18.xml"/><Relationship Id="rId4" Type="http://schemas.openxmlformats.org/officeDocument/2006/relationships/diagramLayout" Target="../diagrams/layout17.xml"/><Relationship Id="rId9" Type="http://schemas.openxmlformats.org/officeDocument/2006/relationships/diagramLayout" Target="../diagrams/layout18.xml"/><Relationship Id="rId14" Type="http://schemas.openxmlformats.org/officeDocument/2006/relationships/image" Target="../media/image2.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20.xml"/><Relationship Id="rId13" Type="http://schemas.openxmlformats.org/officeDocument/2006/relationships/image" Target="../media/image1.png"/><Relationship Id="rId3" Type="http://schemas.openxmlformats.org/officeDocument/2006/relationships/diagramData" Target="../diagrams/data19.xml"/><Relationship Id="rId7" Type="http://schemas.microsoft.com/office/2007/relationships/diagramDrawing" Target="../diagrams/drawing19.xml"/><Relationship Id="rId12" Type="http://schemas.microsoft.com/office/2007/relationships/diagramDrawing" Target="../diagrams/drawing20.xml"/><Relationship Id="rId2" Type="http://schemas.openxmlformats.org/officeDocument/2006/relationships/notesSlide" Target="../notesSlides/notesSlide38.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19.xml"/><Relationship Id="rId11" Type="http://schemas.openxmlformats.org/officeDocument/2006/relationships/diagramColors" Target="../diagrams/colors20.xml"/><Relationship Id="rId5" Type="http://schemas.openxmlformats.org/officeDocument/2006/relationships/diagramQuickStyle" Target="../diagrams/quickStyle19.xml"/><Relationship Id="rId15" Type="http://schemas.openxmlformats.org/officeDocument/2006/relationships/image" Target="../media/image3.png"/><Relationship Id="rId10" Type="http://schemas.openxmlformats.org/officeDocument/2006/relationships/diagramQuickStyle" Target="../diagrams/quickStyle20.xml"/><Relationship Id="rId4" Type="http://schemas.openxmlformats.org/officeDocument/2006/relationships/diagramLayout" Target="../diagrams/layout19.xml"/><Relationship Id="rId9" Type="http://schemas.openxmlformats.org/officeDocument/2006/relationships/diagramLayout" Target="../diagrams/layout20.xml"/><Relationship Id="rId14" Type="http://schemas.openxmlformats.org/officeDocument/2006/relationships/image" Target="../media/image2.svg"/></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hyperlink" Target="https://[bucketname].s3.amazon.com/" TargetMode="External"/><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73.svg"/></Relationships>
</file>

<file path=ppt/slides/_rels/slide52.xml.rels><?xml version="1.0" encoding="UTF-8" standalone="yes"?>
<Relationships xmlns="http://schemas.openxmlformats.org/package/2006/relationships"><Relationship Id="rId8" Type="http://schemas.openxmlformats.org/officeDocument/2006/relationships/diagramData" Target="../diagrams/data23.xml"/><Relationship Id="rId13" Type="http://schemas.openxmlformats.org/officeDocument/2006/relationships/image" Target="../media/image1.png"/><Relationship Id="rId3" Type="http://schemas.openxmlformats.org/officeDocument/2006/relationships/diagramData" Target="../diagrams/data22.xml"/><Relationship Id="rId7" Type="http://schemas.microsoft.com/office/2007/relationships/diagramDrawing" Target="../diagrams/drawing22.xml"/><Relationship Id="rId12" Type="http://schemas.microsoft.com/office/2007/relationships/diagramDrawing" Target="../diagrams/drawing23.xml"/><Relationship Id="rId2" Type="http://schemas.openxmlformats.org/officeDocument/2006/relationships/notesSlide" Target="../notesSlides/notesSlide51.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22.xml"/><Relationship Id="rId11" Type="http://schemas.openxmlformats.org/officeDocument/2006/relationships/diagramColors" Target="../diagrams/colors23.xml"/><Relationship Id="rId5" Type="http://schemas.openxmlformats.org/officeDocument/2006/relationships/diagramQuickStyle" Target="../diagrams/quickStyle22.xml"/><Relationship Id="rId15" Type="http://schemas.openxmlformats.org/officeDocument/2006/relationships/image" Target="../media/image3.png"/><Relationship Id="rId10" Type="http://schemas.openxmlformats.org/officeDocument/2006/relationships/diagramQuickStyle" Target="../diagrams/quickStyle23.xml"/><Relationship Id="rId4" Type="http://schemas.openxmlformats.org/officeDocument/2006/relationships/diagramLayout" Target="../diagrams/layout22.xml"/><Relationship Id="rId9" Type="http://schemas.openxmlformats.org/officeDocument/2006/relationships/diagramLayout" Target="../diagrams/layout23.xml"/><Relationship Id="rId14" Type="http://schemas.openxmlformats.org/officeDocument/2006/relationships/image" Target="../media/image2.svg"/></Relationships>
</file>

<file path=ppt/slides/_rels/slide53.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88.sv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7.png"/><Relationship Id="rId2" Type="http://schemas.openxmlformats.org/officeDocument/2006/relationships/notesSlide" Target="../notesSlides/notesSlide58.xml"/><Relationship Id="rId16" Type="http://schemas.openxmlformats.org/officeDocument/2006/relationships/image" Target="../media/image89.png"/><Relationship Id="rId1" Type="http://schemas.openxmlformats.org/officeDocument/2006/relationships/slideLayout" Target="../slideLayouts/slideLayout12.xml"/><Relationship Id="rId6" Type="http://schemas.openxmlformats.org/officeDocument/2006/relationships/image" Target="../media/image83.svg"/><Relationship Id="rId11" Type="http://schemas.openxmlformats.org/officeDocument/2006/relationships/image" Target="../media/image86.svg"/><Relationship Id="rId5" Type="http://schemas.openxmlformats.org/officeDocument/2006/relationships/image" Target="../media/image82.png"/><Relationship Id="rId15" Type="http://schemas.openxmlformats.org/officeDocument/2006/relationships/image" Target="../media/image75.svg"/><Relationship Id="rId10" Type="http://schemas.openxmlformats.org/officeDocument/2006/relationships/image" Target="../media/image85.png"/><Relationship Id="rId4" Type="http://schemas.openxmlformats.org/officeDocument/2006/relationships/image" Target="../media/image81.svg"/><Relationship Id="rId9" Type="http://schemas.openxmlformats.org/officeDocument/2006/relationships/image" Target="../media/image24.svg"/><Relationship Id="rId14" Type="http://schemas.openxmlformats.org/officeDocument/2006/relationships/image" Target="../media/image7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8" Type="http://schemas.openxmlformats.org/officeDocument/2006/relationships/diagramData" Target="../diagrams/data25.xml"/><Relationship Id="rId13" Type="http://schemas.openxmlformats.org/officeDocument/2006/relationships/image" Target="../media/image1.png"/><Relationship Id="rId3" Type="http://schemas.openxmlformats.org/officeDocument/2006/relationships/diagramData" Target="../diagrams/data24.xml"/><Relationship Id="rId7" Type="http://schemas.microsoft.com/office/2007/relationships/diagramDrawing" Target="../diagrams/drawing24.xml"/><Relationship Id="rId12" Type="http://schemas.microsoft.com/office/2007/relationships/diagramDrawing" Target="../diagrams/drawing25.xml"/><Relationship Id="rId2" Type="http://schemas.openxmlformats.org/officeDocument/2006/relationships/notesSlide" Target="../notesSlides/notesSlide60.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24.xml"/><Relationship Id="rId11" Type="http://schemas.openxmlformats.org/officeDocument/2006/relationships/diagramColors" Target="../diagrams/colors25.xml"/><Relationship Id="rId5" Type="http://schemas.openxmlformats.org/officeDocument/2006/relationships/diagramQuickStyle" Target="../diagrams/quickStyle24.xml"/><Relationship Id="rId15" Type="http://schemas.openxmlformats.org/officeDocument/2006/relationships/image" Target="../media/image3.png"/><Relationship Id="rId10" Type="http://schemas.openxmlformats.org/officeDocument/2006/relationships/diagramQuickStyle" Target="../diagrams/quickStyle25.xml"/><Relationship Id="rId4" Type="http://schemas.openxmlformats.org/officeDocument/2006/relationships/diagramLayout" Target="../diagrams/layout24.xml"/><Relationship Id="rId9" Type="http://schemas.openxmlformats.org/officeDocument/2006/relationships/diagramLayout" Target="../diagrams/layout25.xml"/><Relationship Id="rId14" Type="http://schemas.openxmlformats.org/officeDocument/2006/relationships/image" Target="../media/image2.sv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73.svg"/></Relationships>
</file>

<file path=ppt/slides/_rels/slide64.xml.rels><?xml version="1.0" encoding="UTF-8" standalone="yes"?>
<Relationships xmlns="http://schemas.openxmlformats.org/package/2006/relationships"><Relationship Id="rId8" Type="http://schemas.openxmlformats.org/officeDocument/2006/relationships/diagramData" Target="../diagrams/data27.xml"/><Relationship Id="rId13" Type="http://schemas.openxmlformats.org/officeDocument/2006/relationships/image" Target="../media/image1.png"/><Relationship Id="rId3" Type="http://schemas.openxmlformats.org/officeDocument/2006/relationships/diagramData" Target="../diagrams/data26.xml"/><Relationship Id="rId7" Type="http://schemas.microsoft.com/office/2007/relationships/diagramDrawing" Target="../diagrams/drawing26.xml"/><Relationship Id="rId12" Type="http://schemas.microsoft.com/office/2007/relationships/diagramDrawing" Target="../diagrams/drawing27.xml"/><Relationship Id="rId2" Type="http://schemas.openxmlformats.org/officeDocument/2006/relationships/notesSlide" Target="../notesSlides/notesSlide63.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26.xml"/><Relationship Id="rId11" Type="http://schemas.openxmlformats.org/officeDocument/2006/relationships/diagramColors" Target="../diagrams/colors27.xml"/><Relationship Id="rId5" Type="http://schemas.openxmlformats.org/officeDocument/2006/relationships/diagramQuickStyle" Target="../diagrams/quickStyle26.xml"/><Relationship Id="rId15" Type="http://schemas.openxmlformats.org/officeDocument/2006/relationships/image" Target="../media/image3.png"/><Relationship Id="rId10" Type="http://schemas.openxmlformats.org/officeDocument/2006/relationships/diagramQuickStyle" Target="../diagrams/quickStyle27.xml"/><Relationship Id="rId4" Type="http://schemas.openxmlformats.org/officeDocument/2006/relationships/diagramLayout" Target="../diagrams/layout26.xml"/><Relationship Id="rId9" Type="http://schemas.openxmlformats.org/officeDocument/2006/relationships/diagramLayout" Target="../diagrams/layout27.xml"/><Relationship Id="rId14" Type="http://schemas.openxmlformats.org/officeDocument/2006/relationships/image" Target="../media/image2.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8" Type="http://schemas.openxmlformats.org/officeDocument/2006/relationships/image" Target="../media/image95.sv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66.xml"/><Relationship Id="rId1" Type="http://schemas.openxmlformats.org/officeDocument/2006/relationships/slideLayout" Target="../slideLayouts/slideLayout12.xml"/><Relationship Id="rId6" Type="http://schemas.openxmlformats.org/officeDocument/2006/relationships/image" Target="../media/image93.svg"/><Relationship Id="rId11" Type="http://schemas.openxmlformats.org/officeDocument/2006/relationships/image" Target="../media/image24.svg"/><Relationship Id="rId5" Type="http://schemas.openxmlformats.org/officeDocument/2006/relationships/image" Target="../media/image92.png"/><Relationship Id="rId10" Type="http://schemas.openxmlformats.org/officeDocument/2006/relationships/image" Target="../media/image23.png"/><Relationship Id="rId4" Type="http://schemas.openxmlformats.org/officeDocument/2006/relationships/image" Target="../media/image91.svg"/><Relationship Id="rId9" Type="http://schemas.openxmlformats.org/officeDocument/2006/relationships/image" Target="../media/image96.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8" Type="http://schemas.openxmlformats.org/officeDocument/2006/relationships/diagramData" Target="../diagrams/data29.xml"/><Relationship Id="rId13" Type="http://schemas.openxmlformats.org/officeDocument/2006/relationships/image" Target="../media/image1.png"/><Relationship Id="rId3" Type="http://schemas.openxmlformats.org/officeDocument/2006/relationships/diagramData" Target="../diagrams/data28.xml"/><Relationship Id="rId7" Type="http://schemas.microsoft.com/office/2007/relationships/diagramDrawing" Target="../diagrams/drawing28.xml"/><Relationship Id="rId12" Type="http://schemas.microsoft.com/office/2007/relationships/diagramDrawing" Target="../diagrams/drawing29.xml"/><Relationship Id="rId2" Type="http://schemas.openxmlformats.org/officeDocument/2006/relationships/notesSlide" Target="../notesSlides/notesSlide69.xml"/><Relationship Id="rId16" Type="http://schemas.openxmlformats.org/officeDocument/2006/relationships/image" Target="../media/image4.svg"/><Relationship Id="rId1" Type="http://schemas.openxmlformats.org/officeDocument/2006/relationships/slideLayout" Target="../slideLayouts/slideLayout12.xml"/><Relationship Id="rId6" Type="http://schemas.openxmlformats.org/officeDocument/2006/relationships/diagramColors" Target="../diagrams/colors28.xml"/><Relationship Id="rId11" Type="http://schemas.openxmlformats.org/officeDocument/2006/relationships/diagramColors" Target="../diagrams/colors29.xml"/><Relationship Id="rId5" Type="http://schemas.openxmlformats.org/officeDocument/2006/relationships/diagramQuickStyle" Target="../diagrams/quickStyle28.xml"/><Relationship Id="rId15" Type="http://schemas.openxmlformats.org/officeDocument/2006/relationships/image" Target="../media/image3.png"/><Relationship Id="rId10" Type="http://schemas.openxmlformats.org/officeDocument/2006/relationships/diagramQuickStyle" Target="../diagrams/quickStyle29.xml"/><Relationship Id="rId4" Type="http://schemas.openxmlformats.org/officeDocument/2006/relationships/diagramLayout" Target="../diagrams/layout28.xml"/><Relationship Id="rId9" Type="http://schemas.openxmlformats.org/officeDocument/2006/relationships/diagramLayout" Target="../diagrams/layout29.xml"/><Relationship Id="rId14" Type="http://schemas.openxmlformats.org/officeDocument/2006/relationships/image" Target="../media/image2.sv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9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532E-7F4A-E14F-7144-E5AF4B2FE3B5}"/>
              </a:ext>
            </a:extLst>
          </p:cNvPr>
          <p:cNvSpPr>
            <a:spLocks noGrp="1"/>
          </p:cNvSpPr>
          <p:nvPr>
            <p:ph type="ctrTitle"/>
          </p:nvPr>
        </p:nvSpPr>
        <p:spPr/>
        <p:txBody>
          <a:bodyPr/>
          <a:lstStyle/>
          <a:p>
            <a:r>
              <a:rPr lang="en-IN" dirty="0"/>
              <a:t>AWS Essentials</a:t>
            </a:r>
          </a:p>
        </p:txBody>
      </p:sp>
      <p:sp>
        <p:nvSpPr>
          <p:cNvPr id="3" name="Subtitle 2">
            <a:extLst>
              <a:ext uri="{FF2B5EF4-FFF2-40B4-BE49-F238E27FC236}">
                <a16:creationId xmlns:a16="http://schemas.microsoft.com/office/drawing/2014/main" id="{CC1B7948-D05A-D6A4-726E-43813A64FD9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34301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spTree>
    <p:extLst>
      <p:ext uri="{BB962C8B-B14F-4D97-AF65-F5344CB8AC3E}">
        <p14:creationId xmlns:p14="http://schemas.microsoft.com/office/powerpoint/2010/main" val="3055852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8467" y="2151917"/>
            <a:ext cx="813970" cy="813970"/>
          </a:xfrm>
          <a:prstGeom prst="rect">
            <a:avLst/>
          </a:prstGeom>
        </p:spPr>
      </p:pic>
    </p:spTree>
    <p:extLst>
      <p:ext uri="{BB962C8B-B14F-4D97-AF65-F5344CB8AC3E}">
        <p14:creationId xmlns:p14="http://schemas.microsoft.com/office/powerpoint/2010/main" val="424663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
        <p:nvSpPr>
          <p:cNvPr id="8" name="Title 6">
            <a:extLst>
              <a:ext uri="{FF2B5EF4-FFF2-40B4-BE49-F238E27FC236}">
                <a16:creationId xmlns:a16="http://schemas.microsoft.com/office/drawing/2014/main" id="{0688ED26-B973-465B-9125-C7B183107BA2}"/>
              </a:ext>
            </a:extLst>
          </p:cNvPr>
          <p:cNvSpPr txBox="1">
            <a:spLocks/>
          </p:cNvSpPr>
          <p:nvPr/>
        </p:nvSpPr>
        <p:spPr>
          <a:xfrm>
            <a:off x="1546185" y="118690"/>
            <a:ext cx="9259747" cy="702000"/>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2800" kern="1200" baseline="0">
                <a:solidFill>
                  <a:schemeClr val="accent5"/>
                </a:solidFill>
                <a:latin typeface="Slide Heading"/>
                <a:ea typeface="+mj-ea"/>
                <a:cs typeface="+mj-cs"/>
              </a:defRPr>
            </a:lvl1pPr>
          </a:lstStyle>
          <a:p>
            <a:r>
              <a:rPr lang="en-US" b="1" dirty="0">
                <a:solidFill>
                  <a:schemeClr val="tx2"/>
                </a:solidFill>
              </a:rPr>
              <a:t>Cloud Computing at a glance</a:t>
            </a:r>
            <a:endParaRPr lang="en-GB" dirty="0"/>
          </a:p>
        </p:txBody>
      </p:sp>
      <p:sp>
        <p:nvSpPr>
          <p:cNvPr id="10" name="Rectangle 9">
            <a:extLst>
              <a:ext uri="{FF2B5EF4-FFF2-40B4-BE49-F238E27FC236}">
                <a16:creationId xmlns:a16="http://schemas.microsoft.com/office/drawing/2014/main" id="{AFBE99B0-B946-4470-8A1E-6AD591FFBE7D}"/>
              </a:ext>
            </a:extLst>
          </p:cNvPr>
          <p:cNvSpPr/>
          <p:nvPr/>
        </p:nvSpPr>
        <p:spPr>
          <a:xfrm>
            <a:off x="4114800" y="1391192"/>
            <a:ext cx="1600200" cy="609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On-Demand</a:t>
            </a:r>
            <a:endParaRPr lang="en-GB" sz="12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2CA28B89-DB00-4125-8EE1-7638BFF286F4}"/>
              </a:ext>
            </a:extLst>
          </p:cNvPr>
          <p:cNvSpPr/>
          <p:nvPr/>
        </p:nvSpPr>
        <p:spPr>
          <a:xfrm>
            <a:off x="5777510" y="1391192"/>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Broad network access</a:t>
            </a:r>
            <a:endParaRPr lang="en-GB" sz="1200"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50C4351-F699-4C0B-BF64-46C09426CE36}"/>
              </a:ext>
            </a:extLst>
          </p:cNvPr>
          <p:cNvSpPr/>
          <p:nvPr/>
        </p:nvSpPr>
        <p:spPr>
          <a:xfrm>
            <a:off x="7467600" y="1391192"/>
            <a:ext cx="1600200" cy="609600"/>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Resource Pooling</a:t>
            </a:r>
            <a:endParaRPr lang="en-GB" sz="1200"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5BF6D505-D69F-4856-A96B-6AA0D9F14AF2}"/>
              </a:ext>
            </a:extLst>
          </p:cNvPr>
          <p:cNvSpPr/>
          <p:nvPr/>
        </p:nvSpPr>
        <p:spPr>
          <a:xfrm>
            <a:off x="4940687" y="2094502"/>
            <a:ext cx="1600200" cy="609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Calibri" panose="020F0502020204030204" pitchFamily="34" charset="0"/>
                <a:cs typeface="Calibri" panose="020F0502020204030204" pitchFamily="34" charset="0"/>
              </a:rPr>
              <a:t>Rapid Elasticity</a:t>
            </a:r>
            <a:endParaRPr lang="en-GB" sz="1200" dirty="0">
              <a:solidFill>
                <a:schemeClr val="tx2"/>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28DA65A4-FAAF-4DCB-8AC1-FE457DD30604}"/>
              </a:ext>
            </a:extLst>
          </p:cNvPr>
          <p:cNvSpPr/>
          <p:nvPr/>
        </p:nvSpPr>
        <p:spPr>
          <a:xfrm>
            <a:off x="6540887" y="2076992"/>
            <a:ext cx="1600200" cy="6096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Calibri" panose="020F0502020204030204" pitchFamily="34" charset="0"/>
                <a:cs typeface="Calibri" panose="020F0502020204030204" pitchFamily="34" charset="0"/>
              </a:rPr>
              <a:t>Measured Service</a:t>
            </a:r>
            <a:endParaRPr lang="en-GB" sz="1200" dirty="0">
              <a:solidFill>
                <a:schemeClr val="tx2"/>
              </a:solidFill>
              <a:latin typeface="Calibri" panose="020F0502020204030204" pitchFamily="34" charset="0"/>
              <a:cs typeface="Calibri" panose="020F0502020204030204" pitchFamily="34" charset="0"/>
            </a:endParaRPr>
          </a:p>
        </p:txBody>
      </p:sp>
      <p:sp>
        <p:nvSpPr>
          <p:cNvPr id="16" name="Plaque 15">
            <a:extLst>
              <a:ext uri="{FF2B5EF4-FFF2-40B4-BE49-F238E27FC236}">
                <a16:creationId xmlns:a16="http://schemas.microsoft.com/office/drawing/2014/main" id="{532C5CA3-B8C1-4EAD-8386-5802AD8880E1}"/>
              </a:ext>
            </a:extLst>
          </p:cNvPr>
          <p:cNvSpPr/>
          <p:nvPr/>
        </p:nvSpPr>
        <p:spPr>
          <a:xfrm>
            <a:off x="4743302" y="3186342"/>
            <a:ext cx="1143000" cy="896891"/>
          </a:xfrm>
          <a:prstGeom prst="plaqu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IAAS</a:t>
            </a:r>
            <a:endParaRPr lang="en-GB" dirty="0">
              <a:solidFill>
                <a:schemeClr val="tx2"/>
              </a:solidFill>
              <a:latin typeface="Calibri" panose="020F0502020204030204" pitchFamily="34" charset="0"/>
              <a:cs typeface="Calibri" panose="020F0502020204030204" pitchFamily="34" charset="0"/>
            </a:endParaRPr>
          </a:p>
        </p:txBody>
      </p:sp>
      <p:sp>
        <p:nvSpPr>
          <p:cNvPr id="17" name="Plaque 16">
            <a:extLst>
              <a:ext uri="{FF2B5EF4-FFF2-40B4-BE49-F238E27FC236}">
                <a16:creationId xmlns:a16="http://schemas.microsoft.com/office/drawing/2014/main" id="{2A776CBB-A85C-485F-BD09-CF878E1D64E5}"/>
              </a:ext>
            </a:extLst>
          </p:cNvPr>
          <p:cNvSpPr/>
          <p:nvPr/>
        </p:nvSpPr>
        <p:spPr>
          <a:xfrm>
            <a:off x="5838562" y="3990130"/>
            <a:ext cx="1143000" cy="896891"/>
          </a:xfrm>
          <a:prstGeom prst="plaque">
            <a:avLst/>
          </a:prstGeom>
          <a:solidFill>
            <a:schemeClr val="tx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SAAS</a:t>
            </a:r>
            <a:endParaRPr lang="en-GB" dirty="0">
              <a:solidFill>
                <a:schemeClr val="tx2"/>
              </a:solidFill>
              <a:latin typeface="Calibri" panose="020F0502020204030204" pitchFamily="34" charset="0"/>
              <a:cs typeface="Calibri" panose="020F0502020204030204" pitchFamily="34" charset="0"/>
            </a:endParaRPr>
          </a:p>
        </p:txBody>
      </p:sp>
      <p:sp>
        <p:nvSpPr>
          <p:cNvPr id="18" name="Plaque 17">
            <a:extLst>
              <a:ext uri="{FF2B5EF4-FFF2-40B4-BE49-F238E27FC236}">
                <a16:creationId xmlns:a16="http://schemas.microsoft.com/office/drawing/2014/main" id="{92134DC8-AE40-4D16-B399-A64616135156}"/>
              </a:ext>
            </a:extLst>
          </p:cNvPr>
          <p:cNvSpPr/>
          <p:nvPr/>
        </p:nvSpPr>
        <p:spPr>
          <a:xfrm>
            <a:off x="6981562" y="3179982"/>
            <a:ext cx="1143000" cy="896891"/>
          </a:xfrm>
          <a:prstGeom prst="plaque">
            <a:avLst/>
          </a:prstGeom>
          <a:solidFill>
            <a:srgbClr val="DBE8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PAAS</a:t>
            </a:r>
            <a:endParaRPr lang="en-GB" dirty="0">
              <a:solidFill>
                <a:schemeClr val="tx2"/>
              </a:solidFill>
              <a:latin typeface="Calibri" panose="020F0502020204030204" pitchFamily="34" charset="0"/>
              <a:cs typeface="Calibri" panose="020F0502020204030204" pitchFamily="34" charset="0"/>
            </a:endParaRPr>
          </a:p>
        </p:txBody>
      </p:sp>
      <p:sp>
        <p:nvSpPr>
          <p:cNvPr id="19" name="Cloud 18">
            <a:extLst>
              <a:ext uri="{FF2B5EF4-FFF2-40B4-BE49-F238E27FC236}">
                <a16:creationId xmlns:a16="http://schemas.microsoft.com/office/drawing/2014/main" id="{4DED30BF-17A6-436B-8AF6-F8318797C301}"/>
              </a:ext>
            </a:extLst>
          </p:cNvPr>
          <p:cNvSpPr/>
          <p:nvPr/>
        </p:nvSpPr>
        <p:spPr>
          <a:xfrm>
            <a:off x="3783916" y="5334000"/>
            <a:ext cx="1295400" cy="825920"/>
          </a:xfrm>
          <a:prstGeom prst="clou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Private</a:t>
            </a:r>
            <a:endParaRPr lang="en-GB" dirty="0">
              <a:solidFill>
                <a:schemeClr val="tx2"/>
              </a:solidFill>
              <a:latin typeface="Calibri" panose="020F0502020204030204" pitchFamily="34" charset="0"/>
              <a:cs typeface="Calibri" panose="020F0502020204030204" pitchFamily="34" charset="0"/>
            </a:endParaRPr>
          </a:p>
        </p:txBody>
      </p:sp>
      <p:sp>
        <p:nvSpPr>
          <p:cNvPr id="20" name="Cloud 19">
            <a:extLst>
              <a:ext uri="{FF2B5EF4-FFF2-40B4-BE49-F238E27FC236}">
                <a16:creationId xmlns:a16="http://schemas.microsoft.com/office/drawing/2014/main" id="{6BC8D651-27B0-4D99-903D-A70977BD07DF}"/>
              </a:ext>
            </a:extLst>
          </p:cNvPr>
          <p:cNvSpPr/>
          <p:nvPr/>
        </p:nvSpPr>
        <p:spPr>
          <a:xfrm>
            <a:off x="5443791" y="5347358"/>
            <a:ext cx="1295400" cy="825920"/>
          </a:xfrm>
          <a:prstGeom prst="cloud">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Hybrid</a:t>
            </a:r>
            <a:endParaRPr lang="en-GB" dirty="0">
              <a:solidFill>
                <a:schemeClr val="tx2"/>
              </a:solidFill>
              <a:latin typeface="Calibri" panose="020F0502020204030204" pitchFamily="34" charset="0"/>
              <a:cs typeface="Calibri" panose="020F0502020204030204" pitchFamily="34" charset="0"/>
            </a:endParaRPr>
          </a:p>
        </p:txBody>
      </p:sp>
      <p:sp>
        <p:nvSpPr>
          <p:cNvPr id="21" name="Cloud 20">
            <a:extLst>
              <a:ext uri="{FF2B5EF4-FFF2-40B4-BE49-F238E27FC236}">
                <a16:creationId xmlns:a16="http://schemas.microsoft.com/office/drawing/2014/main" id="{323E11CF-2266-46DC-97AE-01BBFD9F06DF}"/>
              </a:ext>
            </a:extLst>
          </p:cNvPr>
          <p:cNvSpPr/>
          <p:nvPr/>
        </p:nvSpPr>
        <p:spPr>
          <a:xfrm>
            <a:off x="6964956" y="5334000"/>
            <a:ext cx="1959625" cy="825920"/>
          </a:xfrm>
          <a:prstGeom prst="cloud">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Community</a:t>
            </a:r>
            <a:endParaRPr lang="en-GB" dirty="0">
              <a:solidFill>
                <a:schemeClr val="tx2"/>
              </a:solidFill>
              <a:latin typeface="Calibri" panose="020F0502020204030204" pitchFamily="34" charset="0"/>
              <a:cs typeface="Calibri" panose="020F0502020204030204" pitchFamily="34" charset="0"/>
            </a:endParaRPr>
          </a:p>
        </p:txBody>
      </p:sp>
      <p:sp>
        <p:nvSpPr>
          <p:cNvPr id="22" name="Cloud 21">
            <a:extLst>
              <a:ext uri="{FF2B5EF4-FFF2-40B4-BE49-F238E27FC236}">
                <a16:creationId xmlns:a16="http://schemas.microsoft.com/office/drawing/2014/main" id="{B9265183-7F9D-4CC0-AA93-BC4F8B8A31A3}"/>
              </a:ext>
            </a:extLst>
          </p:cNvPr>
          <p:cNvSpPr/>
          <p:nvPr/>
        </p:nvSpPr>
        <p:spPr>
          <a:xfrm>
            <a:off x="9220200" y="5334000"/>
            <a:ext cx="1295400" cy="825920"/>
          </a:xfrm>
          <a:prstGeom prst="cloud">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Public</a:t>
            </a:r>
            <a:endParaRPr lang="en-GB" dirty="0">
              <a:solidFill>
                <a:schemeClr val="tx2"/>
              </a:solidFill>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732D5989-9C46-40D4-BFC9-A605627C732A}"/>
              </a:ext>
            </a:extLst>
          </p:cNvPr>
          <p:cNvSpPr txBox="1"/>
          <p:nvPr/>
        </p:nvSpPr>
        <p:spPr>
          <a:xfrm>
            <a:off x="1170542" y="1491734"/>
            <a:ext cx="1743554" cy="369332"/>
          </a:xfrm>
          <a:prstGeom prst="rect">
            <a:avLst/>
          </a:prstGeom>
          <a:noFill/>
        </p:spPr>
        <p:txBody>
          <a:bodyPr wrap="none" rtlCol="0">
            <a:spAutoFit/>
          </a:bodyPr>
          <a:lstStyle/>
          <a:p>
            <a:r>
              <a:rPr lang="en-US" b="1" dirty="0">
                <a:solidFill>
                  <a:schemeClr val="tx2"/>
                </a:solidFill>
                <a:latin typeface="Calibri" panose="020F0502020204030204" pitchFamily="34" charset="0"/>
                <a:cs typeface="Calibri" panose="020F0502020204030204" pitchFamily="34" charset="0"/>
              </a:rPr>
              <a:t>5 Characteristics</a:t>
            </a:r>
            <a:endParaRPr lang="en-GB" b="1" dirty="0">
              <a:solidFill>
                <a:schemeClr val="tx2"/>
              </a:solidFill>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EC328CE0-0F9D-4CCC-841B-80C53FAC0E7F}"/>
              </a:ext>
            </a:extLst>
          </p:cNvPr>
          <p:cNvSpPr txBox="1"/>
          <p:nvPr/>
        </p:nvSpPr>
        <p:spPr>
          <a:xfrm>
            <a:off x="1170542" y="3458039"/>
            <a:ext cx="1804148" cy="369332"/>
          </a:xfrm>
          <a:prstGeom prst="rect">
            <a:avLst/>
          </a:prstGeom>
          <a:noFill/>
        </p:spPr>
        <p:txBody>
          <a:bodyPr wrap="none" rtlCol="0">
            <a:spAutoFit/>
          </a:bodyPr>
          <a:lstStyle/>
          <a:p>
            <a:r>
              <a:rPr lang="en-US" b="1" dirty="0">
                <a:solidFill>
                  <a:schemeClr val="tx2"/>
                </a:solidFill>
                <a:latin typeface="Calibri" panose="020F0502020204030204" pitchFamily="34" charset="0"/>
                <a:cs typeface="Calibri" panose="020F0502020204030204" pitchFamily="34" charset="0"/>
              </a:rPr>
              <a:t>3 Service Models</a:t>
            </a:r>
            <a:endParaRPr lang="en-GB" b="1" dirty="0">
              <a:solidFill>
                <a:schemeClr val="tx2"/>
              </a:solidFill>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B1A2A661-1F80-4149-971A-7581B795E619}"/>
              </a:ext>
            </a:extLst>
          </p:cNvPr>
          <p:cNvSpPr txBox="1"/>
          <p:nvPr/>
        </p:nvSpPr>
        <p:spPr>
          <a:xfrm>
            <a:off x="1096545" y="5594734"/>
            <a:ext cx="1530932" cy="646331"/>
          </a:xfrm>
          <a:prstGeom prst="rect">
            <a:avLst/>
          </a:prstGeom>
          <a:noFill/>
        </p:spPr>
        <p:txBody>
          <a:bodyPr wrap="none" rtlCol="0">
            <a:spAutoFit/>
          </a:bodyPr>
          <a:lstStyle/>
          <a:p>
            <a:pPr algn="ctr"/>
            <a:r>
              <a:rPr lang="en-US" b="1" dirty="0">
                <a:solidFill>
                  <a:schemeClr val="tx2"/>
                </a:solidFill>
                <a:latin typeface="Calibri" panose="020F0502020204030204" pitchFamily="34" charset="0"/>
                <a:cs typeface="Calibri" panose="020F0502020204030204" pitchFamily="34" charset="0"/>
              </a:rPr>
              <a:t>4 Deployment</a:t>
            </a:r>
          </a:p>
          <a:p>
            <a:pPr algn="ctr"/>
            <a:r>
              <a:rPr lang="en-US" b="1" dirty="0">
                <a:solidFill>
                  <a:schemeClr val="tx2"/>
                </a:solidFill>
                <a:latin typeface="Calibri" panose="020F0502020204030204" pitchFamily="34" charset="0"/>
                <a:cs typeface="Calibri" panose="020F0502020204030204" pitchFamily="34" charset="0"/>
              </a:rPr>
              <a:t>models</a:t>
            </a:r>
            <a:endParaRPr lang="en-GB" b="1" dirty="0">
              <a:solidFill>
                <a:schemeClr val="tx2"/>
              </a:solidFill>
              <a:latin typeface="Calibri" panose="020F0502020204030204" pitchFamily="34" charset="0"/>
              <a:cs typeface="Calibri" panose="020F0502020204030204" pitchFamily="34" charset="0"/>
            </a:endParaRPr>
          </a:p>
        </p:txBody>
      </p:sp>
      <p:cxnSp>
        <p:nvCxnSpPr>
          <p:cNvPr id="27" name="Straight Connector 26">
            <a:extLst>
              <a:ext uri="{FF2B5EF4-FFF2-40B4-BE49-F238E27FC236}">
                <a16:creationId xmlns:a16="http://schemas.microsoft.com/office/drawing/2014/main" id="{000FD569-1148-452A-92AE-D93E3DEE5F2F}"/>
              </a:ext>
            </a:extLst>
          </p:cNvPr>
          <p:cNvCxnSpPr/>
          <p:nvPr/>
        </p:nvCxnSpPr>
        <p:spPr>
          <a:xfrm>
            <a:off x="3200400" y="1312910"/>
            <a:ext cx="0" cy="781592"/>
          </a:xfrm>
          <a:prstGeom prst="line">
            <a:avLst/>
          </a:prstGeom>
          <a:ln w="34925">
            <a:prstDash val="sys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66CC6BE-20CC-4876-8A11-3888F1A8CC7E}"/>
              </a:ext>
            </a:extLst>
          </p:cNvPr>
          <p:cNvCxnSpPr/>
          <p:nvPr/>
        </p:nvCxnSpPr>
        <p:spPr>
          <a:xfrm>
            <a:off x="3162759" y="3301640"/>
            <a:ext cx="0" cy="781592"/>
          </a:xfrm>
          <a:prstGeom prst="line">
            <a:avLst/>
          </a:prstGeom>
          <a:ln w="34925">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5EA40D0-640F-40E1-BD2F-D60B97ACD109}"/>
              </a:ext>
            </a:extLst>
          </p:cNvPr>
          <p:cNvCxnSpPr/>
          <p:nvPr/>
        </p:nvCxnSpPr>
        <p:spPr>
          <a:xfrm>
            <a:off x="3162759" y="5284618"/>
            <a:ext cx="0" cy="781592"/>
          </a:xfrm>
          <a:prstGeom prst="line">
            <a:avLst/>
          </a:prstGeom>
          <a:ln w="34925">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38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W</a:t>
            </a:r>
            <a:r>
              <a:rPr lang="en-GB" b="1" dirty="0">
                <a:solidFill>
                  <a:schemeClr val="tx2"/>
                </a:solidFill>
              </a:rPr>
              <a:t>hat is AWS</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353482"/>
            <a:ext cx="9259747" cy="4056719"/>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Amazon Web Services (AWS) is a set of remote cloud computing services offered over the internet</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The AWS mission is to enable businesses and developers to use web services to build scalable, sophisticated applications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AWS provides web based cloud services for storage, computing, networking, databases, analytics, machine learning and artificial intelligence (AI), Internet of Things (IoT), security, and application development, deployment, and management.</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AWS was launched in 2006 (book store launched in 1995)</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Currently offers more than 175 full featured services</a:t>
            </a:r>
          </a:p>
          <a:p>
            <a:endParaRPr lang="en-GB" sz="2400" dirty="0">
              <a:solidFill>
                <a:schemeClr val="tx2"/>
              </a:solidFill>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7092" y="132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0949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Benefits of AWS</a:t>
            </a:r>
            <a:endParaRPr lang="en-GB" dirty="0"/>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560654" y="11430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pic>
        <p:nvPicPr>
          <p:cNvPr id="1026" name="Picture 2" descr="Image result for capex vs opex">
            <a:extLst>
              <a:ext uri="{FF2B5EF4-FFF2-40B4-BE49-F238E27FC236}">
                <a16:creationId xmlns:a16="http://schemas.microsoft.com/office/drawing/2014/main" id="{17058E7C-3DD5-495E-9D09-837745BEFC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1" y="1447800"/>
            <a:ext cx="1333499" cy="533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speed icon">
            <a:extLst>
              <a:ext uri="{FF2B5EF4-FFF2-40B4-BE49-F238E27FC236}">
                <a16:creationId xmlns:a16="http://schemas.microsoft.com/office/drawing/2014/main" id="{47760661-AA19-45B2-97D7-DE22992D62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0182" y="1143001"/>
            <a:ext cx="1300163" cy="13001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3CAA5E8-B1A1-45E7-BA33-39CAC97DCBF7}"/>
              </a:ext>
            </a:extLst>
          </p:cNvPr>
          <p:cNvPicPr>
            <a:picLocks noChangeAspect="1"/>
          </p:cNvPicPr>
          <p:nvPr/>
        </p:nvPicPr>
        <p:blipFill>
          <a:blip r:embed="rId5"/>
          <a:stretch>
            <a:fillRect/>
          </a:stretch>
        </p:blipFill>
        <p:spPr>
          <a:xfrm>
            <a:off x="1371601" y="2819401"/>
            <a:ext cx="1647383" cy="960973"/>
          </a:xfrm>
          <a:prstGeom prst="rect">
            <a:avLst/>
          </a:prstGeom>
        </p:spPr>
      </p:pic>
      <p:pic>
        <p:nvPicPr>
          <p:cNvPr id="1030" name="Picture 6" descr="Image result for spending icon">
            <a:extLst>
              <a:ext uri="{FF2B5EF4-FFF2-40B4-BE49-F238E27FC236}">
                <a16:creationId xmlns:a16="http://schemas.microsoft.com/office/drawing/2014/main" id="{9F4CE802-6D47-4E55-A3B2-BF1FA1FA90C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61985" y="2952968"/>
            <a:ext cx="805578" cy="80557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gear icon">
            <a:extLst>
              <a:ext uri="{FF2B5EF4-FFF2-40B4-BE49-F238E27FC236}">
                <a16:creationId xmlns:a16="http://schemas.microsoft.com/office/drawing/2014/main" id="{2B8C5AD0-A3EA-4BC5-B625-7578A7D90F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5441" y="4714876"/>
            <a:ext cx="1318259" cy="131825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global icon">
            <a:extLst>
              <a:ext uri="{FF2B5EF4-FFF2-40B4-BE49-F238E27FC236}">
                <a16:creationId xmlns:a16="http://schemas.microsoft.com/office/drawing/2014/main" id="{56909491-A321-41B3-9C19-79CD721F6EF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97547" y="4895672"/>
            <a:ext cx="805577" cy="8055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28094B0-C2A8-443C-8A6F-05BA376B9D93}"/>
              </a:ext>
            </a:extLst>
          </p:cNvPr>
          <p:cNvSpPr txBox="1"/>
          <p:nvPr/>
        </p:nvSpPr>
        <p:spPr>
          <a:xfrm>
            <a:off x="3200401" y="1391335"/>
            <a:ext cx="2206053" cy="646331"/>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Trade capital expense</a:t>
            </a:r>
          </a:p>
          <a:p>
            <a:r>
              <a:rPr lang="en-US" dirty="0">
                <a:solidFill>
                  <a:schemeClr val="tx2"/>
                </a:solidFill>
                <a:latin typeface="Calibri" panose="020F0502020204030204" pitchFamily="34" charset="0"/>
                <a:cs typeface="Calibri" panose="020F0502020204030204" pitchFamily="34" charset="0"/>
              </a:rPr>
              <a:t>for variable expense</a:t>
            </a:r>
            <a:endParaRPr lang="en-GB" dirty="0">
              <a:solidFill>
                <a:schemeClr val="tx2"/>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D1F8DA5C-445F-48FE-9CDB-A9B7F3BCFF74}"/>
              </a:ext>
            </a:extLst>
          </p:cNvPr>
          <p:cNvSpPr txBox="1"/>
          <p:nvPr/>
        </p:nvSpPr>
        <p:spPr>
          <a:xfrm>
            <a:off x="7688102" y="1450001"/>
            <a:ext cx="2606996"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Increase speed and agility</a:t>
            </a:r>
            <a:endParaRPr lang="en-GB" dirty="0">
              <a:solidFill>
                <a:schemeClr val="tx2"/>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D3C801DB-7E74-40C8-AA97-A2F43EDE4D59}"/>
              </a:ext>
            </a:extLst>
          </p:cNvPr>
          <p:cNvSpPr txBox="1"/>
          <p:nvPr/>
        </p:nvSpPr>
        <p:spPr>
          <a:xfrm>
            <a:off x="3220499" y="3059668"/>
            <a:ext cx="1960217"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Economies of scale</a:t>
            </a:r>
            <a:endParaRPr lang="en-GB" dirty="0">
              <a:solidFill>
                <a:schemeClr val="tx2"/>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AD5A61B-C4D6-47AB-B56D-3E7A34F3E5B6}"/>
              </a:ext>
            </a:extLst>
          </p:cNvPr>
          <p:cNvSpPr txBox="1"/>
          <p:nvPr/>
        </p:nvSpPr>
        <p:spPr>
          <a:xfrm>
            <a:off x="3195320" y="5004672"/>
            <a:ext cx="2634696"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No need to guess capacity</a:t>
            </a:r>
            <a:endParaRPr lang="en-GB" dirty="0">
              <a:solidFill>
                <a:schemeClr val="tx2"/>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4090687E-B1B6-4610-8D77-454DFCD01433}"/>
              </a:ext>
            </a:extLst>
          </p:cNvPr>
          <p:cNvSpPr txBox="1"/>
          <p:nvPr/>
        </p:nvSpPr>
        <p:spPr>
          <a:xfrm>
            <a:off x="7668005" y="3003769"/>
            <a:ext cx="2963343" cy="646331"/>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Avoid spends on running and maintaining data centers</a:t>
            </a:r>
            <a:endParaRPr lang="en-GB" dirty="0">
              <a:solidFill>
                <a:schemeClr val="tx2"/>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411B46C-E1EA-45B9-B1EA-578DF9F2B2B3}"/>
              </a:ext>
            </a:extLst>
          </p:cNvPr>
          <p:cNvSpPr txBox="1"/>
          <p:nvPr/>
        </p:nvSpPr>
        <p:spPr>
          <a:xfrm>
            <a:off x="7668004" y="5059680"/>
            <a:ext cx="2152256"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Go Global in minutes</a:t>
            </a:r>
            <a:endParaRPr lang="en-GB"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2080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Cloud Computing</a:t>
            </a:r>
            <a:endParaRPr lang="en-GB" dirty="0"/>
          </a:p>
        </p:txBody>
      </p:sp>
      <p:sp>
        <p:nvSpPr>
          <p:cNvPr id="2" name="Rectangle 1">
            <a:extLst>
              <a:ext uri="{FF2B5EF4-FFF2-40B4-BE49-F238E27FC236}">
                <a16:creationId xmlns:a16="http://schemas.microsoft.com/office/drawing/2014/main" id="{4D76D961-A2FF-4B99-99C8-E18F690D98C8}"/>
              </a:ext>
            </a:extLst>
          </p:cNvPr>
          <p:cNvSpPr/>
          <p:nvPr/>
        </p:nvSpPr>
        <p:spPr>
          <a:xfrm>
            <a:off x="2777566" y="5364354"/>
            <a:ext cx="8077200" cy="8210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9DA98FDE-B0F4-4AD8-8965-9B4084BA132B}"/>
              </a:ext>
            </a:extLst>
          </p:cNvPr>
          <p:cNvSpPr/>
          <p:nvPr/>
        </p:nvSpPr>
        <p:spPr>
          <a:xfrm>
            <a:off x="2777566" y="4068954"/>
            <a:ext cx="8077200" cy="1054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299F4191-A431-4E79-B32A-D9701A1D144E}"/>
              </a:ext>
            </a:extLst>
          </p:cNvPr>
          <p:cNvSpPr/>
          <p:nvPr/>
        </p:nvSpPr>
        <p:spPr>
          <a:xfrm>
            <a:off x="2787726" y="1249555"/>
            <a:ext cx="8077200" cy="25441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0AA72671-E87A-471D-B55B-5F28A47D07F3}"/>
              </a:ext>
            </a:extLst>
          </p:cNvPr>
          <p:cNvSpPr/>
          <p:nvPr/>
        </p:nvSpPr>
        <p:spPr>
          <a:xfrm>
            <a:off x="3082366" y="5546849"/>
            <a:ext cx="1981200" cy="457200"/>
          </a:xfrm>
          <a:prstGeom prst="roundRect">
            <a:avLst/>
          </a:prstGeom>
          <a:solidFill>
            <a:srgbClr val="DBE8F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Regions</a:t>
            </a:r>
            <a:endParaRPr lang="en-GB" dirty="0">
              <a:solidFill>
                <a:schemeClr val="tx2"/>
              </a:solidFill>
              <a:latin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id="{0463D76D-F313-4AFB-979F-AF5DDED408B4}"/>
              </a:ext>
            </a:extLst>
          </p:cNvPr>
          <p:cNvSpPr/>
          <p:nvPr/>
        </p:nvSpPr>
        <p:spPr>
          <a:xfrm>
            <a:off x="5749366" y="5536099"/>
            <a:ext cx="1981200" cy="457200"/>
          </a:xfrm>
          <a:prstGeom prst="roundRect">
            <a:avLst/>
          </a:prstGeom>
          <a:solidFill>
            <a:srgbClr val="DBE8F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Availability zones</a:t>
            </a:r>
            <a:endParaRPr lang="en-GB" dirty="0">
              <a:solidFill>
                <a:schemeClr val="tx2"/>
              </a:solidFill>
              <a:latin typeface="Calibri" panose="020F0502020204030204" pitchFamily="34" charset="0"/>
              <a:cs typeface="Calibri" panose="020F0502020204030204" pitchFamily="34" charset="0"/>
            </a:endParaRPr>
          </a:p>
        </p:txBody>
      </p:sp>
      <p:sp>
        <p:nvSpPr>
          <p:cNvPr id="22" name="Rectangle: Rounded Corners 21">
            <a:extLst>
              <a:ext uri="{FF2B5EF4-FFF2-40B4-BE49-F238E27FC236}">
                <a16:creationId xmlns:a16="http://schemas.microsoft.com/office/drawing/2014/main" id="{BA807FE7-0B68-4F7A-8A95-A332ADD6DE28}"/>
              </a:ext>
            </a:extLst>
          </p:cNvPr>
          <p:cNvSpPr/>
          <p:nvPr/>
        </p:nvSpPr>
        <p:spPr>
          <a:xfrm>
            <a:off x="8340166" y="5516754"/>
            <a:ext cx="1981200" cy="457200"/>
          </a:xfrm>
          <a:prstGeom prst="roundRect">
            <a:avLst/>
          </a:prstGeom>
          <a:solidFill>
            <a:srgbClr val="DBE8F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Edge locations</a:t>
            </a:r>
            <a:endParaRPr lang="en-GB" dirty="0">
              <a:solidFill>
                <a:schemeClr val="tx2"/>
              </a:solidFill>
              <a:latin typeface="Calibri" panose="020F0502020204030204" pitchFamily="34" charset="0"/>
              <a:cs typeface="Calibri" panose="020F0502020204030204" pitchFamily="34" charset="0"/>
            </a:endParaRPr>
          </a:p>
        </p:txBody>
      </p:sp>
      <p:sp>
        <p:nvSpPr>
          <p:cNvPr id="23" name="Rectangle: Rounded Corners 22">
            <a:extLst>
              <a:ext uri="{FF2B5EF4-FFF2-40B4-BE49-F238E27FC236}">
                <a16:creationId xmlns:a16="http://schemas.microsoft.com/office/drawing/2014/main" id="{ED8B5AF0-37A8-4234-A73B-FA653C5C0826}"/>
              </a:ext>
            </a:extLst>
          </p:cNvPr>
          <p:cNvSpPr/>
          <p:nvPr/>
        </p:nvSpPr>
        <p:spPr>
          <a:xfrm>
            <a:off x="3082366" y="4395934"/>
            <a:ext cx="1981200" cy="457200"/>
          </a:xfrm>
          <a:prstGeom prst="roundRect">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Compute</a:t>
            </a:r>
            <a:endParaRPr lang="en-GB" dirty="0">
              <a:solidFill>
                <a:schemeClr val="tx2"/>
              </a:solidFill>
              <a:latin typeface="Calibri" panose="020F0502020204030204" pitchFamily="34" charset="0"/>
              <a:cs typeface="Calibri" panose="020F0502020204030204" pitchFamily="34" charset="0"/>
            </a:endParaRPr>
          </a:p>
        </p:txBody>
      </p:sp>
      <p:sp>
        <p:nvSpPr>
          <p:cNvPr id="24" name="Rectangle: Rounded Corners 23">
            <a:extLst>
              <a:ext uri="{FF2B5EF4-FFF2-40B4-BE49-F238E27FC236}">
                <a16:creationId xmlns:a16="http://schemas.microsoft.com/office/drawing/2014/main" id="{4B2CDDD3-3B3D-48B4-A1E3-0869A83FA913}"/>
              </a:ext>
            </a:extLst>
          </p:cNvPr>
          <p:cNvSpPr/>
          <p:nvPr/>
        </p:nvSpPr>
        <p:spPr>
          <a:xfrm>
            <a:off x="5749366" y="4385184"/>
            <a:ext cx="1981200" cy="457200"/>
          </a:xfrm>
          <a:prstGeom prst="roundRect">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Networking</a:t>
            </a:r>
            <a:endParaRPr lang="en-GB" dirty="0">
              <a:solidFill>
                <a:schemeClr val="tx2"/>
              </a:solidFill>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F123EB48-6748-4071-BDB0-C1E2D4B27EED}"/>
              </a:ext>
            </a:extLst>
          </p:cNvPr>
          <p:cNvSpPr/>
          <p:nvPr/>
        </p:nvSpPr>
        <p:spPr>
          <a:xfrm>
            <a:off x="8340166" y="4365839"/>
            <a:ext cx="1981200" cy="457200"/>
          </a:xfrm>
          <a:prstGeom prst="roundRect">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Storage</a:t>
            </a:r>
            <a:endParaRPr lang="en-GB" dirty="0">
              <a:solidFill>
                <a:schemeClr val="tx2"/>
              </a:solidFill>
              <a:latin typeface="Calibri" panose="020F0502020204030204" pitchFamily="34" charset="0"/>
              <a:cs typeface="Calibri" panose="020F0502020204030204" pitchFamily="34" charset="0"/>
            </a:endParaRPr>
          </a:p>
        </p:txBody>
      </p:sp>
      <p:cxnSp>
        <p:nvCxnSpPr>
          <p:cNvPr id="9" name="Straight Connector 8">
            <a:extLst>
              <a:ext uri="{FF2B5EF4-FFF2-40B4-BE49-F238E27FC236}">
                <a16:creationId xmlns:a16="http://schemas.microsoft.com/office/drawing/2014/main" id="{74B0E9EA-30E7-4268-9952-26F6BB0A157F}"/>
              </a:ext>
            </a:extLst>
          </p:cNvPr>
          <p:cNvCxnSpPr>
            <a:cxnSpLocks/>
          </p:cNvCxnSpPr>
          <p:nvPr/>
        </p:nvCxnSpPr>
        <p:spPr>
          <a:xfrm>
            <a:off x="4301566" y="1325754"/>
            <a:ext cx="0" cy="2362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6FA82E7-6332-4519-B917-6B957FC0BE60}"/>
              </a:ext>
            </a:extLst>
          </p:cNvPr>
          <p:cNvCxnSpPr>
            <a:cxnSpLocks/>
          </p:cNvCxnSpPr>
          <p:nvPr/>
        </p:nvCxnSpPr>
        <p:spPr>
          <a:xfrm>
            <a:off x="5901766" y="1325754"/>
            <a:ext cx="0" cy="2362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440DFBA-9791-431F-8BED-58FA613794F4}"/>
              </a:ext>
            </a:extLst>
          </p:cNvPr>
          <p:cNvCxnSpPr>
            <a:cxnSpLocks/>
          </p:cNvCxnSpPr>
          <p:nvPr/>
        </p:nvCxnSpPr>
        <p:spPr>
          <a:xfrm>
            <a:off x="7501966" y="1325754"/>
            <a:ext cx="0" cy="2362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8F47F45-FEAA-4275-BC58-C8A13097063A}"/>
              </a:ext>
            </a:extLst>
          </p:cNvPr>
          <p:cNvCxnSpPr>
            <a:cxnSpLocks/>
          </p:cNvCxnSpPr>
          <p:nvPr/>
        </p:nvCxnSpPr>
        <p:spPr>
          <a:xfrm>
            <a:off x="9178366" y="1325754"/>
            <a:ext cx="0" cy="2362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EFC17DB-3057-4CFE-9F9C-7C25C6B7CC60}"/>
              </a:ext>
            </a:extLst>
          </p:cNvPr>
          <p:cNvSpPr txBox="1"/>
          <p:nvPr/>
        </p:nvSpPr>
        <p:spPr>
          <a:xfrm>
            <a:off x="3069717" y="1335378"/>
            <a:ext cx="937436"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Databases</a:t>
            </a:r>
            <a:endParaRPr lang="en-GB" sz="1400" dirty="0">
              <a:solidFill>
                <a:schemeClr val="tx2"/>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3D103B6-0637-4267-9A2B-62E35D8CA5E3}"/>
              </a:ext>
            </a:extLst>
          </p:cNvPr>
          <p:cNvSpPr txBox="1"/>
          <p:nvPr/>
        </p:nvSpPr>
        <p:spPr>
          <a:xfrm>
            <a:off x="4630637" y="1335378"/>
            <a:ext cx="842795"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Analytics</a:t>
            </a:r>
            <a:endParaRPr lang="en-GB" sz="1400" dirty="0">
              <a:solidFill>
                <a:schemeClr val="tx2"/>
              </a:solidFill>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11B2E60A-E2F4-4036-814C-5453A58C29F6}"/>
              </a:ext>
            </a:extLst>
          </p:cNvPr>
          <p:cNvSpPr txBox="1"/>
          <p:nvPr/>
        </p:nvSpPr>
        <p:spPr>
          <a:xfrm>
            <a:off x="6212395" y="1339902"/>
            <a:ext cx="1112869"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App Services</a:t>
            </a:r>
            <a:endParaRPr lang="en-GB" sz="1400" dirty="0">
              <a:solidFill>
                <a:schemeClr val="tx2"/>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547851B1-8A94-4E7E-B23C-D16561EDF52B}"/>
              </a:ext>
            </a:extLst>
          </p:cNvPr>
          <p:cNvSpPr txBox="1"/>
          <p:nvPr/>
        </p:nvSpPr>
        <p:spPr>
          <a:xfrm>
            <a:off x="7730567" y="1335377"/>
            <a:ext cx="1327671" cy="523220"/>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Deployment</a:t>
            </a:r>
          </a:p>
          <a:p>
            <a:r>
              <a:rPr lang="en-US" sz="1400" dirty="0">
                <a:solidFill>
                  <a:schemeClr val="tx2"/>
                </a:solidFill>
                <a:latin typeface="Calibri" panose="020F0502020204030204" pitchFamily="34" charset="0"/>
                <a:cs typeface="Calibri" panose="020F0502020204030204" pitchFamily="34" charset="0"/>
              </a:rPr>
              <a:t>&amp; Management</a:t>
            </a:r>
            <a:endParaRPr lang="en-GB" sz="1400" dirty="0">
              <a:solidFill>
                <a:schemeClr val="tx2"/>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8C3162FB-FE1C-4B93-B9AD-1D8165BF8200}"/>
              </a:ext>
            </a:extLst>
          </p:cNvPr>
          <p:cNvSpPr txBox="1"/>
          <p:nvPr/>
        </p:nvSpPr>
        <p:spPr>
          <a:xfrm>
            <a:off x="9406967" y="1339901"/>
            <a:ext cx="1324465"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Mobile services</a:t>
            </a:r>
            <a:endParaRPr lang="en-GB" sz="1400" dirty="0">
              <a:solidFill>
                <a:schemeClr val="tx2"/>
              </a:solidFill>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D2984C58-9B9E-4265-BE09-B2986FC5D1C1}"/>
              </a:ext>
            </a:extLst>
          </p:cNvPr>
          <p:cNvSpPr txBox="1"/>
          <p:nvPr/>
        </p:nvSpPr>
        <p:spPr>
          <a:xfrm>
            <a:off x="3050728" y="1861038"/>
            <a:ext cx="915635" cy="1169551"/>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Relational</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NoSQL</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Caching</a:t>
            </a:r>
            <a:endParaRPr lang="en-GB" sz="1400" dirty="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1558C1-BC29-4B59-8358-3DBF9D3CC90A}"/>
              </a:ext>
            </a:extLst>
          </p:cNvPr>
          <p:cNvSpPr txBox="1"/>
          <p:nvPr/>
        </p:nvSpPr>
        <p:spPr>
          <a:xfrm>
            <a:off x="4270342" y="1850269"/>
            <a:ext cx="1541704" cy="1600438"/>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Cluster Computing</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Real-time</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Data warehouse</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Data workflows</a:t>
            </a:r>
            <a:endParaRPr lang="en-GB" sz="1400" dirty="0">
              <a:latin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BE58A942-3CD2-41AB-82BA-A55C147CED26}"/>
              </a:ext>
            </a:extLst>
          </p:cNvPr>
          <p:cNvSpPr txBox="1"/>
          <p:nvPr/>
        </p:nvSpPr>
        <p:spPr>
          <a:xfrm>
            <a:off x="6137201" y="1850269"/>
            <a:ext cx="1187826" cy="1815882"/>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Queuing</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Orchestration</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Email</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Search</a:t>
            </a:r>
          </a:p>
          <a:p>
            <a:pPr algn="ctr"/>
            <a:endParaRPr lang="en-GB" sz="1400" dirty="0">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3755ED02-314A-4416-A1C5-095178560506}"/>
              </a:ext>
            </a:extLst>
          </p:cNvPr>
          <p:cNvSpPr txBox="1"/>
          <p:nvPr/>
        </p:nvSpPr>
        <p:spPr>
          <a:xfrm>
            <a:off x="7512924" y="1837347"/>
            <a:ext cx="1654491" cy="1815882"/>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Containers</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DevOps tools</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Usage tracking</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Monitoring and logs</a:t>
            </a:r>
          </a:p>
          <a:p>
            <a:pPr algn="ctr"/>
            <a:endParaRPr lang="en-US" sz="1400" dirty="0">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11B59D0C-CCFC-4749-AC56-1EF1F8F69A62}"/>
              </a:ext>
            </a:extLst>
          </p:cNvPr>
          <p:cNvSpPr txBox="1"/>
          <p:nvPr/>
        </p:nvSpPr>
        <p:spPr>
          <a:xfrm>
            <a:off x="9327802" y="1828562"/>
            <a:ext cx="1399036" cy="1600438"/>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Identity</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Sync</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Mobile Analytics</a:t>
            </a:r>
          </a:p>
          <a:p>
            <a:pPr algn="ct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Notifications</a:t>
            </a:r>
          </a:p>
        </p:txBody>
      </p:sp>
      <p:sp>
        <p:nvSpPr>
          <p:cNvPr id="41" name="TextBox 40">
            <a:extLst>
              <a:ext uri="{FF2B5EF4-FFF2-40B4-BE49-F238E27FC236}">
                <a16:creationId xmlns:a16="http://schemas.microsoft.com/office/drawing/2014/main" id="{4196472D-2AC1-4143-860A-B600174333D4}"/>
              </a:ext>
            </a:extLst>
          </p:cNvPr>
          <p:cNvSpPr txBox="1"/>
          <p:nvPr/>
        </p:nvSpPr>
        <p:spPr>
          <a:xfrm>
            <a:off x="1130994" y="5563173"/>
            <a:ext cx="1653081" cy="400110"/>
          </a:xfrm>
          <a:prstGeom prst="rect">
            <a:avLst/>
          </a:prstGeom>
          <a:noFill/>
        </p:spPr>
        <p:txBody>
          <a:bodyPr wrap="none" rtlCol="0">
            <a:spAutoFit/>
          </a:bodyPr>
          <a:lstStyle/>
          <a:p>
            <a:r>
              <a:rPr lang="en-US" sz="2000" b="1" dirty="0">
                <a:solidFill>
                  <a:schemeClr val="tx2"/>
                </a:solidFill>
                <a:latin typeface="Calibri" panose="020F0502020204030204" pitchFamily="34" charset="0"/>
                <a:cs typeface="Calibri" panose="020F0502020204030204" pitchFamily="34" charset="0"/>
              </a:rPr>
              <a:t>Infrastructure</a:t>
            </a:r>
            <a:endParaRPr lang="en-GB" sz="2000" b="1" dirty="0">
              <a:solidFill>
                <a:schemeClr val="tx2"/>
              </a:solidFill>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7444EF6D-0062-4A6A-9547-CEE825D98D71}"/>
              </a:ext>
            </a:extLst>
          </p:cNvPr>
          <p:cNvSpPr txBox="1"/>
          <p:nvPr/>
        </p:nvSpPr>
        <p:spPr>
          <a:xfrm>
            <a:off x="1143000" y="4233678"/>
            <a:ext cx="1589794" cy="707886"/>
          </a:xfrm>
          <a:prstGeom prst="rect">
            <a:avLst/>
          </a:prstGeom>
          <a:noFill/>
        </p:spPr>
        <p:txBody>
          <a:bodyPr wrap="none" rtlCol="0">
            <a:spAutoFit/>
          </a:bodyPr>
          <a:lstStyle/>
          <a:p>
            <a:r>
              <a:rPr lang="en-US" sz="2000" b="1" dirty="0">
                <a:solidFill>
                  <a:schemeClr val="tx2"/>
                </a:solidFill>
                <a:latin typeface="Calibri" panose="020F0502020204030204" pitchFamily="34" charset="0"/>
                <a:cs typeface="Calibri" panose="020F0502020204030204" pitchFamily="34" charset="0"/>
              </a:rPr>
              <a:t>Foundational</a:t>
            </a:r>
          </a:p>
          <a:p>
            <a:r>
              <a:rPr lang="en-US" sz="2000" b="1" dirty="0">
                <a:solidFill>
                  <a:schemeClr val="tx2"/>
                </a:solidFill>
                <a:latin typeface="Calibri" panose="020F0502020204030204" pitchFamily="34" charset="0"/>
                <a:cs typeface="Calibri" panose="020F0502020204030204" pitchFamily="34" charset="0"/>
              </a:rPr>
              <a:t>Services</a:t>
            </a:r>
            <a:endParaRPr lang="en-GB" sz="2000" b="1" dirty="0">
              <a:solidFill>
                <a:schemeClr val="tx2"/>
              </a:solidFill>
              <a:latin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9A4B29F9-085D-41C9-82BA-15CE38720A20}"/>
              </a:ext>
            </a:extLst>
          </p:cNvPr>
          <p:cNvSpPr txBox="1"/>
          <p:nvPr/>
        </p:nvSpPr>
        <p:spPr>
          <a:xfrm>
            <a:off x="1130993" y="1930215"/>
            <a:ext cx="1111330" cy="707886"/>
          </a:xfrm>
          <a:prstGeom prst="rect">
            <a:avLst/>
          </a:prstGeom>
          <a:noFill/>
        </p:spPr>
        <p:txBody>
          <a:bodyPr wrap="none" rtlCol="0">
            <a:spAutoFit/>
          </a:bodyPr>
          <a:lstStyle/>
          <a:p>
            <a:r>
              <a:rPr lang="en-US" sz="2000" b="1" dirty="0">
                <a:solidFill>
                  <a:schemeClr val="tx2"/>
                </a:solidFill>
                <a:latin typeface="Calibri" panose="020F0502020204030204" pitchFamily="34" charset="0"/>
                <a:cs typeface="Calibri" panose="020F0502020204030204" pitchFamily="34" charset="0"/>
              </a:rPr>
              <a:t>Platform</a:t>
            </a:r>
          </a:p>
          <a:p>
            <a:r>
              <a:rPr lang="en-US" sz="2000" b="1" dirty="0">
                <a:solidFill>
                  <a:schemeClr val="tx2"/>
                </a:solidFill>
                <a:latin typeface="Calibri" panose="020F0502020204030204" pitchFamily="34" charset="0"/>
                <a:cs typeface="Calibri" panose="020F0502020204030204" pitchFamily="34" charset="0"/>
              </a:rPr>
              <a:t>Services </a:t>
            </a:r>
            <a:endParaRPr lang="en-GB"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8556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Global Infrastructure </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Regions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Geographical locations (24 currently)</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At least two availability zones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All services are not available in all regions</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Availability zones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Clusters of data centers (77 currently)</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Isolated from failures in other availability zones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All AZs are interconnected by AWS backbone Optic Fiber network</a:t>
            </a:r>
          </a:p>
          <a:p>
            <a:pPr>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AWS GovCloud (US) Region is an isolated region : For US government agencies and customers to move sensitive workloads into the cloud by addressing specific regulatory and compliance requirements</a:t>
            </a:r>
          </a:p>
          <a:p>
            <a:pPr marL="342900" indent="-342900">
              <a:buFont typeface="Arial" panose="020B0604020202020204" pitchFamily="34" charset="0"/>
              <a:buChar char="•"/>
            </a:pPr>
            <a:r>
              <a:rPr lang="en-GB" sz="2400" dirty="0">
                <a:hlinkClick r:id="rId3"/>
              </a:rPr>
              <a:t>https://www.infrastructure.aws/</a:t>
            </a:r>
            <a:endParaRPr lang="en-GB" sz="2400" dirty="0">
              <a:solidFill>
                <a:schemeClr val="tx2"/>
              </a:solidFill>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2399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Global Infrastructure (</a:t>
            </a:r>
            <a:r>
              <a:rPr lang="en-US" b="1" dirty="0" err="1">
                <a:solidFill>
                  <a:schemeClr val="tx2"/>
                </a:solidFill>
              </a:rPr>
              <a:t>contd</a:t>
            </a:r>
            <a:r>
              <a:rPr lang="en-US" b="1" dirty="0">
                <a:solidFill>
                  <a:schemeClr val="tx2"/>
                </a:solidFill>
              </a:rPr>
              <a:t>) </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Edge Locations</a:t>
            </a:r>
            <a:r>
              <a:rPr lang="en-GB" sz="2400" b="1" dirty="0">
                <a:solidFill>
                  <a:schemeClr val="tx2"/>
                </a:solidFill>
                <a:latin typeface="Calibri" panose="020F0502020204030204" pitchFamily="34" charset="0"/>
                <a:cs typeface="Calibri" panose="020F0502020204030204" pitchFamily="34" charset="0"/>
              </a:rPr>
              <a:t> </a:t>
            </a:r>
            <a:r>
              <a:rPr lang="en-GB" sz="2400" dirty="0">
                <a:solidFill>
                  <a:schemeClr val="tx2"/>
                </a:solidFill>
                <a:latin typeface="Calibri" panose="020F0502020204030204" pitchFamily="34" charset="0"/>
                <a:cs typeface="Calibri" panose="020F0502020204030204" pitchFamily="34" charset="0"/>
              </a:rPr>
              <a:t>(local points of presence) – 220+</a:t>
            </a:r>
          </a:p>
          <a:p>
            <a:pPr lvl="1">
              <a:lnSpc>
                <a:spcPct val="150000"/>
              </a:lnSpc>
              <a:buFont typeface="Arial" panose="020B0604020202020204" pitchFamily="34" charset="0"/>
              <a:buChar char="•"/>
            </a:pPr>
            <a:r>
              <a:rPr lang="en-GB" sz="2400" dirty="0">
                <a:solidFill>
                  <a:schemeClr val="tx2"/>
                </a:solidFill>
                <a:latin typeface="Calibri" panose="020F0502020204030204" pitchFamily="34" charset="0"/>
                <a:cs typeface="Calibri" panose="020F0502020204030204" pitchFamily="34" charset="0"/>
              </a:rPr>
              <a:t> Following services available –</a:t>
            </a:r>
          </a:p>
          <a:p>
            <a:pPr lvl="2">
              <a:lnSpc>
                <a:spcPct val="150000"/>
              </a:lnSpc>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 </a:t>
            </a:r>
            <a:r>
              <a:rPr lang="en-GB" sz="2400" dirty="0">
                <a:solidFill>
                  <a:schemeClr val="tx2"/>
                </a:solidFill>
                <a:latin typeface="Calibri" panose="020F0502020204030204" pitchFamily="34" charset="0"/>
                <a:cs typeface="Calibri" panose="020F0502020204030204" pitchFamily="34" charset="0"/>
              </a:rPr>
              <a:t>Amazon CloudFront (CDN service)</a:t>
            </a:r>
          </a:p>
          <a:p>
            <a:pPr lvl="2">
              <a:lnSpc>
                <a:spcPct val="150000"/>
              </a:lnSpc>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 </a:t>
            </a:r>
            <a:r>
              <a:rPr lang="en-GB" sz="2400" dirty="0">
                <a:solidFill>
                  <a:schemeClr val="tx2"/>
                </a:solidFill>
                <a:latin typeface="Calibri" panose="020F0502020204030204" pitchFamily="34" charset="0"/>
                <a:cs typeface="Calibri" panose="020F0502020204030204" pitchFamily="34" charset="0"/>
              </a:rPr>
              <a:t>Amazon Route 53 (DNS service)</a:t>
            </a:r>
          </a:p>
          <a:p>
            <a:pPr lvl="2">
              <a:lnSpc>
                <a:spcPct val="150000"/>
              </a:lnSpc>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 </a:t>
            </a:r>
            <a:r>
              <a:rPr lang="en-GB" sz="2400" dirty="0">
                <a:solidFill>
                  <a:schemeClr val="tx2"/>
                </a:solidFill>
                <a:latin typeface="Calibri" panose="020F0502020204030204" pitchFamily="34" charset="0"/>
                <a:cs typeface="Calibri" panose="020F0502020204030204" pitchFamily="34" charset="0"/>
              </a:rPr>
              <a:t>AWS WAF (Web application firewall)</a:t>
            </a:r>
          </a:p>
          <a:p>
            <a:pPr lvl="2">
              <a:lnSpc>
                <a:spcPct val="150000"/>
              </a:lnSpc>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 </a:t>
            </a:r>
            <a:r>
              <a:rPr lang="en-GB" sz="2400" dirty="0">
                <a:solidFill>
                  <a:schemeClr val="tx2"/>
                </a:solidFill>
                <a:latin typeface="Calibri" panose="020F0502020204030204" pitchFamily="34" charset="0"/>
                <a:cs typeface="Calibri" panose="020F0502020204030204" pitchFamily="34" charset="0"/>
              </a:rPr>
              <a:t>AWS Shield</a:t>
            </a:r>
          </a:p>
          <a:p>
            <a:pPr lvl="2">
              <a:lnSpc>
                <a:spcPct val="150000"/>
              </a:lnSpc>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 </a:t>
            </a:r>
            <a:r>
              <a:rPr lang="en-GB" sz="2400" dirty="0" err="1">
                <a:solidFill>
                  <a:schemeClr val="tx2"/>
                </a:solidFill>
                <a:latin typeface="Calibri" panose="020F0502020204030204" pitchFamily="34" charset="0"/>
                <a:cs typeface="Calibri" panose="020F0502020204030204" pitchFamily="34" charset="0"/>
              </a:rPr>
              <a:t>Lamda@Edge</a:t>
            </a:r>
            <a:endParaRPr lang="en-US" sz="2400"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4910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vocabulary</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Soft limits: </a:t>
            </a:r>
            <a:r>
              <a:rPr lang="en-US" sz="2400" dirty="0">
                <a:solidFill>
                  <a:schemeClr val="tx2"/>
                </a:solidFill>
                <a:latin typeface="Calibri" panose="020F0502020204030204" pitchFamily="34" charset="0"/>
                <a:cs typeface="Calibri" panose="020F0502020204030204" pitchFamily="34" charset="0"/>
              </a:rPr>
              <a:t>Constraints imposed by AWS but which can be changed on request. E.g. Number of VPCs allowed per region per account (5)</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 Hard limits</a:t>
            </a:r>
            <a:r>
              <a:rPr lang="en-US" sz="2400" dirty="0">
                <a:solidFill>
                  <a:schemeClr val="tx2"/>
                </a:solidFill>
                <a:latin typeface="Calibri" panose="020F0502020204030204" pitchFamily="34" charset="0"/>
                <a:cs typeface="Calibri" panose="020F0502020204030204" pitchFamily="34" charset="0"/>
              </a:rPr>
              <a:t>: Constraints imposed by AWS which cannot be changed. E.g. 5TB limit on a S3 bucket</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Fully Managed services</a:t>
            </a:r>
            <a:r>
              <a:rPr lang="en-US" sz="2400" dirty="0">
                <a:solidFill>
                  <a:schemeClr val="tx2"/>
                </a:solidFill>
                <a:latin typeface="Calibri" panose="020F0502020204030204" pitchFamily="34" charset="0"/>
                <a:cs typeface="Calibri" panose="020F0502020204030204" pitchFamily="34" charset="0"/>
              </a:rPr>
              <a:t>: Completely managed and supported by AWS (e.g. Aurora DB under AWS RDS)</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2282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2114" y="2794855"/>
            <a:ext cx="813970" cy="813970"/>
          </a:xfrm>
          <a:prstGeom prst="rect">
            <a:avLst/>
          </a:prstGeom>
        </p:spPr>
      </p:pic>
    </p:spTree>
    <p:extLst>
      <p:ext uri="{BB962C8B-B14F-4D97-AF65-F5344CB8AC3E}">
        <p14:creationId xmlns:p14="http://schemas.microsoft.com/office/powerpoint/2010/main" val="4078426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extLst>
              <p:ext uri="{D42A27DB-BD31-4B8C-83A1-F6EECF244321}">
                <p14:modId xmlns:p14="http://schemas.microsoft.com/office/powerpoint/2010/main" val="1265855892"/>
              </p:ext>
            </p:extLst>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3788" y="3381849"/>
            <a:ext cx="813970" cy="813970"/>
          </a:xfrm>
          <a:prstGeom prst="rect">
            <a:avLst/>
          </a:prstGeom>
        </p:spPr>
      </p:pic>
    </p:spTree>
    <p:extLst>
      <p:ext uri="{BB962C8B-B14F-4D97-AF65-F5344CB8AC3E}">
        <p14:creationId xmlns:p14="http://schemas.microsoft.com/office/powerpoint/2010/main" val="993099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What is a VPC</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Virtual Private Cloud (VPC) </a:t>
            </a:r>
            <a:r>
              <a:rPr lang="en-US" sz="2400" dirty="0">
                <a:solidFill>
                  <a:schemeClr val="tx2"/>
                </a:solidFill>
                <a:latin typeface="Calibri" panose="020F0502020204030204" pitchFamily="34" charset="0"/>
                <a:cs typeface="Calibri" panose="020F0502020204030204" pitchFamily="34" charset="0"/>
              </a:rPr>
              <a:t>allows you to create your own “virtual network” on AWS with complete control on the networking environment</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Customized N/W configuration :</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Selection of IP addresses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Creation of subnets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Configuration of route tables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Setting up network gateways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Connect to corporate network outside AWS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Dedicated to an AWS account and isolated from other VPCs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Encompasses all Availability zones in a region</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828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Typical VPC architecture and components</a:t>
            </a:r>
            <a:endParaRPr lang="en-GB" dirty="0"/>
          </a:p>
        </p:txBody>
      </p:sp>
      <p:grpSp>
        <p:nvGrpSpPr>
          <p:cNvPr id="12" name="Group 11">
            <a:extLst>
              <a:ext uri="{FF2B5EF4-FFF2-40B4-BE49-F238E27FC236}">
                <a16:creationId xmlns:a16="http://schemas.microsoft.com/office/drawing/2014/main" id="{2BA7710A-1277-4368-BDD3-3D2A551BE0E5}"/>
              </a:ext>
            </a:extLst>
          </p:cNvPr>
          <p:cNvGrpSpPr/>
          <p:nvPr/>
        </p:nvGrpSpPr>
        <p:grpSpPr>
          <a:xfrm>
            <a:off x="3271182" y="1189582"/>
            <a:ext cx="954057" cy="786894"/>
            <a:chOff x="2119723" y="1447800"/>
            <a:chExt cx="1259655" cy="1126481"/>
          </a:xfrm>
        </p:grpSpPr>
        <p:sp>
          <p:nvSpPr>
            <p:cNvPr id="8" name="TextBox 7">
              <a:extLst>
                <a:ext uri="{FF2B5EF4-FFF2-40B4-BE49-F238E27FC236}">
                  <a16:creationId xmlns:a16="http://schemas.microsoft.com/office/drawing/2014/main" id="{D49F1B5A-AB4F-488F-80B1-4A3446EF0FA5}"/>
                </a:ext>
              </a:extLst>
            </p:cNvPr>
            <p:cNvSpPr txBox="1"/>
            <p:nvPr/>
          </p:nvSpPr>
          <p:spPr>
            <a:xfrm>
              <a:off x="2119723" y="1913383"/>
              <a:ext cx="1259655" cy="660898"/>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Internet gateway</a:t>
              </a:r>
            </a:p>
          </p:txBody>
        </p:sp>
        <p:pic>
          <p:nvPicPr>
            <p:cNvPr id="9" name="Graphic 8">
              <a:extLst>
                <a:ext uri="{FF2B5EF4-FFF2-40B4-BE49-F238E27FC236}">
                  <a16:creationId xmlns:a16="http://schemas.microsoft.com/office/drawing/2014/main" id="{7AC24829-6E53-44AE-889F-EBB03F48CB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4600" y="1447800"/>
              <a:ext cx="469900" cy="469900"/>
            </a:xfrm>
            <a:prstGeom prst="rect">
              <a:avLst/>
            </a:prstGeom>
          </p:spPr>
        </p:pic>
      </p:grpSp>
      <p:grpSp>
        <p:nvGrpSpPr>
          <p:cNvPr id="6" name="Group 5">
            <a:extLst>
              <a:ext uri="{FF2B5EF4-FFF2-40B4-BE49-F238E27FC236}">
                <a16:creationId xmlns:a16="http://schemas.microsoft.com/office/drawing/2014/main" id="{3A6AF4E3-99B0-468B-B548-CEC9D3AA475C}"/>
              </a:ext>
            </a:extLst>
          </p:cNvPr>
          <p:cNvGrpSpPr/>
          <p:nvPr/>
        </p:nvGrpSpPr>
        <p:grpSpPr>
          <a:xfrm>
            <a:off x="4317566" y="3912526"/>
            <a:ext cx="864035" cy="530642"/>
            <a:chOff x="8671385" y="3856788"/>
            <a:chExt cx="1589097" cy="974034"/>
          </a:xfrm>
        </p:grpSpPr>
        <p:sp>
          <p:nvSpPr>
            <p:cNvPr id="10" name="TextBox 9">
              <a:extLst>
                <a:ext uri="{FF2B5EF4-FFF2-40B4-BE49-F238E27FC236}">
                  <a16:creationId xmlns:a16="http://schemas.microsoft.com/office/drawing/2014/main" id="{7C55984C-246A-443B-82DF-7040027D6615}"/>
                </a:ext>
              </a:extLst>
            </p:cNvPr>
            <p:cNvSpPr txBox="1"/>
            <p:nvPr/>
          </p:nvSpPr>
          <p:spPr>
            <a:xfrm>
              <a:off x="8671385" y="4322369"/>
              <a:ext cx="1589097" cy="508453"/>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Router</a:t>
              </a:r>
            </a:p>
          </p:txBody>
        </p:sp>
        <p:pic>
          <p:nvPicPr>
            <p:cNvPr id="11" name="Graphic 10">
              <a:extLst>
                <a:ext uri="{FF2B5EF4-FFF2-40B4-BE49-F238E27FC236}">
                  <a16:creationId xmlns:a16="http://schemas.microsoft.com/office/drawing/2014/main" id="{5D943E27-7DF4-4001-AB83-CD11D0CE0C7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30983" y="3856788"/>
              <a:ext cx="469900" cy="469900"/>
            </a:xfrm>
            <a:prstGeom prst="rect">
              <a:avLst/>
            </a:prstGeom>
          </p:spPr>
        </p:pic>
      </p:grpSp>
      <p:grpSp>
        <p:nvGrpSpPr>
          <p:cNvPr id="13" name="Group 12">
            <a:extLst>
              <a:ext uri="{FF2B5EF4-FFF2-40B4-BE49-F238E27FC236}">
                <a16:creationId xmlns:a16="http://schemas.microsoft.com/office/drawing/2014/main" id="{BE234820-07FD-4611-BB4C-6810AADEAF74}"/>
              </a:ext>
            </a:extLst>
          </p:cNvPr>
          <p:cNvGrpSpPr/>
          <p:nvPr/>
        </p:nvGrpSpPr>
        <p:grpSpPr>
          <a:xfrm>
            <a:off x="6927237" y="3879850"/>
            <a:ext cx="1211559" cy="560171"/>
            <a:chOff x="7289366" y="4878619"/>
            <a:chExt cx="1589097" cy="963025"/>
          </a:xfrm>
        </p:grpSpPr>
        <p:sp>
          <p:nvSpPr>
            <p:cNvPr id="14" name="TextBox 13">
              <a:extLst>
                <a:ext uri="{FF2B5EF4-FFF2-40B4-BE49-F238E27FC236}">
                  <a16:creationId xmlns:a16="http://schemas.microsoft.com/office/drawing/2014/main" id="{2768904A-E4FD-4B51-BA7D-DE673CF05A9C}"/>
                </a:ext>
              </a:extLst>
            </p:cNvPr>
            <p:cNvSpPr txBox="1"/>
            <p:nvPr/>
          </p:nvSpPr>
          <p:spPr>
            <a:xfrm>
              <a:off x="7289366" y="5365438"/>
              <a:ext cx="1589097" cy="476206"/>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VPN connection</a:t>
              </a:r>
            </a:p>
          </p:txBody>
        </p:sp>
        <p:pic>
          <p:nvPicPr>
            <p:cNvPr id="15" name="Graphic 14">
              <a:extLst>
                <a:ext uri="{FF2B5EF4-FFF2-40B4-BE49-F238E27FC236}">
                  <a16:creationId xmlns:a16="http://schemas.microsoft.com/office/drawing/2014/main" id="{5FFEE973-A22C-4004-AC69-DF9DEDD777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48964" y="4878619"/>
              <a:ext cx="469900" cy="469900"/>
            </a:xfrm>
            <a:prstGeom prst="rect">
              <a:avLst/>
            </a:prstGeom>
          </p:spPr>
        </p:pic>
      </p:grpSp>
      <p:grpSp>
        <p:nvGrpSpPr>
          <p:cNvPr id="16" name="Group 15">
            <a:extLst>
              <a:ext uri="{FF2B5EF4-FFF2-40B4-BE49-F238E27FC236}">
                <a16:creationId xmlns:a16="http://schemas.microsoft.com/office/drawing/2014/main" id="{32DAA402-B5F1-49D2-BFEB-DF00D55CCE72}"/>
              </a:ext>
            </a:extLst>
          </p:cNvPr>
          <p:cNvGrpSpPr/>
          <p:nvPr/>
        </p:nvGrpSpPr>
        <p:grpSpPr>
          <a:xfrm>
            <a:off x="5162169" y="3879850"/>
            <a:ext cx="1043333" cy="571617"/>
            <a:chOff x="3241394" y="4902662"/>
            <a:chExt cx="1589097" cy="903322"/>
          </a:xfrm>
        </p:grpSpPr>
        <p:sp>
          <p:nvSpPr>
            <p:cNvPr id="17" name="TextBox 16">
              <a:extLst>
                <a:ext uri="{FF2B5EF4-FFF2-40B4-BE49-F238E27FC236}">
                  <a16:creationId xmlns:a16="http://schemas.microsoft.com/office/drawing/2014/main" id="{A3028936-3459-441B-8302-E5081C21A0EF}"/>
                </a:ext>
              </a:extLst>
            </p:cNvPr>
            <p:cNvSpPr txBox="1"/>
            <p:nvPr/>
          </p:nvSpPr>
          <p:spPr>
            <a:xfrm>
              <a:off x="3241394" y="5368245"/>
              <a:ext cx="1589097" cy="437739"/>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VPN gateway</a:t>
              </a:r>
            </a:p>
          </p:txBody>
        </p:sp>
        <p:pic>
          <p:nvPicPr>
            <p:cNvPr id="18" name="Graphic 17">
              <a:extLst>
                <a:ext uri="{FF2B5EF4-FFF2-40B4-BE49-F238E27FC236}">
                  <a16:creationId xmlns:a16="http://schemas.microsoft.com/office/drawing/2014/main" id="{349DAB69-E2AC-41D3-AD2F-6CDC8DB2929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00992" y="4902662"/>
              <a:ext cx="469900" cy="469900"/>
            </a:xfrm>
            <a:prstGeom prst="rect">
              <a:avLst/>
            </a:prstGeom>
          </p:spPr>
        </p:pic>
      </p:grpSp>
      <p:grpSp>
        <p:nvGrpSpPr>
          <p:cNvPr id="19" name="Group 18">
            <a:extLst>
              <a:ext uri="{FF2B5EF4-FFF2-40B4-BE49-F238E27FC236}">
                <a16:creationId xmlns:a16="http://schemas.microsoft.com/office/drawing/2014/main" id="{2DBAE3E6-C86E-40A4-A6BF-31279E4630C9}"/>
              </a:ext>
            </a:extLst>
          </p:cNvPr>
          <p:cNvGrpSpPr/>
          <p:nvPr/>
        </p:nvGrpSpPr>
        <p:grpSpPr>
          <a:xfrm>
            <a:off x="8763905" y="3879849"/>
            <a:ext cx="1109962" cy="768958"/>
            <a:chOff x="1873406" y="3809286"/>
            <a:chExt cx="1505729" cy="1102437"/>
          </a:xfrm>
        </p:grpSpPr>
        <p:sp>
          <p:nvSpPr>
            <p:cNvPr id="20" name="TextBox 19">
              <a:extLst>
                <a:ext uri="{FF2B5EF4-FFF2-40B4-BE49-F238E27FC236}">
                  <a16:creationId xmlns:a16="http://schemas.microsoft.com/office/drawing/2014/main" id="{93BA186F-4356-43D4-A7AB-66A4B466D0EB}"/>
                </a:ext>
              </a:extLst>
            </p:cNvPr>
            <p:cNvSpPr txBox="1"/>
            <p:nvPr/>
          </p:nvSpPr>
          <p:spPr>
            <a:xfrm>
              <a:off x="1873406" y="4249845"/>
              <a:ext cx="1505729" cy="661878"/>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Customer gateway</a:t>
              </a:r>
            </a:p>
          </p:txBody>
        </p:sp>
        <p:pic>
          <p:nvPicPr>
            <p:cNvPr id="21" name="Graphic 20">
              <a:extLst>
                <a:ext uri="{FF2B5EF4-FFF2-40B4-BE49-F238E27FC236}">
                  <a16:creationId xmlns:a16="http://schemas.microsoft.com/office/drawing/2014/main" id="{CF530377-1B32-45F8-AD2F-0855ADE47C9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91320" y="3809286"/>
              <a:ext cx="469900" cy="469900"/>
            </a:xfrm>
            <a:prstGeom prst="rect">
              <a:avLst/>
            </a:prstGeom>
          </p:spPr>
        </p:pic>
      </p:grpSp>
      <p:grpSp>
        <p:nvGrpSpPr>
          <p:cNvPr id="22" name="Group 21">
            <a:extLst>
              <a:ext uri="{FF2B5EF4-FFF2-40B4-BE49-F238E27FC236}">
                <a16:creationId xmlns:a16="http://schemas.microsoft.com/office/drawing/2014/main" id="{68C3683F-C3DC-45D6-960C-F456561422BC}"/>
              </a:ext>
            </a:extLst>
          </p:cNvPr>
          <p:cNvGrpSpPr/>
          <p:nvPr/>
        </p:nvGrpSpPr>
        <p:grpSpPr>
          <a:xfrm>
            <a:off x="1676401" y="1731987"/>
            <a:ext cx="1295400" cy="690514"/>
            <a:chOff x="1873406" y="1247806"/>
            <a:chExt cx="2301904" cy="1246574"/>
          </a:xfrm>
        </p:grpSpPr>
        <p:sp>
          <p:nvSpPr>
            <p:cNvPr id="23" name="TextBox 22">
              <a:extLst>
                <a:ext uri="{FF2B5EF4-FFF2-40B4-BE49-F238E27FC236}">
                  <a16:creationId xmlns:a16="http://schemas.microsoft.com/office/drawing/2014/main" id="{AAA5BBA7-E860-40AD-828E-9469AFEAEBEB}"/>
                </a:ext>
              </a:extLst>
            </p:cNvPr>
            <p:cNvSpPr txBox="1"/>
            <p:nvPr/>
          </p:nvSpPr>
          <p:spPr>
            <a:xfrm>
              <a:off x="1873406" y="1994318"/>
              <a:ext cx="2301904" cy="500062"/>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Amazon VPC</a:t>
              </a:r>
            </a:p>
          </p:txBody>
        </p:sp>
        <p:pic>
          <p:nvPicPr>
            <p:cNvPr id="24" name="Graphic 23">
              <a:extLst>
                <a:ext uri="{FF2B5EF4-FFF2-40B4-BE49-F238E27FC236}">
                  <a16:creationId xmlns:a16="http://schemas.microsoft.com/office/drawing/2014/main" id="{FDDA8346-E584-4F1A-92CD-9499120C1FE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668758" y="1247806"/>
              <a:ext cx="711200" cy="711200"/>
            </a:xfrm>
            <a:prstGeom prst="rect">
              <a:avLst/>
            </a:prstGeom>
          </p:spPr>
        </p:pic>
      </p:grpSp>
      <p:pic>
        <p:nvPicPr>
          <p:cNvPr id="25" name="Graphic 24">
            <a:extLst>
              <a:ext uri="{FF2B5EF4-FFF2-40B4-BE49-F238E27FC236}">
                <a16:creationId xmlns:a16="http://schemas.microsoft.com/office/drawing/2014/main" id="{30453296-470E-45A9-A79E-D0CA8AD96D2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05000" y="1242491"/>
            <a:ext cx="330200" cy="330200"/>
          </a:xfrm>
          <a:prstGeom prst="rect">
            <a:avLst/>
          </a:prstGeom>
        </p:spPr>
      </p:pic>
      <p:sp>
        <p:nvSpPr>
          <p:cNvPr id="26" name="Rectangle: Rounded Corners 25">
            <a:extLst>
              <a:ext uri="{FF2B5EF4-FFF2-40B4-BE49-F238E27FC236}">
                <a16:creationId xmlns:a16="http://schemas.microsoft.com/office/drawing/2014/main" id="{43B344D1-6CD9-4ADE-BF62-484B2F73B9A7}"/>
              </a:ext>
            </a:extLst>
          </p:cNvPr>
          <p:cNvSpPr/>
          <p:nvPr/>
        </p:nvSpPr>
        <p:spPr>
          <a:xfrm>
            <a:off x="1467092" y="1401788"/>
            <a:ext cx="4171709" cy="525641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Rounded Corners 26">
            <a:extLst>
              <a:ext uri="{FF2B5EF4-FFF2-40B4-BE49-F238E27FC236}">
                <a16:creationId xmlns:a16="http://schemas.microsoft.com/office/drawing/2014/main" id="{3E305528-84BC-40CA-894D-F2A00FE758B1}"/>
              </a:ext>
            </a:extLst>
          </p:cNvPr>
          <p:cNvSpPr/>
          <p:nvPr/>
        </p:nvSpPr>
        <p:spPr>
          <a:xfrm>
            <a:off x="1828800" y="1928622"/>
            <a:ext cx="3147722" cy="424357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3A6C1C39-F7E5-42A5-A100-B0C401BDF5DD}"/>
              </a:ext>
            </a:extLst>
          </p:cNvPr>
          <p:cNvSpPr/>
          <p:nvPr/>
        </p:nvSpPr>
        <p:spPr>
          <a:xfrm>
            <a:off x="2286000" y="2514600"/>
            <a:ext cx="2209800" cy="13535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B0978185-E53F-469A-AE43-AF67FA469526}"/>
              </a:ext>
            </a:extLst>
          </p:cNvPr>
          <p:cNvSpPr/>
          <p:nvPr/>
        </p:nvSpPr>
        <p:spPr>
          <a:xfrm>
            <a:off x="2301240" y="4349751"/>
            <a:ext cx="2209800" cy="120662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3" name="Group 32">
            <a:extLst>
              <a:ext uri="{FF2B5EF4-FFF2-40B4-BE49-F238E27FC236}">
                <a16:creationId xmlns:a16="http://schemas.microsoft.com/office/drawing/2014/main" id="{6A696EF8-6C26-46D4-B6D3-A54EAFD9E0DE}"/>
              </a:ext>
            </a:extLst>
          </p:cNvPr>
          <p:cNvGrpSpPr/>
          <p:nvPr/>
        </p:nvGrpSpPr>
        <p:grpSpPr>
          <a:xfrm>
            <a:off x="3733800" y="2967378"/>
            <a:ext cx="381000" cy="355931"/>
            <a:chOff x="4953000" y="1572691"/>
            <a:chExt cx="580900" cy="561633"/>
          </a:xfrm>
        </p:grpSpPr>
        <p:sp>
          <p:nvSpPr>
            <p:cNvPr id="30" name="Rectangle 29">
              <a:extLst>
                <a:ext uri="{FF2B5EF4-FFF2-40B4-BE49-F238E27FC236}">
                  <a16:creationId xmlns:a16="http://schemas.microsoft.com/office/drawing/2014/main" id="{130FE2F0-3B6D-44B6-9532-C96A9E9348BB}"/>
                </a:ext>
              </a:extLst>
            </p:cNvPr>
            <p:cNvSpPr/>
            <p:nvPr/>
          </p:nvSpPr>
          <p:spPr>
            <a:xfrm>
              <a:off x="4953000" y="1572691"/>
              <a:ext cx="381000" cy="355931"/>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08F6685D-3CBF-4B43-A41B-2137BC49FE29}"/>
                </a:ext>
              </a:extLst>
            </p:cNvPr>
            <p:cNvSpPr/>
            <p:nvPr/>
          </p:nvSpPr>
          <p:spPr>
            <a:xfrm>
              <a:off x="5074920" y="1676937"/>
              <a:ext cx="381000" cy="355931"/>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FC1722D9-3771-4D35-AE2B-533A5F64791A}"/>
                </a:ext>
              </a:extLst>
            </p:cNvPr>
            <p:cNvSpPr/>
            <p:nvPr/>
          </p:nvSpPr>
          <p:spPr>
            <a:xfrm>
              <a:off x="5152900" y="1778393"/>
              <a:ext cx="381000" cy="355931"/>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4" name="Group 33">
            <a:extLst>
              <a:ext uri="{FF2B5EF4-FFF2-40B4-BE49-F238E27FC236}">
                <a16:creationId xmlns:a16="http://schemas.microsoft.com/office/drawing/2014/main" id="{FA79D901-3293-48E0-AE43-355758EA9FF4}"/>
              </a:ext>
            </a:extLst>
          </p:cNvPr>
          <p:cNvGrpSpPr/>
          <p:nvPr/>
        </p:nvGrpSpPr>
        <p:grpSpPr>
          <a:xfrm>
            <a:off x="3748210" y="4560591"/>
            <a:ext cx="381000" cy="355931"/>
            <a:chOff x="4953000" y="1572691"/>
            <a:chExt cx="580900" cy="561633"/>
          </a:xfrm>
          <a:solidFill>
            <a:srgbClr val="00B0F0"/>
          </a:solidFill>
        </p:grpSpPr>
        <p:sp>
          <p:nvSpPr>
            <p:cNvPr id="35" name="Rectangle 34">
              <a:extLst>
                <a:ext uri="{FF2B5EF4-FFF2-40B4-BE49-F238E27FC236}">
                  <a16:creationId xmlns:a16="http://schemas.microsoft.com/office/drawing/2014/main" id="{F7B647DB-B8B0-4D60-A7FC-066D69D1E55D}"/>
                </a:ext>
              </a:extLst>
            </p:cNvPr>
            <p:cNvSpPr/>
            <p:nvPr/>
          </p:nvSpPr>
          <p:spPr>
            <a:xfrm>
              <a:off x="4953000" y="1572691"/>
              <a:ext cx="381000" cy="355931"/>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D63A5EC9-742A-482C-9F12-214E444A8C84}"/>
                </a:ext>
              </a:extLst>
            </p:cNvPr>
            <p:cNvSpPr/>
            <p:nvPr/>
          </p:nvSpPr>
          <p:spPr>
            <a:xfrm>
              <a:off x="5074920" y="1676937"/>
              <a:ext cx="381000" cy="355931"/>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745FDBE3-B267-4982-8500-5FCA04E8072C}"/>
                </a:ext>
              </a:extLst>
            </p:cNvPr>
            <p:cNvSpPr/>
            <p:nvPr/>
          </p:nvSpPr>
          <p:spPr>
            <a:xfrm>
              <a:off x="5152900" y="1778393"/>
              <a:ext cx="381000" cy="355931"/>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8" name="TextBox 37">
            <a:extLst>
              <a:ext uri="{FF2B5EF4-FFF2-40B4-BE49-F238E27FC236}">
                <a16:creationId xmlns:a16="http://schemas.microsoft.com/office/drawing/2014/main" id="{F3DFECA1-2A14-412E-9A9D-0E85920115F6}"/>
              </a:ext>
            </a:extLst>
          </p:cNvPr>
          <p:cNvSpPr txBox="1"/>
          <p:nvPr/>
        </p:nvSpPr>
        <p:spPr>
          <a:xfrm>
            <a:off x="3106636" y="4471448"/>
            <a:ext cx="609462" cy="553998"/>
          </a:xfrm>
          <a:prstGeom prst="rect">
            <a:avLst/>
          </a:prstGeom>
          <a:noFill/>
        </p:spPr>
        <p:txBody>
          <a:bodyPr wrap="none" rtlCol="0">
            <a:spAutoFit/>
          </a:bodyPr>
          <a:lstStyle/>
          <a:p>
            <a:r>
              <a:rPr lang="en-US" sz="1000" dirty="0">
                <a:latin typeface="Calibri" panose="020F0502020204030204" pitchFamily="34" charset="0"/>
                <a:cs typeface="Calibri" panose="020F0502020204030204" pitchFamily="34" charset="0"/>
              </a:rPr>
              <a:t>10.0.1.5</a:t>
            </a:r>
          </a:p>
          <a:p>
            <a:r>
              <a:rPr lang="en-US" sz="1000" dirty="0">
                <a:latin typeface="Calibri" panose="020F0502020204030204" pitchFamily="34" charset="0"/>
                <a:cs typeface="Calibri" panose="020F0502020204030204" pitchFamily="34" charset="0"/>
              </a:rPr>
              <a:t>10.0.1.6</a:t>
            </a:r>
          </a:p>
          <a:p>
            <a:r>
              <a:rPr lang="en-US" sz="1000" dirty="0">
                <a:latin typeface="Calibri" panose="020F0502020204030204" pitchFamily="34" charset="0"/>
                <a:cs typeface="Calibri" panose="020F0502020204030204" pitchFamily="34" charset="0"/>
              </a:rPr>
              <a:t>10.0.1.7</a:t>
            </a:r>
            <a:endParaRPr lang="en-GB" sz="1000" dirty="0">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9E29256A-81C0-4AD8-A638-571DFC418E3D}"/>
              </a:ext>
            </a:extLst>
          </p:cNvPr>
          <p:cNvSpPr txBox="1"/>
          <p:nvPr/>
        </p:nvSpPr>
        <p:spPr>
          <a:xfrm>
            <a:off x="3153158" y="2878063"/>
            <a:ext cx="609462" cy="553998"/>
          </a:xfrm>
          <a:prstGeom prst="rect">
            <a:avLst/>
          </a:prstGeom>
          <a:noFill/>
        </p:spPr>
        <p:txBody>
          <a:bodyPr wrap="none" rtlCol="0">
            <a:spAutoFit/>
          </a:bodyPr>
          <a:lstStyle/>
          <a:p>
            <a:r>
              <a:rPr lang="en-US" sz="1000" dirty="0">
                <a:latin typeface="Calibri" panose="020F0502020204030204" pitchFamily="34" charset="0"/>
                <a:cs typeface="Calibri" panose="020F0502020204030204" pitchFamily="34" charset="0"/>
              </a:rPr>
              <a:t>10.0.0.5</a:t>
            </a:r>
          </a:p>
          <a:p>
            <a:r>
              <a:rPr lang="en-US" sz="1000" dirty="0">
                <a:latin typeface="Calibri" panose="020F0502020204030204" pitchFamily="34" charset="0"/>
                <a:cs typeface="Calibri" panose="020F0502020204030204" pitchFamily="34" charset="0"/>
              </a:rPr>
              <a:t>10.0.0.6</a:t>
            </a:r>
          </a:p>
          <a:p>
            <a:r>
              <a:rPr lang="en-US" sz="1000" dirty="0">
                <a:latin typeface="Calibri" panose="020F0502020204030204" pitchFamily="34" charset="0"/>
                <a:cs typeface="Calibri" panose="020F0502020204030204" pitchFamily="34" charset="0"/>
              </a:rPr>
              <a:t>10.0.0.7</a:t>
            </a:r>
            <a:endParaRPr lang="en-GB" sz="1000" dirty="0">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4B005246-740E-4EC4-AD35-9A82C4B05853}"/>
              </a:ext>
            </a:extLst>
          </p:cNvPr>
          <p:cNvSpPr txBox="1"/>
          <p:nvPr/>
        </p:nvSpPr>
        <p:spPr>
          <a:xfrm>
            <a:off x="3576116" y="3352801"/>
            <a:ext cx="833883" cy="246221"/>
          </a:xfrm>
          <a:prstGeom prst="rect">
            <a:avLst/>
          </a:prstGeom>
          <a:noFill/>
        </p:spPr>
        <p:txBody>
          <a:bodyPr wrap="none" rtlCol="0">
            <a:spAutoFit/>
          </a:bodyPr>
          <a:lstStyle/>
          <a:p>
            <a:r>
              <a:rPr lang="en-US" sz="1000" dirty="0">
                <a:latin typeface="Calibri" panose="020F0502020204030204" pitchFamily="34" charset="0"/>
                <a:cs typeface="Calibri" panose="020F0502020204030204" pitchFamily="34" charset="0"/>
              </a:rPr>
              <a:t>Web servers</a:t>
            </a:r>
            <a:endParaRPr lang="en-GB" sz="1000" dirty="0">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FCFEEE04-2D54-4A71-81F3-5B7C6CA98394}"/>
              </a:ext>
            </a:extLst>
          </p:cNvPr>
          <p:cNvSpPr txBox="1"/>
          <p:nvPr/>
        </p:nvSpPr>
        <p:spPr>
          <a:xfrm>
            <a:off x="3492958" y="4953001"/>
            <a:ext cx="1074333" cy="246221"/>
          </a:xfrm>
          <a:prstGeom prst="rect">
            <a:avLst/>
          </a:prstGeom>
          <a:noFill/>
        </p:spPr>
        <p:txBody>
          <a:bodyPr wrap="none" rtlCol="0">
            <a:spAutoFit/>
          </a:bodyPr>
          <a:lstStyle/>
          <a:p>
            <a:r>
              <a:rPr lang="en-US" sz="1000" dirty="0">
                <a:latin typeface="Calibri" panose="020F0502020204030204" pitchFamily="34" charset="0"/>
                <a:cs typeface="Calibri" panose="020F0502020204030204" pitchFamily="34" charset="0"/>
              </a:rPr>
              <a:t>Database servers</a:t>
            </a:r>
            <a:endParaRPr lang="en-GB" sz="1000" dirty="0">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53E2A9A3-400E-4A51-8EFC-A423FD0F72A7}"/>
              </a:ext>
            </a:extLst>
          </p:cNvPr>
          <p:cNvSpPr txBox="1"/>
          <p:nvPr/>
        </p:nvSpPr>
        <p:spPr>
          <a:xfrm>
            <a:off x="2966409" y="3505200"/>
            <a:ext cx="904415" cy="400110"/>
          </a:xfrm>
          <a:prstGeom prst="rect">
            <a:avLst/>
          </a:prstGeom>
          <a:noFill/>
        </p:spPr>
        <p:txBody>
          <a:bodyPr wrap="none" rtlCol="0">
            <a:spAutoFit/>
          </a:bodyPr>
          <a:lstStyle/>
          <a:p>
            <a:pPr algn="ctr"/>
            <a:r>
              <a:rPr lang="en-US" sz="1000" b="1" dirty="0">
                <a:solidFill>
                  <a:schemeClr val="tx2"/>
                </a:solidFill>
                <a:latin typeface="Calibri" panose="020F0502020204030204" pitchFamily="34" charset="0"/>
                <a:cs typeface="Calibri" panose="020F0502020204030204" pitchFamily="34" charset="0"/>
              </a:rPr>
              <a:t>Public subnet</a:t>
            </a:r>
          </a:p>
          <a:p>
            <a:pPr algn="ctr"/>
            <a:r>
              <a:rPr lang="en-US" sz="1000" b="1" dirty="0">
                <a:solidFill>
                  <a:schemeClr val="tx2"/>
                </a:solidFill>
                <a:latin typeface="Calibri" panose="020F0502020204030204" pitchFamily="34" charset="0"/>
                <a:cs typeface="Calibri" panose="020F0502020204030204" pitchFamily="34" charset="0"/>
              </a:rPr>
              <a:t>10.0.0.0/24</a:t>
            </a:r>
            <a:endParaRPr lang="en-GB" sz="1000" b="1" dirty="0">
              <a:solidFill>
                <a:schemeClr val="tx2"/>
              </a:solidFill>
              <a:latin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68C97708-84B9-4340-9434-E84C64750AAA}"/>
              </a:ext>
            </a:extLst>
          </p:cNvPr>
          <p:cNvSpPr txBox="1"/>
          <p:nvPr/>
        </p:nvSpPr>
        <p:spPr>
          <a:xfrm>
            <a:off x="2985720" y="5105400"/>
            <a:ext cx="958917" cy="400110"/>
          </a:xfrm>
          <a:prstGeom prst="rect">
            <a:avLst/>
          </a:prstGeom>
          <a:noFill/>
        </p:spPr>
        <p:txBody>
          <a:bodyPr wrap="none" rtlCol="0">
            <a:spAutoFit/>
          </a:bodyPr>
          <a:lstStyle/>
          <a:p>
            <a:pPr algn="ctr"/>
            <a:r>
              <a:rPr lang="en-US" sz="1000" b="1" dirty="0">
                <a:solidFill>
                  <a:schemeClr val="tx2"/>
                </a:solidFill>
                <a:latin typeface="Calibri" panose="020F0502020204030204" pitchFamily="34" charset="0"/>
                <a:cs typeface="Calibri" panose="020F0502020204030204" pitchFamily="34" charset="0"/>
              </a:rPr>
              <a:t>Private subnet</a:t>
            </a:r>
          </a:p>
          <a:p>
            <a:pPr algn="ctr"/>
            <a:r>
              <a:rPr lang="en-US" sz="1000" b="1" dirty="0">
                <a:solidFill>
                  <a:schemeClr val="tx2"/>
                </a:solidFill>
                <a:latin typeface="Calibri" panose="020F0502020204030204" pitchFamily="34" charset="0"/>
                <a:cs typeface="Calibri" panose="020F0502020204030204" pitchFamily="34" charset="0"/>
              </a:rPr>
              <a:t>10.0.1.0/24</a:t>
            </a:r>
            <a:endParaRPr lang="en-GB" sz="1000" b="1" dirty="0">
              <a:solidFill>
                <a:schemeClr val="tx2"/>
              </a:solidFill>
              <a:latin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08FED501-DE98-41FA-988F-F6CC8BBE9191}"/>
              </a:ext>
            </a:extLst>
          </p:cNvPr>
          <p:cNvSpPr txBox="1"/>
          <p:nvPr/>
        </p:nvSpPr>
        <p:spPr>
          <a:xfrm>
            <a:off x="2318589" y="2724175"/>
            <a:ext cx="872355" cy="707886"/>
          </a:xfrm>
          <a:prstGeom prst="rect">
            <a:avLst/>
          </a:prstGeom>
          <a:noFill/>
        </p:spPr>
        <p:txBody>
          <a:bodyPr wrap="none" rtlCol="0">
            <a:spAutoFit/>
          </a:bodyPr>
          <a:lstStyle/>
          <a:p>
            <a:pPr algn="ctr"/>
            <a:r>
              <a:rPr lang="en-US" sz="1000" b="1" dirty="0">
                <a:solidFill>
                  <a:schemeClr val="accent3"/>
                </a:solidFill>
                <a:latin typeface="Calibri" panose="020F0502020204030204" pitchFamily="34" charset="0"/>
                <a:cs typeface="Calibri" panose="020F0502020204030204" pitchFamily="34" charset="0"/>
              </a:rPr>
              <a:t>Elastic IPs</a:t>
            </a:r>
          </a:p>
          <a:p>
            <a:r>
              <a:rPr lang="en-US" sz="1000" b="1" dirty="0">
                <a:solidFill>
                  <a:schemeClr val="accent3"/>
                </a:solidFill>
                <a:latin typeface="Calibri" panose="020F0502020204030204" pitchFamily="34" charset="0"/>
                <a:cs typeface="Calibri" panose="020F0502020204030204" pitchFamily="34" charset="0"/>
              </a:rPr>
              <a:t>198.51.100.1</a:t>
            </a:r>
          </a:p>
          <a:p>
            <a:r>
              <a:rPr lang="en-US" sz="1000" b="1" dirty="0">
                <a:solidFill>
                  <a:schemeClr val="accent3"/>
                </a:solidFill>
                <a:latin typeface="Calibri" panose="020F0502020204030204" pitchFamily="34" charset="0"/>
                <a:cs typeface="Calibri" panose="020F0502020204030204" pitchFamily="34" charset="0"/>
              </a:rPr>
              <a:t>198.51.100.2</a:t>
            </a:r>
          </a:p>
          <a:p>
            <a:r>
              <a:rPr lang="en-US" sz="1000" b="1" dirty="0">
                <a:solidFill>
                  <a:schemeClr val="accent3"/>
                </a:solidFill>
                <a:latin typeface="Calibri" panose="020F0502020204030204" pitchFamily="34" charset="0"/>
                <a:cs typeface="Calibri" panose="020F0502020204030204" pitchFamily="34" charset="0"/>
              </a:rPr>
              <a:t>198.51.100.3</a:t>
            </a:r>
            <a:endParaRPr lang="en-GB" sz="1000" b="1" dirty="0">
              <a:solidFill>
                <a:schemeClr val="accent3"/>
              </a:solidFill>
              <a:latin typeface="Calibri" panose="020F0502020204030204" pitchFamily="34" charset="0"/>
              <a:cs typeface="Calibri" panose="020F0502020204030204" pitchFamily="34" charset="0"/>
            </a:endParaRPr>
          </a:p>
        </p:txBody>
      </p:sp>
      <p:graphicFrame>
        <p:nvGraphicFramePr>
          <p:cNvPr id="45" name="Table 44">
            <a:extLst>
              <a:ext uri="{FF2B5EF4-FFF2-40B4-BE49-F238E27FC236}">
                <a16:creationId xmlns:a16="http://schemas.microsoft.com/office/drawing/2014/main" id="{BE7D76CA-767E-45DF-97E3-19595604BF1E}"/>
              </a:ext>
            </a:extLst>
          </p:cNvPr>
          <p:cNvGraphicFramePr>
            <a:graphicFrameLocks noGrp="1"/>
          </p:cNvGraphicFramePr>
          <p:nvPr/>
        </p:nvGraphicFramePr>
        <p:xfrm>
          <a:off x="6705600" y="1796454"/>
          <a:ext cx="1752600" cy="859306"/>
        </p:xfrm>
        <a:graphic>
          <a:graphicData uri="http://schemas.openxmlformats.org/drawingml/2006/table">
            <a:tbl>
              <a:tblPr firstRow="1" bandRow="1">
                <a:tableStyleId>{5C22544A-7EE6-4342-B048-85BDC9FD1C3A}</a:tableStyleId>
              </a:tblPr>
              <a:tblGrid>
                <a:gridCol w="982418">
                  <a:extLst>
                    <a:ext uri="{9D8B030D-6E8A-4147-A177-3AD203B41FA5}">
                      <a16:colId xmlns:a16="http://schemas.microsoft.com/office/drawing/2014/main" val="3196769333"/>
                    </a:ext>
                  </a:extLst>
                </a:gridCol>
                <a:gridCol w="770182">
                  <a:extLst>
                    <a:ext uri="{9D8B030D-6E8A-4147-A177-3AD203B41FA5}">
                      <a16:colId xmlns:a16="http://schemas.microsoft.com/office/drawing/2014/main" val="2662557294"/>
                    </a:ext>
                  </a:extLst>
                </a:gridCol>
              </a:tblGrid>
              <a:tr h="239542">
                <a:tc>
                  <a:txBody>
                    <a:bodyPr/>
                    <a:lstStyle/>
                    <a:p>
                      <a:r>
                        <a:rPr lang="en-US" sz="1200" dirty="0">
                          <a:ln>
                            <a:noFill/>
                          </a:ln>
                          <a:solidFill>
                            <a:schemeClr val="tx2"/>
                          </a:solidFill>
                          <a:latin typeface="Calibri" panose="020F0502020204030204" pitchFamily="34" charset="0"/>
                          <a:cs typeface="Calibri" panose="020F0502020204030204" pitchFamily="34" charset="0"/>
                        </a:rPr>
                        <a:t>Destination</a:t>
                      </a:r>
                      <a:endParaRPr lang="en-GB" sz="1200" dirty="0">
                        <a:ln>
                          <a:noFill/>
                        </a:ln>
                        <a:solidFill>
                          <a:schemeClr val="tx2"/>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Target</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48903057"/>
                  </a:ext>
                </a:extLst>
              </a:tr>
              <a:tr h="244138">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10.0.0.0/16</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local</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8232541"/>
                  </a:ext>
                </a:extLst>
              </a:tr>
              <a:tr h="310666">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0.0.0.0/0</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kern="1200" dirty="0" err="1">
                          <a:ln>
                            <a:noFill/>
                          </a:ln>
                          <a:solidFill>
                            <a:srgbClr val="00B050"/>
                          </a:solidFill>
                          <a:latin typeface="Calibri" panose="020F0502020204030204" pitchFamily="34" charset="0"/>
                          <a:ea typeface="+mn-ea"/>
                          <a:cs typeface="Calibri" panose="020F0502020204030204" pitchFamily="34" charset="0"/>
                        </a:rPr>
                        <a:t>Igw</a:t>
                      </a:r>
                      <a:r>
                        <a:rPr lang="en-US" sz="1200" b="1" kern="1200" dirty="0">
                          <a:ln>
                            <a:noFill/>
                          </a:ln>
                          <a:solidFill>
                            <a:srgbClr val="00B050"/>
                          </a:solidFill>
                          <a:latin typeface="Calibri" panose="020F0502020204030204" pitchFamily="34" charset="0"/>
                          <a:ea typeface="+mn-ea"/>
                          <a:cs typeface="Calibri" panose="020F0502020204030204" pitchFamily="34" charset="0"/>
                        </a:rPr>
                        <a:t>-id</a:t>
                      </a:r>
                      <a:endParaRPr lang="en-GB" sz="1200" b="1" kern="1200" dirty="0">
                        <a:ln>
                          <a:noFill/>
                        </a:ln>
                        <a:solidFill>
                          <a:srgbClr val="00B050"/>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2610258"/>
                  </a:ext>
                </a:extLst>
              </a:tr>
            </a:tbl>
          </a:graphicData>
        </a:graphic>
      </p:graphicFrame>
      <p:sp>
        <p:nvSpPr>
          <p:cNvPr id="46" name="TextBox 45">
            <a:extLst>
              <a:ext uri="{FF2B5EF4-FFF2-40B4-BE49-F238E27FC236}">
                <a16:creationId xmlns:a16="http://schemas.microsoft.com/office/drawing/2014/main" id="{6AD5C4C4-F5BC-4AE6-8975-09D01181788C}"/>
              </a:ext>
            </a:extLst>
          </p:cNvPr>
          <p:cNvSpPr txBox="1"/>
          <p:nvPr/>
        </p:nvSpPr>
        <p:spPr>
          <a:xfrm>
            <a:off x="3001468" y="6178715"/>
            <a:ext cx="800220" cy="400110"/>
          </a:xfrm>
          <a:prstGeom prst="rect">
            <a:avLst/>
          </a:prstGeom>
          <a:noFill/>
        </p:spPr>
        <p:txBody>
          <a:bodyPr wrap="none" rtlCol="0">
            <a:spAutoFit/>
          </a:bodyPr>
          <a:lstStyle/>
          <a:p>
            <a:pPr algn="ctr"/>
            <a:r>
              <a:rPr lang="en-US" sz="1000" b="1" dirty="0">
                <a:solidFill>
                  <a:schemeClr val="tx2"/>
                </a:solidFill>
                <a:latin typeface="Calibri" panose="020F0502020204030204" pitchFamily="34" charset="0"/>
                <a:cs typeface="Calibri" panose="020F0502020204030204" pitchFamily="34" charset="0"/>
              </a:rPr>
              <a:t>VPC</a:t>
            </a:r>
          </a:p>
          <a:p>
            <a:pPr algn="ctr"/>
            <a:r>
              <a:rPr lang="en-US" sz="1000" b="1" dirty="0">
                <a:solidFill>
                  <a:schemeClr val="tx2"/>
                </a:solidFill>
                <a:latin typeface="Calibri" panose="020F0502020204030204" pitchFamily="34" charset="0"/>
                <a:cs typeface="Calibri" panose="020F0502020204030204" pitchFamily="34" charset="0"/>
              </a:rPr>
              <a:t>10.0.0.0/16</a:t>
            </a:r>
            <a:endParaRPr lang="en-GB" sz="1000" b="1" dirty="0">
              <a:solidFill>
                <a:schemeClr val="tx2"/>
              </a:solidFill>
              <a:latin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CA04FEF6-B8E7-4FF4-8D59-CA599F78C37A}"/>
              </a:ext>
            </a:extLst>
          </p:cNvPr>
          <p:cNvSpPr txBox="1"/>
          <p:nvPr/>
        </p:nvSpPr>
        <p:spPr>
          <a:xfrm>
            <a:off x="6875811" y="1475602"/>
            <a:ext cx="1412181" cy="276999"/>
          </a:xfrm>
          <a:prstGeom prst="rect">
            <a:avLst/>
          </a:prstGeom>
          <a:noFill/>
        </p:spPr>
        <p:txBody>
          <a:bodyPr wrap="none" rtlCol="0">
            <a:spAutoFit/>
          </a:bodyPr>
          <a:lstStyle/>
          <a:p>
            <a:pPr algn="ctr"/>
            <a:r>
              <a:rPr lang="en-US" sz="1200" b="1" dirty="0">
                <a:solidFill>
                  <a:schemeClr val="tx2"/>
                </a:solidFill>
                <a:latin typeface="Calibri" panose="020F0502020204030204" pitchFamily="34" charset="0"/>
                <a:cs typeface="Calibri" panose="020F0502020204030204" pitchFamily="34" charset="0"/>
              </a:rPr>
              <a:t>Custom route table</a:t>
            </a:r>
            <a:endParaRPr lang="en-GB" sz="1200" b="1" dirty="0">
              <a:solidFill>
                <a:schemeClr val="tx2"/>
              </a:solidFill>
              <a:latin typeface="Calibri" panose="020F0502020204030204" pitchFamily="34" charset="0"/>
              <a:cs typeface="Calibri" panose="020F0502020204030204" pitchFamily="34" charset="0"/>
            </a:endParaRPr>
          </a:p>
        </p:txBody>
      </p:sp>
      <p:graphicFrame>
        <p:nvGraphicFramePr>
          <p:cNvPr id="48" name="Table 47">
            <a:extLst>
              <a:ext uri="{FF2B5EF4-FFF2-40B4-BE49-F238E27FC236}">
                <a16:creationId xmlns:a16="http://schemas.microsoft.com/office/drawing/2014/main" id="{06F753CA-BF7B-41F5-A34D-EE14A3094061}"/>
              </a:ext>
            </a:extLst>
          </p:cNvPr>
          <p:cNvGraphicFramePr>
            <a:graphicFrameLocks noGrp="1"/>
          </p:cNvGraphicFramePr>
          <p:nvPr/>
        </p:nvGraphicFramePr>
        <p:xfrm>
          <a:off x="6785432" y="5061244"/>
          <a:ext cx="1752600" cy="859306"/>
        </p:xfrm>
        <a:graphic>
          <a:graphicData uri="http://schemas.openxmlformats.org/drawingml/2006/table">
            <a:tbl>
              <a:tblPr firstRow="1" bandRow="1">
                <a:tableStyleId>{5C22544A-7EE6-4342-B048-85BDC9FD1C3A}</a:tableStyleId>
              </a:tblPr>
              <a:tblGrid>
                <a:gridCol w="982418">
                  <a:extLst>
                    <a:ext uri="{9D8B030D-6E8A-4147-A177-3AD203B41FA5}">
                      <a16:colId xmlns:a16="http://schemas.microsoft.com/office/drawing/2014/main" val="3196769333"/>
                    </a:ext>
                  </a:extLst>
                </a:gridCol>
                <a:gridCol w="770182">
                  <a:extLst>
                    <a:ext uri="{9D8B030D-6E8A-4147-A177-3AD203B41FA5}">
                      <a16:colId xmlns:a16="http://schemas.microsoft.com/office/drawing/2014/main" val="2662557294"/>
                    </a:ext>
                  </a:extLst>
                </a:gridCol>
              </a:tblGrid>
              <a:tr h="239542">
                <a:tc>
                  <a:txBody>
                    <a:bodyPr/>
                    <a:lstStyle/>
                    <a:p>
                      <a:r>
                        <a:rPr lang="en-US" sz="1200" dirty="0">
                          <a:ln>
                            <a:noFill/>
                          </a:ln>
                          <a:solidFill>
                            <a:schemeClr val="tx2"/>
                          </a:solidFill>
                          <a:latin typeface="Calibri" panose="020F0502020204030204" pitchFamily="34" charset="0"/>
                          <a:cs typeface="Calibri" panose="020F0502020204030204" pitchFamily="34" charset="0"/>
                        </a:rPr>
                        <a:t>Destination</a:t>
                      </a:r>
                      <a:endParaRPr lang="en-GB" sz="1200" dirty="0">
                        <a:ln>
                          <a:noFill/>
                        </a:ln>
                        <a:solidFill>
                          <a:schemeClr val="tx2"/>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Target</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48903057"/>
                  </a:ext>
                </a:extLst>
              </a:tr>
              <a:tr h="244138">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10.0.0.0/16</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local</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8232541"/>
                  </a:ext>
                </a:extLst>
              </a:tr>
              <a:tr h="310666">
                <a:tc>
                  <a:txBody>
                    <a:bodyPr/>
                    <a:lstStyle/>
                    <a:p>
                      <a:r>
                        <a:rPr lang="en-US" sz="1200" b="1" kern="1200" dirty="0">
                          <a:ln>
                            <a:noFill/>
                          </a:ln>
                          <a:solidFill>
                            <a:schemeClr val="tx2"/>
                          </a:solidFill>
                          <a:latin typeface="Calibri" panose="020F0502020204030204" pitchFamily="34" charset="0"/>
                          <a:ea typeface="+mn-ea"/>
                          <a:cs typeface="Calibri" panose="020F0502020204030204" pitchFamily="34" charset="0"/>
                        </a:rPr>
                        <a:t>0.0.0.0/0</a:t>
                      </a:r>
                      <a:endParaRPr lang="en-GB" sz="1200" b="1" kern="1200" dirty="0">
                        <a:ln>
                          <a:noFill/>
                        </a:ln>
                        <a:solidFill>
                          <a:schemeClr val="tx2"/>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kern="1200" dirty="0" err="1">
                          <a:ln>
                            <a:noFill/>
                          </a:ln>
                          <a:solidFill>
                            <a:srgbClr val="00B050"/>
                          </a:solidFill>
                          <a:latin typeface="Calibri" panose="020F0502020204030204" pitchFamily="34" charset="0"/>
                          <a:ea typeface="+mn-ea"/>
                          <a:cs typeface="Calibri" panose="020F0502020204030204" pitchFamily="34" charset="0"/>
                        </a:rPr>
                        <a:t>vgw</a:t>
                      </a:r>
                      <a:r>
                        <a:rPr lang="en-US" sz="1200" b="1" kern="1200" dirty="0">
                          <a:ln>
                            <a:noFill/>
                          </a:ln>
                          <a:solidFill>
                            <a:srgbClr val="00B050"/>
                          </a:solidFill>
                          <a:latin typeface="Calibri" panose="020F0502020204030204" pitchFamily="34" charset="0"/>
                          <a:ea typeface="+mn-ea"/>
                          <a:cs typeface="Calibri" panose="020F0502020204030204" pitchFamily="34" charset="0"/>
                        </a:rPr>
                        <a:t>-id</a:t>
                      </a:r>
                      <a:endParaRPr lang="en-GB" sz="1200" b="1" kern="1200" dirty="0">
                        <a:ln>
                          <a:noFill/>
                        </a:ln>
                        <a:solidFill>
                          <a:srgbClr val="00B050"/>
                        </a:solidFill>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2610258"/>
                  </a:ext>
                </a:extLst>
              </a:tr>
            </a:tbl>
          </a:graphicData>
        </a:graphic>
      </p:graphicFrame>
      <p:sp>
        <p:nvSpPr>
          <p:cNvPr id="49" name="TextBox 48">
            <a:extLst>
              <a:ext uri="{FF2B5EF4-FFF2-40B4-BE49-F238E27FC236}">
                <a16:creationId xmlns:a16="http://schemas.microsoft.com/office/drawing/2014/main" id="{7EF9B969-7BA6-402F-BA60-8815453C7469}"/>
              </a:ext>
            </a:extLst>
          </p:cNvPr>
          <p:cNvSpPr txBox="1"/>
          <p:nvPr/>
        </p:nvSpPr>
        <p:spPr>
          <a:xfrm>
            <a:off x="7031786" y="4740392"/>
            <a:ext cx="1259897" cy="276999"/>
          </a:xfrm>
          <a:prstGeom prst="rect">
            <a:avLst/>
          </a:prstGeom>
          <a:noFill/>
        </p:spPr>
        <p:txBody>
          <a:bodyPr wrap="none" rtlCol="0">
            <a:spAutoFit/>
          </a:bodyPr>
          <a:lstStyle/>
          <a:p>
            <a:pPr algn="ctr"/>
            <a:r>
              <a:rPr lang="en-US" sz="1200" b="1" dirty="0">
                <a:solidFill>
                  <a:schemeClr val="tx2"/>
                </a:solidFill>
                <a:latin typeface="Calibri" panose="020F0502020204030204" pitchFamily="34" charset="0"/>
                <a:cs typeface="Calibri" panose="020F0502020204030204" pitchFamily="34" charset="0"/>
              </a:rPr>
              <a:t>Main route table</a:t>
            </a:r>
            <a:endParaRPr lang="en-GB" sz="1200" b="1" dirty="0">
              <a:solidFill>
                <a:schemeClr val="tx2"/>
              </a:solidFill>
              <a:latin typeface="Calibri" panose="020F0502020204030204" pitchFamily="34" charset="0"/>
              <a:cs typeface="Calibri" panose="020F0502020204030204" pitchFamily="34" charset="0"/>
            </a:endParaRPr>
          </a:p>
        </p:txBody>
      </p:sp>
      <p:sp>
        <p:nvSpPr>
          <p:cNvPr id="51" name="Freeform: Shape 50">
            <a:extLst>
              <a:ext uri="{FF2B5EF4-FFF2-40B4-BE49-F238E27FC236}">
                <a16:creationId xmlns:a16="http://schemas.microsoft.com/office/drawing/2014/main" id="{8A1235BF-B4F7-4EEF-9EF4-104E4CE85E9C}"/>
              </a:ext>
            </a:extLst>
          </p:cNvPr>
          <p:cNvSpPr/>
          <p:nvPr/>
        </p:nvSpPr>
        <p:spPr>
          <a:xfrm>
            <a:off x="4485640" y="2123440"/>
            <a:ext cx="2214880" cy="1036320"/>
          </a:xfrm>
          <a:custGeom>
            <a:avLst/>
            <a:gdLst>
              <a:gd name="connsiteX0" fmla="*/ 0 w 2214880"/>
              <a:gd name="connsiteY0" fmla="*/ 1036320 h 1036320"/>
              <a:gd name="connsiteX1" fmla="*/ 2214880 w 2214880"/>
              <a:gd name="connsiteY1" fmla="*/ 0 h 1036320"/>
            </a:gdLst>
            <a:ahLst/>
            <a:cxnLst>
              <a:cxn ang="0">
                <a:pos x="connsiteX0" y="connsiteY0"/>
              </a:cxn>
              <a:cxn ang="0">
                <a:pos x="connsiteX1" y="connsiteY1"/>
              </a:cxn>
            </a:cxnLst>
            <a:rect l="l" t="t" r="r" b="b"/>
            <a:pathLst>
              <a:path w="2214880" h="1036320">
                <a:moveTo>
                  <a:pt x="0" y="1036320"/>
                </a:moveTo>
                <a:cubicBezTo>
                  <a:pt x="945726" y="519853"/>
                  <a:pt x="1891453" y="3387"/>
                  <a:pt x="22148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Freeform: Shape 52">
            <a:extLst>
              <a:ext uri="{FF2B5EF4-FFF2-40B4-BE49-F238E27FC236}">
                <a16:creationId xmlns:a16="http://schemas.microsoft.com/office/drawing/2014/main" id="{C50C69C7-B805-4657-B2A2-D9887C426E17}"/>
              </a:ext>
            </a:extLst>
          </p:cNvPr>
          <p:cNvSpPr/>
          <p:nvPr/>
        </p:nvSpPr>
        <p:spPr>
          <a:xfrm>
            <a:off x="4492129" y="4968608"/>
            <a:ext cx="2338389" cy="592341"/>
          </a:xfrm>
          <a:custGeom>
            <a:avLst/>
            <a:gdLst>
              <a:gd name="connsiteX0" fmla="*/ 0 w 2429792"/>
              <a:gd name="connsiteY0" fmla="*/ 0 h 592341"/>
              <a:gd name="connsiteX1" fmla="*/ 1068636 w 2429792"/>
              <a:gd name="connsiteY1" fmla="*/ 539827 h 592341"/>
              <a:gd name="connsiteX2" fmla="*/ 2313542 w 2429792"/>
              <a:gd name="connsiteY2" fmla="*/ 572877 h 592341"/>
              <a:gd name="connsiteX3" fmla="*/ 2302525 w 2429792"/>
              <a:gd name="connsiteY3" fmla="*/ 550844 h 592341"/>
            </a:gdLst>
            <a:ahLst/>
            <a:cxnLst>
              <a:cxn ang="0">
                <a:pos x="connsiteX0" y="connsiteY0"/>
              </a:cxn>
              <a:cxn ang="0">
                <a:pos x="connsiteX1" y="connsiteY1"/>
              </a:cxn>
              <a:cxn ang="0">
                <a:pos x="connsiteX2" y="connsiteY2"/>
              </a:cxn>
              <a:cxn ang="0">
                <a:pos x="connsiteX3" y="connsiteY3"/>
              </a:cxn>
            </a:cxnLst>
            <a:rect l="l" t="t" r="r" b="b"/>
            <a:pathLst>
              <a:path w="2429792" h="592341">
                <a:moveTo>
                  <a:pt x="0" y="0"/>
                </a:moveTo>
                <a:cubicBezTo>
                  <a:pt x="341523" y="222174"/>
                  <a:pt x="683046" y="444348"/>
                  <a:pt x="1068636" y="539827"/>
                </a:cubicBezTo>
                <a:cubicBezTo>
                  <a:pt x="1454226" y="635307"/>
                  <a:pt x="2107894" y="571041"/>
                  <a:pt x="2313542" y="572877"/>
                </a:cubicBezTo>
                <a:cubicBezTo>
                  <a:pt x="2519190" y="574713"/>
                  <a:pt x="2410857" y="562778"/>
                  <a:pt x="2302525" y="5508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5" name="Straight Connector 54">
            <a:extLst>
              <a:ext uri="{FF2B5EF4-FFF2-40B4-BE49-F238E27FC236}">
                <a16:creationId xmlns:a16="http://schemas.microsoft.com/office/drawing/2014/main" id="{E43F9D90-41F4-4B95-A0E4-278089947ADA}"/>
              </a:ext>
            </a:extLst>
          </p:cNvPr>
          <p:cNvCxnSpPr>
            <a:stCxn id="11" idx="3"/>
            <a:endCxn id="21" idx="1"/>
          </p:cNvCxnSpPr>
          <p:nvPr/>
        </p:nvCxnSpPr>
        <p:spPr>
          <a:xfrm>
            <a:off x="4877332" y="4040523"/>
            <a:ext cx="4268359" cy="3206"/>
          </a:xfrm>
          <a:prstGeom prst="line">
            <a:avLst/>
          </a:prstGeom>
        </p:spPr>
        <p:style>
          <a:lnRef idx="1">
            <a:schemeClr val="accent1"/>
          </a:lnRef>
          <a:fillRef idx="0">
            <a:schemeClr val="accent1"/>
          </a:fillRef>
          <a:effectRef idx="0">
            <a:schemeClr val="accent1"/>
          </a:effectRef>
          <a:fontRef idx="minor">
            <a:schemeClr val="tx1"/>
          </a:fontRef>
        </p:style>
      </p:cxnSp>
      <p:sp>
        <p:nvSpPr>
          <p:cNvPr id="57" name="Rectangle: Rounded Corners 56">
            <a:extLst>
              <a:ext uri="{FF2B5EF4-FFF2-40B4-BE49-F238E27FC236}">
                <a16:creationId xmlns:a16="http://schemas.microsoft.com/office/drawing/2014/main" id="{8911E1C2-2B8A-42CA-A536-34E4FA40B5C5}"/>
              </a:ext>
            </a:extLst>
          </p:cNvPr>
          <p:cNvSpPr/>
          <p:nvPr/>
        </p:nvSpPr>
        <p:spPr>
          <a:xfrm>
            <a:off x="9318885" y="3429000"/>
            <a:ext cx="1378314" cy="11315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BBBD6FD0-53D1-4963-87BA-13988AC1B4A5}"/>
              </a:ext>
            </a:extLst>
          </p:cNvPr>
          <p:cNvSpPr txBox="1"/>
          <p:nvPr/>
        </p:nvSpPr>
        <p:spPr>
          <a:xfrm>
            <a:off x="9922559" y="4114800"/>
            <a:ext cx="720069" cy="400110"/>
          </a:xfrm>
          <a:prstGeom prst="rect">
            <a:avLst/>
          </a:prstGeom>
          <a:noFill/>
        </p:spPr>
        <p:txBody>
          <a:bodyPr wrap="none" rtlCol="0">
            <a:spAutoFit/>
          </a:bodyPr>
          <a:lstStyle/>
          <a:p>
            <a:pPr algn="ctr"/>
            <a:r>
              <a:rPr lang="en-US" sz="1000" b="1" dirty="0">
                <a:solidFill>
                  <a:schemeClr val="tx2"/>
                </a:solidFill>
                <a:latin typeface="Calibri" panose="020F0502020204030204" pitchFamily="34" charset="0"/>
                <a:cs typeface="Calibri" panose="020F0502020204030204" pitchFamily="34" charset="0"/>
              </a:rPr>
              <a:t>Corporate</a:t>
            </a:r>
          </a:p>
          <a:p>
            <a:pPr algn="ctr"/>
            <a:r>
              <a:rPr lang="en-US" sz="1000" b="1" dirty="0">
                <a:solidFill>
                  <a:schemeClr val="tx2"/>
                </a:solidFill>
                <a:latin typeface="Calibri" panose="020F0502020204030204" pitchFamily="34" charset="0"/>
                <a:cs typeface="Calibri" panose="020F0502020204030204" pitchFamily="34" charset="0"/>
              </a:rPr>
              <a:t>network</a:t>
            </a:r>
            <a:endParaRPr lang="en-GB" sz="1000" b="1" dirty="0">
              <a:solidFill>
                <a:schemeClr val="tx2"/>
              </a:solidFill>
              <a:latin typeface="Calibri" panose="020F0502020204030204" pitchFamily="34" charset="0"/>
              <a:cs typeface="Calibri" panose="020F0502020204030204" pitchFamily="34" charset="0"/>
            </a:endParaRPr>
          </a:p>
        </p:txBody>
      </p:sp>
      <p:cxnSp>
        <p:nvCxnSpPr>
          <p:cNvPr id="62" name="Straight Connector 61">
            <a:extLst>
              <a:ext uri="{FF2B5EF4-FFF2-40B4-BE49-F238E27FC236}">
                <a16:creationId xmlns:a16="http://schemas.microsoft.com/office/drawing/2014/main" id="{1B9FF068-0E96-4C6A-B907-7359308AB3E5}"/>
              </a:ext>
            </a:extLst>
          </p:cNvPr>
          <p:cNvCxnSpPr/>
          <p:nvPr/>
        </p:nvCxnSpPr>
        <p:spPr>
          <a:xfrm>
            <a:off x="4114800" y="3124202"/>
            <a:ext cx="630740" cy="3836"/>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557E072-1C78-4CFB-9812-7D67F7686284}"/>
              </a:ext>
            </a:extLst>
          </p:cNvPr>
          <p:cNvCxnSpPr>
            <a:endCxn id="11" idx="0"/>
          </p:cNvCxnSpPr>
          <p:nvPr/>
        </p:nvCxnSpPr>
        <p:spPr>
          <a:xfrm>
            <a:off x="4731559" y="2967377"/>
            <a:ext cx="18025" cy="9451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B8F5107-3B2E-4773-92F5-719C5660F92D}"/>
              </a:ext>
            </a:extLst>
          </p:cNvPr>
          <p:cNvCxnSpPr/>
          <p:nvPr/>
        </p:nvCxnSpPr>
        <p:spPr>
          <a:xfrm>
            <a:off x="4056379" y="3048002"/>
            <a:ext cx="66404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B693899-5F49-4142-9EA3-D49B623662F0}"/>
              </a:ext>
            </a:extLst>
          </p:cNvPr>
          <p:cNvCxnSpPr/>
          <p:nvPr/>
        </p:nvCxnSpPr>
        <p:spPr>
          <a:xfrm>
            <a:off x="3991292" y="2967378"/>
            <a:ext cx="747196" cy="826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1DC7CBE-D399-45A9-BF1E-EE674A8CE718}"/>
              </a:ext>
            </a:extLst>
          </p:cNvPr>
          <p:cNvCxnSpPr/>
          <p:nvPr/>
        </p:nvCxnSpPr>
        <p:spPr>
          <a:xfrm>
            <a:off x="4821546" y="1461263"/>
            <a:ext cx="3334" cy="2496839"/>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E44BA7E-2D0D-4374-913D-0751F55FF382}"/>
              </a:ext>
            </a:extLst>
          </p:cNvPr>
          <p:cNvCxnSpPr/>
          <p:nvPr/>
        </p:nvCxnSpPr>
        <p:spPr>
          <a:xfrm flipV="1">
            <a:off x="3858746" y="1461263"/>
            <a:ext cx="962801" cy="651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C10DA40-493E-4BAB-9C27-CF2FE59D3CFC}"/>
              </a:ext>
            </a:extLst>
          </p:cNvPr>
          <p:cNvCxnSpPr/>
          <p:nvPr/>
        </p:nvCxnSpPr>
        <p:spPr>
          <a:xfrm flipV="1">
            <a:off x="4094984" y="4802039"/>
            <a:ext cx="650557" cy="456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33A99DD-CBD8-42C1-87C1-003BAEBA9A7A}"/>
              </a:ext>
            </a:extLst>
          </p:cNvPr>
          <p:cNvCxnSpPr/>
          <p:nvPr/>
        </p:nvCxnSpPr>
        <p:spPr>
          <a:xfrm flipV="1">
            <a:off x="4072216" y="4647218"/>
            <a:ext cx="673324" cy="381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C3839D4-A837-48A3-AD06-41A23A7A229A}"/>
              </a:ext>
            </a:extLst>
          </p:cNvPr>
          <p:cNvCxnSpPr/>
          <p:nvPr/>
        </p:nvCxnSpPr>
        <p:spPr>
          <a:xfrm>
            <a:off x="4114800" y="4722829"/>
            <a:ext cx="63074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90BF489-B2E4-4983-A0EB-50ADB447E536}"/>
              </a:ext>
            </a:extLst>
          </p:cNvPr>
          <p:cNvCxnSpPr/>
          <p:nvPr/>
        </p:nvCxnSpPr>
        <p:spPr>
          <a:xfrm>
            <a:off x="4739638" y="4021277"/>
            <a:ext cx="8076" cy="78533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8" name="Rectangle: Rounded Corners 97">
            <a:extLst>
              <a:ext uri="{FF2B5EF4-FFF2-40B4-BE49-F238E27FC236}">
                <a16:creationId xmlns:a16="http://schemas.microsoft.com/office/drawing/2014/main" id="{1DC8FACA-A43A-496D-8403-01852547FB86}"/>
              </a:ext>
            </a:extLst>
          </p:cNvPr>
          <p:cNvSpPr/>
          <p:nvPr/>
        </p:nvSpPr>
        <p:spPr>
          <a:xfrm>
            <a:off x="1476933" y="2136538"/>
            <a:ext cx="4171709" cy="2029630"/>
          </a:xfrm>
          <a:prstGeom prst="roundRect">
            <a:avLst/>
          </a:prstGeom>
          <a:noFill/>
          <a:ln w="25400">
            <a:solidFill>
              <a:srgbClr val="FF99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Rounded Corners 98">
            <a:extLst>
              <a:ext uri="{FF2B5EF4-FFF2-40B4-BE49-F238E27FC236}">
                <a16:creationId xmlns:a16="http://schemas.microsoft.com/office/drawing/2014/main" id="{21AF51E0-ED6F-43C6-99CF-72596C746FBD}"/>
              </a:ext>
            </a:extLst>
          </p:cNvPr>
          <p:cNvSpPr/>
          <p:nvPr/>
        </p:nvSpPr>
        <p:spPr>
          <a:xfrm>
            <a:off x="1446618" y="4223728"/>
            <a:ext cx="4171709" cy="1875612"/>
          </a:xfrm>
          <a:prstGeom prst="roundRect">
            <a:avLst/>
          </a:prstGeom>
          <a:noFill/>
          <a:ln w="25400">
            <a:solidFill>
              <a:srgbClr val="FF99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TextBox 99">
            <a:extLst>
              <a:ext uri="{FF2B5EF4-FFF2-40B4-BE49-F238E27FC236}">
                <a16:creationId xmlns:a16="http://schemas.microsoft.com/office/drawing/2014/main" id="{04994660-C67B-448D-A4D4-0EA1F04CC690}"/>
              </a:ext>
            </a:extLst>
          </p:cNvPr>
          <p:cNvSpPr txBox="1"/>
          <p:nvPr/>
        </p:nvSpPr>
        <p:spPr>
          <a:xfrm>
            <a:off x="2869571" y="3909226"/>
            <a:ext cx="1170513" cy="246221"/>
          </a:xfrm>
          <a:prstGeom prst="rect">
            <a:avLst/>
          </a:prstGeom>
          <a:noFill/>
        </p:spPr>
        <p:txBody>
          <a:bodyPr wrap="none" rtlCol="0">
            <a:spAutoFit/>
          </a:bodyPr>
          <a:lstStyle/>
          <a:p>
            <a:pPr algn="ctr"/>
            <a:r>
              <a:rPr lang="en-US" sz="1000" b="1" dirty="0">
                <a:solidFill>
                  <a:srgbClr val="FF9900"/>
                </a:solidFill>
                <a:latin typeface="Calibri" panose="020F0502020204030204" pitchFamily="34" charset="0"/>
                <a:cs typeface="Calibri" panose="020F0502020204030204" pitchFamily="34" charset="0"/>
              </a:rPr>
              <a:t>Availability zone A</a:t>
            </a:r>
          </a:p>
        </p:txBody>
      </p:sp>
      <p:sp>
        <p:nvSpPr>
          <p:cNvPr id="101" name="TextBox 100">
            <a:extLst>
              <a:ext uri="{FF2B5EF4-FFF2-40B4-BE49-F238E27FC236}">
                <a16:creationId xmlns:a16="http://schemas.microsoft.com/office/drawing/2014/main" id="{7B063F8B-0D37-454F-B0EE-050937609915}"/>
              </a:ext>
            </a:extLst>
          </p:cNvPr>
          <p:cNvSpPr txBox="1"/>
          <p:nvPr/>
        </p:nvSpPr>
        <p:spPr>
          <a:xfrm>
            <a:off x="2823184" y="5795249"/>
            <a:ext cx="1165705" cy="246221"/>
          </a:xfrm>
          <a:prstGeom prst="rect">
            <a:avLst/>
          </a:prstGeom>
          <a:noFill/>
        </p:spPr>
        <p:txBody>
          <a:bodyPr wrap="none" rtlCol="0">
            <a:spAutoFit/>
          </a:bodyPr>
          <a:lstStyle/>
          <a:p>
            <a:pPr algn="ctr"/>
            <a:r>
              <a:rPr lang="en-US" sz="1000" b="1" dirty="0">
                <a:solidFill>
                  <a:srgbClr val="FF9900"/>
                </a:solidFill>
                <a:latin typeface="Calibri" panose="020F0502020204030204" pitchFamily="34" charset="0"/>
                <a:cs typeface="Calibri" panose="020F0502020204030204" pitchFamily="34" charset="0"/>
              </a:rPr>
              <a:t>Availability zone B</a:t>
            </a:r>
          </a:p>
        </p:txBody>
      </p:sp>
      <p:sp>
        <p:nvSpPr>
          <p:cNvPr id="102" name="TextBox 101">
            <a:extLst>
              <a:ext uri="{FF2B5EF4-FFF2-40B4-BE49-F238E27FC236}">
                <a16:creationId xmlns:a16="http://schemas.microsoft.com/office/drawing/2014/main" id="{6955EE64-C953-40BB-B8F9-AED6884B2E9E}"/>
              </a:ext>
            </a:extLst>
          </p:cNvPr>
          <p:cNvSpPr txBox="1"/>
          <p:nvPr/>
        </p:nvSpPr>
        <p:spPr>
          <a:xfrm>
            <a:off x="2203855" y="1178115"/>
            <a:ext cx="439544" cy="246221"/>
          </a:xfrm>
          <a:prstGeom prst="rect">
            <a:avLst/>
          </a:prstGeom>
          <a:noFill/>
        </p:spPr>
        <p:txBody>
          <a:bodyPr wrap="none" rtlCol="0">
            <a:spAutoFit/>
          </a:bodyPr>
          <a:lstStyle/>
          <a:p>
            <a:pPr algn="ctr"/>
            <a:r>
              <a:rPr lang="en-US" sz="1000" b="1" dirty="0">
                <a:solidFill>
                  <a:schemeClr val="tx2"/>
                </a:solidFill>
                <a:latin typeface="Calibri" panose="020F0502020204030204" pitchFamily="34" charset="0"/>
                <a:cs typeface="Calibri" panose="020F0502020204030204" pitchFamily="34" charset="0"/>
              </a:rPr>
              <a:t>AWS</a:t>
            </a:r>
            <a:endParaRPr lang="en-GB" sz="1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457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Key components of a VPC</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2" y="1143001"/>
            <a:ext cx="9507638" cy="5410200"/>
          </a:xfrm>
        </p:spPr>
        <p:txBody>
          <a:bodyPr>
            <a:noAutofit/>
          </a:bodyPr>
          <a:lstStyle/>
          <a:p>
            <a:pPr>
              <a:buFont typeface="Arial" panose="020B0604020202020204" pitchFamily="34" charset="0"/>
              <a:buChar char="•"/>
            </a:pPr>
            <a:r>
              <a:rPr lang="en-US" sz="2200" b="1" dirty="0">
                <a:solidFill>
                  <a:schemeClr val="tx2"/>
                </a:solidFill>
                <a:latin typeface="Calibri" panose="020F0502020204030204" pitchFamily="34" charset="0"/>
                <a:cs typeface="Calibri" panose="020F0502020204030204" pitchFamily="34" charset="0"/>
              </a:rPr>
              <a:t>Subnets</a:t>
            </a:r>
          </a:p>
          <a:p>
            <a:pPr lvl="1">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 Range of IP addresses ; AWS resources are launched in a subnet</a:t>
            </a:r>
          </a:p>
          <a:p>
            <a:pPr lvl="1">
              <a:buFont typeface="Arial" panose="020B0604020202020204" pitchFamily="34" charset="0"/>
              <a:buChar char="•"/>
            </a:pPr>
            <a:r>
              <a:rPr lang="en-US" sz="1800" b="1" dirty="0">
                <a:solidFill>
                  <a:schemeClr val="tx2"/>
                </a:solidFill>
                <a:latin typeface="Calibri" panose="020F0502020204030204" pitchFamily="34" charset="0"/>
                <a:cs typeface="Calibri" panose="020F0502020204030204" pitchFamily="34" charset="0"/>
              </a:rPr>
              <a:t> </a:t>
            </a:r>
            <a:r>
              <a:rPr lang="en-US" sz="1800" dirty="0">
                <a:solidFill>
                  <a:schemeClr val="tx2"/>
                </a:solidFill>
                <a:latin typeface="Calibri" panose="020F0502020204030204" pitchFamily="34" charset="0"/>
                <a:cs typeface="Calibri" panose="020F0502020204030204" pitchFamily="34" charset="0"/>
              </a:rPr>
              <a:t>Public subnet : for resources accessible from internet</a:t>
            </a:r>
          </a:p>
          <a:p>
            <a:pPr lvl="1">
              <a:buFont typeface="Arial" panose="020B0604020202020204" pitchFamily="34" charset="0"/>
              <a:buChar char="•"/>
            </a:pPr>
            <a:r>
              <a:rPr lang="en-US" sz="1800" b="1" dirty="0">
                <a:solidFill>
                  <a:schemeClr val="tx2"/>
                </a:solidFill>
                <a:latin typeface="Calibri" panose="020F0502020204030204" pitchFamily="34" charset="0"/>
                <a:cs typeface="Calibri" panose="020F0502020204030204" pitchFamily="34" charset="0"/>
              </a:rPr>
              <a:t> </a:t>
            </a:r>
            <a:r>
              <a:rPr lang="en-US" sz="1800" dirty="0">
                <a:solidFill>
                  <a:schemeClr val="tx2"/>
                </a:solidFill>
                <a:latin typeface="Calibri" panose="020F0502020204030204" pitchFamily="34" charset="0"/>
                <a:cs typeface="Calibri" panose="020F0502020204030204" pitchFamily="34" charset="0"/>
              </a:rPr>
              <a:t>Private subnet : for resources that wont be accessible from internet</a:t>
            </a:r>
          </a:p>
          <a:p>
            <a:pPr lvl="1">
              <a:buFont typeface="Arial" panose="020B0604020202020204" pitchFamily="34" charset="0"/>
              <a:buChar char="•"/>
            </a:pPr>
            <a:r>
              <a:rPr lang="en-US" sz="1800" b="1" dirty="0">
                <a:solidFill>
                  <a:schemeClr val="tx2"/>
                </a:solidFill>
                <a:latin typeface="Calibri" panose="020F0502020204030204" pitchFamily="34" charset="0"/>
                <a:cs typeface="Calibri" panose="020F0502020204030204" pitchFamily="34" charset="0"/>
              </a:rPr>
              <a:t> </a:t>
            </a:r>
            <a:r>
              <a:rPr lang="en-US" sz="1800" dirty="0">
                <a:solidFill>
                  <a:schemeClr val="tx2"/>
                </a:solidFill>
                <a:latin typeface="Calibri" panose="020F0502020204030204" pitchFamily="34" charset="0"/>
                <a:cs typeface="Calibri" panose="020F0502020204030204" pitchFamily="34" charset="0"/>
              </a:rPr>
              <a:t>Subnet resides within one AZ and cannot span zones</a:t>
            </a:r>
          </a:p>
          <a:p>
            <a:pPr>
              <a:buFont typeface="Arial" panose="020B0604020202020204" pitchFamily="34" charset="0"/>
              <a:buChar char="•"/>
            </a:pPr>
            <a:r>
              <a:rPr lang="en-US" sz="2200" b="1" dirty="0">
                <a:solidFill>
                  <a:schemeClr val="tx2"/>
                </a:solidFill>
                <a:latin typeface="Calibri" panose="020F0502020204030204" pitchFamily="34" charset="0"/>
                <a:cs typeface="Calibri" panose="020F0502020204030204" pitchFamily="34" charset="0"/>
              </a:rPr>
              <a:t>Internet gateway</a:t>
            </a:r>
          </a:p>
          <a:p>
            <a:pPr lvl="1">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 </a:t>
            </a:r>
            <a:r>
              <a:rPr lang="en-US" sz="1800" dirty="0">
                <a:solidFill>
                  <a:schemeClr val="tx2"/>
                </a:solidFill>
                <a:latin typeface="Calibri" panose="020F0502020204030204" pitchFamily="34" charset="0"/>
                <a:cs typeface="Calibri" panose="020F0502020204030204" pitchFamily="34" charset="0"/>
              </a:rPr>
              <a:t>When attached to a subnet , it makes it public and accessible to the internet</a:t>
            </a:r>
          </a:p>
          <a:p>
            <a:pPr>
              <a:buFont typeface="Arial" panose="020B0604020202020204" pitchFamily="34" charset="0"/>
              <a:buChar char="•"/>
            </a:pPr>
            <a:r>
              <a:rPr lang="en-US" sz="2200" b="1" dirty="0">
                <a:solidFill>
                  <a:schemeClr val="tx2"/>
                </a:solidFill>
                <a:latin typeface="Calibri" panose="020F0502020204030204" pitchFamily="34" charset="0"/>
                <a:cs typeface="Calibri" panose="020F0502020204030204" pitchFamily="34" charset="0"/>
              </a:rPr>
              <a:t>Route tables</a:t>
            </a:r>
          </a:p>
          <a:p>
            <a:pPr lvl="1">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 Contains a set of rules, called routes, that are used to determine where network traffic from  </a:t>
            </a:r>
          </a:p>
          <a:p>
            <a:pPr lvl="1"/>
            <a:r>
              <a:rPr lang="en-US" sz="1800" dirty="0">
                <a:solidFill>
                  <a:schemeClr val="tx2"/>
                </a:solidFill>
                <a:latin typeface="Calibri" panose="020F0502020204030204" pitchFamily="34" charset="0"/>
                <a:cs typeface="Calibri" panose="020F0502020204030204" pitchFamily="34" charset="0"/>
              </a:rPr>
              <a:t>   your subnet is directed</a:t>
            </a:r>
          </a:p>
          <a:p>
            <a:pPr>
              <a:buFont typeface="Arial" panose="020B0604020202020204" pitchFamily="34" charset="0"/>
              <a:buChar char="•"/>
            </a:pPr>
            <a:r>
              <a:rPr lang="en-US" sz="2200" b="1" dirty="0">
                <a:solidFill>
                  <a:schemeClr val="tx2"/>
                </a:solidFill>
                <a:latin typeface="Calibri" panose="020F0502020204030204" pitchFamily="34" charset="0"/>
                <a:cs typeface="Calibri" panose="020F0502020204030204" pitchFamily="34" charset="0"/>
              </a:rPr>
              <a:t>NAT gateway</a:t>
            </a:r>
          </a:p>
          <a:p>
            <a:pPr lvl="1">
              <a:buFont typeface="Arial" panose="020B0604020202020204" pitchFamily="34" charset="0"/>
              <a:buChar char="•"/>
            </a:pPr>
            <a:r>
              <a:rPr lang="en-US" b="1" dirty="0">
                <a:solidFill>
                  <a:schemeClr val="tx2"/>
                </a:solidFill>
                <a:latin typeface="Calibri" panose="020F0502020204030204" pitchFamily="34" charset="0"/>
                <a:cs typeface="Calibri" panose="020F0502020204030204" pitchFamily="34" charset="0"/>
              </a:rPr>
              <a:t> </a:t>
            </a:r>
            <a:r>
              <a:rPr lang="en-US" sz="1800" dirty="0">
                <a:solidFill>
                  <a:schemeClr val="tx2"/>
                </a:solidFill>
                <a:latin typeface="Calibri" panose="020F0502020204030204" pitchFamily="34" charset="0"/>
                <a:cs typeface="Calibri" panose="020F0502020204030204" pitchFamily="34" charset="0"/>
              </a:rPr>
              <a:t>Enables instances in a private subnet to connect to the internet or other AWS services, but </a:t>
            </a:r>
          </a:p>
          <a:p>
            <a:pPr lvl="1"/>
            <a:r>
              <a:rPr lang="en-US" sz="1800" dirty="0">
                <a:solidFill>
                  <a:schemeClr val="tx2"/>
                </a:solidFill>
                <a:latin typeface="Calibri" panose="020F0502020204030204" pitchFamily="34" charset="0"/>
                <a:cs typeface="Calibri" panose="020F0502020204030204" pitchFamily="34" charset="0"/>
              </a:rPr>
              <a:t>  prevents the internet from initiating a connection with those instances</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9881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Understanding IPV4</a:t>
            </a:r>
            <a:endParaRPr lang="en-GB" dirty="0">
              <a:solidFill>
                <a:schemeClr val="tx2"/>
              </a:solidFill>
            </a:endParaRPr>
          </a:p>
        </p:txBody>
      </p:sp>
      <p:grpSp>
        <p:nvGrpSpPr>
          <p:cNvPr id="23" name="Group 22">
            <a:extLst>
              <a:ext uri="{FF2B5EF4-FFF2-40B4-BE49-F238E27FC236}">
                <a16:creationId xmlns:a16="http://schemas.microsoft.com/office/drawing/2014/main" id="{4EB614CD-09DD-4A45-B483-173CB0C8BBAC}"/>
              </a:ext>
            </a:extLst>
          </p:cNvPr>
          <p:cNvGrpSpPr/>
          <p:nvPr/>
        </p:nvGrpSpPr>
        <p:grpSpPr>
          <a:xfrm>
            <a:off x="1294680" y="1385610"/>
            <a:ext cx="5334000" cy="435335"/>
            <a:chOff x="838200" y="1342641"/>
            <a:chExt cx="5334000" cy="435335"/>
          </a:xfrm>
        </p:grpSpPr>
        <p:cxnSp>
          <p:nvCxnSpPr>
            <p:cNvPr id="5" name="Straight Connector 4">
              <a:extLst>
                <a:ext uri="{FF2B5EF4-FFF2-40B4-BE49-F238E27FC236}">
                  <a16:creationId xmlns:a16="http://schemas.microsoft.com/office/drawing/2014/main" id="{8C3A2527-ECAB-42FB-B760-1434FFCE0A0D}"/>
                </a:ext>
              </a:extLst>
            </p:cNvPr>
            <p:cNvCxnSpPr>
              <a:cxnSpLocks/>
            </p:cNvCxnSpPr>
            <p:nvPr/>
          </p:nvCxnSpPr>
          <p:spPr>
            <a:xfrm>
              <a:off x="838200" y="1752600"/>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073FE245-4E19-488D-B810-8577C7198410}"/>
                </a:ext>
              </a:extLst>
            </p:cNvPr>
            <p:cNvSpPr/>
            <p:nvPr/>
          </p:nvSpPr>
          <p:spPr>
            <a:xfrm>
              <a:off x="2057400" y="1651024"/>
              <a:ext cx="76200" cy="7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cxnSp>
          <p:nvCxnSpPr>
            <p:cNvPr id="9" name="Straight Connector 8">
              <a:extLst>
                <a:ext uri="{FF2B5EF4-FFF2-40B4-BE49-F238E27FC236}">
                  <a16:creationId xmlns:a16="http://schemas.microsoft.com/office/drawing/2014/main" id="{181642D6-073B-472F-9A2D-E5994A37CEDE}"/>
                </a:ext>
              </a:extLst>
            </p:cNvPr>
            <p:cNvCxnSpPr>
              <a:cxnSpLocks/>
            </p:cNvCxnSpPr>
            <p:nvPr/>
          </p:nvCxnSpPr>
          <p:spPr>
            <a:xfrm>
              <a:off x="2209800" y="1752600"/>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57F8778C-C4FC-4D85-BB1E-1FD47612D54D}"/>
                </a:ext>
              </a:extLst>
            </p:cNvPr>
            <p:cNvSpPr/>
            <p:nvPr/>
          </p:nvSpPr>
          <p:spPr>
            <a:xfrm>
              <a:off x="3429000" y="1651024"/>
              <a:ext cx="76200" cy="7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cxnSp>
          <p:nvCxnSpPr>
            <p:cNvPr id="11" name="Straight Connector 10">
              <a:extLst>
                <a:ext uri="{FF2B5EF4-FFF2-40B4-BE49-F238E27FC236}">
                  <a16:creationId xmlns:a16="http://schemas.microsoft.com/office/drawing/2014/main" id="{B4E67E17-CAEB-430F-91E4-B6452202755C}"/>
                </a:ext>
              </a:extLst>
            </p:cNvPr>
            <p:cNvCxnSpPr>
              <a:cxnSpLocks/>
            </p:cNvCxnSpPr>
            <p:nvPr/>
          </p:nvCxnSpPr>
          <p:spPr>
            <a:xfrm>
              <a:off x="3657600" y="1752600"/>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6EC01C07-CC03-4613-A9FA-799C9CEDC4E2}"/>
                </a:ext>
              </a:extLst>
            </p:cNvPr>
            <p:cNvSpPr/>
            <p:nvPr/>
          </p:nvSpPr>
          <p:spPr>
            <a:xfrm>
              <a:off x="4876800" y="1651024"/>
              <a:ext cx="76200" cy="7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cxnSp>
          <p:nvCxnSpPr>
            <p:cNvPr id="13" name="Straight Connector 12">
              <a:extLst>
                <a:ext uri="{FF2B5EF4-FFF2-40B4-BE49-F238E27FC236}">
                  <a16:creationId xmlns:a16="http://schemas.microsoft.com/office/drawing/2014/main" id="{F7A163D1-6ABF-42F7-BA46-40128BC6B9D3}"/>
                </a:ext>
              </a:extLst>
            </p:cNvPr>
            <p:cNvCxnSpPr>
              <a:cxnSpLocks/>
            </p:cNvCxnSpPr>
            <p:nvPr/>
          </p:nvCxnSpPr>
          <p:spPr>
            <a:xfrm>
              <a:off x="5105400" y="1777976"/>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78392B1-C23A-49B5-A573-C2401F27ED0A}"/>
                </a:ext>
              </a:extLst>
            </p:cNvPr>
            <p:cNvSpPr txBox="1"/>
            <p:nvPr/>
          </p:nvSpPr>
          <p:spPr>
            <a:xfrm>
              <a:off x="1044300" y="1342641"/>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C19B5DD-7846-43B3-8831-CCF3760520AB}"/>
                </a:ext>
              </a:extLst>
            </p:cNvPr>
            <p:cNvSpPr txBox="1"/>
            <p:nvPr/>
          </p:nvSpPr>
          <p:spPr>
            <a:xfrm>
              <a:off x="2346960" y="1352788"/>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5DF08D1E-7AD8-40AA-A024-9402B1DBC454}"/>
                </a:ext>
              </a:extLst>
            </p:cNvPr>
            <p:cNvSpPr txBox="1"/>
            <p:nvPr/>
          </p:nvSpPr>
          <p:spPr>
            <a:xfrm>
              <a:off x="3886200" y="1352788"/>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33E8B9F-33F9-43A2-9243-C8700A82805A}"/>
                </a:ext>
              </a:extLst>
            </p:cNvPr>
            <p:cNvSpPr txBox="1"/>
            <p:nvPr/>
          </p:nvSpPr>
          <p:spPr>
            <a:xfrm>
              <a:off x="5288640" y="1352788"/>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grpSp>
      <p:sp>
        <p:nvSpPr>
          <p:cNvPr id="21" name="TextBox 20">
            <a:extLst>
              <a:ext uri="{FF2B5EF4-FFF2-40B4-BE49-F238E27FC236}">
                <a16:creationId xmlns:a16="http://schemas.microsoft.com/office/drawing/2014/main" id="{FAB20AA4-086E-43FB-A02E-52E1FBEBAD1A}"/>
              </a:ext>
            </a:extLst>
          </p:cNvPr>
          <p:cNvSpPr txBox="1"/>
          <p:nvPr/>
        </p:nvSpPr>
        <p:spPr>
          <a:xfrm>
            <a:off x="7637615" y="1336534"/>
            <a:ext cx="2433871" cy="646331"/>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32 bit</a:t>
            </a:r>
          </a:p>
          <a:p>
            <a:pPr marL="285750" indent="-285750">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4 billion IP addresses</a:t>
            </a:r>
          </a:p>
        </p:txBody>
      </p:sp>
      <p:sp>
        <p:nvSpPr>
          <p:cNvPr id="22" name="TextBox 21">
            <a:extLst>
              <a:ext uri="{FF2B5EF4-FFF2-40B4-BE49-F238E27FC236}">
                <a16:creationId xmlns:a16="http://schemas.microsoft.com/office/drawing/2014/main" id="{C45954A1-8365-48BA-A011-25104D5AFC63}"/>
              </a:ext>
            </a:extLst>
          </p:cNvPr>
          <p:cNvSpPr txBox="1"/>
          <p:nvPr/>
        </p:nvSpPr>
        <p:spPr>
          <a:xfrm>
            <a:off x="1344204" y="2229041"/>
            <a:ext cx="8801833" cy="646331"/>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Subnet mask decides which octets are reserved for N/W address and which for host address</a:t>
            </a:r>
          </a:p>
          <a:p>
            <a:r>
              <a:rPr lang="en-US" dirty="0">
                <a:solidFill>
                  <a:schemeClr val="tx2"/>
                </a:solidFill>
                <a:latin typeface="Calibri" panose="020F0502020204030204" pitchFamily="34" charset="0"/>
                <a:cs typeface="Calibri" panose="020F0502020204030204" pitchFamily="34" charset="0"/>
              </a:rPr>
              <a:t>E.g. for Class B subnet mask (255.255.0.0) -</a:t>
            </a:r>
            <a:endParaRPr lang="en-GB" dirty="0">
              <a:solidFill>
                <a:schemeClr val="tx2"/>
              </a:solidFill>
              <a:latin typeface="Calibri" panose="020F050202020403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EC015E14-6E91-4570-8FB7-D1848FA2FE13}"/>
              </a:ext>
            </a:extLst>
          </p:cNvPr>
          <p:cNvGrpSpPr/>
          <p:nvPr/>
        </p:nvGrpSpPr>
        <p:grpSpPr>
          <a:xfrm>
            <a:off x="1328243" y="2979826"/>
            <a:ext cx="5334000" cy="435335"/>
            <a:chOff x="838200" y="1342641"/>
            <a:chExt cx="5334000" cy="435335"/>
          </a:xfrm>
        </p:grpSpPr>
        <p:cxnSp>
          <p:nvCxnSpPr>
            <p:cNvPr id="25" name="Straight Connector 24">
              <a:extLst>
                <a:ext uri="{FF2B5EF4-FFF2-40B4-BE49-F238E27FC236}">
                  <a16:creationId xmlns:a16="http://schemas.microsoft.com/office/drawing/2014/main" id="{C0A780D3-157C-4E58-97B4-7A4DD5E5CC1C}"/>
                </a:ext>
              </a:extLst>
            </p:cNvPr>
            <p:cNvCxnSpPr>
              <a:cxnSpLocks/>
            </p:cNvCxnSpPr>
            <p:nvPr/>
          </p:nvCxnSpPr>
          <p:spPr>
            <a:xfrm>
              <a:off x="838200" y="1752600"/>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86329E33-5626-4B7E-8029-9658E9773E66}"/>
                </a:ext>
              </a:extLst>
            </p:cNvPr>
            <p:cNvSpPr/>
            <p:nvPr/>
          </p:nvSpPr>
          <p:spPr>
            <a:xfrm>
              <a:off x="2057400" y="1651024"/>
              <a:ext cx="76200" cy="7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cxnSp>
          <p:nvCxnSpPr>
            <p:cNvPr id="27" name="Straight Connector 26">
              <a:extLst>
                <a:ext uri="{FF2B5EF4-FFF2-40B4-BE49-F238E27FC236}">
                  <a16:creationId xmlns:a16="http://schemas.microsoft.com/office/drawing/2014/main" id="{F1CEF9DA-915B-4001-B4D3-BFE830194ECE}"/>
                </a:ext>
              </a:extLst>
            </p:cNvPr>
            <p:cNvCxnSpPr>
              <a:cxnSpLocks/>
            </p:cNvCxnSpPr>
            <p:nvPr/>
          </p:nvCxnSpPr>
          <p:spPr>
            <a:xfrm>
              <a:off x="2209800" y="1752600"/>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F892E77B-C0FD-40AA-9136-73B23E10FF9D}"/>
                </a:ext>
              </a:extLst>
            </p:cNvPr>
            <p:cNvSpPr/>
            <p:nvPr/>
          </p:nvSpPr>
          <p:spPr>
            <a:xfrm>
              <a:off x="3429000" y="1651024"/>
              <a:ext cx="76200" cy="7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cxnSp>
          <p:nvCxnSpPr>
            <p:cNvPr id="29" name="Straight Connector 28">
              <a:extLst>
                <a:ext uri="{FF2B5EF4-FFF2-40B4-BE49-F238E27FC236}">
                  <a16:creationId xmlns:a16="http://schemas.microsoft.com/office/drawing/2014/main" id="{9F6BC8F7-3341-48D6-A3A8-B68410CFF4EF}"/>
                </a:ext>
              </a:extLst>
            </p:cNvPr>
            <p:cNvCxnSpPr>
              <a:cxnSpLocks/>
            </p:cNvCxnSpPr>
            <p:nvPr/>
          </p:nvCxnSpPr>
          <p:spPr>
            <a:xfrm>
              <a:off x="3657600" y="1752600"/>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CDA1C345-6469-4EF4-8B62-B8DF15CF2BF5}"/>
                </a:ext>
              </a:extLst>
            </p:cNvPr>
            <p:cNvSpPr/>
            <p:nvPr/>
          </p:nvSpPr>
          <p:spPr>
            <a:xfrm>
              <a:off x="4876800" y="1651024"/>
              <a:ext cx="76200" cy="7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2"/>
                </a:solidFill>
              </a:endParaRPr>
            </a:p>
          </p:txBody>
        </p:sp>
        <p:cxnSp>
          <p:nvCxnSpPr>
            <p:cNvPr id="31" name="Straight Connector 30">
              <a:extLst>
                <a:ext uri="{FF2B5EF4-FFF2-40B4-BE49-F238E27FC236}">
                  <a16:creationId xmlns:a16="http://schemas.microsoft.com/office/drawing/2014/main" id="{CDD2C4B1-A8F1-421B-8A0E-EA3D3A6E5AD7}"/>
                </a:ext>
              </a:extLst>
            </p:cNvPr>
            <p:cNvCxnSpPr>
              <a:cxnSpLocks/>
            </p:cNvCxnSpPr>
            <p:nvPr/>
          </p:nvCxnSpPr>
          <p:spPr>
            <a:xfrm>
              <a:off x="5105400" y="1777976"/>
              <a:ext cx="10668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8FF6A40-F49B-4B0D-A6D2-46F4DC723383}"/>
                </a:ext>
              </a:extLst>
            </p:cNvPr>
            <p:cNvSpPr txBox="1"/>
            <p:nvPr/>
          </p:nvSpPr>
          <p:spPr>
            <a:xfrm>
              <a:off x="1044300" y="1342641"/>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9C0312D8-B5F4-444C-935B-A05284318C55}"/>
                </a:ext>
              </a:extLst>
            </p:cNvPr>
            <p:cNvSpPr txBox="1"/>
            <p:nvPr/>
          </p:nvSpPr>
          <p:spPr>
            <a:xfrm>
              <a:off x="2346960" y="1352788"/>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B2BFCC0-06DB-4C7A-9008-50A0B16F17C9}"/>
                </a:ext>
              </a:extLst>
            </p:cNvPr>
            <p:cNvSpPr txBox="1"/>
            <p:nvPr/>
          </p:nvSpPr>
          <p:spPr>
            <a:xfrm>
              <a:off x="3886200" y="1352788"/>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997FB12A-0EF7-4E68-9F1A-00949E147D8F}"/>
                </a:ext>
              </a:extLst>
            </p:cNvPr>
            <p:cNvSpPr txBox="1"/>
            <p:nvPr/>
          </p:nvSpPr>
          <p:spPr>
            <a:xfrm>
              <a:off x="5288640" y="1352788"/>
              <a:ext cx="700320"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Octet</a:t>
              </a:r>
              <a:endParaRPr lang="en-GB" dirty="0">
                <a:solidFill>
                  <a:schemeClr val="tx2"/>
                </a:solidFill>
                <a:latin typeface="Calibri" panose="020F0502020204030204" pitchFamily="34" charset="0"/>
                <a:cs typeface="Calibri" panose="020F0502020204030204" pitchFamily="34" charset="0"/>
              </a:endParaRPr>
            </a:p>
          </p:txBody>
        </p:sp>
      </p:grpSp>
      <p:sp>
        <p:nvSpPr>
          <p:cNvPr id="36" name="Left Brace 35">
            <a:extLst>
              <a:ext uri="{FF2B5EF4-FFF2-40B4-BE49-F238E27FC236}">
                <a16:creationId xmlns:a16="http://schemas.microsoft.com/office/drawing/2014/main" id="{6F859A54-18DC-460E-A2CD-DBFB07672D44}"/>
              </a:ext>
            </a:extLst>
          </p:cNvPr>
          <p:cNvSpPr/>
          <p:nvPr/>
        </p:nvSpPr>
        <p:spPr>
          <a:xfrm rot="16200000">
            <a:off x="2409778" y="2656108"/>
            <a:ext cx="376554" cy="24529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2"/>
              </a:solidFill>
            </a:endParaRPr>
          </a:p>
        </p:txBody>
      </p:sp>
      <p:sp>
        <p:nvSpPr>
          <p:cNvPr id="37" name="Left Brace 36">
            <a:extLst>
              <a:ext uri="{FF2B5EF4-FFF2-40B4-BE49-F238E27FC236}">
                <a16:creationId xmlns:a16="http://schemas.microsoft.com/office/drawing/2014/main" id="{09E33C25-D59C-4A08-80B9-06441034380E}"/>
              </a:ext>
            </a:extLst>
          </p:cNvPr>
          <p:cNvSpPr/>
          <p:nvPr/>
        </p:nvSpPr>
        <p:spPr>
          <a:xfrm rot="16200000">
            <a:off x="5244408" y="2622331"/>
            <a:ext cx="376554" cy="24529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2"/>
              </a:solidFill>
            </a:endParaRPr>
          </a:p>
        </p:txBody>
      </p:sp>
      <p:sp>
        <p:nvSpPr>
          <p:cNvPr id="38" name="TextBox 37">
            <a:extLst>
              <a:ext uri="{FF2B5EF4-FFF2-40B4-BE49-F238E27FC236}">
                <a16:creationId xmlns:a16="http://schemas.microsoft.com/office/drawing/2014/main" id="{FDF510F7-9857-4852-8D7B-07F5761B515C}"/>
              </a:ext>
            </a:extLst>
          </p:cNvPr>
          <p:cNvSpPr txBox="1"/>
          <p:nvPr/>
        </p:nvSpPr>
        <p:spPr>
          <a:xfrm>
            <a:off x="1905001" y="4203573"/>
            <a:ext cx="1460849"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N/W address</a:t>
            </a:r>
          </a:p>
        </p:txBody>
      </p:sp>
      <p:sp>
        <p:nvSpPr>
          <p:cNvPr id="39" name="TextBox 38">
            <a:extLst>
              <a:ext uri="{FF2B5EF4-FFF2-40B4-BE49-F238E27FC236}">
                <a16:creationId xmlns:a16="http://schemas.microsoft.com/office/drawing/2014/main" id="{D8DE9FFC-263C-4895-9686-2C5585EEB5F6}"/>
              </a:ext>
            </a:extLst>
          </p:cNvPr>
          <p:cNvSpPr txBox="1"/>
          <p:nvPr/>
        </p:nvSpPr>
        <p:spPr>
          <a:xfrm>
            <a:off x="4666375" y="4191000"/>
            <a:ext cx="1394164"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Host address</a:t>
            </a:r>
          </a:p>
        </p:txBody>
      </p:sp>
      <p:graphicFrame>
        <p:nvGraphicFramePr>
          <p:cNvPr id="40" name="Table 39">
            <a:extLst>
              <a:ext uri="{FF2B5EF4-FFF2-40B4-BE49-F238E27FC236}">
                <a16:creationId xmlns:a16="http://schemas.microsoft.com/office/drawing/2014/main" id="{7CCC8059-8B6A-4A12-88EC-68D3920444DC}"/>
              </a:ext>
            </a:extLst>
          </p:cNvPr>
          <p:cNvGraphicFramePr>
            <a:graphicFrameLocks noGrp="1"/>
          </p:cNvGraphicFramePr>
          <p:nvPr/>
        </p:nvGraphicFramePr>
        <p:xfrm>
          <a:off x="1249686" y="4724400"/>
          <a:ext cx="8275315" cy="1925320"/>
        </p:xfrm>
        <a:graphic>
          <a:graphicData uri="http://schemas.openxmlformats.org/drawingml/2006/table">
            <a:tbl>
              <a:tblPr firstRow="1" bandRow="1">
                <a:tableStyleId>{5C22544A-7EE6-4342-B048-85BDC9FD1C3A}</a:tableStyleId>
              </a:tblPr>
              <a:tblGrid>
                <a:gridCol w="1003854">
                  <a:extLst>
                    <a:ext uri="{9D8B030D-6E8A-4147-A177-3AD203B41FA5}">
                      <a16:colId xmlns:a16="http://schemas.microsoft.com/office/drawing/2014/main" val="1732316108"/>
                    </a:ext>
                  </a:extLst>
                </a:gridCol>
                <a:gridCol w="997987">
                  <a:extLst>
                    <a:ext uri="{9D8B030D-6E8A-4147-A177-3AD203B41FA5}">
                      <a16:colId xmlns:a16="http://schemas.microsoft.com/office/drawing/2014/main" val="3329272775"/>
                    </a:ext>
                  </a:extLst>
                </a:gridCol>
                <a:gridCol w="2311074">
                  <a:extLst>
                    <a:ext uri="{9D8B030D-6E8A-4147-A177-3AD203B41FA5}">
                      <a16:colId xmlns:a16="http://schemas.microsoft.com/office/drawing/2014/main" val="3433447559"/>
                    </a:ext>
                  </a:extLst>
                </a:gridCol>
                <a:gridCol w="1905000">
                  <a:extLst>
                    <a:ext uri="{9D8B030D-6E8A-4147-A177-3AD203B41FA5}">
                      <a16:colId xmlns:a16="http://schemas.microsoft.com/office/drawing/2014/main" val="1387440340"/>
                    </a:ext>
                  </a:extLst>
                </a:gridCol>
                <a:gridCol w="2057400">
                  <a:extLst>
                    <a:ext uri="{9D8B030D-6E8A-4147-A177-3AD203B41FA5}">
                      <a16:colId xmlns:a16="http://schemas.microsoft.com/office/drawing/2014/main" val="2076934446"/>
                    </a:ext>
                  </a:extLst>
                </a:gridCol>
              </a:tblGrid>
              <a:tr h="370840">
                <a:tc>
                  <a:txBody>
                    <a:bodyPr/>
                    <a:lstStyle/>
                    <a:p>
                      <a:r>
                        <a:rPr lang="en-US" sz="1400" dirty="0">
                          <a:solidFill>
                            <a:schemeClr val="bg1"/>
                          </a:solidFill>
                          <a:latin typeface="Calibri" panose="020F0502020204030204" pitchFamily="34" charset="0"/>
                          <a:cs typeface="Calibri" panose="020F0502020204030204" pitchFamily="34" charset="0"/>
                        </a:rPr>
                        <a:t>Subnet Class</a:t>
                      </a:r>
                      <a:endParaRPr lang="en-GB" sz="1400" dirty="0">
                        <a:solidFill>
                          <a:schemeClr val="bg1"/>
                        </a:solidFill>
                        <a:latin typeface="Calibri" panose="020F0502020204030204" pitchFamily="34" charset="0"/>
                        <a:cs typeface="Calibri" panose="020F0502020204030204" pitchFamily="34" charset="0"/>
                      </a:endParaRPr>
                    </a:p>
                  </a:txBody>
                  <a:tcPr/>
                </a:tc>
                <a:tc>
                  <a:txBody>
                    <a:bodyPr/>
                    <a:lstStyle/>
                    <a:p>
                      <a:r>
                        <a:rPr lang="en-US" sz="1400" dirty="0">
                          <a:solidFill>
                            <a:schemeClr val="bg1"/>
                          </a:solidFill>
                          <a:latin typeface="Calibri" panose="020F0502020204030204" pitchFamily="34" charset="0"/>
                          <a:cs typeface="Calibri" panose="020F0502020204030204" pitchFamily="34" charset="0"/>
                        </a:rPr>
                        <a:t>Subnet Mask</a:t>
                      </a:r>
                      <a:endParaRPr lang="en-GB" sz="1400" dirty="0">
                        <a:solidFill>
                          <a:schemeClr val="bg1"/>
                        </a:solidFill>
                        <a:latin typeface="Calibri" panose="020F0502020204030204" pitchFamily="34" charset="0"/>
                        <a:cs typeface="Calibri" panose="020F0502020204030204" pitchFamily="34" charset="0"/>
                      </a:endParaRPr>
                    </a:p>
                  </a:txBody>
                  <a:tcPr/>
                </a:tc>
                <a:tc>
                  <a:txBody>
                    <a:bodyPr/>
                    <a:lstStyle/>
                    <a:p>
                      <a:r>
                        <a:rPr lang="en-US" sz="1400" dirty="0">
                          <a:solidFill>
                            <a:schemeClr val="bg1"/>
                          </a:solidFill>
                          <a:latin typeface="Calibri" panose="020F0502020204030204" pitchFamily="34" charset="0"/>
                          <a:cs typeface="Calibri" panose="020F0502020204030204" pitchFamily="34" charset="0"/>
                        </a:rPr>
                        <a:t>First Octet range</a:t>
                      </a:r>
                      <a:endParaRPr lang="en-GB" sz="1400" dirty="0">
                        <a:solidFill>
                          <a:schemeClr val="bg1"/>
                        </a:solidFill>
                        <a:latin typeface="Calibri" panose="020F0502020204030204" pitchFamily="34" charset="0"/>
                        <a:cs typeface="Calibri" panose="020F0502020204030204" pitchFamily="34" charset="0"/>
                      </a:endParaRPr>
                    </a:p>
                  </a:txBody>
                  <a:tcPr/>
                </a:tc>
                <a:tc>
                  <a:txBody>
                    <a:bodyPr/>
                    <a:lstStyle/>
                    <a:p>
                      <a:r>
                        <a:rPr lang="en-US" sz="1400" dirty="0">
                          <a:solidFill>
                            <a:schemeClr val="bg1"/>
                          </a:solidFill>
                          <a:latin typeface="Calibri" panose="020F0502020204030204" pitchFamily="34" charset="0"/>
                          <a:cs typeface="Calibri" panose="020F0502020204030204" pitchFamily="34" charset="0"/>
                        </a:rPr>
                        <a:t>Number of N/W possible</a:t>
                      </a:r>
                      <a:endParaRPr lang="en-GB" sz="1400" dirty="0">
                        <a:solidFill>
                          <a:schemeClr val="bg1"/>
                        </a:solidFill>
                        <a:latin typeface="Calibri" panose="020F0502020204030204" pitchFamily="34" charset="0"/>
                        <a:cs typeface="Calibri" panose="020F0502020204030204" pitchFamily="34" charset="0"/>
                      </a:endParaRPr>
                    </a:p>
                  </a:txBody>
                  <a:tcPr/>
                </a:tc>
                <a:tc>
                  <a:txBody>
                    <a:bodyPr/>
                    <a:lstStyle/>
                    <a:p>
                      <a:r>
                        <a:rPr lang="en-US" sz="1400" dirty="0">
                          <a:solidFill>
                            <a:schemeClr val="bg1"/>
                          </a:solidFill>
                          <a:latin typeface="Calibri" panose="020F0502020204030204" pitchFamily="34" charset="0"/>
                          <a:cs typeface="Calibri" panose="020F0502020204030204" pitchFamily="34" charset="0"/>
                        </a:rPr>
                        <a:t>Host addresses per N/W</a:t>
                      </a:r>
                      <a:endParaRPr lang="en-GB" sz="1400" dirty="0">
                        <a:solidFill>
                          <a:schemeClr val="bg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064010029"/>
                  </a:ext>
                </a:extLst>
              </a:tr>
              <a:tr h="370840">
                <a:tc>
                  <a:txBody>
                    <a:bodyPr/>
                    <a:lstStyle/>
                    <a:p>
                      <a:r>
                        <a:rPr lang="en-US" sz="1400" dirty="0">
                          <a:solidFill>
                            <a:schemeClr val="tx2"/>
                          </a:solidFill>
                          <a:latin typeface="Calibri" panose="020F0502020204030204" pitchFamily="34" charset="0"/>
                          <a:cs typeface="Calibri" panose="020F0502020204030204" pitchFamily="34" charset="0"/>
                        </a:rPr>
                        <a:t>Class A</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255.0.0.0</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1 – 126</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126</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16,777,214</a:t>
                      </a:r>
                      <a:endParaRPr lang="en-GB" sz="1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861560706"/>
                  </a:ext>
                </a:extLst>
              </a:tr>
              <a:tr h="370840">
                <a:tc>
                  <a:txBody>
                    <a:bodyPr/>
                    <a:lstStyle/>
                    <a:p>
                      <a:r>
                        <a:rPr lang="en-US" sz="1400" dirty="0">
                          <a:solidFill>
                            <a:schemeClr val="tx2"/>
                          </a:solidFill>
                          <a:latin typeface="Calibri" panose="020F0502020204030204" pitchFamily="34" charset="0"/>
                          <a:cs typeface="Calibri" panose="020F0502020204030204" pitchFamily="34" charset="0"/>
                        </a:rPr>
                        <a:t>Class B</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255.255.0.0</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128 – 191</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16382</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65,534</a:t>
                      </a:r>
                      <a:endParaRPr lang="en-GB" sz="1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8426951"/>
                  </a:ext>
                </a:extLst>
              </a:tr>
              <a:tr h="370840">
                <a:tc>
                  <a:txBody>
                    <a:bodyPr/>
                    <a:lstStyle/>
                    <a:p>
                      <a:r>
                        <a:rPr lang="en-US" sz="1400" dirty="0">
                          <a:solidFill>
                            <a:schemeClr val="tx2"/>
                          </a:solidFill>
                          <a:latin typeface="Calibri" panose="020F0502020204030204" pitchFamily="34" charset="0"/>
                          <a:cs typeface="Calibri" panose="020F0502020204030204" pitchFamily="34" charset="0"/>
                        </a:rPr>
                        <a:t>Class C</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255.255.255.0</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192 – 223</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2,097,150</a:t>
                      </a:r>
                      <a:endParaRPr lang="en-GB" sz="1400" dirty="0">
                        <a:solidFill>
                          <a:schemeClr val="tx2"/>
                        </a:solidFill>
                        <a:latin typeface="Calibri" panose="020F0502020204030204" pitchFamily="34" charset="0"/>
                        <a:cs typeface="Calibri" panose="020F0502020204030204" pitchFamily="34" charset="0"/>
                      </a:endParaRPr>
                    </a:p>
                  </a:txBody>
                  <a:tcPr/>
                </a:tc>
                <a:tc>
                  <a:txBody>
                    <a:bodyPr/>
                    <a:lstStyle/>
                    <a:p>
                      <a:r>
                        <a:rPr lang="en-US" sz="1400" dirty="0">
                          <a:solidFill>
                            <a:schemeClr val="tx2"/>
                          </a:solidFill>
                          <a:latin typeface="Calibri" panose="020F0502020204030204" pitchFamily="34" charset="0"/>
                          <a:cs typeface="Calibri" panose="020F0502020204030204" pitchFamily="34" charset="0"/>
                        </a:rPr>
                        <a:t>254</a:t>
                      </a:r>
                      <a:endParaRPr lang="en-GB" sz="1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47004329"/>
                  </a:ext>
                </a:extLst>
              </a:tr>
            </a:tbl>
          </a:graphicData>
        </a:graphic>
      </p:graphicFrame>
      <p:sp>
        <p:nvSpPr>
          <p:cNvPr id="41" name="TextBox 40">
            <a:extLst>
              <a:ext uri="{FF2B5EF4-FFF2-40B4-BE49-F238E27FC236}">
                <a16:creationId xmlns:a16="http://schemas.microsoft.com/office/drawing/2014/main" id="{A32D4453-FD70-45EF-8DFD-8D19835AD7E4}"/>
              </a:ext>
            </a:extLst>
          </p:cNvPr>
          <p:cNvSpPr txBox="1"/>
          <p:nvPr/>
        </p:nvSpPr>
        <p:spPr>
          <a:xfrm>
            <a:off x="8326011" y="2914149"/>
            <a:ext cx="2537746" cy="1492716"/>
          </a:xfrm>
          <a:prstGeom prst="rect">
            <a:avLst/>
          </a:prstGeom>
          <a:noFill/>
        </p:spPr>
        <p:txBody>
          <a:bodyPr wrap="none" rtlCol="0">
            <a:spAutoFit/>
          </a:bodyPr>
          <a:lstStyle/>
          <a:p>
            <a:r>
              <a:rPr lang="en-US" sz="1400" b="1" u="sng" dirty="0">
                <a:latin typeface="Calibri" panose="020F0502020204030204" pitchFamily="34" charset="0"/>
                <a:cs typeface="Calibri" panose="020F0502020204030204" pitchFamily="34" charset="0"/>
              </a:rPr>
              <a:t>Private IP address ranges</a:t>
            </a:r>
          </a:p>
          <a:p>
            <a:pPr>
              <a:lnSpc>
                <a:spcPct val="150000"/>
              </a:lnSpc>
            </a:pPr>
            <a:r>
              <a:rPr lang="en-US" sz="1400" b="1" dirty="0">
                <a:solidFill>
                  <a:schemeClr val="tx2"/>
                </a:solidFill>
                <a:latin typeface="Calibri" panose="020F0502020204030204" pitchFamily="34" charset="0"/>
                <a:cs typeface="Calibri" panose="020F0502020204030204" pitchFamily="34" charset="0"/>
              </a:rPr>
              <a:t>10.0.0.0 to 10.255.255.255</a:t>
            </a:r>
          </a:p>
          <a:p>
            <a:pPr>
              <a:lnSpc>
                <a:spcPct val="150000"/>
              </a:lnSpc>
            </a:pPr>
            <a:r>
              <a:rPr lang="en-US" sz="1400" b="1" dirty="0">
                <a:solidFill>
                  <a:schemeClr val="tx2"/>
                </a:solidFill>
                <a:latin typeface="Calibri" panose="020F0502020204030204" pitchFamily="34" charset="0"/>
                <a:cs typeface="Calibri" panose="020F0502020204030204" pitchFamily="34" charset="0"/>
              </a:rPr>
              <a:t>172.16.0.0 to 172.31.255.255</a:t>
            </a:r>
          </a:p>
          <a:p>
            <a:pPr>
              <a:lnSpc>
                <a:spcPct val="150000"/>
              </a:lnSpc>
            </a:pPr>
            <a:r>
              <a:rPr lang="en-US" sz="1400" b="1" dirty="0">
                <a:solidFill>
                  <a:schemeClr val="tx2"/>
                </a:solidFill>
                <a:latin typeface="Calibri" panose="020F0502020204030204" pitchFamily="34" charset="0"/>
                <a:cs typeface="Calibri" panose="020F0502020204030204" pitchFamily="34" charset="0"/>
              </a:rPr>
              <a:t>192.168.0.0 to 192.168.255.255</a:t>
            </a:r>
          </a:p>
          <a:p>
            <a:endParaRPr lang="en-US" sz="1400" b="1" u="sng"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1909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CIDR Blocks (Classless inter domain routing)</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2" y="1143001"/>
            <a:ext cx="9507638" cy="5410200"/>
          </a:xfrm>
        </p:spPr>
        <p:txBody>
          <a:bodyPr>
            <a:noAutofit/>
          </a:bodyPr>
          <a:lstStyle/>
          <a:p>
            <a:pPr>
              <a:buFont typeface="Arial" panose="020B0604020202020204" pitchFamily="34" charset="0"/>
              <a:buChar char="•"/>
            </a:pPr>
            <a:r>
              <a:rPr lang="en-US" b="1" dirty="0">
                <a:solidFill>
                  <a:schemeClr val="tx2"/>
                </a:solidFill>
                <a:latin typeface="Calibri" panose="020F0502020204030204" pitchFamily="34" charset="0"/>
                <a:cs typeface="Calibri" panose="020F0502020204030204" pitchFamily="34" charset="0"/>
              </a:rPr>
              <a:t>E.g. 10.0.0.0/16  : </a:t>
            </a:r>
            <a:r>
              <a:rPr lang="en-US" dirty="0">
                <a:solidFill>
                  <a:schemeClr val="tx2"/>
                </a:solidFill>
                <a:latin typeface="Calibri" panose="020F0502020204030204" pitchFamily="34" charset="0"/>
                <a:cs typeface="Calibri" panose="020F0502020204030204" pitchFamily="34" charset="0"/>
              </a:rPr>
              <a:t>16 is referred to as CIDR block and refers to number of bits blocked for N/W. In this case, 4 bits borrowed from 3</a:t>
            </a:r>
            <a:r>
              <a:rPr lang="en-US" baseline="30000" dirty="0">
                <a:solidFill>
                  <a:schemeClr val="tx2"/>
                </a:solidFill>
                <a:latin typeface="Calibri" panose="020F0502020204030204" pitchFamily="34" charset="0"/>
                <a:cs typeface="Calibri" panose="020F0502020204030204" pitchFamily="34" charset="0"/>
              </a:rPr>
              <a:t>rd</a:t>
            </a:r>
            <a:r>
              <a:rPr lang="en-US" dirty="0">
                <a:solidFill>
                  <a:schemeClr val="tx2"/>
                </a:solidFill>
                <a:latin typeface="Calibri" panose="020F0502020204030204" pitchFamily="34" charset="0"/>
                <a:cs typeface="Calibri" panose="020F0502020204030204" pitchFamily="34" charset="0"/>
              </a:rPr>
              <a:t> octet . Hence 12 bits available for host addresses</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AWS allows creation of VPC in the range /28 to /16</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Recommendation is to use IPs in private range (as they are not directly accessible to outside world)</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Within a AWS subnet (e.g. 10.0.0.0/24) , 5 IPs are reserved as follows:</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10.0.0.0 : Network address</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10.0.0.1 : Default gateway (VPC router)</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10.0.0.2 : DNS</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10.0.0.3 : Future use</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10.0.1.255 : Broadcast address</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Hence only 251 (256 – 5) available for host IP addresses</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CIDR blocks across VPCs should not overlap , else they cannot communicate</a:t>
            </a:r>
          </a:p>
          <a:p>
            <a:pPr marL="0" indent="0"/>
            <a:endParaRPr lang="en-US"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8179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Routing in AWS</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2" y="1143001"/>
            <a:ext cx="9507638" cy="5410200"/>
          </a:xfrm>
        </p:spPr>
        <p:txBody>
          <a:bodyPr>
            <a:noAutofit/>
          </a:bodyPr>
          <a:lstStyle/>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Route table has entries with “destination” and “target”</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Every VPC comes with a default route table containing the “local route” – this enables communication between resources within the VPC</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Destination 0.0.0.0/0 stands for the internet and the target is the internet gateway</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Only 1 IGW can be attached to a VPC</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One can create multiple route tables for a VPC and attach one route table to each subnet</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Different configurations possible:</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One route table for the entire VPC (all subnets associated with this)</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One route table for each subnet </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One route table for public subnets and one for private subnets</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NAT Gateway is used to provide access for resources in private subnet to the internet</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NAT Gateway is created in public subnet and given a public IP</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Route table attached to private subnet will have a route to NAT Gateway</a:t>
            </a:r>
          </a:p>
          <a:p>
            <a:pPr>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VPC Peering : Used for inter VPC communication </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E.g. Prod VPC, Stage VPC, Management VPC (common services such as AD, GIT)</a:t>
            </a:r>
          </a:p>
          <a:p>
            <a:pPr lvl="1">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 Route table entry will have destination as the peered VPC and target as the ID of the Peering connection		</a:t>
            </a:r>
          </a:p>
          <a:p>
            <a:pPr marL="0" indent="0"/>
            <a:endParaRPr lang="en-US"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435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Connecting to Corporate Network</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2" y="1143002"/>
            <a:ext cx="9431438" cy="2438399"/>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Option 1: Create a VPN Tunnel </a:t>
            </a:r>
            <a:r>
              <a:rPr lang="en-US" sz="2400" dirty="0">
                <a:solidFill>
                  <a:schemeClr val="tx2"/>
                </a:solidFill>
                <a:latin typeface="Calibri" panose="020F0502020204030204" pitchFamily="34" charset="0"/>
                <a:cs typeface="Calibri" panose="020F0502020204030204" pitchFamily="34" charset="0"/>
              </a:rPr>
              <a:t>(over internet) . Components include a Customer end gateway and a Virtual Private Gateway at AWS end. </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Option 2: AWS Direct Connect </a:t>
            </a:r>
            <a:r>
              <a:rPr lang="en-US" sz="2400" dirty="0">
                <a:solidFill>
                  <a:schemeClr val="tx2"/>
                </a:solidFill>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  Makes uses of AWS partners. Link from AWS to Partner is on AWS backbone and from partner to customer is typically using leased line </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5728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Security in VPC</a:t>
            </a:r>
            <a:endParaRPr lang="en-GB" dirty="0"/>
          </a:p>
        </p:txBody>
      </p:sp>
      <p:grpSp>
        <p:nvGrpSpPr>
          <p:cNvPr id="8" name="Group 7">
            <a:extLst>
              <a:ext uri="{FF2B5EF4-FFF2-40B4-BE49-F238E27FC236}">
                <a16:creationId xmlns:a16="http://schemas.microsoft.com/office/drawing/2014/main" id="{2BF51108-C4B8-4C7F-BB14-980D73D40A2E}"/>
              </a:ext>
            </a:extLst>
          </p:cNvPr>
          <p:cNvGrpSpPr/>
          <p:nvPr/>
        </p:nvGrpSpPr>
        <p:grpSpPr>
          <a:xfrm>
            <a:off x="3244410" y="2004548"/>
            <a:ext cx="1098991" cy="645800"/>
            <a:chOff x="8671385" y="3856788"/>
            <a:chExt cx="1589097" cy="815269"/>
          </a:xfrm>
        </p:grpSpPr>
        <p:sp>
          <p:nvSpPr>
            <p:cNvPr id="9" name="TextBox 8">
              <a:extLst>
                <a:ext uri="{FF2B5EF4-FFF2-40B4-BE49-F238E27FC236}">
                  <a16:creationId xmlns:a16="http://schemas.microsoft.com/office/drawing/2014/main" id="{410F6EF9-F7DA-4E5C-AC2C-B22BC271B755}"/>
                </a:ext>
              </a:extLst>
            </p:cNvPr>
            <p:cNvSpPr txBox="1"/>
            <p:nvPr/>
          </p:nvSpPr>
          <p:spPr>
            <a:xfrm>
              <a:off x="8671385" y="4322369"/>
              <a:ext cx="1589097" cy="349688"/>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Router</a:t>
              </a:r>
            </a:p>
          </p:txBody>
        </p:sp>
        <p:pic>
          <p:nvPicPr>
            <p:cNvPr id="10" name="Graphic 9">
              <a:extLst>
                <a:ext uri="{FF2B5EF4-FFF2-40B4-BE49-F238E27FC236}">
                  <a16:creationId xmlns:a16="http://schemas.microsoft.com/office/drawing/2014/main" id="{B9F6660E-E85C-43A1-BC81-6FD615DB42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30983" y="3856788"/>
              <a:ext cx="469900" cy="469900"/>
            </a:xfrm>
            <a:prstGeom prst="rect">
              <a:avLst/>
            </a:prstGeom>
          </p:spPr>
        </p:pic>
      </p:grpSp>
      <p:sp>
        <p:nvSpPr>
          <p:cNvPr id="11" name="TextBox 10">
            <a:extLst>
              <a:ext uri="{FF2B5EF4-FFF2-40B4-BE49-F238E27FC236}">
                <a16:creationId xmlns:a16="http://schemas.microsoft.com/office/drawing/2014/main" id="{03340CC6-7FC0-47B4-AA6F-2E85D18C1AB9}"/>
              </a:ext>
            </a:extLst>
          </p:cNvPr>
          <p:cNvSpPr txBox="1"/>
          <p:nvPr/>
        </p:nvSpPr>
        <p:spPr>
          <a:xfrm>
            <a:off x="1791429" y="2873116"/>
            <a:ext cx="2301904"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Route table</a:t>
            </a:r>
          </a:p>
        </p:txBody>
      </p:sp>
      <p:pic>
        <p:nvPicPr>
          <p:cNvPr id="12" name="Graphic 11">
            <a:extLst>
              <a:ext uri="{FF2B5EF4-FFF2-40B4-BE49-F238E27FC236}">
                <a16:creationId xmlns:a16="http://schemas.microsoft.com/office/drawing/2014/main" id="{048BFA9F-C6CB-477C-AF83-1245C6FC11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32402" y="2792054"/>
            <a:ext cx="469900" cy="469900"/>
          </a:xfrm>
          <a:prstGeom prst="rect">
            <a:avLst/>
          </a:prstGeom>
        </p:spPr>
      </p:pic>
      <p:sp>
        <p:nvSpPr>
          <p:cNvPr id="13" name="TextBox 12">
            <a:extLst>
              <a:ext uri="{FF2B5EF4-FFF2-40B4-BE49-F238E27FC236}">
                <a16:creationId xmlns:a16="http://schemas.microsoft.com/office/drawing/2014/main" id="{010F95FF-83DC-4552-8A43-9F6A9E1017EC}"/>
              </a:ext>
            </a:extLst>
          </p:cNvPr>
          <p:cNvSpPr txBox="1"/>
          <p:nvPr/>
        </p:nvSpPr>
        <p:spPr>
          <a:xfrm>
            <a:off x="4560573" y="2854609"/>
            <a:ext cx="2301904"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Route table</a:t>
            </a:r>
          </a:p>
        </p:txBody>
      </p:sp>
      <p:pic>
        <p:nvPicPr>
          <p:cNvPr id="14" name="Graphic 13">
            <a:extLst>
              <a:ext uri="{FF2B5EF4-FFF2-40B4-BE49-F238E27FC236}">
                <a16:creationId xmlns:a16="http://schemas.microsoft.com/office/drawing/2014/main" id="{F0DBB78A-5827-46F0-A9A7-E7480C1591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8472" y="2776113"/>
            <a:ext cx="469900" cy="469900"/>
          </a:xfrm>
          <a:prstGeom prst="rect">
            <a:avLst/>
          </a:prstGeom>
        </p:spPr>
      </p:pic>
      <p:sp>
        <p:nvSpPr>
          <p:cNvPr id="15" name="TextBox 14">
            <a:extLst>
              <a:ext uri="{FF2B5EF4-FFF2-40B4-BE49-F238E27FC236}">
                <a16:creationId xmlns:a16="http://schemas.microsoft.com/office/drawing/2014/main" id="{22E8210A-1C47-479B-B0F1-87488A279CDC}"/>
              </a:ext>
            </a:extLst>
          </p:cNvPr>
          <p:cNvSpPr txBox="1"/>
          <p:nvPr/>
        </p:nvSpPr>
        <p:spPr>
          <a:xfrm>
            <a:off x="2213394" y="3793599"/>
            <a:ext cx="1259655"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Network ACL </a:t>
            </a:r>
          </a:p>
          <a:p>
            <a:pPr algn="ctr"/>
            <a:r>
              <a:rPr lang="en-US" sz="1400" dirty="0">
                <a:latin typeface="Calibri" panose="020F0502020204030204" pitchFamily="34" charset="0"/>
                <a:cs typeface="Calibri" panose="020F0502020204030204" pitchFamily="34" charset="0"/>
              </a:rPr>
              <a:t>(Subnet 1)</a:t>
            </a:r>
          </a:p>
        </p:txBody>
      </p:sp>
      <p:pic>
        <p:nvPicPr>
          <p:cNvPr id="16" name="Graphic 15">
            <a:extLst>
              <a:ext uri="{FF2B5EF4-FFF2-40B4-BE49-F238E27FC236}">
                <a16:creationId xmlns:a16="http://schemas.microsoft.com/office/drawing/2014/main" id="{EF8CCB1D-8C25-48DC-86D0-0FCDDC6A19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32402" y="3546248"/>
            <a:ext cx="469900" cy="469900"/>
          </a:xfrm>
          <a:prstGeom prst="rect">
            <a:avLst/>
          </a:prstGeom>
        </p:spPr>
      </p:pic>
      <p:sp>
        <p:nvSpPr>
          <p:cNvPr id="17" name="TextBox 16">
            <a:extLst>
              <a:ext uri="{FF2B5EF4-FFF2-40B4-BE49-F238E27FC236}">
                <a16:creationId xmlns:a16="http://schemas.microsoft.com/office/drawing/2014/main" id="{CF263051-2642-4E52-AD33-8030BF444EE6}"/>
              </a:ext>
            </a:extLst>
          </p:cNvPr>
          <p:cNvSpPr txBox="1"/>
          <p:nvPr/>
        </p:nvSpPr>
        <p:spPr>
          <a:xfrm>
            <a:off x="5122234" y="3793599"/>
            <a:ext cx="1259655"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Network ACL</a:t>
            </a:r>
          </a:p>
          <a:p>
            <a:pPr algn="ctr"/>
            <a:r>
              <a:rPr lang="en-US" sz="1400" dirty="0">
                <a:latin typeface="Calibri" panose="020F0502020204030204" pitchFamily="34" charset="0"/>
                <a:cs typeface="Calibri" panose="020F0502020204030204" pitchFamily="34" charset="0"/>
              </a:rPr>
              <a:t>(Subnet 2)</a:t>
            </a:r>
          </a:p>
        </p:txBody>
      </p:sp>
      <p:pic>
        <p:nvPicPr>
          <p:cNvPr id="18" name="Graphic 17">
            <a:extLst>
              <a:ext uri="{FF2B5EF4-FFF2-40B4-BE49-F238E27FC236}">
                <a16:creationId xmlns:a16="http://schemas.microsoft.com/office/drawing/2014/main" id="{67A4C357-1B76-491C-A0A3-D1FFABBB4B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37875" y="3503287"/>
            <a:ext cx="469900" cy="469900"/>
          </a:xfrm>
          <a:prstGeom prst="rect">
            <a:avLst/>
          </a:prstGeom>
        </p:spPr>
      </p:pic>
      <p:sp>
        <p:nvSpPr>
          <p:cNvPr id="19" name="Rectangle 18">
            <a:extLst>
              <a:ext uri="{FF2B5EF4-FFF2-40B4-BE49-F238E27FC236}">
                <a16:creationId xmlns:a16="http://schemas.microsoft.com/office/drawing/2014/main" id="{9F142BAA-928F-4421-96BA-FB84C5ECEF91}"/>
              </a:ext>
            </a:extLst>
          </p:cNvPr>
          <p:cNvSpPr/>
          <p:nvPr/>
        </p:nvSpPr>
        <p:spPr>
          <a:xfrm>
            <a:off x="1563945" y="4919861"/>
            <a:ext cx="1447800" cy="381016"/>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l"/>
            <a:r>
              <a:rPr lang="en-US" sz="1200" dirty="0">
                <a:solidFill>
                  <a:srgbClr val="DF3312"/>
                </a:solidFill>
                <a:latin typeface="Calibri" panose="020F0502020204030204" pitchFamily="34" charset="0"/>
                <a:cs typeface="Calibri" panose="020F0502020204030204" pitchFamily="34" charset="0"/>
              </a:rPr>
              <a:t>Security group</a:t>
            </a:r>
          </a:p>
        </p:txBody>
      </p:sp>
      <p:sp>
        <p:nvSpPr>
          <p:cNvPr id="20" name="Rectangle 19">
            <a:extLst>
              <a:ext uri="{FF2B5EF4-FFF2-40B4-BE49-F238E27FC236}">
                <a16:creationId xmlns:a16="http://schemas.microsoft.com/office/drawing/2014/main" id="{5A12249A-3204-42D9-98C6-E0AD20B1C82C}"/>
              </a:ext>
            </a:extLst>
          </p:cNvPr>
          <p:cNvSpPr/>
          <p:nvPr/>
        </p:nvSpPr>
        <p:spPr>
          <a:xfrm>
            <a:off x="3631240" y="4922009"/>
            <a:ext cx="1258261" cy="378869"/>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ctr"/>
            <a:r>
              <a:rPr lang="en-US" sz="1200" dirty="0">
                <a:solidFill>
                  <a:srgbClr val="DF3312"/>
                </a:solidFill>
                <a:latin typeface="Calibri" panose="020F0502020204030204" pitchFamily="34" charset="0"/>
                <a:cs typeface="Calibri" panose="020F0502020204030204" pitchFamily="34" charset="0"/>
              </a:rPr>
              <a:t>Security group</a:t>
            </a:r>
          </a:p>
        </p:txBody>
      </p:sp>
      <p:sp>
        <p:nvSpPr>
          <p:cNvPr id="21" name="Rectangle 20">
            <a:extLst>
              <a:ext uri="{FF2B5EF4-FFF2-40B4-BE49-F238E27FC236}">
                <a16:creationId xmlns:a16="http://schemas.microsoft.com/office/drawing/2014/main" id="{C1C8092B-B82D-404C-93F5-4209B50A17B4}"/>
              </a:ext>
            </a:extLst>
          </p:cNvPr>
          <p:cNvSpPr/>
          <p:nvPr/>
        </p:nvSpPr>
        <p:spPr>
          <a:xfrm>
            <a:off x="4986803" y="4919862"/>
            <a:ext cx="1258261" cy="378869"/>
          </a:xfrm>
          <a:prstGeom prst="rect">
            <a:avLst/>
          </a:prstGeom>
          <a:noFill/>
          <a:ln w="12700">
            <a:solidFill>
              <a:srgbClr val="DF331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algn="ctr"/>
            <a:r>
              <a:rPr lang="en-US" sz="1200" dirty="0">
                <a:solidFill>
                  <a:srgbClr val="DF3312"/>
                </a:solidFill>
                <a:latin typeface="Calibri" panose="020F0502020204030204" pitchFamily="34" charset="0"/>
                <a:cs typeface="Calibri" panose="020F0502020204030204" pitchFamily="34" charset="0"/>
              </a:rPr>
              <a:t>Security group</a:t>
            </a:r>
          </a:p>
        </p:txBody>
      </p:sp>
      <p:sp>
        <p:nvSpPr>
          <p:cNvPr id="6" name="Rectangle 5">
            <a:extLst>
              <a:ext uri="{FF2B5EF4-FFF2-40B4-BE49-F238E27FC236}">
                <a16:creationId xmlns:a16="http://schemas.microsoft.com/office/drawing/2014/main" id="{492E32B2-2680-419C-9598-9DA12473E8FF}"/>
              </a:ext>
            </a:extLst>
          </p:cNvPr>
          <p:cNvSpPr/>
          <p:nvPr/>
        </p:nvSpPr>
        <p:spPr>
          <a:xfrm>
            <a:off x="1563946" y="5638800"/>
            <a:ext cx="493455" cy="3810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1477097E-2FE8-48D3-85BB-E1CA80C4708E}"/>
              </a:ext>
            </a:extLst>
          </p:cNvPr>
          <p:cNvSpPr/>
          <p:nvPr/>
        </p:nvSpPr>
        <p:spPr>
          <a:xfrm>
            <a:off x="2402303" y="5640498"/>
            <a:ext cx="493455" cy="3810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94F71B65-E253-4F82-BA60-9080A0D32434}"/>
              </a:ext>
            </a:extLst>
          </p:cNvPr>
          <p:cNvSpPr/>
          <p:nvPr/>
        </p:nvSpPr>
        <p:spPr>
          <a:xfrm>
            <a:off x="3973781" y="5638800"/>
            <a:ext cx="493455" cy="3810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E2162068-9AED-40CB-ADC9-82A555AAA970}"/>
              </a:ext>
            </a:extLst>
          </p:cNvPr>
          <p:cNvSpPr/>
          <p:nvPr/>
        </p:nvSpPr>
        <p:spPr>
          <a:xfrm>
            <a:off x="5305632" y="5638800"/>
            <a:ext cx="493455" cy="38101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65B4B7BF-14F8-4FD8-A05A-589A3F7462A2}"/>
              </a:ext>
            </a:extLst>
          </p:cNvPr>
          <p:cNvSpPr txBox="1"/>
          <p:nvPr/>
        </p:nvSpPr>
        <p:spPr>
          <a:xfrm>
            <a:off x="1407951" y="6082357"/>
            <a:ext cx="805442"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Instance</a:t>
            </a:r>
          </a:p>
        </p:txBody>
      </p:sp>
      <p:sp>
        <p:nvSpPr>
          <p:cNvPr id="26" name="TextBox 25">
            <a:extLst>
              <a:ext uri="{FF2B5EF4-FFF2-40B4-BE49-F238E27FC236}">
                <a16:creationId xmlns:a16="http://schemas.microsoft.com/office/drawing/2014/main" id="{EF1D9E64-5CBB-4A77-BEC4-6FC89807E180}"/>
              </a:ext>
            </a:extLst>
          </p:cNvPr>
          <p:cNvSpPr txBox="1"/>
          <p:nvPr/>
        </p:nvSpPr>
        <p:spPr>
          <a:xfrm>
            <a:off x="2287845" y="6082357"/>
            <a:ext cx="805442"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Instance</a:t>
            </a:r>
          </a:p>
        </p:txBody>
      </p:sp>
      <p:sp>
        <p:nvSpPr>
          <p:cNvPr id="27" name="TextBox 26">
            <a:extLst>
              <a:ext uri="{FF2B5EF4-FFF2-40B4-BE49-F238E27FC236}">
                <a16:creationId xmlns:a16="http://schemas.microsoft.com/office/drawing/2014/main" id="{7F1A6090-F22A-411B-ABC7-B9A6EA9B5BF7}"/>
              </a:ext>
            </a:extLst>
          </p:cNvPr>
          <p:cNvSpPr txBox="1"/>
          <p:nvPr/>
        </p:nvSpPr>
        <p:spPr>
          <a:xfrm>
            <a:off x="3857648" y="6082357"/>
            <a:ext cx="805442"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Instance</a:t>
            </a:r>
          </a:p>
        </p:txBody>
      </p:sp>
      <p:sp>
        <p:nvSpPr>
          <p:cNvPr id="28" name="TextBox 27">
            <a:extLst>
              <a:ext uri="{FF2B5EF4-FFF2-40B4-BE49-F238E27FC236}">
                <a16:creationId xmlns:a16="http://schemas.microsoft.com/office/drawing/2014/main" id="{613C8E04-DB72-46D2-AFD9-A7DD0087262C}"/>
              </a:ext>
            </a:extLst>
          </p:cNvPr>
          <p:cNvSpPr txBox="1"/>
          <p:nvPr/>
        </p:nvSpPr>
        <p:spPr>
          <a:xfrm>
            <a:off x="5149637" y="6082357"/>
            <a:ext cx="805442"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Instance</a:t>
            </a:r>
          </a:p>
        </p:txBody>
      </p:sp>
      <p:cxnSp>
        <p:nvCxnSpPr>
          <p:cNvPr id="30" name="Straight Arrow Connector 29">
            <a:extLst>
              <a:ext uri="{FF2B5EF4-FFF2-40B4-BE49-F238E27FC236}">
                <a16:creationId xmlns:a16="http://schemas.microsoft.com/office/drawing/2014/main" id="{CF1CC593-907B-4AF0-B478-8FC4068855C6}"/>
              </a:ext>
            </a:extLst>
          </p:cNvPr>
          <p:cNvCxnSpPr>
            <a:endCxn id="6" idx="0"/>
          </p:cNvCxnSpPr>
          <p:nvPr/>
        </p:nvCxnSpPr>
        <p:spPr>
          <a:xfrm>
            <a:off x="1810673" y="5298730"/>
            <a:ext cx="1" cy="3400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BEF3D0D-7F62-4D5E-908C-BD50AD27EEDB}"/>
              </a:ext>
            </a:extLst>
          </p:cNvPr>
          <p:cNvCxnSpPr/>
          <p:nvPr/>
        </p:nvCxnSpPr>
        <p:spPr>
          <a:xfrm>
            <a:off x="2657935" y="5300659"/>
            <a:ext cx="1" cy="3400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1A1CD1B-B7AE-4C01-A289-3D14636F8BEA}"/>
              </a:ext>
            </a:extLst>
          </p:cNvPr>
          <p:cNvCxnSpPr/>
          <p:nvPr/>
        </p:nvCxnSpPr>
        <p:spPr>
          <a:xfrm>
            <a:off x="4211603" y="5298730"/>
            <a:ext cx="1" cy="3400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4CAB974-1FD8-4DB8-BF59-C80C04D69680}"/>
              </a:ext>
            </a:extLst>
          </p:cNvPr>
          <p:cNvCxnSpPr/>
          <p:nvPr/>
        </p:nvCxnSpPr>
        <p:spPr>
          <a:xfrm>
            <a:off x="5544420" y="5290657"/>
            <a:ext cx="1" cy="3400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1BD548A9-6966-4100-831D-F3614D107772}"/>
              </a:ext>
            </a:extLst>
          </p:cNvPr>
          <p:cNvSpPr/>
          <p:nvPr/>
        </p:nvSpPr>
        <p:spPr>
          <a:xfrm>
            <a:off x="1269181" y="4724401"/>
            <a:ext cx="2028449" cy="202761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200" dirty="0">
                <a:solidFill>
                  <a:schemeClr val="tx2"/>
                </a:solidFill>
                <a:latin typeface="Calibri" panose="020F0502020204030204" pitchFamily="34" charset="0"/>
                <a:cs typeface="Calibri" panose="020F0502020204030204" pitchFamily="34" charset="0"/>
              </a:rPr>
              <a:t>Subnet 1</a:t>
            </a:r>
            <a:endParaRPr lang="en-GB" sz="1200" dirty="0">
              <a:solidFill>
                <a:schemeClr val="tx2"/>
              </a:solidFill>
              <a:latin typeface="Calibri" panose="020F0502020204030204" pitchFamily="34" charset="0"/>
              <a:cs typeface="Calibri" panose="020F0502020204030204" pitchFamily="34" charset="0"/>
            </a:endParaRPr>
          </a:p>
        </p:txBody>
      </p:sp>
      <p:sp>
        <p:nvSpPr>
          <p:cNvPr id="36" name="Rectangle: Rounded Corners 35">
            <a:extLst>
              <a:ext uri="{FF2B5EF4-FFF2-40B4-BE49-F238E27FC236}">
                <a16:creationId xmlns:a16="http://schemas.microsoft.com/office/drawing/2014/main" id="{B201FEB9-FFFD-4823-9857-6FCF4731E307}"/>
              </a:ext>
            </a:extLst>
          </p:cNvPr>
          <p:cNvSpPr/>
          <p:nvPr/>
        </p:nvSpPr>
        <p:spPr>
          <a:xfrm>
            <a:off x="3493612" y="4716482"/>
            <a:ext cx="2983389" cy="202761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200" dirty="0">
                <a:solidFill>
                  <a:schemeClr val="tx2"/>
                </a:solidFill>
                <a:latin typeface="Calibri" panose="020F0502020204030204" pitchFamily="34" charset="0"/>
                <a:cs typeface="Calibri" panose="020F0502020204030204" pitchFamily="34" charset="0"/>
              </a:rPr>
              <a:t>Subnet 2</a:t>
            </a:r>
            <a:endParaRPr lang="en-GB" sz="1200" dirty="0">
              <a:solidFill>
                <a:schemeClr val="tx2"/>
              </a:solidFill>
              <a:latin typeface="Calibri" panose="020F0502020204030204" pitchFamily="34" charset="0"/>
              <a:cs typeface="Calibri" panose="020F0502020204030204" pitchFamily="34" charset="0"/>
            </a:endParaRPr>
          </a:p>
        </p:txBody>
      </p:sp>
      <p:cxnSp>
        <p:nvCxnSpPr>
          <p:cNvPr id="37" name="Straight Arrow Connector 36">
            <a:extLst>
              <a:ext uri="{FF2B5EF4-FFF2-40B4-BE49-F238E27FC236}">
                <a16:creationId xmlns:a16="http://schemas.microsoft.com/office/drawing/2014/main" id="{BDB9240E-2145-468D-9ACC-FE7A7F5A12E5}"/>
              </a:ext>
            </a:extLst>
          </p:cNvPr>
          <p:cNvCxnSpPr>
            <a:cxnSpLocks/>
          </p:cNvCxnSpPr>
          <p:nvPr/>
        </p:nvCxnSpPr>
        <p:spPr>
          <a:xfrm>
            <a:off x="2167352" y="4029602"/>
            <a:ext cx="4552" cy="61859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D55F889-08E1-450A-83C2-FF79A40E89D2}"/>
              </a:ext>
            </a:extLst>
          </p:cNvPr>
          <p:cNvCxnSpPr>
            <a:cxnSpLocks/>
          </p:cNvCxnSpPr>
          <p:nvPr/>
        </p:nvCxnSpPr>
        <p:spPr>
          <a:xfrm>
            <a:off x="4970549" y="4016181"/>
            <a:ext cx="4552" cy="61859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1288C29-9818-47ED-8001-BB849E3BA6E3}"/>
              </a:ext>
            </a:extLst>
          </p:cNvPr>
          <p:cNvCxnSpPr/>
          <p:nvPr/>
        </p:nvCxnSpPr>
        <p:spPr>
          <a:xfrm>
            <a:off x="2166977" y="3234066"/>
            <a:ext cx="1" cy="3400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C62606B-C5C4-4FEA-B7D4-649F8963A292}"/>
              </a:ext>
            </a:extLst>
          </p:cNvPr>
          <p:cNvCxnSpPr/>
          <p:nvPr/>
        </p:nvCxnSpPr>
        <p:spPr>
          <a:xfrm>
            <a:off x="4970550" y="3184678"/>
            <a:ext cx="1" cy="3400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E8B1B37D-531A-4E82-8873-03A7BCDE0FEF}"/>
              </a:ext>
            </a:extLst>
          </p:cNvPr>
          <p:cNvCxnSpPr>
            <a:stCxn id="12" idx="0"/>
            <a:endCxn id="10" idx="1"/>
          </p:cNvCxnSpPr>
          <p:nvPr/>
        </p:nvCxnSpPr>
        <p:spPr>
          <a:xfrm rot="5400000" flipH="1" flipV="1">
            <a:off x="2598689" y="1759327"/>
            <a:ext cx="601393" cy="1464065"/>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C9122823-2445-422B-9A1E-3FE8536A394C}"/>
              </a:ext>
            </a:extLst>
          </p:cNvPr>
          <p:cNvCxnSpPr>
            <a:stCxn id="10" idx="3"/>
            <a:endCxn id="14" idx="0"/>
          </p:cNvCxnSpPr>
          <p:nvPr/>
        </p:nvCxnSpPr>
        <p:spPr>
          <a:xfrm>
            <a:off x="3956392" y="2190661"/>
            <a:ext cx="997031" cy="585452"/>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80ADCBED-BFA8-4B73-A106-2A466379340F}"/>
              </a:ext>
            </a:extLst>
          </p:cNvPr>
          <p:cNvSpPr/>
          <p:nvPr/>
        </p:nvSpPr>
        <p:spPr>
          <a:xfrm>
            <a:off x="1219200" y="1524000"/>
            <a:ext cx="5334000" cy="533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9" name="Group 48">
            <a:extLst>
              <a:ext uri="{FF2B5EF4-FFF2-40B4-BE49-F238E27FC236}">
                <a16:creationId xmlns:a16="http://schemas.microsoft.com/office/drawing/2014/main" id="{D040AD5F-1B20-4569-9AAD-DB66901D6680}"/>
              </a:ext>
            </a:extLst>
          </p:cNvPr>
          <p:cNvGrpSpPr/>
          <p:nvPr/>
        </p:nvGrpSpPr>
        <p:grpSpPr>
          <a:xfrm>
            <a:off x="917993" y="1257726"/>
            <a:ext cx="1295400" cy="690514"/>
            <a:chOff x="1873406" y="1247806"/>
            <a:chExt cx="2301904" cy="1246574"/>
          </a:xfrm>
        </p:grpSpPr>
        <p:sp>
          <p:nvSpPr>
            <p:cNvPr id="50" name="TextBox 49">
              <a:extLst>
                <a:ext uri="{FF2B5EF4-FFF2-40B4-BE49-F238E27FC236}">
                  <a16:creationId xmlns:a16="http://schemas.microsoft.com/office/drawing/2014/main" id="{902F6D0E-9C47-493D-BB8C-DAF605A58062}"/>
                </a:ext>
              </a:extLst>
            </p:cNvPr>
            <p:cNvSpPr txBox="1"/>
            <p:nvPr/>
          </p:nvSpPr>
          <p:spPr>
            <a:xfrm>
              <a:off x="1873406" y="1994318"/>
              <a:ext cx="2301904" cy="500062"/>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Amazon VPC</a:t>
              </a:r>
            </a:p>
          </p:txBody>
        </p:sp>
        <p:pic>
          <p:nvPicPr>
            <p:cNvPr id="51" name="Graphic 50">
              <a:extLst>
                <a:ext uri="{FF2B5EF4-FFF2-40B4-BE49-F238E27FC236}">
                  <a16:creationId xmlns:a16="http://schemas.microsoft.com/office/drawing/2014/main" id="{CD2F1876-29DA-4BCD-89B7-7F94A8964B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68758" y="1247806"/>
              <a:ext cx="711200" cy="711200"/>
            </a:xfrm>
            <a:prstGeom prst="rect">
              <a:avLst/>
            </a:prstGeom>
          </p:spPr>
        </p:pic>
      </p:grpSp>
      <p:sp>
        <p:nvSpPr>
          <p:cNvPr id="53" name="TextBox 52">
            <a:extLst>
              <a:ext uri="{FF2B5EF4-FFF2-40B4-BE49-F238E27FC236}">
                <a16:creationId xmlns:a16="http://schemas.microsoft.com/office/drawing/2014/main" id="{7C48154C-1535-439E-B3DD-5E92E3786296}"/>
              </a:ext>
            </a:extLst>
          </p:cNvPr>
          <p:cNvSpPr txBox="1"/>
          <p:nvPr/>
        </p:nvSpPr>
        <p:spPr>
          <a:xfrm>
            <a:off x="3088111" y="1170710"/>
            <a:ext cx="954057" cy="461665"/>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Internet gateway</a:t>
            </a:r>
          </a:p>
        </p:txBody>
      </p:sp>
      <p:pic>
        <p:nvPicPr>
          <p:cNvPr id="54" name="Graphic 53">
            <a:extLst>
              <a:ext uri="{FF2B5EF4-FFF2-40B4-BE49-F238E27FC236}">
                <a16:creationId xmlns:a16="http://schemas.microsoft.com/office/drawing/2014/main" id="{AFA2B415-39C9-40D5-B258-3E4633AC563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87973" y="1195342"/>
            <a:ext cx="355900" cy="328245"/>
          </a:xfrm>
          <a:prstGeom prst="rect">
            <a:avLst/>
          </a:prstGeom>
        </p:spPr>
      </p:pic>
      <p:sp>
        <p:nvSpPr>
          <p:cNvPr id="55" name="TextBox 54">
            <a:extLst>
              <a:ext uri="{FF2B5EF4-FFF2-40B4-BE49-F238E27FC236}">
                <a16:creationId xmlns:a16="http://schemas.microsoft.com/office/drawing/2014/main" id="{771114D5-65CB-4265-B6D3-7BEF8AA6A202}"/>
              </a:ext>
            </a:extLst>
          </p:cNvPr>
          <p:cNvSpPr txBox="1"/>
          <p:nvPr/>
        </p:nvSpPr>
        <p:spPr>
          <a:xfrm>
            <a:off x="4300756" y="1187115"/>
            <a:ext cx="1589097" cy="307777"/>
          </a:xfrm>
          <a:prstGeom prst="rect">
            <a:avLst/>
          </a:prstGeom>
          <a:noFill/>
        </p:spPr>
        <p:txBody>
          <a:bodyPr wrap="square" rtlCol="0">
            <a:spAutoFit/>
          </a:bodyPr>
          <a:lstStyle/>
          <a:p>
            <a:pPr lvl="1" algn="ctr"/>
            <a:r>
              <a:rPr lang="en-US" sz="1200" dirty="0">
                <a:latin typeface="Calibri" panose="020F0502020204030204" pitchFamily="34" charset="0"/>
                <a:cs typeface="Calibri" panose="020F0502020204030204" pitchFamily="34" charset="0"/>
              </a:rPr>
              <a:t>VPN</a:t>
            </a:r>
            <a:r>
              <a:rPr lang="en-US" sz="1400" dirty="0"/>
              <a:t> </a:t>
            </a:r>
            <a:r>
              <a:rPr lang="en-US" sz="1200" dirty="0">
                <a:latin typeface="Calibri" panose="020F0502020204030204" pitchFamily="34" charset="0"/>
                <a:cs typeface="Calibri" panose="020F0502020204030204" pitchFamily="34" charset="0"/>
              </a:rPr>
              <a:t>gateway</a:t>
            </a:r>
          </a:p>
        </p:txBody>
      </p:sp>
      <p:pic>
        <p:nvPicPr>
          <p:cNvPr id="56" name="Graphic 55">
            <a:extLst>
              <a:ext uri="{FF2B5EF4-FFF2-40B4-BE49-F238E27FC236}">
                <a16:creationId xmlns:a16="http://schemas.microsoft.com/office/drawing/2014/main" id="{FAB1FD5A-6859-4FC0-BE81-9F4F2A6BF97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435137" y="1158005"/>
            <a:ext cx="408626" cy="408626"/>
          </a:xfrm>
          <a:prstGeom prst="rect">
            <a:avLst/>
          </a:prstGeom>
        </p:spPr>
      </p:pic>
      <p:cxnSp>
        <p:nvCxnSpPr>
          <p:cNvPr id="58" name="Connector: Elbow 57">
            <a:extLst>
              <a:ext uri="{FF2B5EF4-FFF2-40B4-BE49-F238E27FC236}">
                <a16:creationId xmlns:a16="http://schemas.microsoft.com/office/drawing/2014/main" id="{BB126B6E-BAF5-48FD-8AE3-682745C7BBDE}"/>
              </a:ext>
            </a:extLst>
          </p:cNvPr>
          <p:cNvCxnSpPr>
            <a:cxnSpLocks/>
          </p:cNvCxnSpPr>
          <p:nvPr/>
        </p:nvCxnSpPr>
        <p:spPr>
          <a:xfrm rot="16200000" flipH="1">
            <a:off x="3137239" y="1562933"/>
            <a:ext cx="290484" cy="565315"/>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D1F10620-938E-43ED-8930-CC52825E4237}"/>
              </a:ext>
            </a:extLst>
          </p:cNvPr>
          <p:cNvCxnSpPr>
            <a:cxnSpLocks/>
            <a:endCxn id="56" idx="2"/>
          </p:cNvCxnSpPr>
          <p:nvPr/>
        </p:nvCxnSpPr>
        <p:spPr>
          <a:xfrm flipV="1">
            <a:off x="3985512" y="1566631"/>
            <a:ext cx="653939" cy="425706"/>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6DF96B45-9445-49E3-AE1A-A86B30988795}"/>
              </a:ext>
            </a:extLst>
          </p:cNvPr>
          <p:cNvSpPr txBox="1"/>
          <p:nvPr/>
        </p:nvSpPr>
        <p:spPr>
          <a:xfrm>
            <a:off x="6859153" y="1454225"/>
            <a:ext cx="3849516"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tx2"/>
                </a:solidFill>
                <a:latin typeface="Calibri" panose="020F0502020204030204" pitchFamily="34" charset="0"/>
                <a:cs typeface="Calibri" panose="020F0502020204030204" pitchFamily="34" charset="0"/>
              </a:rPr>
              <a:t>Security Groups </a:t>
            </a:r>
            <a:r>
              <a:rPr lang="en-US" dirty="0">
                <a:solidFill>
                  <a:schemeClr val="tx2"/>
                </a:solidFill>
                <a:latin typeface="Calibri" panose="020F0502020204030204" pitchFamily="34" charset="0"/>
                <a:cs typeface="Calibri" panose="020F0502020204030204" pitchFamily="34" charset="0"/>
              </a:rPr>
              <a:t>– Firewall for EC2 instances / RDS. </a:t>
            </a:r>
          </a:p>
          <a:p>
            <a:endParaRPr lang="en-US" dirty="0">
              <a:solidFill>
                <a:schemeClr val="tx2"/>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tx2"/>
                </a:solidFill>
                <a:latin typeface="Calibri" panose="020F0502020204030204" pitchFamily="34" charset="0"/>
                <a:cs typeface="Calibri" panose="020F0502020204030204" pitchFamily="34" charset="0"/>
              </a:rPr>
              <a:t>Network ACL </a:t>
            </a:r>
            <a:r>
              <a:rPr lang="en-US" dirty="0">
                <a:solidFill>
                  <a:schemeClr val="tx2"/>
                </a:solidFill>
                <a:latin typeface="Calibri" panose="020F0502020204030204" pitchFamily="34" charset="0"/>
                <a:cs typeface="Calibri" panose="020F0502020204030204" pitchFamily="34" charset="0"/>
              </a:rPr>
              <a:t>– Firewall for Subnets</a:t>
            </a:r>
          </a:p>
          <a:p>
            <a:pPr marL="285750" indent="-285750">
              <a:buFont typeface="Arial" panose="020B0604020202020204" pitchFamily="34" charset="0"/>
              <a:buChar char="•"/>
            </a:pPr>
            <a:endParaRPr lang="en-US" dirty="0">
              <a:solidFill>
                <a:schemeClr val="tx2"/>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tx2"/>
                </a:solidFill>
                <a:latin typeface="Calibri" panose="020F0502020204030204" pitchFamily="34" charset="0"/>
                <a:cs typeface="Calibri" panose="020F0502020204030204" pitchFamily="34" charset="0"/>
              </a:rPr>
              <a:t>Key Pairs</a:t>
            </a:r>
            <a:endParaRPr lang="en-GB"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6229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3788" y="4018690"/>
            <a:ext cx="813970" cy="813970"/>
          </a:xfrm>
          <a:prstGeom prst="rect">
            <a:avLst/>
          </a:prstGeom>
        </p:spPr>
      </p:pic>
    </p:spTree>
    <p:extLst>
      <p:ext uri="{BB962C8B-B14F-4D97-AF65-F5344CB8AC3E}">
        <p14:creationId xmlns:p14="http://schemas.microsoft.com/office/powerpoint/2010/main" val="1708908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EC2 overview</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Virtualized servers in Amazon data centers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Resizable compute capacity</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Reduced time to provision and boot up new server instances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Pay as per capacity used</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Option of Linux and Windows and MacOS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Deploy across regions and AZ</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Uses Intel Xeon processors / AMD / Graviton(ARM)</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1728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EC2 instance families</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2" y="1143001"/>
            <a:ext cx="9431438" cy="54102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General purpose (t)</a:t>
            </a:r>
            <a:r>
              <a:rPr lang="en-US" sz="2400" dirty="0">
                <a:solidFill>
                  <a:schemeClr val="tx2"/>
                </a:solidFill>
                <a:latin typeface="Calibri" panose="020F0502020204030204" pitchFamily="34" charset="0"/>
                <a:cs typeface="Calibri" panose="020F0502020204030204" pitchFamily="34" charset="0"/>
              </a:rPr>
              <a:t>: For balanced workloads</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Compute Optimized (C,M) </a:t>
            </a:r>
            <a:r>
              <a:rPr lang="en-US" sz="2400" dirty="0">
                <a:solidFill>
                  <a:schemeClr val="tx2"/>
                </a:solidFill>
                <a:latin typeface="Calibri" panose="020F0502020204030204" pitchFamily="34" charset="0"/>
                <a:cs typeface="Calibri" panose="020F0502020204030204" pitchFamily="34" charset="0"/>
              </a:rPr>
              <a:t>: For high performance computing, data lakes etc.</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Memory Optimized (R)</a:t>
            </a:r>
            <a:r>
              <a:rPr lang="en-US" sz="2400" dirty="0">
                <a:solidFill>
                  <a:schemeClr val="tx2"/>
                </a:solidFill>
                <a:latin typeface="Calibri" panose="020F0502020204030204" pitchFamily="34" charset="0"/>
                <a:cs typeface="Calibri" panose="020F0502020204030204" pitchFamily="34" charset="0"/>
              </a:rPr>
              <a:t>: For high performance databases, in memory DB</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Accelerated Computing (G,P) </a:t>
            </a:r>
            <a:r>
              <a:rPr lang="en-US" sz="2400" dirty="0">
                <a:solidFill>
                  <a:schemeClr val="tx2"/>
                </a:solidFill>
                <a:latin typeface="Calibri" panose="020F0502020204030204" pitchFamily="34" charset="0"/>
                <a:cs typeface="Calibri" panose="020F0502020204030204" pitchFamily="34" charset="0"/>
              </a:rPr>
              <a:t>: For GPU intensive workloads like graphics, data pattern matching etc. (uses h/w accelerators or co-processers)</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Storage Optimized (s) </a:t>
            </a:r>
            <a:r>
              <a:rPr lang="en-US" sz="2400" dirty="0">
                <a:solidFill>
                  <a:schemeClr val="tx2"/>
                </a:solidFill>
                <a:latin typeface="Calibri" panose="020F0502020204030204" pitchFamily="34" charset="0"/>
                <a:cs typeface="Calibri" panose="020F0502020204030204" pitchFamily="34" charset="0"/>
              </a:rPr>
              <a:t>: For high IOPS at lower cost</a:t>
            </a:r>
          </a:p>
          <a:p>
            <a:pPr>
              <a:buFont typeface="Arial" panose="020B0604020202020204" pitchFamily="34" charset="0"/>
              <a:buChar char="•"/>
            </a:pPr>
            <a:r>
              <a:rPr lang="en-GB" sz="2400" dirty="0">
                <a:hlinkClick r:id="rId3"/>
              </a:rPr>
              <a:t>https://aws.amazon.com/ec2/instance-types/</a:t>
            </a:r>
            <a:endParaRPr lang="en-US" sz="2400" dirty="0">
              <a:solidFill>
                <a:schemeClr val="tx2"/>
              </a:solidFill>
              <a:latin typeface="Calibri" panose="020F0502020204030204" pitchFamily="34" charset="0"/>
              <a:cs typeface="Calibri" panose="020F0502020204030204" pitchFamily="34" charset="0"/>
            </a:endParaRPr>
          </a:p>
          <a:p>
            <a:pPr marL="0" indent="0"/>
            <a:endParaRPr lang="en-US" sz="1600" dirty="0">
              <a:solidFill>
                <a:schemeClr val="tx2"/>
              </a:solidFill>
              <a:latin typeface="Calibri" panose="020F0502020204030204" pitchFamily="34" charset="0"/>
              <a:cs typeface="Calibri" panose="020F0502020204030204" pitchFamily="34" charset="0"/>
            </a:endParaRPr>
          </a:p>
          <a:p>
            <a:pPr marL="0" indent="0"/>
            <a:r>
              <a:rPr lang="en-US" sz="1600" dirty="0">
                <a:solidFill>
                  <a:schemeClr val="tx2"/>
                </a:solidFill>
                <a:latin typeface="Calibri" panose="020F0502020204030204" pitchFamily="34" charset="0"/>
                <a:cs typeface="Calibri" panose="020F0502020204030204" pitchFamily="34" charset="0"/>
              </a:rPr>
              <a:t>E.g. </a:t>
            </a:r>
            <a:r>
              <a:rPr lang="en-US" sz="1600" b="1" u="sng" dirty="0">
                <a:solidFill>
                  <a:schemeClr val="tx2"/>
                </a:solidFill>
                <a:latin typeface="Calibri" panose="020F0502020204030204" pitchFamily="34" charset="0"/>
                <a:cs typeface="Calibri" panose="020F0502020204030204" pitchFamily="34" charset="0"/>
              </a:rPr>
              <a:t>t2.micro  </a:t>
            </a:r>
            <a:r>
              <a:rPr lang="en-US" sz="1600" dirty="0">
                <a:solidFill>
                  <a:schemeClr val="tx2"/>
                </a:solidFill>
                <a:latin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t specifies the instance family (in this case typical / general purpose)</a:t>
            </a:r>
          </a:p>
          <a:p>
            <a:pPr marL="342900" indent="-34290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2 implies generation (new generations are most cost effective : better price to performance ratio)</a:t>
            </a:r>
          </a:p>
          <a:p>
            <a:pPr marL="342900" indent="-34290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Micro specifies the size</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3212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Steps in creating an EC2 instance</a:t>
            </a:r>
            <a:endParaRPr lang="en-GB" dirty="0"/>
          </a:p>
        </p:txBody>
      </p:sp>
      <p:graphicFrame>
        <p:nvGraphicFramePr>
          <p:cNvPr id="6" name="Content Placeholder 5">
            <a:extLst>
              <a:ext uri="{FF2B5EF4-FFF2-40B4-BE49-F238E27FC236}">
                <a16:creationId xmlns:a16="http://schemas.microsoft.com/office/drawing/2014/main" id="{0A4F9166-6ABC-49B8-ADCE-56AAB30A18AE}"/>
              </a:ext>
            </a:extLst>
          </p:cNvPr>
          <p:cNvGraphicFramePr>
            <a:graphicFrameLocks noGrp="1"/>
          </p:cNvGraphicFramePr>
          <p:nvPr>
            <p:ph idx="1"/>
          </p:nvPr>
        </p:nvGraphicFramePr>
        <p:xfrm>
          <a:off x="1466850" y="1322389"/>
          <a:ext cx="9259888" cy="4848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1415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AMI (Amazon Machine Image)</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AMI is the template for the root volume of an EC2 instance (e.g. Operating system, Application server and applications)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Possible to create your own AMI by taking a public AMI and save the configurations as a custom AMI</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Launch permissions that control which AWS accounts can use the AMI to launch instances.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AMIs can be shared with other AWS accounts or made public ; can be sold online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AWS provides its own Linux AMI called “Amazon Linux” – free, repo access to many useful software, packages to integrate with other AWS services</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7037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EC2 Instance life-cycle</a:t>
            </a:r>
            <a:endParaRPr lang="en-GB" dirty="0"/>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71D16D7E-2143-4EF7-A6FE-907700F81FCC}"/>
              </a:ext>
            </a:extLst>
          </p:cNvPr>
          <p:cNvSpPr/>
          <p:nvPr/>
        </p:nvSpPr>
        <p:spPr>
          <a:xfrm>
            <a:off x="1465162" y="2819400"/>
            <a:ext cx="1735238"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Rebooting</a:t>
            </a:r>
            <a:endParaRPr lang="en-GB" dirty="0">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0F70F892-1358-476D-9334-8172825B8F2F}"/>
              </a:ext>
            </a:extLst>
          </p:cNvPr>
          <p:cNvSpPr/>
          <p:nvPr/>
        </p:nvSpPr>
        <p:spPr>
          <a:xfrm>
            <a:off x="3886200" y="2819400"/>
            <a:ext cx="1735238" cy="6096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Running</a:t>
            </a:r>
            <a:endParaRPr lang="en-GB"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E41623E4-3497-498B-BE40-97890C2FF7DE}"/>
              </a:ext>
            </a:extLst>
          </p:cNvPr>
          <p:cNvSpPr/>
          <p:nvPr/>
        </p:nvSpPr>
        <p:spPr>
          <a:xfrm>
            <a:off x="3886200" y="3937100"/>
            <a:ext cx="1735238" cy="609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Shutting down</a:t>
            </a:r>
            <a:endParaRPr lang="en-GB" dirty="0">
              <a:solidFill>
                <a:schemeClr val="tx2"/>
              </a:solidFill>
              <a:latin typeface="Calibri" panose="020F0502020204030204" pitchFamily="34" charset="0"/>
              <a:cs typeface="Calibri" panose="020F0502020204030204" pitchFamily="34" charset="0"/>
            </a:endParaRPr>
          </a:p>
        </p:txBody>
      </p:sp>
      <p:sp>
        <p:nvSpPr>
          <p:cNvPr id="10" name="Rectangle: Rounded Corners 9">
            <a:extLst>
              <a:ext uri="{FF2B5EF4-FFF2-40B4-BE49-F238E27FC236}">
                <a16:creationId xmlns:a16="http://schemas.microsoft.com/office/drawing/2014/main" id="{236D94F4-4BCB-45E2-8CBB-F3E7C1BD13E5}"/>
              </a:ext>
            </a:extLst>
          </p:cNvPr>
          <p:cNvSpPr/>
          <p:nvPr/>
        </p:nvSpPr>
        <p:spPr>
          <a:xfrm>
            <a:off x="3860800" y="5105400"/>
            <a:ext cx="1735238" cy="6096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Terminated</a:t>
            </a:r>
            <a:endParaRPr lang="en-GB" dirty="0">
              <a:solidFill>
                <a:schemeClr val="bg1"/>
              </a:solidFill>
              <a:latin typeface="Calibri" panose="020F0502020204030204" pitchFamily="34" charset="0"/>
              <a:cs typeface="Calibri" panose="020F0502020204030204" pitchFamily="34" charset="0"/>
            </a:endParaRPr>
          </a:p>
        </p:txBody>
      </p:sp>
      <p:sp>
        <p:nvSpPr>
          <p:cNvPr id="11" name="Rectangle: Rounded Corners 10">
            <a:extLst>
              <a:ext uri="{FF2B5EF4-FFF2-40B4-BE49-F238E27FC236}">
                <a16:creationId xmlns:a16="http://schemas.microsoft.com/office/drawing/2014/main" id="{5B39C2ED-E762-4E53-A235-D943C4269731}"/>
              </a:ext>
            </a:extLst>
          </p:cNvPr>
          <p:cNvSpPr/>
          <p:nvPr/>
        </p:nvSpPr>
        <p:spPr>
          <a:xfrm>
            <a:off x="3056681" y="1574900"/>
            <a:ext cx="1735238" cy="609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Pending</a:t>
            </a:r>
            <a:endParaRPr lang="en-GB" dirty="0">
              <a:solidFill>
                <a:schemeClr val="tx2"/>
              </a:solidFill>
              <a:latin typeface="Calibri" panose="020F0502020204030204" pitchFamily="34" charset="0"/>
              <a:cs typeface="Calibri" panose="020F0502020204030204" pitchFamily="34" charset="0"/>
            </a:endParaRPr>
          </a:p>
        </p:txBody>
      </p:sp>
      <p:sp>
        <p:nvSpPr>
          <p:cNvPr id="12" name="Rectangle: Rounded Corners 11">
            <a:extLst>
              <a:ext uri="{FF2B5EF4-FFF2-40B4-BE49-F238E27FC236}">
                <a16:creationId xmlns:a16="http://schemas.microsoft.com/office/drawing/2014/main" id="{3C3B1E2D-EBE8-4CAE-BE62-19F00009E0C1}"/>
              </a:ext>
            </a:extLst>
          </p:cNvPr>
          <p:cNvSpPr/>
          <p:nvPr/>
        </p:nvSpPr>
        <p:spPr>
          <a:xfrm>
            <a:off x="6281838" y="2819400"/>
            <a:ext cx="1735238" cy="609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Stopping</a:t>
            </a:r>
            <a:endParaRPr lang="en-GB" dirty="0">
              <a:solidFill>
                <a:schemeClr val="tx2"/>
              </a:solidFill>
              <a:latin typeface="Calibri" panose="020F0502020204030204" pitchFamily="34" charset="0"/>
              <a:cs typeface="Calibri" panose="020F0502020204030204" pitchFamily="34" charset="0"/>
            </a:endParaRPr>
          </a:p>
        </p:txBody>
      </p:sp>
      <p:sp>
        <p:nvSpPr>
          <p:cNvPr id="13" name="Rectangle: Rounded Corners 12">
            <a:extLst>
              <a:ext uri="{FF2B5EF4-FFF2-40B4-BE49-F238E27FC236}">
                <a16:creationId xmlns:a16="http://schemas.microsoft.com/office/drawing/2014/main" id="{D3391DEC-FFC9-4A80-B465-11453AE07CC2}"/>
              </a:ext>
            </a:extLst>
          </p:cNvPr>
          <p:cNvSpPr/>
          <p:nvPr/>
        </p:nvSpPr>
        <p:spPr>
          <a:xfrm>
            <a:off x="8704162" y="2819400"/>
            <a:ext cx="1735238" cy="6096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libri" panose="020F0502020204030204" pitchFamily="34" charset="0"/>
                <a:cs typeface="Calibri" panose="020F0502020204030204" pitchFamily="34" charset="0"/>
              </a:rPr>
              <a:t>Stopped</a:t>
            </a:r>
            <a:endParaRPr lang="en-GB" dirty="0">
              <a:solidFill>
                <a:schemeClr val="bg1"/>
              </a:solidFill>
              <a:latin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a16="http://schemas.microsoft.com/office/drawing/2014/main" id="{33BA2891-40F6-4BE8-9091-50B378658243}"/>
              </a:ext>
            </a:extLst>
          </p:cNvPr>
          <p:cNvCxnSpPr/>
          <p:nvPr/>
        </p:nvCxnSpPr>
        <p:spPr>
          <a:xfrm flipH="1">
            <a:off x="3200400" y="2971800"/>
            <a:ext cx="660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A3B98-2442-4D34-9251-C42014F61237}"/>
              </a:ext>
            </a:extLst>
          </p:cNvPr>
          <p:cNvCxnSpPr/>
          <p:nvPr/>
        </p:nvCxnSpPr>
        <p:spPr>
          <a:xfrm>
            <a:off x="3200400" y="327660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AB412CA-B26E-4CA0-B55A-292BE285D955}"/>
              </a:ext>
            </a:extLst>
          </p:cNvPr>
          <p:cNvCxnSpPr/>
          <p:nvPr/>
        </p:nvCxnSpPr>
        <p:spPr>
          <a:xfrm>
            <a:off x="5621438" y="312420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2439C11-2B06-418E-B5EF-7B4C11B3CC3B}"/>
              </a:ext>
            </a:extLst>
          </p:cNvPr>
          <p:cNvCxnSpPr/>
          <p:nvPr/>
        </p:nvCxnSpPr>
        <p:spPr>
          <a:xfrm>
            <a:off x="8017076" y="3124200"/>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6258F9D-056B-49A8-83B2-210BEC903404}"/>
              </a:ext>
            </a:extLst>
          </p:cNvPr>
          <p:cNvCxnSpPr>
            <a:stCxn id="8" idx="2"/>
            <a:endCxn id="9" idx="0"/>
          </p:cNvCxnSpPr>
          <p:nvPr/>
        </p:nvCxnSpPr>
        <p:spPr>
          <a:xfrm>
            <a:off x="4753819" y="3429000"/>
            <a:ext cx="0" cy="5081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C6C476-B1BA-4F47-8A29-286BD4D79A95}"/>
              </a:ext>
            </a:extLst>
          </p:cNvPr>
          <p:cNvCxnSpPr/>
          <p:nvPr/>
        </p:nvCxnSpPr>
        <p:spPr>
          <a:xfrm>
            <a:off x="4732438" y="4546700"/>
            <a:ext cx="0" cy="5081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A60D95-AB05-43F5-A8B1-46743AD2D8C4}"/>
              </a:ext>
            </a:extLst>
          </p:cNvPr>
          <p:cNvCxnSpPr>
            <a:cxnSpLocks/>
          </p:cNvCxnSpPr>
          <p:nvPr/>
        </p:nvCxnSpPr>
        <p:spPr>
          <a:xfrm>
            <a:off x="4267200" y="2209800"/>
            <a:ext cx="0" cy="609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B45482E-EA0F-4C2F-B7EA-DDC689DBC46B}"/>
              </a:ext>
            </a:extLst>
          </p:cNvPr>
          <p:cNvCxnSpPr>
            <a:stCxn id="13" idx="0"/>
          </p:cNvCxnSpPr>
          <p:nvPr/>
        </p:nvCxnSpPr>
        <p:spPr>
          <a:xfrm flipV="1">
            <a:off x="9571781" y="1879700"/>
            <a:ext cx="0" cy="939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9A1B124-7F7C-44E8-B68B-58A18B7C07F0}"/>
              </a:ext>
            </a:extLst>
          </p:cNvPr>
          <p:cNvCxnSpPr>
            <a:cxnSpLocks/>
          </p:cNvCxnSpPr>
          <p:nvPr/>
        </p:nvCxnSpPr>
        <p:spPr>
          <a:xfrm flipH="1">
            <a:off x="4791919" y="1879700"/>
            <a:ext cx="477986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3F07020-19C4-4920-913B-E979A1F54A83}"/>
              </a:ext>
            </a:extLst>
          </p:cNvPr>
          <p:cNvCxnSpPr>
            <a:cxnSpLocks/>
          </p:cNvCxnSpPr>
          <p:nvPr/>
        </p:nvCxnSpPr>
        <p:spPr>
          <a:xfrm flipH="1">
            <a:off x="5596039" y="5410200"/>
            <a:ext cx="397574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12F68F1-FA86-4B10-9B77-432B3F3B2897}"/>
              </a:ext>
            </a:extLst>
          </p:cNvPr>
          <p:cNvCxnSpPr>
            <a:cxnSpLocks/>
          </p:cNvCxnSpPr>
          <p:nvPr/>
        </p:nvCxnSpPr>
        <p:spPr>
          <a:xfrm>
            <a:off x="9575800" y="3429000"/>
            <a:ext cx="0" cy="1905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9C96A60-AF61-4EE7-B6E5-514360432AA8}"/>
              </a:ext>
            </a:extLst>
          </p:cNvPr>
          <p:cNvCxnSpPr>
            <a:cxnSpLocks/>
          </p:cNvCxnSpPr>
          <p:nvPr/>
        </p:nvCxnSpPr>
        <p:spPr>
          <a:xfrm>
            <a:off x="2173115" y="1879700"/>
            <a:ext cx="84546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13500E59-701E-45CC-B5BB-E92CEE3082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5922" y="1644750"/>
            <a:ext cx="469900" cy="469900"/>
          </a:xfrm>
          <a:prstGeom prst="rect">
            <a:avLst/>
          </a:prstGeom>
        </p:spPr>
      </p:pic>
      <p:sp>
        <p:nvSpPr>
          <p:cNvPr id="35" name="TextBox 34">
            <a:extLst>
              <a:ext uri="{FF2B5EF4-FFF2-40B4-BE49-F238E27FC236}">
                <a16:creationId xmlns:a16="http://schemas.microsoft.com/office/drawing/2014/main" id="{B84FC2F0-2463-46AF-9AA1-6B48C07847A5}"/>
              </a:ext>
            </a:extLst>
          </p:cNvPr>
          <p:cNvSpPr txBox="1"/>
          <p:nvPr/>
        </p:nvSpPr>
        <p:spPr>
          <a:xfrm>
            <a:off x="1600523" y="2184500"/>
            <a:ext cx="572593"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AMI</a:t>
            </a:r>
            <a:endParaRPr lang="en-GB" dirty="0">
              <a:solidFill>
                <a:schemeClr val="tx2"/>
              </a:solidFill>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F7BFB989-5357-46FB-A24D-8DF6E78EE7A6}"/>
              </a:ext>
            </a:extLst>
          </p:cNvPr>
          <p:cNvSpPr txBox="1"/>
          <p:nvPr/>
        </p:nvSpPr>
        <p:spPr>
          <a:xfrm>
            <a:off x="4741120" y="3493432"/>
            <a:ext cx="1202481" cy="369332"/>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Terminate</a:t>
            </a:r>
            <a:endParaRPr lang="en-GB" dirty="0">
              <a:solidFill>
                <a:schemeClr val="tx2"/>
              </a:solidFill>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A8D1B431-CC85-4A55-8FE6-163D44E53947}"/>
              </a:ext>
            </a:extLst>
          </p:cNvPr>
          <p:cNvSpPr txBox="1"/>
          <p:nvPr/>
        </p:nvSpPr>
        <p:spPr>
          <a:xfrm>
            <a:off x="5576606" y="2476034"/>
            <a:ext cx="937531" cy="369332"/>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Stop</a:t>
            </a:r>
            <a:endParaRPr lang="en-GB" dirty="0">
              <a:solidFill>
                <a:schemeClr val="tx2"/>
              </a:solidFill>
              <a:latin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665B45F9-A5C8-47DC-9F79-EDB5034C8786}"/>
              </a:ext>
            </a:extLst>
          </p:cNvPr>
          <p:cNvSpPr txBox="1"/>
          <p:nvPr/>
        </p:nvSpPr>
        <p:spPr>
          <a:xfrm>
            <a:off x="6646379" y="1401902"/>
            <a:ext cx="937531" cy="369332"/>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Start</a:t>
            </a:r>
            <a:endParaRPr lang="en-GB"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9D098B7A-E7A5-4A6E-A8D0-8083514ACCBF}"/>
              </a:ext>
            </a:extLst>
          </p:cNvPr>
          <p:cNvSpPr txBox="1"/>
          <p:nvPr/>
        </p:nvSpPr>
        <p:spPr>
          <a:xfrm>
            <a:off x="6661088" y="4932401"/>
            <a:ext cx="1330586" cy="369332"/>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Terminate</a:t>
            </a:r>
            <a:endParaRPr lang="en-GB" dirty="0">
              <a:solidFill>
                <a:schemeClr val="tx2"/>
              </a:solidFill>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D8C72D73-51B9-413C-B340-C25505C50CE4}"/>
              </a:ext>
            </a:extLst>
          </p:cNvPr>
          <p:cNvSpPr txBox="1"/>
          <p:nvPr/>
        </p:nvSpPr>
        <p:spPr>
          <a:xfrm>
            <a:off x="3110252" y="2540200"/>
            <a:ext cx="937531" cy="369332"/>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Reboot</a:t>
            </a:r>
            <a:endParaRPr lang="en-GB" dirty="0">
              <a:solidFill>
                <a:schemeClr val="tx2"/>
              </a:solidFill>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6D24E1F4-0C02-471A-A695-2A4046731B31}"/>
              </a:ext>
            </a:extLst>
          </p:cNvPr>
          <p:cNvSpPr txBox="1"/>
          <p:nvPr/>
        </p:nvSpPr>
        <p:spPr>
          <a:xfrm>
            <a:off x="2119151" y="1309332"/>
            <a:ext cx="937531" cy="369332"/>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Launch</a:t>
            </a:r>
            <a:endParaRPr lang="en-GB"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7463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Instance meta-data and user data</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2"/>
            <a:ext cx="9259747" cy="3581399"/>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Instance meta-data is data about the instance. Obtained from following URL - </a:t>
            </a:r>
            <a:r>
              <a:rPr lang="en-US" sz="2400" dirty="0">
                <a:solidFill>
                  <a:schemeClr val="tx2"/>
                </a:solidFill>
                <a:latin typeface="Calibri" panose="020F0502020204030204" pitchFamily="34" charset="0"/>
                <a:cs typeface="Calibri" panose="020F0502020204030204" pitchFamily="34" charset="0"/>
                <a:hlinkClick r:id="rId3"/>
              </a:rPr>
              <a:t>http://169.254.169.254/latest/meta-data</a:t>
            </a:r>
            <a:r>
              <a:rPr lang="en-US" sz="2400" dirty="0">
                <a:solidFill>
                  <a:schemeClr val="tx2"/>
                </a:solidFill>
                <a:latin typeface="Calibri" panose="020F0502020204030204" pitchFamily="34" charset="0"/>
                <a:cs typeface="Calibri" panose="020F0502020204030204" pitchFamily="34" charset="0"/>
              </a:rPr>
              <a:t> </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User Data : Passed to the instance during launch to perform configuration tasks (bootstrap scripts such as installing HTTP server)</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Can be specified in a file attachment</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16 KB size limit</a:t>
            </a:r>
          </a:p>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URL - </a:t>
            </a:r>
            <a:r>
              <a:rPr lang="en-US" sz="2400" dirty="0">
                <a:solidFill>
                  <a:schemeClr val="tx2"/>
                </a:solidFill>
                <a:latin typeface="Calibri" panose="020F0502020204030204" pitchFamily="34" charset="0"/>
                <a:cs typeface="Calibri" panose="020F0502020204030204" pitchFamily="34" charset="0"/>
                <a:hlinkClick r:id="rId4"/>
              </a:rPr>
              <a:t>http://169.254.169.254/latest/user-data</a:t>
            </a:r>
            <a:r>
              <a:rPr lang="en-US" sz="2400" dirty="0">
                <a:solidFill>
                  <a:schemeClr val="tx2"/>
                </a:solidFill>
                <a:latin typeface="Calibri" panose="020F0502020204030204" pitchFamily="34" charset="0"/>
                <a:cs typeface="Calibri" panose="020F0502020204030204" pitchFamily="34" charset="0"/>
              </a:rPr>
              <a:t> </a:t>
            </a:r>
            <a:r>
              <a:rPr lang="en-US" sz="2400" b="1" dirty="0">
                <a:solidFill>
                  <a:schemeClr val="tx2"/>
                </a:solidFill>
                <a:latin typeface="Calibri" panose="020F0502020204030204" pitchFamily="34" charset="0"/>
                <a:cs typeface="Calibri" panose="020F0502020204030204" pitchFamily="34" charset="0"/>
              </a:rPr>
              <a:t> </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E.g.</a:t>
            </a:r>
          </a:p>
          <a:p>
            <a:pPr marL="0" indent="0"/>
            <a:endParaRPr lang="en-US" sz="2400"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143001"/>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462875D0-AAF4-4DFC-A331-92132F039E4C}"/>
              </a:ext>
            </a:extLst>
          </p:cNvPr>
          <p:cNvSpPr/>
          <p:nvPr/>
        </p:nvSpPr>
        <p:spPr>
          <a:xfrm>
            <a:off x="1828800" y="5135190"/>
            <a:ext cx="4953000" cy="12656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2"/>
                </a:solidFill>
                <a:latin typeface="Courier New" panose="02070309020205020404" pitchFamily="49" charset="0"/>
                <a:cs typeface="Courier New" panose="02070309020205020404" pitchFamily="49" charset="0"/>
              </a:rPr>
              <a:t>#!/bin/</a:t>
            </a:r>
            <a:r>
              <a:rPr lang="en-US" dirty="0" err="1">
                <a:solidFill>
                  <a:schemeClr val="tx2"/>
                </a:solidFill>
                <a:latin typeface="Courier New" panose="02070309020205020404" pitchFamily="49" charset="0"/>
                <a:cs typeface="Courier New" panose="02070309020205020404" pitchFamily="49" charset="0"/>
              </a:rPr>
              <a:t>sh</a:t>
            </a:r>
            <a:endParaRPr lang="en-US" dirty="0">
              <a:solidFill>
                <a:schemeClr val="tx2"/>
              </a:solidFill>
              <a:latin typeface="Courier New" panose="02070309020205020404" pitchFamily="49" charset="0"/>
              <a:cs typeface="Courier New" panose="02070309020205020404" pitchFamily="49" charset="0"/>
            </a:endParaRPr>
          </a:p>
          <a:p>
            <a:r>
              <a:rPr lang="en-US" dirty="0">
                <a:solidFill>
                  <a:schemeClr val="tx2"/>
                </a:solidFill>
                <a:latin typeface="Courier New" panose="02070309020205020404" pitchFamily="49" charset="0"/>
                <a:cs typeface="Courier New" panose="02070309020205020404" pitchFamily="49" charset="0"/>
              </a:rPr>
              <a:t>yum –y install </a:t>
            </a:r>
            <a:r>
              <a:rPr lang="en-US" dirty="0" err="1">
                <a:solidFill>
                  <a:schemeClr val="tx2"/>
                </a:solidFill>
                <a:latin typeface="Courier New" panose="02070309020205020404" pitchFamily="49" charset="0"/>
                <a:cs typeface="Courier New" panose="02070309020205020404" pitchFamily="49" charset="0"/>
              </a:rPr>
              <a:t>httpd</a:t>
            </a:r>
            <a:endParaRPr lang="en-US" dirty="0">
              <a:solidFill>
                <a:schemeClr val="tx2"/>
              </a:solidFill>
              <a:latin typeface="Courier New" panose="02070309020205020404" pitchFamily="49" charset="0"/>
              <a:cs typeface="Courier New" panose="02070309020205020404" pitchFamily="49" charset="0"/>
            </a:endParaRPr>
          </a:p>
          <a:p>
            <a:r>
              <a:rPr lang="en-US" dirty="0" err="1">
                <a:solidFill>
                  <a:schemeClr val="tx2"/>
                </a:solidFill>
                <a:latin typeface="Courier New" panose="02070309020205020404" pitchFamily="49" charset="0"/>
                <a:cs typeface="Courier New" panose="02070309020205020404" pitchFamily="49" charset="0"/>
              </a:rPr>
              <a:t>chkconfig</a:t>
            </a:r>
            <a:r>
              <a:rPr lang="en-US" dirty="0">
                <a:solidFill>
                  <a:schemeClr val="tx2"/>
                </a:solidFill>
                <a:latin typeface="Courier New" panose="02070309020205020404" pitchFamily="49" charset="0"/>
                <a:cs typeface="Courier New" panose="02070309020205020404" pitchFamily="49" charset="0"/>
              </a:rPr>
              <a:t>  </a:t>
            </a:r>
            <a:r>
              <a:rPr lang="en-US" dirty="0" err="1">
                <a:solidFill>
                  <a:schemeClr val="tx2"/>
                </a:solidFill>
                <a:latin typeface="Courier New" panose="02070309020205020404" pitchFamily="49" charset="0"/>
                <a:cs typeface="Courier New" panose="02070309020205020404" pitchFamily="49" charset="0"/>
              </a:rPr>
              <a:t>httpd</a:t>
            </a:r>
            <a:r>
              <a:rPr lang="en-US" dirty="0">
                <a:solidFill>
                  <a:schemeClr val="tx2"/>
                </a:solidFill>
                <a:latin typeface="Courier New" panose="02070309020205020404" pitchFamily="49" charset="0"/>
                <a:cs typeface="Courier New" panose="02070309020205020404" pitchFamily="49" charset="0"/>
              </a:rPr>
              <a:t> on</a:t>
            </a:r>
          </a:p>
          <a:p>
            <a:r>
              <a:rPr lang="en-US" dirty="0">
                <a:solidFill>
                  <a:schemeClr val="tx2"/>
                </a:solidFill>
                <a:latin typeface="Courier New" panose="02070309020205020404" pitchFamily="49" charset="0"/>
                <a:cs typeface="Courier New" panose="02070309020205020404" pitchFamily="49" charset="0"/>
              </a:rPr>
              <a:t>/</a:t>
            </a:r>
            <a:r>
              <a:rPr lang="en-US" dirty="0" err="1">
                <a:solidFill>
                  <a:schemeClr val="tx2"/>
                </a:solidFill>
                <a:latin typeface="Courier New" panose="02070309020205020404" pitchFamily="49" charset="0"/>
                <a:cs typeface="Courier New" panose="02070309020205020404" pitchFamily="49" charset="0"/>
              </a:rPr>
              <a:t>etc</a:t>
            </a:r>
            <a:r>
              <a:rPr lang="en-US" dirty="0">
                <a:solidFill>
                  <a:schemeClr val="tx2"/>
                </a:solidFill>
                <a:latin typeface="Courier New" panose="02070309020205020404" pitchFamily="49" charset="0"/>
                <a:cs typeface="Courier New" panose="02070309020205020404" pitchFamily="49" charset="0"/>
              </a:rPr>
              <a:t>/</a:t>
            </a:r>
            <a:r>
              <a:rPr lang="en-US" dirty="0" err="1">
                <a:solidFill>
                  <a:schemeClr val="tx2"/>
                </a:solidFill>
                <a:latin typeface="Courier New" panose="02070309020205020404" pitchFamily="49" charset="0"/>
                <a:cs typeface="Courier New" panose="02070309020205020404" pitchFamily="49" charset="0"/>
              </a:rPr>
              <a:t>init.d</a:t>
            </a:r>
            <a:r>
              <a:rPr lang="en-US" dirty="0">
                <a:solidFill>
                  <a:schemeClr val="tx2"/>
                </a:solidFill>
                <a:latin typeface="Courier New" panose="02070309020205020404" pitchFamily="49" charset="0"/>
                <a:cs typeface="Courier New" panose="02070309020205020404" pitchFamily="49" charset="0"/>
              </a:rPr>
              <a:t>/</a:t>
            </a:r>
            <a:r>
              <a:rPr lang="en-US" dirty="0" err="1">
                <a:solidFill>
                  <a:schemeClr val="tx2"/>
                </a:solidFill>
                <a:latin typeface="Courier New" panose="02070309020205020404" pitchFamily="49" charset="0"/>
                <a:cs typeface="Courier New" panose="02070309020205020404" pitchFamily="49" charset="0"/>
              </a:rPr>
              <a:t>httpd</a:t>
            </a:r>
            <a:r>
              <a:rPr lang="en-US" dirty="0">
                <a:solidFill>
                  <a:schemeClr val="tx2"/>
                </a:solidFill>
                <a:latin typeface="Courier New" panose="02070309020205020404" pitchFamily="49" charset="0"/>
                <a:cs typeface="Courier New" panose="02070309020205020404" pitchFamily="49" charset="0"/>
              </a:rPr>
              <a:t> start</a:t>
            </a:r>
            <a:endParaRPr lang="en-GB" dirty="0">
              <a:solidFill>
                <a:schemeClr val="tx2"/>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37812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EC2 purchase options</a:t>
            </a:r>
            <a:endParaRPr lang="en-GB" dirty="0"/>
          </a:p>
        </p:txBody>
      </p:sp>
      <p:graphicFrame>
        <p:nvGraphicFramePr>
          <p:cNvPr id="8" name="Diagram 7">
            <a:extLst>
              <a:ext uri="{FF2B5EF4-FFF2-40B4-BE49-F238E27FC236}">
                <a16:creationId xmlns:a16="http://schemas.microsoft.com/office/drawing/2014/main" id="{E4D3AED7-B9D3-450C-9AFC-D7AADD05AC29}"/>
              </a:ext>
            </a:extLst>
          </p:cNvPr>
          <p:cNvGraphicFramePr/>
          <p:nvPr/>
        </p:nvGraphicFramePr>
        <p:xfrm>
          <a:off x="2667000" y="1693334"/>
          <a:ext cx="6604000" cy="4402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02E1CE93-180E-4D56-8C44-07E2321527E4}"/>
              </a:ext>
            </a:extLst>
          </p:cNvPr>
          <p:cNvSpPr txBox="1"/>
          <p:nvPr/>
        </p:nvSpPr>
        <p:spPr>
          <a:xfrm>
            <a:off x="4572000" y="1066800"/>
            <a:ext cx="3873176" cy="600164"/>
          </a:xfrm>
          <a:prstGeom prst="rect">
            <a:avLst/>
          </a:prstGeom>
          <a:noFill/>
        </p:spPr>
        <p:txBody>
          <a:bodyPr wrap="none" rtlCol="0">
            <a:spAutoFit/>
          </a:bodyPr>
          <a:lstStyle/>
          <a:p>
            <a:r>
              <a:rPr lang="en-US" sz="1100" b="1" dirty="0">
                <a:solidFill>
                  <a:schemeClr val="tx2"/>
                </a:solidFill>
                <a:latin typeface="Calibri" panose="020F0502020204030204" pitchFamily="34" charset="0"/>
                <a:cs typeface="Calibri" panose="020F0502020204030204" pitchFamily="34" charset="0"/>
              </a:rPr>
              <a:t>Pay by hour – no commitments / contracts</a:t>
            </a:r>
          </a:p>
          <a:p>
            <a:r>
              <a:rPr lang="en-US" sz="1100" b="1" dirty="0">
                <a:solidFill>
                  <a:schemeClr val="tx2"/>
                </a:solidFill>
                <a:latin typeface="Calibri" panose="020F0502020204030204" pitchFamily="34" charset="0"/>
                <a:cs typeface="Calibri" panose="020F0502020204030204" pitchFamily="34" charset="0"/>
              </a:rPr>
              <a:t>Lowest upfront cost</a:t>
            </a:r>
          </a:p>
          <a:p>
            <a:r>
              <a:rPr lang="en-US" sz="1100" b="1" dirty="0">
                <a:solidFill>
                  <a:schemeClr val="tx2"/>
                </a:solidFill>
                <a:latin typeface="Calibri" panose="020F0502020204030204" pitchFamily="34" charset="0"/>
                <a:cs typeface="Calibri" panose="020F0502020204030204" pitchFamily="34" charset="0"/>
              </a:rPr>
              <a:t>Most flexible – for spiky , short term , unpredictable workloads</a:t>
            </a:r>
            <a:endParaRPr lang="en-GB" sz="1100" b="1" dirty="0">
              <a:solidFill>
                <a:schemeClr val="tx2"/>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B336694-CEAB-4A86-AEA8-F2F07BC5F370}"/>
              </a:ext>
            </a:extLst>
          </p:cNvPr>
          <p:cNvSpPr txBox="1"/>
          <p:nvPr/>
        </p:nvSpPr>
        <p:spPr>
          <a:xfrm>
            <a:off x="8173720" y="2631603"/>
            <a:ext cx="2425376" cy="769441"/>
          </a:xfrm>
          <a:prstGeom prst="rect">
            <a:avLst/>
          </a:prstGeom>
          <a:noFill/>
        </p:spPr>
        <p:txBody>
          <a:bodyPr wrap="square" rtlCol="0">
            <a:spAutoFit/>
          </a:bodyPr>
          <a:lstStyle/>
          <a:p>
            <a:r>
              <a:rPr lang="en-US" sz="1100" b="1" dirty="0">
                <a:solidFill>
                  <a:schemeClr val="tx2"/>
                </a:solidFill>
                <a:latin typeface="Calibri" panose="020F0502020204030204" pitchFamily="34" charset="0"/>
                <a:cs typeface="Calibri" panose="020F0502020204030204" pitchFamily="34" charset="0"/>
              </a:rPr>
              <a:t>Reserve capacity for 1-yr / 3 years</a:t>
            </a:r>
          </a:p>
          <a:p>
            <a:r>
              <a:rPr lang="en-US" sz="1100" b="1" dirty="0">
                <a:solidFill>
                  <a:schemeClr val="tx2"/>
                </a:solidFill>
                <a:latin typeface="Calibri" panose="020F0502020204030204" pitchFamily="34" charset="0"/>
                <a:cs typeface="Calibri" panose="020F0502020204030204" pitchFamily="34" charset="0"/>
              </a:rPr>
              <a:t>Significantly discounted rate</a:t>
            </a:r>
          </a:p>
          <a:p>
            <a:r>
              <a:rPr lang="en-US" sz="1100" b="1" dirty="0">
                <a:solidFill>
                  <a:schemeClr val="tx2"/>
                </a:solidFill>
                <a:latin typeface="Calibri" panose="020F0502020204030204" pitchFamily="34" charset="0"/>
                <a:cs typeface="Calibri" panose="020F0502020204030204" pitchFamily="34" charset="0"/>
              </a:rPr>
              <a:t>Always available</a:t>
            </a:r>
          </a:p>
          <a:p>
            <a:r>
              <a:rPr lang="en-US" sz="1100" b="1" dirty="0">
                <a:solidFill>
                  <a:schemeClr val="tx2"/>
                </a:solidFill>
                <a:latin typeface="Calibri" panose="020F0502020204030204" pitchFamily="34" charset="0"/>
                <a:cs typeface="Calibri" panose="020F0502020204030204" pitchFamily="34" charset="0"/>
              </a:rPr>
              <a:t>Good for consistent heavy use</a:t>
            </a:r>
            <a:endParaRPr lang="en-GB" sz="1100" b="1" dirty="0">
              <a:solidFill>
                <a:schemeClr val="tx2"/>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5A141B77-AADE-4B66-BB86-596F74FDFC5D}"/>
              </a:ext>
            </a:extLst>
          </p:cNvPr>
          <p:cNvSpPr txBox="1"/>
          <p:nvPr/>
        </p:nvSpPr>
        <p:spPr>
          <a:xfrm>
            <a:off x="8153400" y="4525802"/>
            <a:ext cx="2425376" cy="769441"/>
          </a:xfrm>
          <a:prstGeom prst="rect">
            <a:avLst/>
          </a:prstGeom>
          <a:noFill/>
        </p:spPr>
        <p:txBody>
          <a:bodyPr wrap="square" rtlCol="0">
            <a:spAutoFit/>
          </a:bodyPr>
          <a:lstStyle/>
          <a:p>
            <a:r>
              <a:rPr lang="en-US" sz="1100" b="1" dirty="0">
                <a:solidFill>
                  <a:schemeClr val="tx2"/>
                </a:solidFill>
                <a:latin typeface="Calibri" panose="020F0502020204030204" pitchFamily="34" charset="0"/>
                <a:cs typeface="Calibri" panose="020F0502020204030204" pitchFamily="34" charset="0"/>
              </a:rPr>
              <a:t>Reserve capacity for on a schedule</a:t>
            </a:r>
          </a:p>
          <a:p>
            <a:r>
              <a:rPr lang="en-US" sz="1100" b="1" dirty="0">
                <a:solidFill>
                  <a:schemeClr val="tx2"/>
                </a:solidFill>
                <a:latin typeface="Calibri" panose="020F0502020204030204" pitchFamily="34" charset="0"/>
                <a:cs typeface="Calibri" panose="020F0502020204030204" pitchFamily="34" charset="0"/>
              </a:rPr>
              <a:t>Pay for scheduled duration</a:t>
            </a:r>
          </a:p>
          <a:p>
            <a:r>
              <a:rPr lang="en-US" sz="1100" b="1" dirty="0">
                <a:solidFill>
                  <a:schemeClr val="tx2"/>
                </a:solidFill>
                <a:latin typeface="Calibri" panose="020F0502020204030204" pitchFamily="34" charset="0"/>
                <a:cs typeface="Calibri" panose="020F0502020204030204" pitchFamily="34" charset="0"/>
              </a:rPr>
              <a:t>Good for scheduled workloads with finite time of completion</a:t>
            </a:r>
            <a:endParaRPr lang="en-GB" sz="1100" b="1" dirty="0">
              <a:solidFill>
                <a:schemeClr val="tx2"/>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32580BE2-FEBD-42E0-A509-E4A155897D16}"/>
              </a:ext>
            </a:extLst>
          </p:cNvPr>
          <p:cNvSpPr txBox="1"/>
          <p:nvPr/>
        </p:nvSpPr>
        <p:spPr>
          <a:xfrm>
            <a:off x="4800600" y="6076707"/>
            <a:ext cx="2952912" cy="769441"/>
          </a:xfrm>
          <a:prstGeom prst="rect">
            <a:avLst/>
          </a:prstGeom>
          <a:noFill/>
        </p:spPr>
        <p:txBody>
          <a:bodyPr wrap="square" rtlCol="0">
            <a:spAutoFit/>
          </a:bodyPr>
          <a:lstStyle/>
          <a:p>
            <a:r>
              <a:rPr lang="en-US" sz="1100" b="1" dirty="0">
                <a:solidFill>
                  <a:schemeClr val="tx2"/>
                </a:solidFill>
                <a:latin typeface="Calibri" panose="020F0502020204030204" pitchFamily="34" charset="0"/>
                <a:cs typeface="Calibri" panose="020F0502020204030204" pitchFamily="34" charset="0"/>
              </a:rPr>
              <a:t>Based on bidding (on unused EC2 instances)</a:t>
            </a:r>
          </a:p>
          <a:p>
            <a:r>
              <a:rPr lang="en-US" sz="1100" b="1" dirty="0">
                <a:solidFill>
                  <a:schemeClr val="tx2"/>
                </a:solidFill>
                <a:latin typeface="Calibri" panose="020F0502020204030204" pitchFamily="34" charset="0"/>
                <a:cs typeface="Calibri" panose="020F0502020204030204" pitchFamily="34" charset="0"/>
              </a:rPr>
              <a:t>Price fluctuates based on supply and demand</a:t>
            </a:r>
          </a:p>
          <a:p>
            <a:r>
              <a:rPr lang="en-US" sz="1100" b="1" dirty="0">
                <a:solidFill>
                  <a:schemeClr val="tx2"/>
                </a:solidFill>
                <a:latin typeface="Calibri" panose="020F0502020204030204" pitchFamily="34" charset="0"/>
                <a:cs typeface="Calibri" panose="020F0502020204030204" pitchFamily="34" charset="0"/>
              </a:rPr>
              <a:t>Good if you are flexible about when to run and ok to be interrupted</a:t>
            </a:r>
            <a:endParaRPr lang="en-GB" sz="1100" b="1" dirty="0">
              <a:solidFill>
                <a:schemeClr val="tx2"/>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1ED2B98-F840-4B4F-AF65-8B605B8D3828}"/>
              </a:ext>
            </a:extLst>
          </p:cNvPr>
          <p:cNvSpPr txBox="1"/>
          <p:nvPr/>
        </p:nvSpPr>
        <p:spPr>
          <a:xfrm>
            <a:off x="1163320" y="4572001"/>
            <a:ext cx="2425376" cy="769441"/>
          </a:xfrm>
          <a:prstGeom prst="rect">
            <a:avLst/>
          </a:prstGeom>
          <a:noFill/>
        </p:spPr>
        <p:txBody>
          <a:bodyPr wrap="square" rtlCol="0">
            <a:spAutoFit/>
          </a:bodyPr>
          <a:lstStyle/>
          <a:p>
            <a:r>
              <a:rPr lang="en-US" sz="1100" b="1" dirty="0">
                <a:solidFill>
                  <a:schemeClr val="tx2"/>
                </a:solidFill>
                <a:latin typeface="Calibri" panose="020F0502020204030204" pitchFamily="34" charset="0"/>
                <a:cs typeface="Calibri" panose="020F0502020204030204" pitchFamily="34" charset="0"/>
              </a:rPr>
              <a:t>Instance will be hosted on hardware which will not be shared with other AWS accounts</a:t>
            </a:r>
          </a:p>
          <a:p>
            <a:r>
              <a:rPr lang="en-US" sz="1100" b="1" dirty="0">
                <a:solidFill>
                  <a:schemeClr val="tx2"/>
                </a:solidFill>
                <a:latin typeface="Calibri" panose="020F0502020204030204" pitchFamily="34" charset="0"/>
                <a:cs typeface="Calibri" panose="020F0502020204030204" pitchFamily="34" charset="0"/>
              </a:rPr>
              <a:t>(Some regulations may dictate this)</a:t>
            </a:r>
            <a:endParaRPr lang="en-GB" sz="1100" b="1" dirty="0">
              <a:solidFill>
                <a:schemeClr val="tx2"/>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CE219D9B-BD70-4E0B-B74A-F521F4B7EEAB}"/>
              </a:ext>
            </a:extLst>
          </p:cNvPr>
          <p:cNvSpPr txBox="1"/>
          <p:nvPr/>
        </p:nvSpPr>
        <p:spPr>
          <a:xfrm>
            <a:off x="1163320" y="2725220"/>
            <a:ext cx="2425376" cy="600164"/>
          </a:xfrm>
          <a:prstGeom prst="rect">
            <a:avLst/>
          </a:prstGeom>
          <a:noFill/>
        </p:spPr>
        <p:txBody>
          <a:bodyPr wrap="square" rtlCol="0">
            <a:spAutoFit/>
          </a:bodyPr>
          <a:lstStyle/>
          <a:p>
            <a:r>
              <a:rPr lang="en-US" sz="1100" b="1" dirty="0">
                <a:solidFill>
                  <a:schemeClr val="tx2"/>
                </a:solidFill>
                <a:latin typeface="Calibri" panose="020F0502020204030204" pitchFamily="34" charset="0"/>
                <a:cs typeface="Calibri" panose="020F0502020204030204" pitchFamily="34" charset="0"/>
              </a:rPr>
              <a:t>Uses dedicated hardware . Usually required if software licensing is tied to physical hardware</a:t>
            </a:r>
            <a:endParaRPr lang="en-GB" sz="11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1360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marketplace</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Online store to discover, purchase and deploy IT S/W on top of AWS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Catalog of 4000+ Software solutions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Pre-configured for AWS and checked by AWS for security &amp; operability</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hlinkClick r:id="rId3"/>
              </a:rPr>
              <a:t>https://aws.amazon.com/marketplace</a:t>
            </a:r>
            <a:r>
              <a:rPr lang="en-US" sz="2400" dirty="0">
                <a:solidFill>
                  <a:schemeClr val="tx2"/>
                </a:solidFill>
                <a:latin typeface="Calibri" panose="020F0502020204030204" pitchFamily="34" charset="0"/>
                <a:cs typeface="Calibri" panose="020F0502020204030204" pitchFamily="34" charset="0"/>
              </a:rPr>
              <a:t> </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6029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8320" y="4626242"/>
            <a:ext cx="813970" cy="813970"/>
          </a:xfrm>
          <a:prstGeom prst="rect">
            <a:avLst/>
          </a:prstGeom>
        </p:spPr>
      </p:pic>
    </p:spTree>
    <p:extLst>
      <p:ext uri="{BB962C8B-B14F-4D97-AF65-F5344CB8AC3E}">
        <p14:creationId xmlns:p14="http://schemas.microsoft.com/office/powerpoint/2010/main" val="2278739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a:xfrm>
            <a:off x="1546185" y="1943283"/>
            <a:ext cx="9259747" cy="702000"/>
          </a:xfrm>
        </p:spPr>
        <p:txBody>
          <a:bodyPr>
            <a:normAutofit/>
          </a:bodyPr>
          <a:lstStyle/>
          <a:p>
            <a:r>
              <a:rPr lang="en-US" sz="2600" b="1" dirty="0">
                <a:solidFill>
                  <a:schemeClr val="tx2">
                    <a:lumMod val="50000"/>
                    <a:lumOff val="50000"/>
                  </a:schemeClr>
                </a:solidFill>
              </a:rPr>
              <a:t>Lab 2: Introduction to Amazon EC2</a:t>
            </a:r>
            <a:endParaRPr lang="en-GB" sz="2600" dirty="0">
              <a:solidFill>
                <a:schemeClr val="tx2">
                  <a:lumMod val="50000"/>
                  <a:lumOff val="50000"/>
                </a:schemeClr>
              </a:solidFill>
            </a:endParaRPr>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530944" y="2971800"/>
            <a:ext cx="8831484" cy="19177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Key takeaways from lab:</a:t>
            </a:r>
          </a:p>
          <a:p>
            <a:pPr lvl="1">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 </a:t>
            </a:r>
            <a:r>
              <a:rPr lang="en-US" sz="2000" dirty="0">
                <a:solidFill>
                  <a:schemeClr val="tx2"/>
                </a:solidFill>
                <a:latin typeface="Calibri" panose="020F0502020204030204" pitchFamily="34" charset="0"/>
                <a:cs typeface="Calibri" panose="020F0502020204030204" pitchFamily="34" charset="0"/>
              </a:rPr>
              <a:t>Launch your EC2 instance and install/configure web server during launch</a:t>
            </a:r>
          </a:p>
          <a:p>
            <a:pPr lvl="1">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 </a:t>
            </a:r>
            <a:r>
              <a:rPr lang="en-US" sz="2000" dirty="0">
                <a:solidFill>
                  <a:schemeClr val="tx2"/>
                </a:solidFill>
                <a:latin typeface="Calibri" panose="020F0502020204030204" pitchFamily="34" charset="0"/>
                <a:cs typeface="Calibri" panose="020F0502020204030204" pitchFamily="34" charset="0"/>
              </a:rPr>
              <a:t>Modify security group to make the server accessible from internet</a:t>
            </a:r>
          </a:p>
          <a:p>
            <a:pPr lvl="1">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 Resize the server – instance type and EBS volume size</a:t>
            </a:r>
          </a:p>
          <a:p>
            <a:pPr marL="0" indent="0"/>
            <a:endParaRPr lang="en-US" sz="2400"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7173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096000" y="1462617"/>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64266"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62755"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2606" y="5334391"/>
            <a:ext cx="813970" cy="813970"/>
          </a:xfrm>
          <a:prstGeom prst="rect">
            <a:avLst/>
          </a:prstGeom>
        </p:spPr>
      </p:pic>
    </p:spTree>
    <p:extLst>
      <p:ext uri="{BB962C8B-B14F-4D97-AF65-F5344CB8AC3E}">
        <p14:creationId xmlns:p14="http://schemas.microsoft.com/office/powerpoint/2010/main" val="1361278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Database options</a:t>
            </a:r>
            <a:endParaRPr lang="en-GB" dirty="0"/>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354603" y="1121946"/>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grpSp>
        <p:nvGrpSpPr>
          <p:cNvPr id="26" name="Group 25">
            <a:extLst>
              <a:ext uri="{FF2B5EF4-FFF2-40B4-BE49-F238E27FC236}">
                <a16:creationId xmlns:a16="http://schemas.microsoft.com/office/drawing/2014/main" id="{8C98513A-AFC5-4B0B-8CAB-C3E80558F202}"/>
              </a:ext>
            </a:extLst>
          </p:cNvPr>
          <p:cNvGrpSpPr/>
          <p:nvPr/>
        </p:nvGrpSpPr>
        <p:grpSpPr>
          <a:xfrm>
            <a:off x="7419480" y="1745841"/>
            <a:ext cx="1745290" cy="932202"/>
            <a:chOff x="7836619" y="1368070"/>
            <a:chExt cx="1745289" cy="969675"/>
          </a:xfrm>
        </p:grpSpPr>
        <p:pic>
          <p:nvPicPr>
            <p:cNvPr id="5" name="Graphic 4">
              <a:extLst>
                <a:ext uri="{FF2B5EF4-FFF2-40B4-BE49-F238E27FC236}">
                  <a16:creationId xmlns:a16="http://schemas.microsoft.com/office/drawing/2014/main" id="{8C45341D-DF67-4232-A795-124B3E00D3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8589" y="1368070"/>
              <a:ext cx="470867" cy="493410"/>
            </a:xfrm>
            <a:prstGeom prst="rect">
              <a:avLst/>
            </a:prstGeom>
          </p:spPr>
        </p:pic>
        <p:sp>
          <p:nvSpPr>
            <p:cNvPr id="6" name="TextBox 5">
              <a:extLst>
                <a:ext uri="{FF2B5EF4-FFF2-40B4-BE49-F238E27FC236}">
                  <a16:creationId xmlns:a16="http://schemas.microsoft.com/office/drawing/2014/main" id="{B7101483-60AD-4F4F-A1DB-2CA11FB2320A}"/>
                </a:ext>
              </a:extLst>
            </p:cNvPr>
            <p:cNvSpPr txBox="1"/>
            <p:nvPr/>
          </p:nvSpPr>
          <p:spPr>
            <a:xfrm>
              <a:off x="7836619" y="1953567"/>
              <a:ext cx="1745289" cy="384178"/>
            </a:xfrm>
            <a:prstGeom prst="rect">
              <a:avLst/>
            </a:prstGeom>
            <a:noFill/>
          </p:spPr>
          <p:txBody>
            <a:bodyPr wrap="square" rtlCol="0">
              <a:spAutoFit/>
            </a:bodyPr>
            <a:lstStyle/>
            <a:p>
              <a:r>
                <a:rPr lang="en-US" dirty="0">
                  <a:solidFill>
                    <a:schemeClr val="tx2"/>
                  </a:solidFill>
                  <a:latin typeface="Calibri" panose="020F0502020204030204" pitchFamily="34" charset="0"/>
                  <a:cs typeface="Calibri" panose="020F0502020204030204" pitchFamily="34" charset="0"/>
                </a:rPr>
                <a:t>Amazon Aurora</a:t>
              </a:r>
              <a:endParaRPr lang="en-GB" dirty="0">
                <a:solidFill>
                  <a:schemeClr val="tx2"/>
                </a:solidFill>
                <a:latin typeface="Calibri" panose="020F0502020204030204" pitchFamily="34" charset="0"/>
                <a:cs typeface="Calibri" panose="020F0502020204030204" pitchFamily="34" charset="0"/>
              </a:endParaRPr>
            </a:p>
          </p:txBody>
        </p:sp>
      </p:grpSp>
      <p:pic>
        <p:nvPicPr>
          <p:cNvPr id="8" name="Graphic 7">
            <a:extLst>
              <a:ext uri="{FF2B5EF4-FFF2-40B4-BE49-F238E27FC236}">
                <a16:creationId xmlns:a16="http://schemas.microsoft.com/office/drawing/2014/main" id="{EEB2BED6-5A1B-4DD6-B61F-5B698C88E3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85852" y="3043517"/>
            <a:ext cx="711200" cy="711200"/>
          </a:xfrm>
          <a:prstGeom prst="rect">
            <a:avLst/>
          </a:prstGeom>
        </p:spPr>
      </p:pic>
      <p:sp>
        <p:nvSpPr>
          <p:cNvPr id="9" name="TextBox 8">
            <a:extLst>
              <a:ext uri="{FF2B5EF4-FFF2-40B4-BE49-F238E27FC236}">
                <a16:creationId xmlns:a16="http://schemas.microsoft.com/office/drawing/2014/main" id="{1DED2C51-E223-4D95-A39E-246F83694834}"/>
              </a:ext>
            </a:extLst>
          </p:cNvPr>
          <p:cNvSpPr txBox="1"/>
          <p:nvPr/>
        </p:nvSpPr>
        <p:spPr>
          <a:xfrm>
            <a:off x="2034174" y="3817126"/>
            <a:ext cx="3186427" cy="369332"/>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Amazon DynamoDB : NoSQL</a:t>
            </a:r>
            <a:endParaRPr lang="en-GB" dirty="0">
              <a:solidFill>
                <a:schemeClr val="bg2">
                  <a:lumMod val="50000"/>
                </a:schemeClr>
              </a:solidFill>
              <a:latin typeface="Calibri" panose="020F0502020204030204" pitchFamily="34" charset="0"/>
              <a:cs typeface="Calibri" panose="020F0502020204030204" pitchFamily="34" charset="0"/>
            </a:endParaRPr>
          </a:p>
        </p:txBody>
      </p:sp>
      <p:pic>
        <p:nvPicPr>
          <p:cNvPr id="10" name="Graphic 9">
            <a:extLst>
              <a:ext uri="{FF2B5EF4-FFF2-40B4-BE49-F238E27FC236}">
                <a16:creationId xmlns:a16="http://schemas.microsoft.com/office/drawing/2014/main" id="{238ADB4D-42A4-4F00-84A1-34D290D96E6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34685" y="4679395"/>
            <a:ext cx="711200" cy="711200"/>
          </a:xfrm>
          <a:prstGeom prst="rect">
            <a:avLst/>
          </a:prstGeom>
        </p:spPr>
      </p:pic>
      <p:sp>
        <p:nvSpPr>
          <p:cNvPr id="11" name="TextBox 10">
            <a:extLst>
              <a:ext uri="{FF2B5EF4-FFF2-40B4-BE49-F238E27FC236}">
                <a16:creationId xmlns:a16="http://schemas.microsoft.com/office/drawing/2014/main" id="{FC3A1F30-B48D-4D22-B615-A810CABB8EA3}"/>
              </a:ext>
            </a:extLst>
          </p:cNvPr>
          <p:cNvSpPr txBox="1"/>
          <p:nvPr/>
        </p:nvSpPr>
        <p:spPr>
          <a:xfrm>
            <a:off x="1983007" y="5551490"/>
            <a:ext cx="3376027" cy="369332"/>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Amazon Redshift : Warehouse</a:t>
            </a:r>
            <a:endParaRPr lang="en-GB" dirty="0">
              <a:solidFill>
                <a:schemeClr val="bg2">
                  <a:lumMod val="50000"/>
                </a:schemeClr>
              </a:solidFill>
              <a:latin typeface="Calibri" panose="020F0502020204030204" pitchFamily="34" charset="0"/>
              <a:cs typeface="Calibri" panose="020F0502020204030204" pitchFamily="34" charset="0"/>
            </a:endParaRPr>
          </a:p>
        </p:txBody>
      </p:sp>
      <p:pic>
        <p:nvPicPr>
          <p:cNvPr id="12" name="Graphic 11">
            <a:extLst>
              <a:ext uri="{FF2B5EF4-FFF2-40B4-BE49-F238E27FC236}">
                <a16:creationId xmlns:a16="http://schemas.microsoft.com/office/drawing/2014/main" id="{88094506-5D1F-4157-A848-EC263B393D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93983" y="3027259"/>
            <a:ext cx="711200" cy="711200"/>
          </a:xfrm>
          <a:prstGeom prst="rect">
            <a:avLst/>
          </a:prstGeom>
        </p:spPr>
      </p:pic>
      <p:sp>
        <p:nvSpPr>
          <p:cNvPr id="13" name="TextBox 12">
            <a:extLst>
              <a:ext uri="{FF2B5EF4-FFF2-40B4-BE49-F238E27FC236}">
                <a16:creationId xmlns:a16="http://schemas.microsoft.com/office/drawing/2014/main" id="{D47721B5-9AC4-4C0E-A569-88845F147BB2}"/>
              </a:ext>
            </a:extLst>
          </p:cNvPr>
          <p:cNvSpPr txBox="1"/>
          <p:nvPr/>
        </p:nvSpPr>
        <p:spPr>
          <a:xfrm>
            <a:off x="5342305" y="3801764"/>
            <a:ext cx="3186427" cy="369332"/>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Amazon Neptune : Graph DB</a:t>
            </a:r>
            <a:endParaRPr lang="en-GB" dirty="0">
              <a:solidFill>
                <a:schemeClr val="bg2">
                  <a:lumMod val="50000"/>
                </a:schemeClr>
              </a:solidFill>
              <a:latin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45E25E35-340D-4573-875B-74F15EEE7F4B}"/>
              </a:ext>
            </a:extLst>
          </p:cNvPr>
          <p:cNvGrpSpPr/>
          <p:nvPr/>
        </p:nvGrpSpPr>
        <p:grpSpPr>
          <a:xfrm>
            <a:off x="2029757" y="1482149"/>
            <a:ext cx="1623391" cy="1213266"/>
            <a:chOff x="886756" y="1482149"/>
            <a:chExt cx="1623391" cy="1213266"/>
          </a:xfrm>
        </p:grpSpPr>
        <p:pic>
          <p:nvPicPr>
            <p:cNvPr id="14" name="Graphic 13">
              <a:extLst>
                <a:ext uri="{FF2B5EF4-FFF2-40B4-BE49-F238E27FC236}">
                  <a16:creationId xmlns:a16="http://schemas.microsoft.com/office/drawing/2014/main" id="{DFB464F2-AD47-406C-A55E-AB81F10ABDB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42852" y="1482149"/>
              <a:ext cx="711200" cy="711200"/>
            </a:xfrm>
            <a:prstGeom prst="rect">
              <a:avLst/>
            </a:prstGeom>
          </p:spPr>
        </p:pic>
        <p:sp>
          <p:nvSpPr>
            <p:cNvPr id="15" name="TextBox 14">
              <a:extLst>
                <a:ext uri="{FF2B5EF4-FFF2-40B4-BE49-F238E27FC236}">
                  <a16:creationId xmlns:a16="http://schemas.microsoft.com/office/drawing/2014/main" id="{A4149108-C9F5-4372-B6B5-830E27A889DD}"/>
                </a:ext>
              </a:extLst>
            </p:cNvPr>
            <p:cNvSpPr txBox="1"/>
            <p:nvPr/>
          </p:nvSpPr>
          <p:spPr>
            <a:xfrm>
              <a:off x="886756" y="2326083"/>
              <a:ext cx="1623391" cy="369332"/>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Amazon RDS</a:t>
              </a:r>
              <a:endParaRPr lang="en-GB" dirty="0">
                <a:solidFill>
                  <a:schemeClr val="bg2">
                    <a:lumMod val="50000"/>
                  </a:schemeClr>
                </a:solidFill>
                <a:latin typeface="Calibri" panose="020F0502020204030204" pitchFamily="34" charset="0"/>
                <a:cs typeface="Calibri" panose="020F0502020204030204" pitchFamily="34" charset="0"/>
              </a:endParaRPr>
            </a:p>
          </p:txBody>
        </p:sp>
      </p:grpSp>
      <p:pic>
        <p:nvPicPr>
          <p:cNvPr id="16" name="Graphic 15">
            <a:extLst>
              <a:ext uri="{FF2B5EF4-FFF2-40B4-BE49-F238E27FC236}">
                <a16:creationId xmlns:a16="http://schemas.microsoft.com/office/drawing/2014/main" id="{FDCF2225-3A26-4901-9A38-2A3EFC8FC26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79158" y="3008525"/>
            <a:ext cx="711200" cy="711200"/>
          </a:xfrm>
          <a:prstGeom prst="rect">
            <a:avLst/>
          </a:prstGeom>
        </p:spPr>
      </p:pic>
      <p:sp>
        <p:nvSpPr>
          <p:cNvPr id="17" name="TextBox 16">
            <a:extLst>
              <a:ext uri="{FF2B5EF4-FFF2-40B4-BE49-F238E27FC236}">
                <a16:creationId xmlns:a16="http://schemas.microsoft.com/office/drawing/2014/main" id="{55267F9C-C064-4C66-B2AF-CD18AB8CC99B}"/>
              </a:ext>
            </a:extLst>
          </p:cNvPr>
          <p:cNvSpPr txBox="1"/>
          <p:nvPr/>
        </p:nvSpPr>
        <p:spPr>
          <a:xfrm>
            <a:off x="8410306" y="3779726"/>
            <a:ext cx="2426253" cy="646331"/>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Amazon </a:t>
            </a:r>
            <a:r>
              <a:rPr lang="en-US" dirty="0" err="1">
                <a:solidFill>
                  <a:schemeClr val="bg2">
                    <a:lumMod val="50000"/>
                  </a:schemeClr>
                </a:solidFill>
                <a:latin typeface="Calibri" panose="020F0502020204030204" pitchFamily="34" charset="0"/>
                <a:cs typeface="Calibri" panose="020F0502020204030204" pitchFamily="34" charset="0"/>
              </a:rPr>
              <a:t>ElasticCache</a:t>
            </a:r>
            <a:r>
              <a:rPr lang="en-US" dirty="0">
                <a:solidFill>
                  <a:schemeClr val="bg2">
                    <a:lumMod val="50000"/>
                  </a:schemeClr>
                </a:solidFill>
                <a:latin typeface="Calibri" panose="020F0502020204030204" pitchFamily="34" charset="0"/>
                <a:cs typeface="Calibri" panose="020F0502020204030204" pitchFamily="34" charset="0"/>
              </a:rPr>
              <a:t> : In memory DB</a:t>
            </a:r>
            <a:endParaRPr lang="en-GB" dirty="0">
              <a:solidFill>
                <a:schemeClr val="bg2">
                  <a:lumMod val="50000"/>
                </a:schemeClr>
              </a:solidFill>
              <a:latin typeface="Calibri" panose="020F0502020204030204" pitchFamily="34" charset="0"/>
              <a:cs typeface="Calibri" panose="020F0502020204030204" pitchFamily="34" charset="0"/>
            </a:endParaRPr>
          </a:p>
        </p:txBody>
      </p:sp>
      <p:pic>
        <p:nvPicPr>
          <p:cNvPr id="18" name="Graphic 17">
            <a:extLst>
              <a:ext uri="{FF2B5EF4-FFF2-40B4-BE49-F238E27FC236}">
                <a16:creationId xmlns:a16="http://schemas.microsoft.com/office/drawing/2014/main" id="{8DABDF8B-DCBB-4228-8E4E-70A4B1C92B5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870226" y="4687190"/>
            <a:ext cx="711200" cy="711200"/>
          </a:xfrm>
          <a:prstGeom prst="rect">
            <a:avLst/>
          </a:prstGeom>
        </p:spPr>
      </p:pic>
      <p:sp>
        <p:nvSpPr>
          <p:cNvPr id="19" name="TextBox 18">
            <a:extLst>
              <a:ext uri="{FF2B5EF4-FFF2-40B4-BE49-F238E27FC236}">
                <a16:creationId xmlns:a16="http://schemas.microsoft.com/office/drawing/2014/main" id="{414FB0EB-522C-4E85-9063-75B4D6253BE7}"/>
              </a:ext>
            </a:extLst>
          </p:cNvPr>
          <p:cNvSpPr txBox="1"/>
          <p:nvPr/>
        </p:nvSpPr>
        <p:spPr>
          <a:xfrm>
            <a:off x="5368300" y="5470390"/>
            <a:ext cx="2940327" cy="646331"/>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AWS Database migration service</a:t>
            </a:r>
            <a:endParaRPr lang="en-GB" dirty="0">
              <a:solidFill>
                <a:schemeClr val="bg2">
                  <a:lumMod val="50000"/>
                </a:schemeClr>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B5350A5-FBFE-40A2-9395-C356A3B16328}"/>
              </a:ext>
            </a:extLst>
          </p:cNvPr>
          <p:cNvPicPr>
            <a:picLocks noChangeAspect="1"/>
          </p:cNvPicPr>
          <p:nvPr/>
        </p:nvPicPr>
        <p:blipFill>
          <a:blip r:embed="rId17"/>
          <a:stretch>
            <a:fillRect/>
          </a:stretch>
        </p:blipFill>
        <p:spPr>
          <a:xfrm>
            <a:off x="4144799" y="1290303"/>
            <a:ext cx="1484986" cy="711200"/>
          </a:xfrm>
          <a:prstGeom prst="rect">
            <a:avLst/>
          </a:prstGeom>
        </p:spPr>
      </p:pic>
      <p:pic>
        <p:nvPicPr>
          <p:cNvPr id="21" name="Picture 20">
            <a:extLst>
              <a:ext uri="{FF2B5EF4-FFF2-40B4-BE49-F238E27FC236}">
                <a16:creationId xmlns:a16="http://schemas.microsoft.com/office/drawing/2014/main" id="{785A0EFC-7461-4838-A120-4397A6EFEB93}"/>
              </a:ext>
            </a:extLst>
          </p:cNvPr>
          <p:cNvPicPr>
            <a:picLocks noChangeAspect="1"/>
          </p:cNvPicPr>
          <p:nvPr/>
        </p:nvPicPr>
        <p:blipFill>
          <a:blip r:embed="rId18"/>
          <a:stretch>
            <a:fillRect/>
          </a:stretch>
        </p:blipFill>
        <p:spPr>
          <a:xfrm>
            <a:off x="5870227" y="1368072"/>
            <a:ext cx="1074805" cy="496723"/>
          </a:xfrm>
          <a:prstGeom prst="rect">
            <a:avLst/>
          </a:prstGeom>
        </p:spPr>
      </p:pic>
      <p:pic>
        <p:nvPicPr>
          <p:cNvPr id="22" name="Picture 21">
            <a:extLst>
              <a:ext uri="{FF2B5EF4-FFF2-40B4-BE49-F238E27FC236}">
                <a16:creationId xmlns:a16="http://schemas.microsoft.com/office/drawing/2014/main" id="{CDD089F8-4EA6-4ACB-B3CE-6F4B48BFB75C}"/>
              </a:ext>
            </a:extLst>
          </p:cNvPr>
          <p:cNvPicPr>
            <a:picLocks noChangeAspect="1"/>
          </p:cNvPicPr>
          <p:nvPr/>
        </p:nvPicPr>
        <p:blipFill>
          <a:blip r:embed="rId19"/>
          <a:stretch>
            <a:fillRect/>
          </a:stretch>
        </p:blipFill>
        <p:spPr>
          <a:xfrm>
            <a:off x="3872696" y="2001504"/>
            <a:ext cx="1347904" cy="646331"/>
          </a:xfrm>
          <a:prstGeom prst="rect">
            <a:avLst/>
          </a:prstGeom>
        </p:spPr>
      </p:pic>
      <p:pic>
        <p:nvPicPr>
          <p:cNvPr id="23" name="Picture 22">
            <a:extLst>
              <a:ext uri="{FF2B5EF4-FFF2-40B4-BE49-F238E27FC236}">
                <a16:creationId xmlns:a16="http://schemas.microsoft.com/office/drawing/2014/main" id="{798E8EBC-5B18-4532-96CC-D45488C880B9}"/>
              </a:ext>
            </a:extLst>
          </p:cNvPr>
          <p:cNvPicPr>
            <a:picLocks noChangeAspect="1"/>
          </p:cNvPicPr>
          <p:nvPr/>
        </p:nvPicPr>
        <p:blipFill>
          <a:blip r:embed="rId20"/>
          <a:stretch>
            <a:fillRect/>
          </a:stretch>
        </p:blipFill>
        <p:spPr>
          <a:xfrm>
            <a:off x="7264403" y="1316474"/>
            <a:ext cx="1395847" cy="530422"/>
          </a:xfrm>
          <a:prstGeom prst="rect">
            <a:avLst/>
          </a:prstGeom>
        </p:spPr>
      </p:pic>
      <p:pic>
        <p:nvPicPr>
          <p:cNvPr id="24" name="Picture 23">
            <a:extLst>
              <a:ext uri="{FF2B5EF4-FFF2-40B4-BE49-F238E27FC236}">
                <a16:creationId xmlns:a16="http://schemas.microsoft.com/office/drawing/2014/main" id="{6294A902-E4A7-4519-8EA1-2500BB07F13A}"/>
              </a:ext>
            </a:extLst>
          </p:cNvPr>
          <p:cNvPicPr>
            <a:picLocks noChangeAspect="1"/>
          </p:cNvPicPr>
          <p:nvPr/>
        </p:nvPicPr>
        <p:blipFill>
          <a:blip r:embed="rId21"/>
          <a:stretch>
            <a:fillRect/>
          </a:stretch>
        </p:blipFill>
        <p:spPr>
          <a:xfrm>
            <a:off x="5775591" y="2063194"/>
            <a:ext cx="1324519" cy="569129"/>
          </a:xfrm>
          <a:prstGeom prst="rect">
            <a:avLst/>
          </a:prstGeom>
        </p:spPr>
      </p:pic>
      <p:sp>
        <p:nvSpPr>
          <p:cNvPr id="27" name="Rectangle 26">
            <a:extLst>
              <a:ext uri="{FF2B5EF4-FFF2-40B4-BE49-F238E27FC236}">
                <a16:creationId xmlns:a16="http://schemas.microsoft.com/office/drawing/2014/main" id="{68F9855E-1B20-4F4E-B028-7EC53AABE813}"/>
              </a:ext>
            </a:extLst>
          </p:cNvPr>
          <p:cNvSpPr/>
          <p:nvPr/>
        </p:nvSpPr>
        <p:spPr>
          <a:xfrm>
            <a:off x="3657600" y="1219200"/>
            <a:ext cx="5800588" cy="1626166"/>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Arrow: Right 27">
            <a:extLst>
              <a:ext uri="{FF2B5EF4-FFF2-40B4-BE49-F238E27FC236}">
                <a16:creationId xmlns:a16="http://schemas.microsoft.com/office/drawing/2014/main" id="{29E32736-A27F-4DA4-9899-D8B8C29A7E35}"/>
              </a:ext>
            </a:extLst>
          </p:cNvPr>
          <p:cNvSpPr/>
          <p:nvPr/>
        </p:nvSpPr>
        <p:spPr>
          <a:xfrm>
            <a:off x="3246702" y="1645904"/>
            <a:ext cx="334699" cy="430291"/>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Graphic 29">
            <a:extLst>
              <a:ext uri="{FF2B5EF4-FFF2-40B4-BE49-F238E27FC236}">
                <a16:creationId xmlns:a16="http://schemas.microsoft.com/office/drawing/2014/main" id="{2D5F3DF4-F095-44F9-AB92-AA420925CC35}"/>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779159" y="4640441"/>
            <a:ext cx="622557" cy="711200"/>
          </a:xfrm>
          <a:prstGeom prst="rect">
            <a:avLst/>
          </a:prstGeom>
        </p:spPr>
      </p:pic>
      <p:sp>
        <p:nvSpPr>
          <p:cNvPr id="31" name="TextBox 30">
            <a:extLst>
              <a:ext uri="{FF2B5EF4-FFF2-40B4-BE49-F238E27FC236}">
                <a16:creationId xmlns:a16="http://schemas.microsoft.com/office/drawing/2014/main" id="{0E454962-6311-474D-A9A3-07DBF7ED627B}"/>
              </a:ext>
            </a:extLst>
          </p:cNvPr>
          <p:cNvSpPr txBox="1"/>
          <p:nvPr/>
        </p:nvSpPr>
        <p:spPr>
          <a:xfrm>
            <a:off x="8379652" y="5451813"/>
            <a:ext cx="2821749" cy="646331"/>
          </a:xfrm>
          <a:prstGeom prst="rect">
            <a:avLst/>
          </a:prstGeom>
          <a:noFill/>
        </p:spPr>
        <p:txBody>
          <a:bodyPr wrap="squar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Amazon Timestream : Time series DB</a:t>
            </a:r>
            <a:endParaRPr lang="en-GB" dirty="0">
              <a:solidFill>
                <a:schemeClr val="bg2">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9832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Amazon RDS (Relational Database Service)</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Service for easy setup, operation and scaling of a relational database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Available for 6 databases (Oracle, SQL Server, MySQL, </a:t>
            </a:r>
            <a:r>
              <a:rPr lang="en-US" sz="2400" dirty="0" err="1">
                <a:solidFill>
                  <a:schemeClr val="tx2"/>
                </a:solidFill>
                <a:latin typeface="Calibri" panose="020F0502020204030204" pitchFamily="34" charset="0"/>
                <a:cs typeface="Calibri" panose="020F0502020204030204" pitchFamily="34" charset="0"/>
              </a:rPr>
              <a:t>PostGre</a:t>
            </a:r>
            <a:r>
              <a:rPr lang="en-US" sz="2400" dirty="0">
                <a:solidFill>
                  <a:schemeClr val="tx2"/>
                </a:solidFill>
                <a:latin typeface="Calibri" panose="020F0502020204030204" pitchFamily="34" charset="0"/>
                <a:cs typeface="Calibri" panose="020F0502020204030204" pitchFamily="34" charset="0"/>
              </a:rPr>
              <a:t> SQL, MariaDB and Aurora)</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Simple and fast to deploy</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Common DB admin tasks are managed by AWS (like patching, backups)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Fast, predictable performance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Simple and fast to scale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Cost effective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Multi AZ deployment possible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Read replicas to improve performance for read intensive workloads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Available on VMWare for use in on-premise / hybrid environment </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23508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Amazon RDS – Additional facts</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Amazon Aurora </a:t>
            </a:r>
            <a:r>
              <a:rPr lang="en-US" sz="2400" dirty="0">
                <a:solidFill>
                  <a:schemeClr val="tx2"/>
                </a:solidFill>
                <a:latin typeface="Calibri" panose="020F0502020204030204" pitchFamily="34" charset="0"/>
                <a:cs typeface="Calibri" panose="020F0502020204030204" pitchFamily="34" charset="0"/>
              </a:rPr>
              <a:t>is similar to MySQL and </a:t>
            </a:r>
            <a:r>
              <a:rPr lang="en-US" sz="2400" dirty="0" err="1">
                <a:solidFill>
                  <a:schemeClr val="tx2"/>
                </a:solidFill>
                <a:latin typeface="Calibri" panose="020F0502020204030204" pitchFamily="34" charset="0"/>
                <a:cs typeface="Calibri" panose="020F0502020204030204" pitchFamily="34" charset="0"/>
              </a:rPr>
              <a:t>PostGre</a:t>
            </a:r>
            <a:r>
              <a:rPr lang="en-US" sz="2400" dirty="0">
                <a:solidFill>
                  <a:schemeClr val="tx2"/>
                </a:solidFill>
                <a:latin typeface="Calibri" panose="020F0502020204030204" pitchFamily="34" charset="0"/>
                <a:cs typeface="Calibri" panose="020F0502020204030204" pitchFamily="34" charset="0"/>
              </a:rPr>
              <a:t> SQL but faster than both. Schema conversion tools available to migrate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RDS is a </a:t>
            </a:r>
            <a:r>
              <a:rPr lang="en-US" sz="2400" u="sng" dirty="0">
                <a:solidFill>
                  <a:schemeClr val="tx2"/>
                </a:solidFill>
                <a:latin typeface="Calibri" panose="020F0502020204030204" pitchFamily="34" charset="0"/>
                <a:cs typeface="Calibri" panose="020F0502020204030204" pitchFamily="34" charset="0"/>
              </a:rPr>
              <a:t>partially managed service</a:t>
            </a:r>
          </a:p>
          <a:p>
            <a:pPr>
              <a:buFont typeface="Arial" panose="020B0604020202020204" pitchFamily="34" charset="0"/>
              <a:buChar char="•"/>
            </a:pPr>
            <a:r>
              <a:rPr lang="en-US" sz="2400" u="sng" dirty="0">
                <a:solidFill>
                  <a:schemeClr val="tx2"/>
                </a:solidFill>
                <a:latin typeface="Calibri" panose="020F0502020204030204" pitchFamily="34" charset="0"/>
                <a:cs typeface="Calibri" panose="020F0502020204030204" pitchFamily="34" charset="0"/>
              </a:rPr>
              <a:t>Multi AZ deployment</a:t>
            </a:r>
            <a:r>
              <a:rPr lang="en-US" sz="2400" dirty="0">
                <a:solidFill>
                  <a:schemeClr val="tx2"/>
                </a:solidFill>
                <a:latin typeface="Calibri" panose="020F0502020204030204" pitchFamily="34" charset="0"/>
                <a:cs typeface="Calibri" panose="020F0502020204030204" pitchFamily="34" charset="0"/>
              </a:rPr>
              <a:t> uses strongly consistent replication (synchronous)</a:t>
            </a:r>
          </a:p>
          <a:p>
            <a:pPr marL="0" indent="0"/>
            <a:r>
              <a:rPr lang="en-US" sz="2400" dirty="0">
                <a:solidFill>
                  <a:schemeClr val="tx2"/>
                </a:solidFill>
                <a:latin typeface="Calibri" panose="020F0502020204030204" pitchFamily="34" charset="0"/>
                <a:cs typeface="Calibri" panose="020F0502020204030204" pitchFamily="34" charset="0"/>
              </a:rPr>
              <a:t>      and provides one end point for seamless failover</a:t>
            </a:r>
          </a:p>
          <a:p>
            <a:pPr>
              <a:buFont typeface="Arial" panose="020B0604020202020204" pitchFamily="34" charset="0"/>
              <a:buChar char="•"/>
            </a:pPr>
            <a:r>
              <a:rPr lang="en-US" sz="2400" u="sng" dirty="0">
                <a:solidFill>
                  <a:schemeClr val="tx2"/>
                </a:solidFill>
                <a:latin typeface="Calibri" panose="020F0502020204030204" pitchFamily="34" charset="0"/>
                <a:cs typeface="Calibri" panose="020F0502020204030204" pitchFamily="34" charset="0"/>
              </a:rPr>
              <a:t>Read repli</a:t>
            </a:r>
            <a:r>
              <a:rPr lang="en-US" sz="2400" dirty="0">
                <a:solidFill>
                  <a:schemeClr val="tx2"/>
                </a:solidFill>
                <a:latin typeface="Calibri" panose="020F0502020204030204" pitchFamily="34" charset="0"/>
                <a:cs typeface="Calibri" panose="020F0502020204030204" pitchFamily="34" charset="0"/>
              </a:rPr>
              <a:t>cas are based on eventual consistency</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Aurora supports </a:t>
            </a:r>
            <a:r>
              <a:rPr lang="en-US" sz="2200" dirty="0" err="1">
                <a:solidFill>
                  <a:schemeClr val="tx2"/>
                </a:solidFill>
                <a:latin typeface="Calibri" panose="020F0502020204030204" pitchFamily="34" charset="0"/>
                <a:cs typeface="Calibri" panose="020F0502020204030204" pitchFamily="34" charset="0"/>
              </a:rPr>
              <a:t>upto</a:t>
            </a:r>
            <a:r>
              <a:rPr lang="en-US" sz="2200" dirty="0">
                <a:solidFill>
                  <a:schemeClr val="tx2"/>
                </a:solidFill>
                <a:latin typeface="Calibri" panose="020F0502020204030204" pitchFamily="34" charset="0"/>
                <a:cs typeface="Calibri" panose="020F0502020204030204" pitchFamily="34" charset="0"/>
              </a:rPr>
              <a:t> 50 read replicas , My SQL (5), </a:t>
            </a:r>
            <a:r>
              <a:rPr lang="en-US" sz="2200" dirty="0" err="1">
                <a:solidFill>
                  <a:schemeClr val="tx2"/>
                </a:solidFill>
                <a:latin typeface="Calibri" panose="020F0502020204030204" pitchFamily="34" charset="0"/>
                <a:cs typeface="Calibri" panose="020F0502020204030204" pitchFamily="34" charset="0"/>
              </a:rPr>
              <a:t>PostGre</a:t>
            </a:r>
            <a:r>
              <a:rPr lang="en-US" sz="2200" dirty="0">
                <a:solidFill>
                  <a:schemeClr val="tx2"/>
                </a:solidFill>
                <a:latin typeface="Calibri" panose="020F0502020204030204" pitchFamily="34" charset="0"/>
                <a:cs typeface="Calibri" panose="020F0502020204030204" pitchFamily="34" charset="0"/>
              </a:rPr>
              <a:t>(5), Maria (5) , none for SQL Server and Oracle</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t>
            </a:r>
            <a:r>
              <a:rPr lang="en-US" sz="2400" u="sng" dirty="0">
                <a:solidFill>
                  <a:schemeClr val="tx2"/>
                </a:solidFill>
                <a:latin typeface="Calibri" panose="020F0502020204030204" pitchFamily="34" charset="0"/>
                <a:cs typeface="Calibri" panose="020F0502020204030204" pitchFamily="34" charset="0"/>
              </a:rPr>
              <a:t>DB instance</a:t>
            </a:r>
            <a:r>
              <a:rPr lang="en-US" sz="2400" dirty="0">
                <a:solidFill>
                  <a:schemeClr val="tx2"/>
                </a:solidFill>
                <a:latin typeface="Calibri" panose="020F0502020204030204" pitchFamily="34" charset="0"/>
                <a:cs typeface="Calibri" panose="020F0502020204030204" pitchFamily="34" charset="0"/>
              </a:rPr>
              <a:t>” is the building block of RDS and represents an isolated DB environment on the cloud. One instance can contain multiple user databases</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374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Typical RDS deployment</a:t>
            </a:r>
            <a:endParaRPr lang="en-GB" dirty="0"/>
          </a:p>
        </p:txBody>
      </p:sp>
      <p:grpSp>
        <p:nvGrpSpPr>
          <p:cNvPr id="8" name="Group 7">
            <a:extLst>
              <a:ext uri="{FF2B5EF4-FFF2-40B4-BE49-F238E27FC236}">
                <a16:creationId xmlns:a16="http://schemas.microsoft.com/office/drawing/2014/main" id="{6ABDCA00-2105-4E82-9FCB-6091E9DBD769}"/>
              </a:ext>
            </a:extLst>
          </p:cNvPr>
          <p:cNvGrpSpPr/>
          <p:nvPr/>
        </p:nvGrpSpPr>
        <p:grpSpPr>
          <a:xfrm>
            <a:off x="5105400" y="1219201"/>
            <a:ext cx="2209800" cy="953045"/>
            <a:chOff x="9218505" y="1256394"/>
            <a:chExt cx="2301904" cy="1089894"/>
          </a:xfrm>
        </p:grpSpPr>
        <p:sp>
          <p:nvSpPr>
            <p:cNvPr id="9" name="TextBox 8">
              <a:extLst>
                <a:ext uri="{FF2B5EF4-FFF2-40B4-BE49-F238E27FC236}">
                  <a16:creationId xmlns:a16="http://schemas.microsoft.com/office/drawing/2014/main" id="{733EAAF4-B545-462F-8C3D-9B5B6C548271}"/>
                </a:ext>
              </a:extLst>
            </p:cNvPr>
            <p:cNvSpPr txBox="1"/>
            <p:nvPr/>
          </p:nvSpPr>
          <p:spPr>
            <a:xfrm>
              <a:off x="9218505" y="1994317"/>
              <a:ext cx="2301904" cy="351971"/>
            </a:xfrm>
            <a:prstGeom prst="rect">
              <a:avLst/>
            </a:prstGeom>
            <a:noFill/>
          </p:spPr>
          <p:txBody>
            <a:bodyPr wrap="square" rtlCol="0">
              <a:spAutoFit/>
            </a:bodyPr>
            <a:lstStyle/>
            <a:p>
              <a:pPr algn="ctr"/>
              <a:r>
                <a:rPr lang="en-US" sz="1400" dirty="0"/>
                <a:t>Elastic Load Balancing</a:t>
              </a:r>
            </a:p>
          </p:txBody>
        </p:sp>
        <p:pic>
          <p:nvPicPr>
            <p:cNvPr id="10" name="Graphic 9">
              <a:extLst>
                <a:ext uri="{FF2B5EF4-FFF2-40B4-BE49-F238E27FC236}">
                  <a16:creationId xmlns:a16="http://schemas.microsoft.com/office/drawing/2014/main" id="{09512F2A-3243-4C67-B6C3-2B30C3CE39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72732" y="1256394"/>
              <a:ext cx="711200" cy="711200"/>
            </a:xfrm>
            <a:prstGeom prst="rect">
              <a:avLst/>
            </a:prstGeom>
          </p:spPr>
        </p:pic>
      </p:grpSp>
      <p:sp>
        <p:nvSpPr>
          <p:cNvPr id="11" name="TextBox 10">
            <a:extLst>
              <a:ext uri="{FF2B5EF4-FFF2-40B4-BE49-F238E27FC236}">
                <a16:creationId xmlns:a16="http://schemas.microsoft.com/office/drawing/2014/main" id="{D597785C-E398-4147-A392-9C2ADF5F300C}"/>
              </a:ext>
            </a:extLst>
          </p:cNvPr>
          <p:cNvSpPr txBox="1"/>
          <p:nvPr/>
        </p:nvSpPr>
        <p:spPr>
          <a:xfrm>
            <a:off x="5094890" y="3581400"/>
            <a:ext cx="2514600" cy="523220"/>
          </a:xfrm>
          <a:prstGeom prst="rect">
            <a:avLst/>
          </a:prstGeom>
          <a:noFill/>
        </p:spPr>
        <p:txBody>
          <a:bodyPr wrap="square" rtlCol="0">
            <a:spAutoFit/>
          </a:bodyPr>
          <a:lstStyle/>
          <a:p>
            <a:pPr algn="ctr"/>
            <a:r>
              <a:rPr lang="en-US" sz="1400" dirty="0"/>
              <a:t>Amazon EC2 application servers</a:t>
            </a:r>
          </a:p>
        </p:txBody>
      </p:sp>
      <p:pic>
        <p:nvPicPr>
          <p:cNvPr id="12" name="Graphic 11">
            <a:extLst>
              <a:ext uri="{FF2B5EF4-FFF2-40B4-BE49-F238E27FC236}">
                <a16:creationId xmlns:a16="http://schemas.microsoft.com/office/drawing/2014/main" id="{E74A368B-F34E-44FF-BE25-267F5EDF1F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5530" y="2717800"/>
            <a:ext cx="711200" cy="711200"/>
          </a:xfrm>
          <a:prstGeom prst="rect">
            <a:avLst/>
          </a:prstGeom>
        </p:spPr>
      </p:pic>
      <p:pic>
        <p:nvPicPr>
          <p:cNvPr id="13" name="Graphic 12">
            <a:extLst>
              <a:ext uri="{FF2B5EF4-FFF2-40B4-BE49-F238E27FC236}">
                <a16:creationId xmlns:a16="http://schemas.microsoft.com/office/drawing/2014/main" id="{B88B7FBA-EA38-4497-8458-446A3644BB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0800" y="2717800"/>
            <a:ext cx="711200" cy="711200"/>
          </a:xfrm>
          <a:prstGeom prst="rect">
            <a:avLst/>
          </a:prstGeom>
        </p:spPr>
      </p:pic>
      <p:sp>
        <p:nvSpPr>
          <p:cNvPr id="14" name="TextBox 13">
            <a:extLst>
              <a:ext uri="{FF2B5EF4-FFF2-40B4-BE49-F238E27FC236}">
                <a16:creationId xmlns:a16="http://schemas.microsoft.com/office/drawing/2014/main" id="{8C372A16-314D-4BE7-91C5-3A07B2F43B77}"/>
              </a:ext>
            </a:extLst>
          </p:cNvPr>
          <p:cNvSpPr txBox="1"/>
          <p:nvPr/>
        </p:nvSpPr>
        <p:spPr>
          <a:xfrm>
            <a:off x="5130096" y="5316513"/>
            <a:ext cx="2301904" cy="523220"/>
          </a:xfrm>
          <a:prstGeom prst="rect">
            <a:avLst/>
          </a:prstGeom>
          <a:noFill/>
        </p:spPr>
        <p:txBody>
          <a:bodyPr wrap="square" rtlCol="0">
            <a:spAutoFit/>
          </a:bodyPr>
          <a:lstStyle/>
          <a:p>
            <a:pPr algn="ctr"/>
            <a:r>
              <a:rPr lang="en-US" sz="1400" dirty="0"/>
              <a:t>Amazon RDS</a:t>
            </a:r>
          </a:p>
          <a:p>
            <a:pPr algn="ctr"/>
            <a:r>
              <a:rPr lang="en-US" sz="1400" dirty="0"/>
              <a:t>Primary instance</a:t>
            </a:r>
          </a:p>
        </p:txBody>
      </p:sp>
      <p:pic>
        <p:nvPicPr>
          <p:cNvPr id="15" name="Graphic 14">
            <a:extLst>
              <a:ext uri="{FF2B5EF4-FFF2-40B4-BE49-F238E27FC236}">
                <a16:creationId xmlns:a16="http://schemas.microsoft.com/office/drawing/2014/main" id="{B850E62B-F7B6-4C2D-A79C-04C06EA6A1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5448" y="4520700"/>
            <a:ext cx="711200" cy="711200"/>
          </a:xfrm>
          <a:prstGeom prst="rect">
            <a:avLst/>
          </a:prstGeom>
        </p:spPr>
      </p:pic>
      <p:pic>
        <p:nvPicPr>
          <p:cNvPr id="16" name="Graphic 15">
            <a:extLst>
              <a:ext uri="{FF2B5EF4-FFF2-40B4-BE49-F238E27FC236}">
                <a16:creationId xmlns:a16="http://schemas.microsoft.com/office/drawing/2014/main" id="{C763DF2A-FA42-4380-B9EC-9B378BED8F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48600" y="4520700"/>
            <a:ext cx="711200" cy="711200"/>
          </a:xfrm>
          <a:prstGeom prst="rect">
            <a:avLst/>
          </a:prstGeom>
        </p:spPr>
      </p:pic>
      <p:sp>
        <p:nvSpPr>
          <p:cNvPr id="17" name="TextBox 16">
            <a:extLst>
              <a:ext uri="{FF2B5EF4-FFF2-40B4-BE49-F238E27FC236}">
                <a16:creationId xmlns:a16="http://schemas.microsoft.com/office/drawing/2014/main" id="{AC12CFF5-5830-4BE9-A91F-F666F16FFDDB}"/>
              </a:ext>
            </a:extLst>
          </p:cNvPr>
          <p:cNvSpPr txBox="1"/>
          <p:nvPr/>
        </p:nvSpPr>
        <p:spPr>
          <a:xfrm>
            <a:off x="7053248" y="5290810"/>
            <a:ext cx="2301904" cy="523220"/>
          </a:xfrm>
          <a:prstGeom prst="rect">
            <a:avLst/>
          </a:prstGeom>
          <a:noFill/>
        </p:spPr>
        <p:txBody>
          <a:bodyPr wrap="square" rtlCol="0">
            <a:spAutoFit/>
          </a:bodyPr>
          <a:lstStyle/>
          <a:p>
            <a:pPr algn="ctr"/>
            <a:r>
              <a:rPr lang="en-US" sz="1400" dirty="0"/>
              <a:t>Amazon RDS</a:t>
            </a:r>
          </a:p>
          <a:p>
            <a:pPr algn="ctr"/>
            <a:r>
              <a:rPr lang="en-US" sz="1400" dirty="0"/>
              <a:t>Secondary instance</a:t>
            </a:r>
          </a:p>
        </p:txBody>
      </p:sp>
      <p:cxnSp>
        <p:nvCxnSpPr>
          <p:cNvPr id="18" name="Straight Connector 17">
            <a:extLst>
              <a:ext uri="{FF2B5EF4-FFF2-40B4-BE49-F238E27FC236}">
                <a16:creationId xmlns:a16="http://schemas.microsoft.com/office/drawing/2014/main" id="{433DB488-2C3A-49FC-A384-B029E5552605}"/>
              </a:ext>
            </a:extLst>
          </p:cNvPr>
          <p:cNvCxnSpPr>
            <a:cxnSpLocks/>
          </p:cNvCxnSpPr>
          <p:nvPr/>
        </p:nvCxnSpPr>
        <p:spPr>
          <a:xfrm>
            <a:off x="7239000" y="4239534"/>
            <a:ext cx="0" cy="2085067"/>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2BE38B4-C9E4-472B-9646-824951067012}"/>
              </a:ext>
            </a:extLst>
          </p:cNvPr>
          <p:cNvSpPr txBox="1"/>
          <p:nvPr/>
        </p:nvSpPr>
        <p:spPr>
          <a:xfrm>
            <a:off x="4859028" y="4336034"/>
            <a:ext cx="542136"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AZ1</a:t>
            </a:r>
            <a:endParaRPr lang="en-GB"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6CDFD51E-8F18-49B4-B9B2-7B8A293D3B18}"/>
              </a:ext>
            </a:extLst>
          </p:cNvPr>
          <p:cNvSpPr txBox="1"/>
          <p:nvPr/>
        </p:nvSpPr>
        <p:spPr>
          <a:xfrm>
            <a:off x="9076837" y="4239533"/>
            <a:ext cx="542136"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AZ2</a:t>
            </a:r>
            <a:endParaRPr lang="en-GB" dirty="0">
              <a:latin typeface="Calibri" panose="020F0502020204030204" pitchFamily="34" charset="0"/>
              <a:cs typeface="Calibri" panose="020F0502020204030204" pitchFamily="34" charset="0"/>
            </a:endParaRPr>
          </a:p>
        </p:txBody>
      </p:sp>
      <p:cxnSp>
        <p:nvCxnSpPr>
          <p:cNvPr id="23" name="Straight Arrow Connector 22">
            <a:extLst>
              <a:ext uri="{FF2B5EF4-FFF2-40B4-BE49-F238E27FC236}">
                <a16:creationId xmlns:a16="http://schemas.microsoft.com/office/drawing/2014/main" id="{6F5D6897-E969-4697-8E26-D738C2CF8B9A}"/>
              </a:ext>
            </a:extLst>
          </p:cNvPr>
          <p:cNvCxnSpPr>
            <a:stCxn id="15" idx="3"/>
            <a:endCxn id="16" idx="1"/>
          </p:cNvCxnSpPr>
          <p:nvPr/>
        </p:nvCxnSpPr>
        <p:spPr>
          <a:xfrm>
            <a:off x="6636648" y="4876300"/>
            <a:ext cx="1211952"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5EC4840-289A-4804-A5A5-36CEC6FD1595}"/>
              </a:ext>
            </a:extLst>
          </p:cNvPr>
          <p:cNvCxnSpPr>
            <a:stCxn id="9" idx="2"/>
          </p:cNvCxnSpPr>
          <p:nvPr/>
        </p:nvCxnSpPr>
        <p:spPr>
          <a:xfrm>
            <a:off x="6210300" y="2172246"/>
            <a:ext cx="0" cy="545555"/>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50CD414-EA12-4358-8AB6-128C1DEE29C6}"/>
              </a:ext>
            </a:extLst>
          </p:cNvPr>
          <p:cNvCxnSpPr>
            <a:cxnSpLocks/>
          </p:cNvCxnSpPr>
          <p:nvPr/>
        </p:nvCxnSpPr>
        <p:spPr>
          <a:xfrm>
            <a:off x="6264279" y="4104620"/>
            <a:ext cx="0" cy="44198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ED9F332D-34A2-4085-B865-E948B5D9E2B5}"/>
              </a:ext>
            </a:extLst>
          </p:cNvPr>
          <p:cNvSpPr/>
          <p:nvPr/>
        </p:nvSpPr>
        <p:spPr>
          <a:xfrm>
            <a:off x="7315200" y="4239534"/>
            <a:ext cx="2514588" cy="2085067"/>
          </a:xfrm>
          <a:prstGeom prst="rect">
            <a:avLst/>
          </a:prstGeom>
          <a:solidFill>
            <a:schemeClr val="bg1">
              <a:lumMod val="9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1D7B5D5A-269A-4480-88AE-307317CD8C6F}"/>
              </a:ext>
            </a:extLst>
          </p:cNvPr>
          <p:cNvSpPr txBox="1"/>
          <p:nvPr/>
        </p:nvSpPr>
        <p:spPr>
          <a:xfrm>
            <a:off x="7960710" y="2190191"/>
            <a:ext cx="2472280" cy="1169551"/>
          </a:xfrm>
          <a:prstGeom prst="rect">
            <a:avLst/>
          </a:prstGeom>
          <a:noFill/>
        </p:spPr>
        <p:txBody>
          <a:bodyPr wrap="none" rtlCol="0">
            <a:spAutoFit/>
          </a:bodyPr>
          <a:lstStyle/>
          <a:p>
            <a:r>
              <a:rPr lang="en-US" sz="1400" b="1" u="sng" dirty="0">
                <a:latin typeface="Calibri" panose="020F0502020204030204" pitchFamily="34" charset="0"/>
                <a:cs typeface="Calibri" panose="020F0502020204030204" pitchFamily="34" charset="0"/>
              </a:rPr>
              <a:t>Security through :</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IAM groups and policies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SSL / N/W encryption / TDE</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Security groups</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RDS encryption</a:t>
            </a:r>
            <a:endParaRPr lang="en-GB" sz="1400" dirty="0">
              <a:latin typeface="Calibri" panose="020F0502020204030204" pitchFamily="34" charset="0"/>
              <a:cs typeface="Calibri" panose="020F0502020204030204" pitchFamily="34" charset="0"/>
            </a:endParaRPr>
          </a:p>
        </p:txBody>
      </p:sp>
      <p:sp>
        <p:nvSpPr>
          <p:cNvPr id="30" name="Arrow: Right 29">
            <a:extLst>
              <a:ext uri="{FF2B5EF4-FFF2-40B4-BE49-F238E27FC236}">
                <a16:creationId xmlns:a16="http://schemas.microsoft.com/office/drawing/2014/main" id="{B091F28F-7E6B-440E-88B6-98CB984B8B10}"/>
              </a:ext>
            </a:extLst>
          </p:cNvPr>
          <p:cNvSpPr/>
          <p:nvPr/>
        </p:nvSpPr>
        <p:spPr>
          <a:xfrm rot="10800000">
            <a:off x="4156527" y="4608865"/>
            <a:ext cx="524738" cy="711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787F716A-F1B9-4565-9A1F-4651F21311E9}"/>
              </a:ext>
            </a:extLst>
          </p:cNvPr>
          <p:cNvSpPr txBox="1"/>
          <p:nvPr/>
        </p:nvSpPr>
        <p:spPr>
          <a:xfrm>
            <a:off x="2070061" y="4779799"/>
            <a:ext cx="1684564" cy="369332"/>
          </a:xfrm>
          <a:prstGeom prst="rect">
            <a:avLst/>
          </a:prstGeom>
          <a:noFill/>
        </p:spPr>
        <p:txBody>
          <a:bodyPr wrap="none" rtlCol="0">
            <a:spAutoFit/>
          </a:bodyPr>
          <a:lstStyle/>
          <a:p>
            <a:r>
              <a:rPr lang="en-US" b="1" dirty="0">
                <a:solidFill>
                  <a:schemeClr val="tx2"/>
                </a:solidFill>
                <a:latin typeface="Calibri" panose="020F0502020204030204" pitchFamily="34" charset="0"/>
                <a:cs typeface="Calibri" panose="020F0502020204030204" pitchFamily="34" charset="0"/>
              </a:rPr>
              <a:t>Backup Options</a:t>
            </a:r>
            <a:endParaRPr lang="en-GB" b="1" dirty="0">
              <a:solidFill>
                <a:schemeClr val="tx2"/>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270684D3-9789-4AE2-81F6-D9D3E5BB9B79}"/>
              </a:ext>
            </a:extLst>
          </p:cNvPr>
          <p:cNvSpPr txBox="1"/>
          <p:nvPr/>
        </p:nvSpPr>
        <p:spPr>
          <a:xfrm>
            <a:off x="1143001" y="5444698"/>
            <a:ext cx="1072025" cy="338554"/>
          </a:xfrm>
          <a:prstGeom prst="rect">
            <a:avLst/>
          </a:prstGeom>
          <a:noFill/>
        </p:spPr>
        <p:txBody>
          <a:bodyPr wrap="none" rtlCol="0">
            <a:spAutoFit/>
          </a:bodyPr>
          <a:lstStyle/>
          <a:p>
            <a:r>
              <a:rPr lang="en-US" sz="1600" b="1" dirty="0">
                <a:solidFill>
                  <a:schemeClr val="tx2"/>
                </a:solidFill>
                <a:latin typeface="Calibri" panose="020F0502020204030204" pitchFamily="34" charset="0"/>
                <a:cs typeface="Calibri" panose="020F0502020204030204" pitchFamily="34" charset="0"/>
              </a:rPr>
              <a:t>Automatic</a:t>
            </a:r>
            <a:endParaRPr lang="en-GB" sz="1600" b="1" dirty="0">
              <a:solidFill>
                <a:schemeClr val="tx2"/>
              </a:solidFill>
              <a:latin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0E5C542A-FC1F-4966-ABFE-C39097147D0A}"/>
              </a:ext>
            </a:extLst>
          </p:cNvPr>
          <p:cNvSpPr txBox="1"/>
          <p:nvPr/>
        </p:nvSpPr>
        <p:spPr>
          <a:xfrm>
            <a:off x="3216794" y="5442148"/>
            <a:ext cx="1660006" cy="338554"/>
          </a:xfrm>
          <a:prstGeom prst="rect">
            <a:avLst/>
          </a:prstGeom>
          <a:noFill/>
        </p:spPr>
        <p:txBody>
          <a:bodyPr wrap="none" rtlCol="0">
            <a:spAutoFit/>
          </a:bodyPr>
          <a:lstStyle/>
          <a:p>
            <a:r>
              <a:rPr lang="en-US" sz="1600" b="1" dirty="0">
                <a:solidFill>
                  <a:schemeClr val="tx2"/>
                </a:solidFill>
                <a:latin typeface="Calibri" panose="020F0502020204030204" pitchFamily="34" charset="0"/>
                <a:cs typeface="Calibri" panose="020F0502020204030204" pitchFamily="34" charset="0"/>
              </a:rPr>
              <a:t>Manual snapshot</a:t>
            </a:r>
            <a:endParaRPr lang="en-GB" sz="1600" b="1" dirty="0">
              <a:solidFill>
                <a:schemeClr val="tx2"/>
              </a:solidFill>
              <a:latin typeface="Calibri" panose="020F0502020204030204" pitchFamily="34" charset="0"/>
              <a:cs typeface="Calibri" panose="020F0502020204030204" pitchFamily="34" charset="0"/>
            </a:endParaRPr>
          </a:p>
        </p:txBody>
      </p:sp>
      <p:cxnSp>
        <p:nvCxnSpPr>
          <p:cNvPr id="35" name="Straight Connector 34">
            <a:extLst>
              <a:ext uri="{FF2B5EF4-FFF2-40B4-BE49-F238E27FC236}">
                <a16:creationId xmlns:a16="http://schemas.microsoft.com/office/drawing/2014/main" id="{3DE1896C-C437-4272-82C6-5345EFFCA696}"/>
              </a:ext>
            </a:extLst>
          </p:cNvPr>
          <p:cNvCxnSpPr>
            <a:stCxn id="31" idx="2"/>
          </p:cNvCxnSpPr>
          <p:nvPr/>
        </p:nvCxnSpPr>
        <p:spPr>
          <a:xfrm>
            <a:off x="2912343" y="5149132"/>
            <a:ext cx="0" cy="293017"/>
          </a:xfrm>
          <a:prstGeom prst="line">
            <a:avLst/>
          </a:prstGeom>
          <a:ln w="349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4103DAE-6A4C-48D5-A15B-094B2D33FAF2}"/>
              </a:ext>
            </a:extLst>
          </p:cNvPr>
          <p:cNvCxnSpPr>
            <a:stCxn id="32" idx="0"/>
            <a:endCxn id="33" idx="0"/>
          </p:cNvCxnSpPr>
          <p:nvPr/>
        </p:nvCxnSpPr>
        <p:spPr>
          <a:xfrm flipV="1">
            <a:off x="1679013" y="5442148"/>
            <a:ext cx="2367784" cy="25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992EEAE0-D428-44A5-B8E6-43F5BE064DC1}"/>
              </a:ext>
            </a:extLst>
          </p:cNvPr>
          <p:cNvSpPr/>
          <p:nvPr/>
        </p:nvSpPr>
        <p:spPr>
          <a:xfrm>
            <a:off x="1627860" y="5283786"/>
            <a:ext cx="162060" cy="1647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5B07DCFD-D86D-4FF0-B5A4-460C546013E2}"/>
              </a:ext>
            </a:extLst>
          </p:cNvPr>
          <p:cNvSpPr/>
          <p:nvPr/>
        </p:nvSpPr>
        <p:spPr>
          <a:xfrm>
            <a:off x="3976117" y="5277362"/>
            <a:ext cx="162060" cy="1647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FA2CEBDD-7AB2-4A62-A81F-3FB5798EA97A}"/>
              </a:ext>
            </a:extLst>
          </p:cNvPr>
          <p:cNvSpPr txBox="1"/>
          <p:nvPr/>
        </p:nvSpPr>
        <p:spPr>
          <a:xfrm>
            <a:off x="1159846" y="5774318"/>
            <a:ext cx="1915140" cy="646331"/>
          </a:xfrm>
          <a:prstGeom prst="rect">
            <a:avLst/>
          </a:prstGeom>
          <a:noFill/>
        </p:spPr>
        <p:txBody>
          <a:bodyPr wrap="none" rtlCol="0">
            <a:spAutoFit/>
          </a:bodyPr>
          <a:lstStyle/>
          <a:p>
            <a:r>
              <a:rPr lang="en-US" sz="1200" dirty="0">
                <a:solidFill>
                  <a:schemeClr val="tx2"/>
                </a:solidFill>
                <a:latin typeface="Calibri" panose="020F0502020204030204" pitchFamily="34" charset="0"/>
                <a:cs typeface="Calibri" panose="020F0502020204030204" pitchFamily="34" charset="0"/>
              </a:rPr>
              <a:t>Enabled by default</a:t>
            </a:r>
          </a:p>
          <a:p>
            <a:r>
              <a:rPr lang="en-US" sz="1200" dirty="0">
                <a:solidFill>
                  <a:schemeClr val="tx2"/>
                </a:solidFill>
                <a:latin typeface="Calibri" panose="020F0502020204030204" pitchFamily="34" charset="0"/>
                <a:cs typeface="Calibri" panose="020F0502020204030204" pitchFamily="34" charset="0"/>
              </a:rPr>
              <a:t>Full daily snapshot plus logs</a:t>
            </a:r>
          </a:p>
          <a:p>
            <a:r>
              <a:rPr lang="en-US" sz="1200" dirty="0">
                <a:solidFill>
                  <a:schemeClr val="tx2"/>
                </a:solidFill>
                <a:latin typeface="Calibri" panose="020F0502020204030204" pitchFamily="34" charset="0"/>
                <a:cs typeface="Calibri" panose="020F0502020204030204" pitchFamily="34" charset="0"/>
              </a:rPr>
              <a:t>Retention up to 35 days</a:t>
            </a:r>
            <a:endParaRPr lang="en-GB" sz="1200" dirty="0">
              <a:solidFill>
                <a:schemeClr val="tx2"/>
              </a:solidFill>
              <a:latin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BBECC69E-ED59-4B0E-B472-80C1EE82F7D1}"/>
              </a:ext>
            </a:extLst>
          </p:cNvPr>
          <p:cNvSpPr txBox="1"/>
          <p:nvPr/>
        </p:nvSpPr>
        <p:spPr>
          <a:xfrm>
            <a:off x="3190260" y="5754470"/>
            <a:ext cx="2473562" cy="830997"/>
          </a:xfrm>
          <a:prstGeom prst="rect">
            <a:avLst/>
          </a:prstGeom>
          <a:noFill/>
        </p:spPr>
        <p:txBody>
          <a:bodyPr wrap="none" rtlCol="0">
            <a:spAutoFit/>
          </a:bodyPr>
          <a:lstStyle/>
          <a:p>
            <a:r>
              <a:rPr lang="en-US" sz="1200" dirty="0">
                <a:solidFill>
                  <a:schemeClr val="tx2"/>
                </a:solidFill>
                <a:latin typeface="Calibri" panose="020F0502020204030204" pitchFamily="34" charset="0"/>
                <a:cs typeface="Calibri" panose="020F0502020204030204" pitchFamily="34" charset="0"/>
              </a:rPr>
              <a:t>Triggered manually</a:t>
            </a:r>
          </a:p>
          <a:p>
            <a:r>
              <a:rPr lang="en-US" sz="1200" dirty="0">
                <a:solidFill>
                  <a:schemeClr val="tx2"/>
                </a:solidFill>
                <a:latin typeface="Calibri" panose="020F0502020204030204" pitchFamily="34" charset="0"/>
                <a:cs typeface="Calibri" panose="020F0502020204030204" pitchFamily="34" charset="0"/>
              </a:rPr>
              <a:t>Stored in S3</a:t>
            </a:r>
          </a:p>
          <a:p>
            <a:r>
              <a:rPr lang="en-US" sz="1200" dirty="0">
                <a:solidFill>
                  <a:schemeClr val="tx2"/>
                </a:solidFill>
                <a:latin typeface="Calibri" panose="020F0502020204030204" pitchFamily="34" charset="0"/>
                <a:cs typeface="Calibri" panose="020F0502020204030204" pitchFamily="34" charset="0"/>
              </a:rPr>
              <a:t>Persists till user deletes</a:t>
            </a:r>
          </a:p>
          <a:p>
            <a:r>
              <a:rPr lang="en-US" sz="1200" dirty="0">
                <a:solidFill>
                  <a:schemeClr val="tx2"/>
                </a:solidFill>
                <a:latin typeface="Calibri" panose="020F0502020204030204" pitchFamily="34" charset="0"/>
                <a:cs typeface="Calibri" panose="020F0502020204030204" pitchFamily="34" charset="0"/>
              </a:rPr>
              <a:t>Allows recovery to that specific state</a:t>
            </a:r>
            <a:endParaRPr lang="en-GB" sz="12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11533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524626" y="1434042"/>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13"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05659"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89015" y="1462617"/>
            <a:ext cx="813970" cy="813970"/>
          </a:xfrm>
          <a:prstGeom prst="rect">
            <a:avLst/>
          </a:prstGeom>
        </p:spPr>
      </p:pic>
    </p:spTree>
    <p:extLst>
      <p:ext uri="{BB962C8B-B14F-4D97-AF65-F5344CB8AC3E}">
        <p14:creationId xmlns:p14="http://schemas.microsoft.com/office/powerpoint/2010/main" val="1717427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a:xfrm>
            <a:off x="1546185" y="1943283"/>
            <a:ext cx="9259747" cy="702000"/>
          </a:xfrm>
        </p:spPr>
        <p:txBody>
          <a:bodyPr>
            <a:normAutofit/>
          </a:bodyPr>
          <a:lstStyle/>
          <a:p>
            <a:r>
              <a:rPr lang="en-US" sz="2600" b="1" dirty="0">
                <a:solidFill>
                  <a:schemeClr val="tx2">
                    <a:lumMod val="50000"/>
                    <a:lumOff val="50000"/>
                  </a:schemeClr>
                </a:solidFill>
              </a:rPr>
              <a:t>Lab 2: Introduction to Amazon RDS (Linux)</a:t>
            </a:r>
            <a:endParaRPr lang="en-GB" sz="2600" dirty="0">
              <a:solidFill>
                <a:schemeClr val="tx2">
                  <a:lumMod val="50000"/>
                  <a:lumOff val="50000"/>
                </a:schemeClr>
              </a:solidFill>
            </a:endParaRPr>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546184" y="3048000"/>
            <a:ext cx="8740816" cy="19177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Key takeaways from lab:</a:t>
            </a:r>
          </a:p>
          <a:p>
            <a:pPr lvl="1">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 Launch a MySQL RDS instance with an empty database</a:t>
            </a:r>
          </a:p>
          <a:p>
            <a:pPr lvl="1">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 Connect to the EC2 server running in public subnet using SSH</a:t>
            </a:r>
          </a:p>
          <a:p>
            <a:pPr lvl="1">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 Connect to the database from the EC2 instance and run SQL queries</a:t>
            </a:r>
          </a:p>
          <a:p>
            <a:pPr marL="0" indent="0"/>
            <a:endParaRPr lang="en-US" sz="2400"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4632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524626" y="1434042"/>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13"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05659"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71628" y="2169023"/>
            <a:ext cx="813970" cy="813970"/>
          </a:xfrm>
          <a:prstGeom prst="rect">
            <a:avLst/>
          </a:prstGeom>
        </p:spPr>
      </p:pic>
    </p:spTree>
    <p:extLst>
      <p:ext uri="{BB962C8B-B14F-4D97-AF65-F5344CB8AC3E}">
        <p14:creationId xmlns:p14="http://schemas.microsoft.com/office/powerpoint/2010/main" val="23455998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Storage options</a:t>
            </a:r>
            <a:endParaRPr lang="en-GB" dirty="0"/>
          </a:p>
        </p:txBody>
      </p:sp>
      <p:sp>
        <p:nvSpPr>
          <p:cNvPr id="4" name="Rectangle: Rounded Corners 3">
            <a:extLst>
              <a:ext uri="{FF2B5EF4-FFF2-40B4-BE49-F238E27FC236}">
                <a16:creationId xmlns:a16="http://schemas.microsoft.com/office/drawing/2014/main" id="{6A589A26-DF88-4E0C-BAA5-E40F2B593ECC}"/>
              </a:ext>
            </a:extLst>
          </p:cNvPr>
          <p:cNvSpPr/>
          <p:nvPr/>
        </p:nvSpPr>
        <p:spPr>
          <a:xfrm>
            <a:off x="2667000" y="1524001"/>
            <a:ext cx="1752600" cy="773951"/>
          </a:xfrm>
          <a:prstGeom prst="roundRect">
            <a:avLst/>
          </a:prstGeom>
          <a:solidFill>
            <a:schemeClr val="bg1"/>
          </a:solidFill>
          <a:effectLst>
            <a:glow rad="63500">
              <a:schemeClr val="accent2">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Object storage</a:t>
            </a:r>
          </a:p>
        </p:txBody>
      </p:sp>
      <p:pic>
        <p:nvPicPr>
          <p:cNvPr id="6" name="Picture 5">
            <a:extLst>
              <a:ext uri="{FF2B5EF4-FFF2-40B4-BE49-F238E27FC236}">
                <a16:creationId xmlns:a16="http://schemas.microsoft.com/office/drawing/2014/main" id="{699658D4-4154-42DA-8F8D-413565F658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70" y="2716080"/>
            <a:ext cx="1752531" cy="996252"/>
          </a:xfrm>
          <a:prstGeom prst="rect">
            <a:avLst/>
          </a:prstGeom>
        </p:spPr>
      </p:pic>
      <p:pic>
        <p:nvPicPr>
          <p:cNvPr id="16" name="Picture 15">
            <a:extLst>
              <a:ext uri="{FF2B5EF4-FFF2-40B4-BE49-F238E27FC236}">
                <a16:creationId xmlns:a16="http://schemas.microsoft.com/office/drawing/2014/main" id="{70B2742C-B816-4710-B444-9D1F5AEFF1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1022" y="2702074"/>
            <a:ext cx="1809283" cy="1024264"/>
          </a:xfrm>
          <a:prstGeom prst="rect">
            <a:avLst/>
          </a:prstGeom>
        </p:spPr>
      </p:pic>
      <p:pic>
        <p:nvPicPr>
          <p:cNvPr id="18" name="Picture 17">
            <a:extLst>
              <a:ext uri="{FF2B5EF4-FFF2-40B4-BE49-F238E27FC236}">
                <a16:creationId xmlns:a16="http://schemas.microsoft.com/office/drawing/2014/main" id="{0D36C00A-9E56-45F0-94F3-C4EC811E38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39706" y="3983483"/>
            <a:ext cx="1779895" cy="869994"/>
          </a:xfrm>
          <a:prstGeom prst="rect">
            <a:avLst/>
          </a:prstGeom>
        </p:spPr>
      </p:pic>
      <p:pic>
        <p:nvPicPr>
          <p:cNvPr id="20" name="Picture 19">
            <a:extLst>
              <a:ext uri="{FF2B5EF4-FFF2-40B4-BE49-F238E27FC236}">
                <a16:creationId xmlns:a16="http://schemas.microsoft.com/office/drawing/2014/main" id="{10E7FBC6-962C-43A5-A2BB-A5FD79DE77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55599" y="2749055"/>
            <a:ext cx="1575402" cy="930302"/>
          </a:xfrm>
          <a:prstGeom prst="rect">
            <a:avLst/>
          </a:prstGeom>
        </p:spPr>
      </p:pic>
      <p:sp>
        <p:nvSpPr>
          <p:cNvPr id="9" name="Rectangle: Rounded Corners 8">
            <a:extLst>
              <a:ext uri="{FF2B5EF4-FFF2-40B4-BE49-F238E27FC236}">
                <a16:creationId xmlns:a16="http://schemas.microsoft.com/office/drawing/2014/main" id="{FF7B10F6-73FD-42FB-B83E-F9548D1EBF59}"/>
              </a:ext>
            </a:extLst>
          </p:cNvPr>
          <p:cNvSpPr/>
          <p:nvPr/>
        </p:nvSpPr>
        <p:spPr>
          <a:xfrm>
            <a:off x="5105400" y="1524001"/>
            <a:ext cx="1752600" cy="773951"/>
          </a:xfrm>
          <a:prstGeom prst="roundRect">
            <a:avLst/>
          </a:prstGeom>
          <a:solidFill>
            <a:schemeClr val="bg1"/>
          </a:solidFill>
          <a:effectLst>
            <a:glow rad="63500">
              <a:schemeClr val="accent2">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Block storage</a:t>
            </a:r>
          </a:p>
        </p:txBody>
      </p:sp>
      <p:sp>
        <p:nvSpPr>
          <p:cNvPr id="10" name="Rectangle: Rounded Corners 9">
            <a:extLst>
              <a:ext uri="{FF2B5EF4-FFF2-40B4-BE49-F238E27FC236}">
                <a16:creationId xmlns:a16="http://schemas.microsoft.com/office/drawing/2014/main" id="{721F39B7-2373-4E4E-9F76-6313A5D0B5EA}"/>
              </a:ext>
            </a:extLst>
          </p:cNvPr>
          <p:cNvSpPr/>
          <p:nvPr/>
        </p:nvSpPr>
        <p:spPr>
          <a:xfrm>
            <a:off x="7543800" y="1524001"/>
            <a:ext cx="1752600" cy="773951"/>
          </a:xfrm>
          <a:prstGeom prst="roundRect">
            <a:avLst/>
          </a:prstGeom>
          <a:solidFill>
            <a:schemeClr val="bg1"/>
          </a:solidFill>
          <a:effectLst>
            <a:glow rad="63500">
              <a:schemeClr val="accent2">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File storage</a:t>
            </a:r>
          </a:p>
        </p:txBody>
      </p:sp>
    </p:spTree>
    <p:extLst>
      <p:ext uri="{BB962C8B-B14F-4D97-AF65-F5344CB8AC3E}">
        <p14:creationId xmlns:p14="http://schemas.microsoft.com/office/powerpoint/2010/main" val="3665532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Amazon S3 (Simple Storage Service)</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480862" y="1181100"/>
            <a:ext cx="9431438" cy="4495800"/>
          </a:xfrm>
        </p:spPr>
        <p:txBody>
          <a:bodyPr>
            <a:noAutofit/>
          </a:body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Storage for the internet</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Object level storage (Max limit of 5 TB per object)</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Designed for 11 nines durability: replicated to six copies across &gt;= 3 </a:t>
            </a:r>
            <a:r>
              <a:rPr lang="en-US" sz="2000" dirty="0" err="1">
                <a:solidFill>
                  <a:schemeClr val="tx2"/>
                </a:solidFill>
                <a:latin typeface="Calibri" panose="020F0502020204030204" pitchFamily="34" charset="0"/>
                <a:cs typeface="Calibri" panose="020F0502020204030204" pitchFamily="34" charset="0"/>
              </a:rPr>
              <a:t>Azs</a:t>
            </a:r>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Replication is consistent for reads and writes - synchronous (real time)</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Data stored inside Buckets (soft limit of 100 buckets per account)</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Very low cost (charged at per GB per month)</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Ideal for Write Once, Read Many (WORM) kind of requirements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Supports Event triggers (e.g. when a file is uploaded)</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Accessed through HTTP URL which should be DNS compliant</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Private to the owner by default ; access can be controlled through policies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Supports versioning (delete does not remove the item, only puts a delete marker and enables a new version to be created. Possible to retrieve earlier version)</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7028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S3 Concepts</a:t>
            </a:r>
            <a:endParaRPr lang="en-GB" dirty="0"/>
          </a:p>
        </p:txBody>
      </p:sp>
      <p:sp>
        <p:nvSpPr>
          <p:cNvPr id="5" name="TextBox 4">
            <a:extLst>
              <a:ext uri="{FF2B5EF4-FFF2-40B4-BE49-F238E27FC236}">
                <a16:creationId xmlns:a16="http://schemas.microsoft.com/office/drawing/2014/main" id="{BD862304-E1AF-4FD3-9752-D534151FA8C9}"/>
              </a:ext>
            </a:extLst>
          </p:cNvPr>
          <p:cNvSpPr txBox="1"/>
          <p:nvPr/>
        </p:nvSpPr>
        <p:spPr>
          <a:xfrm>
            <a:off x="2155529" y="5336139"/>
            <a:ext cx="6113661" cy="369332"/>
          </a:xfrm>
          <a:prstGeom prst="rect">
            <a:avLst/>
          </a:prstGeom>
          <a:noFill/>
        </p:spPr>
        <p:txBody>
          <a:bodyPr wrap="none" rtlCol="0">
            <a:spAutoFit/>
          </a:bodyPr>
          <a:lstStyle/>
          <a:p>
            <a:r>
              <a:rPr lang="en-US" b="1" dirty="0">
                <a:solidFill>
                  <a:schemeClr val="tx2"/>
                </a:solidFill>
                <a:latin typeface="Calibri" panose="020F0502020204030204" pitchFamily="34" charset="0"/>
                <a:cs typeface="Calibri" panose="020F0502020204030204" pitchFamily="34" charset="0"/>
              </a:rPr>
              <a:t>An Object Key is the unique identifier for an object in a bucket</a:t>
            </a:r>
            <a:endParaRPr lang="en-GB" b="1" dirty="0">
              <a:solidFill>
                <a:schemeClr val="tx2"/>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5FC8CF52-69BD-468B-A374-9B6AA3EDA825}"/>
              </a:ext>
            </a:extLst>
          </p:cNvPr>
          <p:cNvSpPr txBox="1"/>
          <p:nvPr/>
        </p:nvSpPr>
        <p:spPr>
          <a:xfrm>
            <a:off x="6533449" y="1343760"/>
            <a:ext cx="3849516" cy="397031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S3 stored data as objects inside buckets</a:t>
            </a:r>
          </a:p>
          <a:p>
            <a:pPr marL="285750"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Bucket name is globally unique across accounts and regions</a:t>
            </a:r>
          </a:p>
          <a:p>
            <a:pPr marL="285750"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An object is composed of a file plus any meta-data that describes the file</a:t>
            </a:r>
          </a:p>
          <a:p>
            <a:pPr marL="285750"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You can have up to 100 buckets in an account</a:t>
            </a:r>
          </a:p>
          <a:p>
            <a:pPr marL="285750"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Maximum object size is 5 TB</a:t>
            </a:r>
          </a:p>
          <a:p>
            <a:pPr marL="285750"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Three states of a S3 bucket :</a:t>
            </a:r>
          </a:p>
          <a:p>
            <a:pPr marL="742950" lvl="1"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Un-versioned (default)</a:t>
            </a:r>
          </a:p>
          <a:p>
            <a:pPr marL="742950" lvl="1"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Versioning enabled</a:t>
            </a:r>
          </a:p>
          <a:p>
            <a:pPr marL="742950" lvl="1" indent="-285750">
              <a:buFont typeface="Arial" panose="020B0604020202020204" pitchFamily="34" charset="0"/>
              <a:buChar char="•"/>
            </a:pPr>
            <a:r>
              <a:rPr lang="en-US" dirty="0">
                <a:solidFill>
                  <a:srgbClr val="0070C0"/>
                </a:solidFill>
                <a:latin typeface="Calibri" panose="020F0502020204030204" pitchFamily="34" charset="0"/>
                <a:cs typeface="Calibri" panose="020F0502020204030204" pitchFamily="34" charset="0"/>
              </a:rPr>
              <a:t>Versioning suspended</a:t>
            </a:r>
            <a:endParaRPr lang="en-GB" dirty="0">
              <a:solidFill>
                <a:srgbClr val="0070C0"/>
              </a:solidFill>
              <a:latin typeface="Calibri" panose="020F0502020204030204" pitchFamily="34" charset="0"/>
              <a:cs typeface="Calibri" panose="020F0502020204030204" pitchFamily="34" charset="0"/>
            </a:endParaRPr>
          </a:p>
        </p:txBody>
      </p:sp>
      <p:pic>
        <p:nvPicPr>
          <p:cNvPr id="9" name="Graphic 8">
            <a:extLst>
              <a:ext uri="{FF2B5EF4-FFF2-40B4-BE49-F238E27FC236}">
                <a16:creationId xmlns:a16="http://schemas.microsoft.com/office/drawing/2014/main" id="{19875208-6FA2-4014-AD0E-03F835E193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5350" y="1209324"/>
            <a:ext cx="711200" cy="711200"/>
          </a:xfrm>
          <a:prstGeom prst="rect">
            <a:avLst/>
          </a:prstGeom>
        </p:spPr>
      </p:pic>
      <p:sp>
        <p:nvSpPr>
          <p:cNvPr id="13" name="TextBox 12">
            <a:extLst>
              <a:ext uri="{FF2B5EF4-FFF2-40B4-BE49-F238E27FC236}">
                <a16:creationId xmlns:a16="http://schemas.microsoft.com/office/drawing/2014/main" id="{F98A1432-CD17-4A7F-9C68-5C615003E935}"/>
              </a:ext>
            </a:extLst>
          </p:cNvPr>
          <p:cNvSpPr txBox="1"/>
          <p:nvPr/>
        </p:nvSpPr>
        <p:spPr>
          <a:xfrm>
            <a:off x="3019998" y="1920524"/>
            <a:ext cx="2301904"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Amazon Simple Storage Service</a:t>
            </a:r>
          </a:p>
        </p:txBody>
      </p:sp>
      <p:pic>
        <p:nvPicPr>
          <p:cNvPr id="14" name="Graphic 13">
            <a:extLst>
              <a:ext uri="{FF2B5EF4-FFF2-40B4-BE49-F238E27FC236}">
                <a16:creationId xmlns:a16="http://schemas.microsoft.com/office/drawing/2014/main" id="{62C74F0F-AE09-4B2C-A969-72D8A950A6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69522" y="3028296"/>
            <a:ext cx="469900" cy="469900"/>
          </a:xfrm>
          <a:prstGeom prst="rect">
            <a:avLst/>
          </a:prstGeom>
        </p:spPr>
      </p:pic>
      <p:sp>
        <p:nvSpPr>
          <p:cNvPr id="15" name="TextBox 14">
            <a:extLst>
              <a:ext uri="{FF2B5EF4-FFF2-40B4-BE49-F238E27FC236}">
                <a16:creationId xmlns:a16="http://schemas.microsoft.com/office/drawing/2014/main" id="{946FCB0F-DB4F-4B7D-BCB4-6FCA0D450295}"/>
              </a:ext>
            </a:extLst>
          </p:cNvPr>
          <p:cNvSpPr txBox="1"/>
          <p:nvPr/>
        </p:nvSpPr>
        <p:spPr>
          <a:xfrm>
            <a:off x="2706149" y="3544363"/>
            <a:ext cx="1123121"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Bucket with objects</a:t>
            </a:r>
          </a:p>
        </p:txBody>
      </p:sp>
      <p:pic>
        <p:nvPicPr>
          <p:cNvPr id="16" name="Graphic 15">
            <a:extLst>
              <a:ext uri="{FF2B5EF4-FFF2-40B4-BE49-F238E27FC236}">
                <a16:creationId xmlns:a16="http://schemas.microsoft.com/office/drawing/2014/main" id="{7320B708-14AD-43D2-B173-1CA295088DC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86952" y="2992568"/>
            <a:ext cx="469900" cy="469900"/>
          </a:xfrm>
          <a:prstGeom prst="rect">
            <a:avLst/>
          </a:prstGeom>
        </p:spPr>
      </p:pic>
      <p:sp>
        <p:nvSpPr>
          <p:cNvPr id="17" name="TextBox 16">
            <a:extLst>
              <a:ext uri="{FF2B5EF4-FFF2-40B4-BE49-F238E27FC236}">
                <a16:creationId xmlns:a16="http://schemas.microsoft.com/office/drawing/2014/main" id="{340EAE22-FCAF-4E05-AE70-9585A35010B1}"/>
              </a:ext>
            </a:extLst>
          </p:cNvPr>
          <p:cNvSpPr txBox="1"/>
          <p:nvPr/>
        </p:nvSpPr>
        <p:spPr>
          <a:xfrm>
            <a:off x="4822271" y="3498197"/>
            <a:ext cx="999265"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Bucket</a:t>
            </a:r>
          </a:p>
        </p:txBody>
      </p:sp>
      <p:pic>
        <p:nvPicPr>
          <p:cNvPr id="18" name="Graphic 17">
            <a:extLst>
              <a:ext uri="{FF2B5EF4-FFF2-40B4-BE49-F238E27FC236}">
                <a16:creationId xmlns:a16="http://schemas.microsoft.com/office/drawing/2014/main" id="{437229CC-A92C-4BA7-9E7A-83500EA19ED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56672" y="3854008"/>
            <a:ext cx="469900" cy="469900"/>
          </a:xfrm>
          <a:prstGeom prst="rect">
            <a:avLst/>
          </a:prstGeom>
        </p:spPr>
      </p:pic>
      <p:sp>
        <p:nvSpPr>
          <p:cNvPr id="19" name="TextBox 18">
            <a:extLst>
              <a:ext uri="{FF2B5EF4-FFF2-40B4-BE49-F238E27FC236}">
                <a16:creationId xmlns:a16="http://schemas.microsoft.com/office/drawing/2014/main" id="{8D553249-D4E6-4F7C-B6FB-B7D8B6396AF6}"/>
              </a:ext>
            </a:extLst>
          </p:cNvPr>
          <p:cNvSpPr txBox="1"/>
          <p:nvPr/>
        </p:nvSpPr>
        <p:spPr>
          <a:xfrm>
            <a:off x="3815351" y="4398759"/>
            <a:ext cx="1221817"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Object</a:t>
            </a:r>
          </a:p>
        </p:txBody>
      </p:sp>
      <p:cxnSp>
        <p:nvCxnSpPr>
          <p:cNvPr id="4" name="Straight Connector 3">
            <a:extLst>
              <a:ext uri="{FF2B5EF4-FFF2-40B4-BE49-F238E27FC236}">
                <a16:creationId xmlns:a16="http://schemas.microsoft.com/office/drawing/2014/main" id="{A077E61C-F5D5-4329-AA28-3D1CA27C1F34}"/>
              </a:ext>
            </a:extLst>
          </p:cNvPr>
          <p:cNvCxnSpPr/>
          <p:nvPr/>
        </p:nvCxnSpPr>
        <p:spPr>
          <a:xfrm>
            <a:off x="3352800" y="2667000"/>
            <a:ext cx="19691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3D0B15C-972B-4E59-B02A-AF252F03810C}"/>
              </a:ext>
            </a:extLst>
          </p:cNvPr>
          <p:cNvCxnSpPr>
            <a:cxnSpLocks/>
            <a:stCxn id="13" idx="2"/>
          </p:cNvCxnSpPr>
          <p:nvPr/>
        </p:nvCxnSpPr>
        <p:spPr>
          <a:xfrm>
            <a:off x="4170950" y="2443744"/>
            <a:ext cx="0" cy="223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27715A9-1C41-4AD5-84EF-7BAC1BC6E4C3}"/>
              </a:ext>
            </a:extLst>
          </p:cNvPr>
          <p:cNvCxnSpPr/>
          <p:nvPr/>
        </p:nvCxnSpPr>
        <p:spPr>
          <a:xfrm>
            <a:off x="3352800" y="2667000"/>
            <a:ext cx="0" cy="3255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3F130C1-F50C-4C4A-BCBC-2D97C482FB62}"/>
              </a:ext>
            </a:extLst>
          </p:cNvPr>
          <p:cNvCxnSpPr/>
          <p:nvPr/>
        </p:nvCxnSpPr>
        <p:spPr>
          <a:xfrm>
            <a:off x="5321902" y="2667000"/>
            <a:ext cx="0" cy="361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BEC9E174-A9B7-4E4D-ADB4-32E63E14D6DC}"/>
              </a:ext>
            </a:extLst>
          </p:cNvPr>
          <p:cNvCxnSpPr>
            <a:cxnSpLocks/>
          </p:cNvCxnSpPr>
          <p:nvPr/>
        </p:nvCxnSpPr>
        <p:spPr>
          <a:xfrm>
            <a:off x="3590074" y="3462469"/>
            <a:ext cx="639946" cy="61495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3D37705-2A30-4A45-8625-D23D58C8BE8A}"/>
              </a:ext>
            </a:extLst>
          </p:cNvPr>
          <p:cNvSpPr txBox="1"/>
          <p:nvPr/>
        </p:nvSpPr>
        <p:spPr>
          <a:xfrm>
            <a:off x="2129485" y="5777045"/>
            <a:ext cx="4860754" cy="338554"/>
          </a:xfrm>
          <a:prstGeom prst="rect">
            <a:avLst/>
          </a:prstGeom>
          <a:noFill/>
        </p:spPr>
        <p:txBody>
          <a:bodyPr wrap="none" rtlCol="0">
            <a:spAutoFit/>
          </a:bodyPr>
          <a:lstStyle/>
          <a:p>
            <a:r>
              <a:rPr lang="en-US" sz="1600" dirty="0">
                <a:solidFill>
                  <a:schemeClr val="tx2"/>
                </a:solidFill>
                <a:latin typeface="Calibri" panose="020F0502020204030204" pitchFamily="34" charset="0"/>
                <a:cs typeface="Calibri" panose="020F0502020204030204" pitchFamily="34" charset="0"/>
              </a:rPr>
              <a:t>http://</a:t>
            </a:r>
            <a:r>
              <a:rPr lang="en-US" sz="1600" b="1" dirty="0">
                <a:solidFill>
                  <a:schemeClr val="accent3"/>
                </a:solidFill>
                <a:latin typeface="Calibri" panose="020F0502020204030204" pitchFamily="34" charset="0"/>
                <a:cs typeface="Calibri" panose="020F0502020204030204" pitchFamily="34" charset="0"/>
              </a:rPr>
              <a:t>doc</a:t>
            </a:r>
            <a:r>
              <a:rPr lang="en-US" sz="1600" dirty="0">
                <a:solidFill>
                  <a:schemeClr val="tx2"/>
                </a:solidFill>
                <a:latin typeface="Calibri" panose="020F0502020204030204" pitchFamily="34" charset="0"/>
                <a:cs typeface="Calibri" panose="020F0502020204030204" pitchFamily="34" charset="0"/>
              </a:rPr>
              <a:t>.s3.amazon.com/</a:t>
            </a:r>
            <a:r>
              <a:rPr lang="en-US" sz="1600" b="1" dirty="0">
                <a:solidFill>
                  <a:schemeClr val="tx2">
                    <a:lumMod val="50000"/>
                    <a:lumOff val="50000"/>
                  </a:schemeClr>
                </a:solidFill>
                <a:latin typeface="Calibri" panose="020F0502020204030204" pitchFamily="34" charset="0"/>
                <a:cs typeface="Calibri" panose="020F0502020204030204" pitchFamily="34" charset="0"/>
              </a:rPr>
              <a:t>2006-03-01/AmazonS3.html</a:t>
            </a:r>
            <a:endParaRPr lang="en-GB" sz="1600" b="1" dirty="0">
              <a:solidFill>
                <a:schemeClr val="tx2">
                  <a:lumMod val="50000"/>
                  <a:lumOff val="50000"/>
                </a:schemeClr>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25F58C43-5E8C-4558-8E07-E62F5553134F}"/>
              </a:ext>
            </a:extLst>
          </p:cNvPr>
          <p:cNvSpPr txBox="1"/>
          <p:nvPr/>
        </p:nvSpPr>
        <p:spPr>
          <a:xfrm>
            <a:off x="1676401" y="6550224"/>
            <a:ext cx="1221817"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Bucket</a:t>
            </a:r>
          </a:p>
        </p:txBody>
      </p:sp>
      <p:sp>
        <p:nvSpPr>
          <p:cNvPr id="35" name="TextBox 34">
            <a:extLst>
              <a:ext uri="{FF2B5EF4-FFF2-40B4-BE49-F238E27FC236}">
                <a16:creationId xmlns:a16="http://schemas.microsoft.com/office/drawing/2014/main" id="{45E39A8F-73A5-4A74-A7B8-3222A4E8A56C}"/>
              </a:ext>
            </a:extLst>
          </p:cNvPr>
          <p:cNvSpPr txBox="1"/>
          <p:nvPr/>
        </p:nvSpPr>
        <p:spPr>
          <a:xfrm>
            <a:off x="4948705" y="6547692"/>
            <a:ext cx="1221817"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Key / Object</a:t>
            </a:r>
          </a:p>
        </p:txBody>
      </p:sp>
      <p:cxnSp>
        <p:nvCxnSpPr>
          <p:cNvPr id="37" name="Straight Arrow Connector 36">
            <a:extLst>
              <a:ext uri="{FF2B5EF4-FFF2-40B4-BE49-F238E27FC236}">
                <a16:creationId xmlns:a16="http://schemas.microsoft.com/office/drawing/2014/main" id="{1AFC14A5-2A2C-45A5-8225-6EDC0FFE4907}"/>
              </a:ext>
            </a:extLst>
          </p:cNvPr>
          <p:cNvCxnSpPr>
            <a:cxnSpLocks/>
            <a:stCxn id="34" idx="0"/>
          </p:cNvCxnSpPr>
          <p:nvPr/>
        </p:nvCxnSpPr>
        <p:spPr>
          <a:xfrm flipV="1">
            <a:off x="2287309" y="6075001"/>
            <a:ext cx="610908" cy="475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049A82C-30AC-4FD3-903F-4142631F3EDA}"/>
              </a:ext>
            </a:extLst>
          </p:cNvPr>
          <p:cNvCxnSpPr>
            <a:stCxn id="35" idx="0"/>
          </p:cNvCxnSpPr>
          <p:nvPr/>
        </p:nvCxnSpPr>
        <p:spPr>
          <a:xfrm flipH="1" flipV="1">
            <a:off x="5556853" y="6075001"/>
            <a:ext cx="2761" cy="472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082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S3 Storage Classes</a:t>
            </a:r>
            <a:endParaRPr lang="en-GB" dirty="0"/>
          </a:p>
        </p:txBody>
      </p:sp>
      <p:grpSp>
        <p:nvGrpSpPr>
          <p:cNvPr id="21" name="Group 20">
            <a:extLst>
              <a:ext uri="{FF2B5EF4-FFF2-40B4-BE49-F238E27FC236}">
                <a16:creationId xmlns:a16="http://schemas.microsoft.com/office/drawing/2014/main" id="{BB847B73-6E17-4D44-A58D-75F2857AA933}"/>
              </a:ext>
            </a:extLst>
          </p:cNvPr>
          <p:cNvGrpSpPr/>
          <p:nvPr/>
        </p:nvGrpSpPr>
        <p:grpSpPr>
          <a:xfrm>
            <a:off x="1600201" y="1371601"/>
            <a:ext cx="8732219" cy="5054261"/>
            <a:chOff x="363339" y="1676400"/>
            <a:chExt cx="8732219" cy="5054261"/>
          </a:xfrm>
        </p:grpSpPr>
        <p:sp>
          <p:nvSpPr>
            <p:cNvPr id="4" name="Isosceles Triangle 3">
              <a:extLst>
                <a:ext uri="{FF2B5EF4-FFF2-40B4-BE49-F238E27FC236}">
                  <a16:creationId xmlns:a16="http://schemas.microsoft.com/office/drawing/2014/main" id="{4DA9308C-B3BF-4280-BC16-43E80C512211}"/>
                </a:ext>
              </a:extLst>
            </p:cNvPr>
            <p:cNvSpPr/>
            <p:nvPr/>
          </p:nvSpPr>
          <p:spPr>
            <a:xfrm>
              <a:off x="706087" y="1777757"/>
              <a:ext cx="4191000" cy="4191000"/>
            </a:xfrm>
            <a:prstGeom prst="triangl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Freeform: Shape 5">
              <a:extLst>
                <a:ext uri="{FF2B5EF4-FFF2-40B4-BE49-F238E27FC236}">
                  <a16:creationId xmlns:a16="http://schemas.microsoft.com/office/drawing/2014/main" id="{820D3228-A0C9-48FD-87AF-614954C786E2}"/>
                </a:ext>
              </a:extLst>
            </p:cNvPr>
            <p:cNvSpPr/>
            <p:nvPr/>
          </p:nvSpPr>
          <p:spPr>
            <a:xfrm>
              <a:off x="2801587" y="1853957"/>
              <a:ext cx="2724150" cy="595907"/>
            </a:xfrm>
            <a:custGeom>
              <a:avLst/>
              <a:gdLst>
                <a:gd name="connsiteX0" fmla="*/ 0 w 2724150"/>
                <a:gd name="connsiteY0" fmla="*/ 99320 h 595907"/>
                <a:gd name="connsiteX1" fmla="*/ 99320 w 2724150"/>
                <a:gd name="connsiteY1" fmla="*/ 0 h 595907"/>
                <a:gd name="connsiteX2" fmla="*/ 2624830 w 2724150"/>
                <a:gd name="connsiteY2" fmla="*/ 0 h 595907"/>
                <a:gd name="connsiteX3" fmla="*/ 2724150 w 2724150"/>
                <a:gd name="connsiteY3" fmla="*/ 99320 h 595907"/>
                <a:gd name="connsiteX4" fmla="*/ 2724150 w 2724150"/>
                <a:gd name="connsiteY4" fmla="*/ 496587 h 595907"/>
                <a:gd name="connsiteX5" fmla="*/ 2624830 w 2724150"/>
                <a:gd name="connsiteY5" fmla="*/ 595907 h 595907"/>
                <a:gd name="connsiteX6" fmla="*/ 99320 w 2724150"/>
                <a:gd name="connsiteY6" fmla="*/ 595907 h 595907"/>
                <a:gd name="connsiteX7" fmla="*/ 0 w 2724150"/>
                <a:gd name="connsiteY7" fmla="*/ 496587 h 595907"/>
                <a:gd name="connsiteX8" fmla="*/ 0 w 2724150"/>
                <a:gd name="connsiteY8" fmla="*/ 99320 h 59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4150" h="595907">
                  <a:moveTo>
                    <a:pt x="0" y="99320"/>
                  </a:moveTo>
                  <a:cubicBezTo>
                    <a:pt x="0" y="44467"/>
                    <a:pt x="44467" y="0"/>
                    <a:pt x="99320" y="0"/>
                  </a:cubicBezTo>
                  <a:lnTo>
                    <a:pt x="2624830" y="0"/>
                  </a:lnTo>
                  <a:cubicBezTo>
                    <a:pt x="2679683" y="0"/>
                    <a:pt x="2724150" y="44467"/>
                    <a:pt x="2724150" y="99320"/>
                  </a:cubicBezTo>
                  <a:lnTo>
                    <a:pt x="2724150" y="496587"/>
                  </a:lnTo>
                  <a:cubicBezTo>
                    <a:pt x="2724150" y="551440"/>
                    <a:pt x="2679683" y="595907"/>
                    <a:pt x="2624830" y="595907"/>
                  </a:cubicBezTo>
                  <a:lnTo>
                    <a:pt x="99320" y="595907"/>
                  </a:lnTo>
                  <a:cubicBezTo>
                    <a:pt x="44467" y="595907"/>
                    <a:pt x="0" y="551440"/>
                    <a:pt x="0" y="496587"/>
                  </a:cubicBezTo>
                  <a:lnTo>
                    <a:pt x="0" y="99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050" tIns="90050" rIns="90050" bIns="90050" numCol="1" spcCol="1270" anchor="ctr" anchorCtr="0">
              <a:noAutofit/>
            </a:bodyPr>
            <a:lstStyle/>
            <a:p>
              <a:pPr algn="ctr" defTabSz="711200">
                <a:lnSpc>
                  <a:spcPct val="90000"/>
                </a:lnSpc>
                <a:spcBef>
                  <a:spcPct val="0"/>
                </a:spcBef>
                <a:spcAft>
                  <a:spcPct val="35000"/>
                </a:spcAft>
              </a:pPr>
              <a:r>
                <a:rPr lang="en-US" sz="1600" b="1" dirty="0">
                  <a:latin typeface="Calibri" panose="020F0502020204030204" pitchFamily="34" charset="0"/>
                  <a:cs typeface="Calibri" panose="020F0502020204030204" pitchFamily="34" charset="0"/>
                </a:rPr>
                <a:t>S3 Standard</a:t>
              </a:r>
              <a:endParaRPr lang="en-GB" sz="1600" b="1" dirty="0">
                <a:latin typeface="Calibri" panose="020F0502020204030204" pitchFamily="34" charset="0"/>
                <a:cs typeface="Calibri" panose="020F0502020204030204" pitchFamily="34" charset="0"/>
              </a:endParaRPr>
            </a:p>
          </p:txBody>
        </p:sp>
        <p:sp>
          <p:nvSpPr>
            <p:cNvPr id="15" name="Freeform: Shape 14">
              <a:extLst>
                <a:ext uri="{FF2B5EF4-FFF2-40B4-BE49-F238E27FC236}">
                  <a16:creationId xmlns:a16="http://schemas.microsoft.com/office/drawing/2014/main" id="{B4F703EA-DBEC-4DDB-8609-951FDB33116D}"/>
                </a:ext>
              </a:extLst>
            </p:cNvPr>
            <p:cNvSpPr/>
            <p:nvPr/>
          </p:nvSpPr>
          <p:spPr>
            <a:xfrm>
              <a:off x="2826301" y="3135305"/>
              <a:ext cx="2724150" cy="595907"/>
            </a:xfrm>
            <a:custGeom>
              <a:avLst/>
              <a:gdLst>
                <a:gd name="connsiteX0" fmla="*/ 0 w 2724150"/>
                <a:gd name="connsiteY0" fmla="*/ 99320 h 595907"/>
                <a:gd name="connsiteX1" fmla="*/ 99320 w 2724150"/>
                <a:gd name="connsiteY1" fmla="*/ 0 h 595907"/>
                <a:gd name="connsiteX2" fmla="*/ 2624830 w 2724150"/>
                <a:gd name="connsiteY2" fmla="*/ 0 h 595907"/>
                <a:gd name="connsiteX3" fmla="*/ 2724150 w 2724150"/>
                <a:gd name="connsiteY3" fmla="*/ 99320 h 595907"/>
                <a:gd name="connsiteX4" fmla="*/ 2724150 w 2724150"/>
                <a:gd name="connsiteY4" fmla="*/ 496587 h 595907"/>
                <a:gd name="connsiteX5" fmla="*/ 2624830 w 2724150"/>
                <a:gd name="connsiteY5" fmla="*/ 595907 h 595907"/>
                <a:gd name="connsiteX6" fmla="*/ 99320 w 2724150"/>
                <a:gd name="connsiteY6" fmla="*/ 595907 h 595907"/>
                <a:gd name="connsiteX7" fmla="*/ 0 w 2724150"/>
                <a:gd name="connsiteY7" fmla="*/ 496587 h 595907"/>
                <a:gd name="connsiteX8" fmla="*/ 0 w 2724150"/>
                <a:gd name="connsiteY8" fmla="*/ 99320 h 59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4150" h="595907">
                  <a:moveTo>
                    <a:pt x="0" y="99320"/>
                  </a:moveTo>
                  <a:cubicBezTo>
                    <a:pt x="0" y="44467"/>
                    <a:pt x="44467" y="0"/>
                    <a:pt x="99320" y="0"/>
                  </a:cubicBezTo>
                  <a:lnTo>
                    <a:pt x="2624830" y="0"/>
                  </a:lnTo>
                  <a:cubicBezTo>
                    <a:pt x="2679683" y="0"/>
                    <a:pt x="2724150" y="44467"/>
                    <a:pt x="2724150" y="99320"/>
                  </a:cubicBezTo>
                  <a:lnTo>
                    <a:pt x="2724150" y="496587"/>
                  </a:lnTo>
                  <a:cubicBezTo>
                    <a:pt x="2724150" y="551440"/>
                    <a:pt x="2679683" y="595907"/>
                    <a:pt x="2624830" y="595907"/>
                  </a:cubicBezTo>
                  <a:lnTo>
                    <a:pt x="99320" y="595907"/>
                  </a:lnTo>
                  <a:cubicBezTo>
                    <a:pt x="44467" y="595907"/>
                    <a:pt x="0" y="551440"/>
                    <a:pt x="0" y="496587"/>
                  </a:cubicBezTo>
                  <a:lnTo>
                    <a:pt x="0" y="99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050" tIns="90050" rIns="90050" bIns="90050" numCol="1" spcCol="1270" anchor="ctr" anchorCtr="0">
              <a:noAutofit/>
            </a:bodyPr>
            <a:lstStyle/>
            <a:p>
              <a:pPr algn="ctr" defTabSz="711200">
                <a:lnSpc>
                  <a:spcPct val="90000"/>
                </a:lnSpc>
                <a:spcBef>
                  <a:spcPct val="0"/>
                </a:spcBef>
                <a:spcAft>
                  <a:spcPct val="35000"/>
                </a:spcAft>
              </a:pPr>
              <a:r>
                <a:rPr lang="en-US" sz="1600" b="1" dirty="0">
                  <a:latin typeface="Calibri" panose="020F0502020204030204" pitchFamily="34" charset="0"/>
                  <a:cs typeface="Calibri" panose="020F0502020204030204" pitchFamily="34" charset="0"/>
                </a:rPr>
                <a:t>S3 standard - IA</a:t>
              </a:r>
              <a:endParaRPr lang="en-GB" sz="1600" b="1" dirty="0">
                <a:latin typeface="Calibri" panose="020F0502020204030204" pitchFamily="34" charset="0"/>
                <a:cs typeface="Calibri" panose="020F0502020204030204" pitchFamily="34" charset="0"/>
              </a:endParaRPr>
            </a:p>
          </p:txBody>
        </p:sp>
        <p:sp>
          <p:nvSpPr>
            <p:cNvPr id="16" name="Freeform: Shape 15">
              <a:extLst>
                <a:ext uri="{FF2B5EF4-FFF2-40B4-BE49-F238E27FC236}">
                  <a16:creationId xmlns:a16="http://schemas.microsoft.com/office/drawing/2014/main" id="{317F2ED6-0EA8-4D1A-B84E-4EE70CB52E7C}"/>
                </a:ext>
              </a:extLst>
            </p:cNvPr>
            <p:cNvSpPr/>
            <p:nvPr/>
          </p:nvSpPr>
          <p:spPr>
            <a:xfrm>
              <a:off x="2831400" y="3846579"/>
              <a:ext cx="2724150" cy="595907"/>
            </a:xfrm>
            <a:custGeom>
              <a:avLst/>
              <a:gdLst>
                <a:gd name="connsiteX0" fmla="*/ 0 w 2724150"/>
                <a:gd name="connsiteY0" fmla="*/ 99320 h 595907"/>
                <a:gd name="connsiteX1" fmla="*/ 99320 w 2724150"/>
                <a:gd name="connsiteY1" fmla="*/ 0 h 595907"/>
                <a:gd name="connsiteX2" fmla="*/ 2624830 w 2724150"/>
                <a:gd name="connsiteY2" fmla="*/ 0 h 595907"/>
                <a:gd name="connsiteX3" fmla="*/ 2724150 w 2724150"/>
                <a:gd name="connsiteY3" fmla="*/ 99320 h 595907"/>
                <a:gd name="connsiteX4" fmla="*/ 2724150 w 2724150"/>
                <a:gd name="connsiteY4" fmla="*/ 496587 h 595907"/>
                <a:gd name="connsiteX5" fmla="*/ 2624830 w 2724150"/>
                <a:gd name="connsiteY5" fmla="*/ 595907 h 595907"/>
                <a:gd name="connsiteX6" fmla="*/ 99320 w 2724150"/>
                <a:gd name="connsiteY6" fmla="*/ 595907 h 595907"/>
                <a:gd name="connsiteX7" fmla="*/ 0 w 2724150"/>
                <a:gd name="connsiteY7" fmla="*/ 496587 h 595907"/>
                <a:gd name="connsiteX8" fmla="*/ 0 w 2724150"/>
                <a:gd name="connsiteY8" fmla="*/ 99320 h 59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4150" h="595907">
                  <a:moveTo>
                    <a:pt x="0" y="99320"/>
                  </a:moveTo>
                  <a:cubicBezTo>
                    <a:pt x="0" y="44467"/>
                    <a:pt x="44467" y="0"/>
                    <a:pt x="99320" y="0"/>
                  </a:cubicBezTo>
                  <a:lnTo>
                    <a:pt x="2624830" y="0"/>
                  </a:lnTo>
                  <a:cubicBezTo>
                    <a:pt x="2679683" y="0"/>
                    <a:pt x="2724150" y="44467"/>
                    <a:pt x="2724150" y="99320"/>
                  </a:cubicBezTo>
                  <a:lnTo>
                    <a:pt x="2724150" y="496587"/>
                  </a:lnTo>
                  <a:cubicBezTo>
                    <a:pt x="2724150" y="551440"/>
                    <a:pt x="2679683" y="595907"/>
                    <a:pt x="2624830" y="595907"/>
                  </a:cubicBezTo>
                  <a:lnTo>
                    <a:pt x="99320" y="595907"/>
                  </a:lnTo>
                  <a:cubicBezTo>
                    <a:pt x="44467" y="595907"/>
                    <a:pt x="0" y="551440"/>
                    <a:pt x="0" y="496587"/>
                  </a:cubicBezTo>
                  <a:lnTo>
                    <a:pt x="0" y="99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050" tIns="90050" rIns="90050" bIns="90050" numCol="1" spcCol="1270" anchor="ctr" anchorCtr="0">
              <a:noAutofit/>
            </a:bodyPr>
            <a:lstStyle/>
            <a:p>
              <a:pPr algn="ctr" defTabSz="711200">
                <a:lnSpc>
                  <a:spcPct val="90000"/>
                </a:lnSpc>
                <a:spcBef>
                  <a:spcPct val="0"/>
                </a:spcBef>
                <a:spcAft>
                  <a:spcPct val="35000"/>
                </a:spcAft>
              </a:pPr>
              <a:r>
                <a:rPr lang="en-US" sz="1600" b="1" dirty="0">
                  <a:latin typeface="Calibri" panose="020F0502020204030204" pitchFamily="34" charset="0"/>
                  <a:cs typeface="Calibri" panose="020F0502020204030204" pitchFamily="34" charset="0"/>
                </a:rPr>
                <a:t>S3 1 Zone - IA</a:t>
              </a:r>
              <a:endParaRPr lang="en-GB" sz="1600" b="1" dirty="0">
                <a:latin typeface="Calibri" panose="020F0502020204030204" pitchFamily="34" charset="0"/>
                <a:cs typeface="Calibri" panose="020F0502020204030204" pitchFamily="34" charset="0"/>
              </a:endParaRPr>
            </a:p>
          </p:txBody>
        </p:sp>
        <p:sp>
          <p:nvSpPr>
            <p:cNvPr id="17" name="Freeform: Shape 16">
              <a:extLst>
                <a:ext uri="{FF2B5EF4-FFF2-40B4-BE49-F238E27FC236}">
                  <a16:creationId xmlns:a16="http://schemas.microsoft.com/office/drawing/2014/main" id="{ABEB2BA3-A946-4193-87B6-5720A9E673BE}"/>
                </a:ext>
              </a:extLst>
            </p:cNvPr>
            <p:cNvSpPr/>
            <p:nvPr/>
          </p:nvSpPr>
          <p:spPr>
            <a:xfrm>
              <a:off x="2803924" y="4577992"/>
              <a:ext cx="2724150" cy="595907"/>
            </a:xfrm>
            <a:custGeom>
              <a:avLst/>
              <a:gdLst>
                <a:gd name="connsiteX0" fmla="*/ 0 w 2724150"/>
                <a:gd name="connsiteY0" fmla="*/ 99320 h 595907"/>
                <a:gd name="connsiteX1" fmla="*/ 99320 w 2724150"/>
                <a:gd name="connsiteY1" fmla="*/ 0 h 595907"/>
                <a:gd name="connsiteX2" fmla="*/ 2624830 w 2724150"/>
                <a:gd name="connsiteY2" fmla="*/ 0 h 595907"/>
                <a:gd name="connsiteX3" fmla="*/ 2724150 w 2724150"/>
                <a:gd name="connsiteY3" fmla="*/ 99320 h 595907"/>
                <a:gd name="connsiteX4" fmla="*/ 2724150 w 2724150"/>
                <a:gd name="connsiteY4" fmla="*/ 496587 h 595907"/>
                <a:gd name="connsiteX5" fmla="*/ 2624830 w 2724150"/>
                <a:gd name="connsiteY5" fmla="*/ 595907 h 595907"/>
                <a:gd name="connsiteX6" fmla="*/ 99320 w 2724150"/>
                <a:gd name="connsiteY6" fmla="*/ 595907 h 595907"/>
                <a:gd name="connsiteX7" fmla="*/ 0 w 2724150"/>
                <a:gd name="connsiteY7" fmla="*/ 496587 h 595907"/>
                <a:gd name="connsiteX8" fmla="*/ 0 w 2724150"/>
                <a:gd name="connsiteY8" fmla="*/ 99320 h 59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4150" h="595907">
                  <a:moveTo>
                    <a:pt x="0" y="99320"/>
                  </a:moveTo>
                  <a:cubicBezTo>
                    <a:pt x="0" y="44467"/>
                    <a:pt x="44467" y="0"/>
                    <a:pt x="99320" y="0"/>
                  </a:cubicBezTo>
                  <a:lnTo>
                    <a:pt x="2624830" y="0"/>
                  </a:lnTo>
                  <a:cubicBezTo>
                    <a:pt x="2679683" y="0"/>
                    <a:pt x="2724150" y="44467"/>
                    <a:pt x="2724150" y="99320"/>
                  </a:cubicBezTo>
                  <a:lnTo>
                    <a:pt x="2724150" y="496587"/>
                  </a:lnTo>
                  <a:cubicBezTo>
                    <a:pt x="2724150" y="551440"/>
                    <a:pt x="2679683" y="595907"/>
                    <a:pt x="2624830" y="595907"/>
                  </a:cubicBezTo>
                  <a:lnTo>
                    <a:pt x="99320" y="595907"/>
                  </a:lnTo>
                  <a:cubicBezTo>
                    <a:pt x="44467" y="595907"/>
                    <a:pt x="0" y="551440"/>
                    <a:pt x="0" y="496587"/>
                  </a:cubicBezTo>
                  <a:lnTo>
                    <a:pt x="0" y="99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050" tIns="90050" rIns="90050" bIns="90050" numCol="1" spcCol="1270" anchor="ctr" anchorCtr="0">
              <a:noAutofit/>
            </a:bodyPr>
            <a:lstStyle/>
            <a:p>
              <a:pPr algn="ctr" defTabSz="711200">
                <a:lnSpc>
                  <a:spcPct val="90000"/>
                </a:lnSpc>
                <a:spcBef>
                  <a:spcPct val="0"/>
                </a:spcBef>
                <a:spcAft>
                  <a:spcPct val="35000"/>
                </a:spcAft>
              </a:pPr>
              <a:r>
                <a:rPr lang="en-US" sz="1600" b="1" dirty="0">
                  <a:latin typeface="Calibri" panose="020F0502020204030204" pitchFamily="34" charset="0"/>
                  <a:cs typeface="Calibri" panose="020F0502020204030204" pitchFamily="34" charset="0"/>
                </a:rPr>
                <a:t>Glacier</a:t>
              </a:r>
              <a:endParaRPr lang="en-GB" sz="1600" b="1" dirty="0">
                <a:latin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376BAB52-EE6B-4582-A0B3-6472C05B917C}"/>
                </a:ext>
              </a:extLst>
            </p:cNvPr>
            <p:cNvSpPr/>
            <p:nvPr/>
          </p:nvSpPr>
          <p:spPr>
            <a:xfrm>
              <a:off x="2801587" y="5270574"/>
              <a:ext cx="2724150" cy="595907"/>
            </a:xfrm>
            <a:custGeom>
              <a:avLst/>
              <a:gdLst>
                <a:gd name="connsiteX0" fmla="*/ 0 w 2724150"/>
                <a:gd name="connsiteY0" fmla="*/ 99320 h 595907"/>
                <a:gd name="connsiteX1" fmla="*/ 99320 w 2724150"/>
                <a:gd name="connsiteY1" fmla="*/ 0 h 595907"/>
                <a:gd name="connsiteX2" fmla="*/ 2624830 w 2724150"/>
                <a:gd name="connsiteY2" fmla="*/ 0 h 595907"/>
                <a:gd name="connsiteX3" fmla="*/ 2724150 w 2724150"/>
                <a:gd name="connsiteY3" fmla="*/ 99320 h 595907"/>
                <a:gd name="connsiteX4" fmla="*/ 2724150 w 2724150"/>
                <a:gd name="connsiteY4" fmla="*/ 496587 h 595907"/>
                <a:gd name="connsiteX5" fmla="*/ 2624830 w 2724150"/>
                <a:gd name="connsiteY5" fmla="*/ 595907 h 595907"/>
                <a:gd name="connsiteX6" fmla="*/ 99320 w 2724150"/>
                <a:gd name="connsiteY6" fmla="*/ 595907 h 595907"/>
                <a:gd name="connsiteX7" fmla="*/ 0 w 2724150"/>
                <a:gd name="connsiteY7" fmla="*/ 496587 h 595907"/>
                <a:gd name="connsiteX8" fmla="*/ 0 w 2724150"/>
                <a:gd name="connsiteY8" fmla="*/ 99320 h 59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4150" h="595907">
                  <a:moveTo>
                    <a:pt x="0" y="99320"/>
                  </a:moveTo>
                  <a:cubicBezTo>
                    <a:pt x="0" y="44467"/>
                    <a:pt x="44467" y="0"/>
                    <a:pt x="99320" y="0"/>
                  </a:cubicBezTo>
                  <a:lnTo>
                    <a:pt x="2624830" y="0"/>
                  </a:lnTo>
                  <a:cubicBezTo>
                    <a:pt x="2679683" y="0"/>
                    <a:pt x="2724150" y="44467"/>
                    <a:pt x="2724150" y="99320"/>
                  </a:cubicBezTo>
                  <a:lnTo>
                    <a:pt x="2724150" y="496587"/>
                  </a:lnTo>
                  <a:cubicBezTo>
                    <a:pt x="2724150" y="551440"/>
                    <a:pt x="2679683" y="595907"/>
                    <a:pt x="2624830" y="595907"/>
                  </a:cubicBezTo>
                  <a:lnTo>
                    <a:pt x="99320" y="595907"/>
                  </a:lnTo>
                  <a:cubicBezTo>
                    <a:pt x="44467" y="595907"/>
                    <a:pt x="0" y="551440"/>
                    <a:pt x="0" y="496587"/>
                  </a:cubicBezTo>
                  <a:lnTo>
                    <a:pt x="0" y="99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050" tIns="90050" rIns="90050" bIns="90050" numCol="1" spcCol="1270" anchor="ctr" anchorCtr="0">
              <a:noAutofit/>
            </a:bodyPr>
            <a:lstStyle/>
            <a:p>
              <a:pPr algn="ctr" defTabSz="711200">
                <a:lnSpc>
                  <a:spcPct val="90000"/>
                </a:lnSpc>
                <a:spcBef>
                  <a:spcPct val="0"/>
                </a:spcBef>
                <a:spcAft>
                  <a:spcPct val="35000"/>
                </a:spcAft>
              </a:pPr>
              <a:r>
                <a:rPr lang="en-US" sz="1600" b="1" dirty="0">
                  <a:latin typeface="Calibri" panose="020F0502020204030204" pitchFamily="34" charset="0"/>
                  <a:cs typeface="Calibri" panose="020F0502020204030204" pitchFamily="34" charset="0"/>
                </a:rPr>
                <a:t>Deep Archival</a:t>
              </a:r>
              <a:endParaRPr lang="en-GB" sz="16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D862304-E1AF-4FD3-9752-D534151FA8C9}"/>
                </a:ext>
              </a:extLst>
            </p:cNvPr>
            <p:cNvSpPr txBox="1"/>
            <p:nvPr/>
          </p:nvSpPr>
          <p:spPr>
            <a:xfrm>
              <a:off x="5821013" y="3793330"/>
              <a:ext cx="2069797" cy="523220"/>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All replicas on same Zone </a:t>
              </a:r>
            </a:p>
            <a:p>
              <a:r>
                <a:rPr lang="en-US" sz="1400" dirty="0">
                  <a:solidFill>
                    <a:schemeClr val="tx2"/>
                  </a:solidFill>
                  <a:latin typeface="Calibri" panose="020F0502020204030204" pitchFamily="34" charset="0"/>
                  <a:cs typeface="Calibri" panose="020F0502020204030204" pitchFamily="34" charset="0"/>
                </a:rPr>
                <a:t>99.5 % Availability</a:t>
              </a:r>
              <a:endParaRPr lang="en-GB" sz="1400" dirty="0">
                <a:solidFill>
                  <a:schemeClr val="tx2"/>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5FC8CF52-69BD-468B-A374-9B6AA3EDA825}"/>
                </a:ext>
              </a:extLst>
            </p:cNvPr>
            <p:cNvSpPr txBox="1"/>
            <p:nvPr/>
          </p:nvSpPr>
          <p:spPr>
            <a:xfrm>
              <a:off x="5818251" y="4519781"/>
              <a:ext cx="3076548" cy="738664"/>
            </a:xfrm>
            <a:prstGeom prst="rect">
              <a:avLst/>
            </a:prstGeom>
            <a:noFill/>
          </p:spPr>
          <p:txBody>
            <a:bodyPr wrap="none" rtlCol="0">
              <a:spAutoFit/>
            </a:bodyPr>
            <a:lstStyle/>
            <a:p>
              <a:r>
                <a:rPr lang="en-US" sz="1400" dirty="0">
                  <a:solidFill>
                    <a:srgbClr val="0070C0"/>
                  </a:solidFill>
                  <a:latin typeface="Calibri" panose="020F0502020204030204" pitchFamily="34" charset="0"/>
                  <a:cs typeface="Calibri" panose="020F0502020204030204" pitchFamily="34" charset="0"/>
                </a:rPr>
                <a:t>Ideal for Archival data. </a:t>
              </a:r>
            </a:p>
            <a:p>
              <a:r>
                <a:rPr lang="en-US" sz="1400" dirty="0">
                  <a:solidFill>
                    <a:srgbClr val="0070C0"/>
                  </a:solidFill>
                  <a:latin typeface="Calibri" panose="020F0502020204030204" pitchFamily="34" charset="0"/>
                  <a:cs typeface="Calibri" panose="020F0502020204030204" pitchFamily="34" charset="0"/>
                </a:rPr>
                <a:t>Data encrypted and stored inside vaults</a:t>
              </a:r>
            </a:p>
            <a:p>
              <a:r>
                <a:rPr lang="en-US" sz="1400" dirty="0">
                  <a:solidFill>
                    <a:srgbClr val="0070C0"/>
                  </a:solidFill>
                  <a:latin typeface="Calibri" panose="020F0502020204030204" pitchFamily="34" charset="0"/>
                  <a:cs typeface="Calibri" panose="020F0502020204030204" pitchFamily="34" charset="0"/>
                </a:rPr>
                <a:t>Retrieval time of minutes to hours</a:t>
              </a:r>
              <a:endParaRPr lang="en-GB" sz="1400" dirty="0">
                <a:solidFill>
                  <a:srgbClr val="0070C0"/>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1E5CDCD-065D-4286-9309-75AF318940CE}"/>
                </a:ext>
              </a:extLst>
            </p:cNvPr>
            <p:cNvSpPr txBox="1"/>
            <p:nvPr/>
          </p:nvSpPr>
          <p:spPr>
            <a:xfrm>
              <a:off x="5818251" y="5253506"/>
              <a:ext cx="3277307" cy="738664"/>
            </a:xfrm>
            <a:prstGeom prst="rect">
              <a:avLst/>
            </a:prstGeom>
            <a:noFill/>
          </p:spPr>
          <p:txBody>
            <a:bodyPr wrap="none" rtlCol="0">
              <a:spAutoFit/>
            </a:bodyPr>
            <a:lstStyle/>
            <a:p>
              <a:r>
                <a:rPr lang="en-US" sz="1400" dirty="0">
                  <a:solidFill>
                    <a:schemeClr val="accent3">
                      <a:lumMod val="75000"/>
                    </a:schemeClr>
                  </a:solidFill>
                  <a:latin typeface="Calibri" panose="020F0502020204030204" pitchFamily="34" charset="0"/>
                  <a:cs typeface="Calibri" panose="020F0502020204030204" pitchFamily="34" charset="0"/>
                </a:rPr>
                <a:t>For long term data retention (7 – 10 years)</a:t>
              </a:r>
            </a:p>
            <a:p>
              <a:r>
                <a:rPr lang="en-US" sz="1400" dirty="0">
                  <a:solidFill>
                    <a:schemeClr val="accent3">
                      <a:lumMod val="75000"/>
                    </a:schemeClr>
                  </a:solidFill>
                  <a:latin typeface="Calibri" panose="020F0502020204030204" pitchFamily="34" charset="0"/>
                  <a:cs typeface="Calibri" panose="020F0502020204030204" pitchFamily="34" charset="0"/>
                </a:rPr>
                <a:t>Ideal alternative to tape libraries</a:t>
              </a:r>
            </a:p>
            <a:p>
              <a:r>
                <a:rPr lang="en-US" sz="1400" dirty="0">
                  <a:solidFill>
                    <a:schemeClr val="accent3">
                      <a:lumMod val="75000"/>
                    </a:schemeClr>
                  </a:solidFill>
                  <a:latin typeface="Calibri" panose="020F0502020204030204" pitchFamily="34" charset="0"/>
                  <a:cs typeface="Calibri" panose="020F0502020204030204" pitchFamily="34" charset="0"/>
                </a:rPr>
                <a:t>Retrieval time within 12 hours</a:t>
              </a:r>
              <a:endParaRPr lang="en-GB" sz="1400" dirty="0">
                <a:solidFill>
                  <a:schemeClr val="accent3">
                    <a:lumMod val="75000"/>
                  </a:schemeClr>
                </a:solidFill>
                <a:latin typeface="Calibri" panose="020F0502020204030204" pitchFamily="34" charset="0"/>
                <a:cs typeface="Calibri" panose="020F0502020204030204" pitchFamily="34" charset="0"/>
              </a:endParaRPr>
            </a:p>
          </p:txBody>
        </p:sp>
        <p:cxnSp>
          <p:nvCxnSpPr>
            <p:cNvPr id="11" name="Straight Arrow Connector 10">
              <a:extLst>
                <a:ext uri="{FF2B5EF4-FFF2-40B4-BE49-F238E27FC236}">
                  <a16:creationId xmlns:a16="http://schemas.microsoft.com/office/drawing/2014/main" id="{04EBFEF8-143B-4D67-BCC2-70D96A5F70E4}"/>
                </a:ext>
              </a:extLst>
            </p:cNvPr>
            <p:cNvCxnSpPr>
              <a:cxnSpLocks/>
            </p:cNvCxnSpPr>
            <p:nvPr/>
          </p:nvCxnSpPr>
          <p:spPr>
            <a:xfrm flipV="1">
              <a:off x="533400" y="1676400"/>
              <a:ext cx="0" cy="4191000"/>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4893C16-AC95-4888-96E6-A278D2303DDF}"/>
                </a:ext>
              </a:extLst>
            </p:cNvPr>
            <p:cNvSpPr txBox="1"/>
            <p:nvPr/>
          </p:nvSpPr>
          <p:spPr>
            <a:xfrm>
              <a:off x="566173" y="3214230"/>
              <a:ext cx="674736"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COST</a:t>
              </a:r>
              <a:endParaRPr lang="en-GB" dirty="0">
                <a:solidFill>
                  <a:schemeClr val="tx2"/>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0D7ACF7-D160-4EAA-9DDD-F79E474955A0}"/>
                </a:ext>
              </a:extLst>
            </p:cNvPr>
            <p:cNvSpPr txBox="1"/>
            <p:nvPr/>
          </p:nvSpPr>
          <p:spPr>
            <a:xfrm>
              <a:off x="363339" y="6084330"/>
              <a:ext cx="8083175" cy="646331"/>
            </a:xfrm>
            <a:prstGeom prst="rect">
              <a:avLst/>
            </a:prstGeom>
            <a:noFill/>
          </p:spPr>
          <p:txBody>
            <a:bodyPr wrap="none" rtlCol="0">
              <a:spAutoFit/>
            </a:bodyPr>
            <a:lstStyle/>
            <a:p>
              <a:r>
                <a:rPr lang="en-US" b="1" dirty="0">
                  <a:solidFill>
                    <a:schemeClr val="tx2"/>
                  </a:solidFill>
                  <a:latin typeface="Calibri" panose="020F0502020204030204" pitchFamily="34" charset="0"/>
                  <a:cs typeface="Calibri" panose="020F0502020204030204" pitchFamily="34" charset="0"/>
                </a:rPr>
                <a:t>Lifecycle management rules dictate how objects are managed during their lifetime.</a:t>
              </a:r>
            </a:p>
            <a:p>
              <a:r>
                <a:rPr lang="en-US" b="1" dirty="0">
                  <a:solidFill>
                    <a:schemeClr val="tx2"/>
                  </a:solidFill>
                  <a:latin typeface="Calibri" panose="020F0502020204030204" pitchFamily="34" charset="0"/>
                  <a:cs typeface="Calibri" panose="020F0502020204030204" pitchFamily="34" charset="0"/>
                </a:rPr>
                <a:t>Can be used to dictate transitioning between the storage classes above</a:t>
              </a:r>
              <a:endParaRPr lang="en-GB" b="1" dirty="0">
                <a:solidFill>
                  <a:schemeClr val="tx2"/>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8C36468-D31C-43AC-859F-8380C6B3A087}"/>
                </a:ext>
              </a:extLst>
            </p:cNvPr>
            <p:cNvSpPr txBox="1"/>
            <p:nvPr/>
          </p:nvSpPr>
          <p:spPr>
            <a:xfrm>
              <a:off x="5865430" y="2066412"/>
              <a:ext cx="1602170"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99.99 % Availability</a:t>
              </a:r>
              <a:endParaRPr lang="en-GB" sz="1400" dirty="0">
                <a:solidFill>
                  <a:schemeClr val="tx2"/>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B3CC763-CE90-4841-9B4D-40A024FD7C08}"/>
                </a:ext>
              </a:extLst>
            </p:cNvPr>
            <p:cNvSpPr txBox="1"/>
            <p:nvPr/>
          </p:nvSpPr>
          <p:spPr>
            <a:xfrm>
              <a:off x="5845727" y="3251006"/>
              <a:ext cx="1510798"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99.9 % Availability</a:t>
              </a:r>
              <a:endParaRPr lang="en-GB" sz="1400" dirty="0">
                <a:solidFill>
                  <a:schemeClr val="tx2"/>
                </a:solidFill>
                <a:latin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E86688CD-C65C-4A5B-823A-D69F747CF91F}"/>
                </a:ext>
              </a:extLst>
            </p:cNvPr>
            <p:cNvSpPr/>
            <p:nvPr/>
          </p:nvSpPr>
          <p:spPr>
            <a:xfrm>
              <a:off x="2826301" y="2513290"/>
              <a:ext cx="2724150" cy="595907"/>
            </a:xfrm>
            <a:custGeom>
              <a:avLst/>
              <a:gdLst>
                <a:gd name="connsiteX0" fmla="*/ 0 w 2724150"/>
                <a:gd name="connsiteY0" fmla="*/ 99320 h 595907"/>
                <a:gd name="connsiteX1" fmla="*/ 99320 w 2724150"/>
                <a:gd name="connsiteY1" fmla="*/ 0 h 595907"/>
                <a:gd name="connsiteX2" fmla="*/ 2624830 w 2724150"/>
                <a:gd name="connsiteY2" fmla="*/ 0 h 595907"/>
                <a:gd name="connsiteX3" fmla="*/ 2724150 w 2724150"/>
                <a:gd name="connsiteY3" fmla="*/ 99320 h 595907"/>
                <a:gd name="connsiteX4" fmla="*/ 2724150 w 2724150"/>
                <a:gd name="connsiteY4" fmla="*/ 496587 h 595907"/>
                <a:gd name="connsiteX5" fmla="*/ 2624830 w 2724150"/>
                <a:gd name="connsiteY5" fmla="*/ 595907 h 595907"/>
                <a:gd name="connsiteX6" fmla="*/ 99320 w 2724150"/>
                <a:gd name="connsiteY6" fmla="*/ 595907 h 595907"/>
                <a:gd name="connsiteX7" fmla="*/ 0 w 2724150"/>
                <a:gd name="connsiteY7" fmla="*/ 496587 h 595907"/>
                <a:gd name="connsiteX8" fmla="*/ 0 w 2724150"/>
                <a:gd name="connsiteY8" fmla="*/ 99320 h 59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4150" h="595907">
                  <a:moveTo>
                    <a:pt x="0" y="99320"/>
                  </a:moveTo>
                  <a:cubicBezTo>
                    <a:pt x="0" y="44467"/>
                    <a:pt x="44467" y="0"/>
                    <a:pt x="99320" y="0"/>
                  </a:cubicBezTo>
                  <a:lnTo>
                    <a:pt x="2624830" y="0"/>
                  </a:lnTo>
                  <a:cubicBezTo>
                    <a:pt x="2679683" y="0"/>
                    <a:pt x="2724150" y="44467"/>
                    <a:pt x="2724150" y="99320"/>
                  </a:cubicBezTo>
                  <a:lnTo>
                    <a:pt x="2724150" y="496587"/>
                  </a:lnTo>
                  <a:cubicBezTo>
                    <a:pt x="2724150" y="551440"/>
                    <a:pt x="2679683" y="595907"/>
                    <a:pt x="2624830" y="595907"/>
                  </a:cubicBezTo>
                  <a:lnTo>
                    <a:pt x="99320" y="595907"/>
                  </a:lnTo>
                  <a:cubicBezTo>
                    <a:pt x="44467" y="595907"/>
                    <a:pt x="0" y="551440"/>
                    <a:pt x="0" y="496587"/>
                  </a:cubicBezTo>
                  <a:lnTo>
                    <a:pt x="0" y="99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050" tIns="90050" rIns="90050" bIns="90050" numCol="1" spcCol="1270" anchor="ctr" anchorCtr="0">
              <a:noAutofit/>
            </a:bodyPr>
            <a:lstStyle/>
            <a:p>
              <a:pPr algn="ctr" defTabSz="711200">
                <a:lnSpc>
                  <a:spcPct val="90000"/>
                </a:lnSpc>
                <a:spcBef>
                  <a:spcPct val="0"/>
                </a:spcBef>
                <a:spcAft>
                  <a:spcPct val="35000"/>
                </a:spcAft>
              </a:pPr>
              <a:r>
                <a:rPr lang="en-US" sz="1600" b="1" dirty="0">
                  <a:latin typeface="Calibri" panose="020F0502020204030204" pitchFamily="34" charset="0"/>
                  <a:cs typeface="Calibri" panose="020F0502020204030204" pitchFamily="34" charset="0"/>
                </a:rPr>
                <a:t>S3 Intelligent tiering</a:t>
              </a:r>
              <a:endParaRPr lang="en-GB" sz="1600" b="1"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F431A7-73EA-471B-B163-32D2529E8E00}"/>
                </a:ext>
              </a:extLst>
            </p:cNvPr>
            <p:cNvSpPr txBox="1"/>
            <p:nvPr/>
          </p:nvSpPr>
          <p:spPr>
            <a:xfrm>
              <a:off x="5845727" y="2641902"/>
              <a:ext cx="1510798" cy="307777"/>
            </a:xfrm>
            <a:prstGeom prst="rect">
              <a:avLst/>
            </a:prstGeom>
            <a:noFill/>
          </p:spPr>
          <p:txBody>
            <a:bodyPr wrap="none" rtlCol="0">
              <a:spAutoFit/>
            </a:bodyPr>
            <a:lstStyle/>
            <a:p>
              <a:r>
                <a:rPr lang="en-US" sz="1400" dirty="0">
                  <a:solidFill>
                    <a:schemeClr val="tx2"/>
                  </a:solidFill>
                  <a:latin typeface="Calibri" panose="020F0502020204030204" pitchFamily="34" charset="0"/>
                  <a:cs typeface="Calibri" panose="020F0502020204030204" pitchFamily="34" charset="0"/>
                </a:rPr>
                <a:t>99.9 % Availability</a:t>
              </a:r>
              <a:endParaRPr lang="en-GB" sz="1400" dirty="0">
                <a:solidFill>
                  <a:schemeClr val="tx2"/>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099544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Transferring files to S3 and typical use cases for S3</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467091" y="1143000"/>
            <a:ext cx="9431438" cy="3048000"/>
          </a:xfrm>
        </p:spPr>
        <p:txBody>
          <a:bodyPr>
            <a:noAutofit/>
          </a:bodyPr>
          <a:lstStyle/>
          <a:p>
            <a:pPr marL="342900"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Transferring files to S3</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Using console / SDK / API</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Data Sync: For high speed transfer from on-premise to S3/EFS</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AWS hosted full managed SFTP service</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Multi part upload: Breaks down file into smaller chunks and uploads separately ; S3 combines the part to create the full object</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Transfer acceleration : Uses edge location and backbone network</a:t>
            </a:r>
          </a:p>
          <a:p>
            <a:pPr marL="0" indent="0"/>
            <a:endParaRPr lang="en-US" sz="2000" b="1"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Use cases for S3</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Storing and distributing static web content and media</a:t>
            </a:r>
          </a:p>
          <a:p>
            <a:pPr marL="129058" lvl="1"/>
            <a:r>
              <a:rPr lang="en-US" sz="1800" dirty="0">
                <a:solidFill>
                  <a:schemeClr val="tx2"/>
                </a:solidFill>
                <a:latin typeface="Calibri" panose="020F0502020204030204" pitchFamily="34" charset="0"/>
                <a:cs typeface="Calibri" panose="020F0502020204030204" pitchFamily="34" charset="0"/>
              </a:rPr>
              <a:t>       ( </a:t>
            </a:r>
            <a:r>
              <a:rPr lang="en-US" sz="1800" dirty="0">
                <a:solidFill>
                  <a:schemeClr val="tx2"/>
                </a:solidFill>
                <a:latin typeface="Calibri" panose="020F0502020204030204" pitchFamily="34" charset="0"/>
                <a:cs typeface="Calibri" panose="020F0502020204030204" pitchFamily="34" charset="0"/>
                <a:hlinkClick r:id="rId3"/>
              </a:rPr>
              <a:t>https://</a:t>
            </a:r>
            <a:r>
              <a:rPr lang="en-US" sz="1800" dirty="0">
                <a:solidFill>
                  <a:schemeClr val="tx2"/>
                </a:solidFill>
                <a:highlight>
                  <a:srgbClr val="FFFF00"/>
                </a:highlight>
                <a:latin typeface="Calibri" panose="020F0502020204030204" pitchFamily="34" charset="0"/>
                <a:cs typeface="Calibri" panose="020F0502020204030204" pitchFamily="34" charset="0"/>
                <a:hlinkClick r:id="rId3"/>
              </a:rPr>
              <a:t>[bucketname].</a:t>
            </a:r>
            <a:r>
              <a:rPr lang="en-US" sz="1800" dirty="0">
                <a:solidFill>
                  <a:schemeClr val="tx2"/>
                </a:solidFill>
                <a:latin typeface="Calibri" panose="020F0502020204030204" pitchFamily="34" charset="0"/>
                <a:cs typeface="Calibri" panose="020F0502020204030204" pitchFamily="34" charset="0"/>
                <a:hlinkClick r:id="rId3"/>
              </a:rPr>
              <a:t>s3.amazon.com</a:t>
            </a:r>
            <a:r>
              <a:rPr lang="en-US" sz="1800" dirty="0">
                <a:solidFill>
                  <a:schemeClr val="tx2"/>
                </a:solidFill>
                <a:latin typeface="Calibri" panose="020F0502020204030204" pitchFamily="34" charset="0"/>
                <a:cs typeface="Calibri" panose="020F0502020204030204" pitchFamily="34" charset="0"/>
              </a:rPr>
              <a:t>)</a:t>
            </a:r>
          </a:p>
          <a:p>
            <a:pPr marL="414808" lvl="1" indent="-28575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Data store for large computation and large scale analytics (clickstream analysis, financial transaction analysis) : Due to horizontal scaling</a:t>
            </a:r>
          </a:p>
          <a:p>
            <a:pPr marL="414808" lvl="1" indent="-28575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Data backup and archival – due to high durability, scalability and low cost. Can store copies to other regions</a:t>
            </a:r>
          </a:p>
          <a:p>
            <a:pPr marL="414808" lvl="1" indent="-28575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Storing AMIs and Snapshots</a:t>
            </a:r>
          </a:p>
          <a:p>
            <a:pPr marL="414808" lvl="1" indent="-285750">
              <a:buFont typeface="Arial" panose="020B0604020202020204" pitchFamily="34" charset="0"/>
              <a:buChar char="•"/>
            </a:pPr>
            <a:endParaRPr lang="en-US" sz="18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63008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Transferring large data</a:t>
            </a:r>
            <a:endParaRPr lang="en-GB" dirty="0"/>
          </a:p>
        </p:txBody>
      </p:sp>
      <p:grpSp>
        <p:nvGrpSpPr>
          <p:cNvPr id="9" name="Group 8">
            <a:extLst>
              <a:ext uri="{FF2B5EF4-FFF2-40B4-BE49-F238E27FC236}">
                <a16:creationId xmlns:a16="http://schemas.microsoft.com/office/drawing/2014/main" id="{2A5878EA-B1F7-44FB-A594-09B2A0FC7173}"/>
              </a:ext>
            </a:extLst>
          </p:cNvPr>
          <p:cNvGrpSpPr/>
          <p:nvPr/>
        </p:nvGrpSpPr>
        <p:grpSpPr>
          <a:xfrm>
            <a:off x="1905000" y="1600200"/>
            <a:ext cx="2301904" cy="1062016"/>
            <a:chOff x="6615932" y="1166285"/>
            <a:chExt cx="2301904" cy="1062016"/>
          </a:xfrm>
        </p:grpSpPr>
        <p:sp>
          <p:nvSpPr>
            <p:cNvPr id="13" name="TextBox 12">
              <a:extLst>
                <a:ext uri="{FF2B5EF4-FFF2-40B4-BE49-F238E27FC236}">
                  <a16:creationId xmlns:a16="http://schemas.microsoft.com/office/drawing/2014/main" id="{B7ED23AD-5EB9-402E-8B65-0D940363C395}"/>
                </a:ext>
              </a:extLst>
            </p:cNvPr>
            <p:cNvSpPr txBox="1"/>
            <p:nvPr/>
          </p:nvSpPr>
          <p:spPr>
            <a:xfrm>
              <a:off x="6615932" y="1920524"/>
              <a:ext cx="2301904" cy="307777"/>
            </a:xfrm>
            <a:prstGeom prst="rect">
              <a:avLst/>
            </a:prstGeom>
            <a:noFill/>
          </p:spPr>
          <p:txBody>
            <a:bodyPr wrap="square" rtlCol="0">
              <a:spAutoFit/>
            </a:bodyPr>
            <a:lstStyle/>
            <a:p>
              <a:pPr algn="ctr"/>
              <a:r>
                <a:rPr lang="en-US" sz="1400" dirty="0"/>
                <a:t>AWS Snowball</a:t>
              </a:r>
            </a:p>
          </p:txBody>
        </p:sp>
        <p:pic>
          <p:nvPicPr>
            <p:cNvPr id="14" name="Graphic 13">
              <a:extLst>
                <a:ext uri="{FF2B5EF4-FFF2-40B4-BE49-F238E27FC236}">
                  <a16:creationId xmlns:a16="http://schemas.microsoft.com/office/drawing/2014/main" id="{A6801C04-1333-4494-B67B-C9A94442CD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7960" y="1166285"/>
              <a:ext cx="711200" cy="711200"/>
            </a:xfrm>
            <a:prstGeom prst="rect">
              <a:avLst/>
            </a:prstGeom>
          </p:spPr>
        </p:pic>
      </p:grpSp>
      <p:grpSp>
        <p:nvGrpSpPr>
          <p:cNvPr id="15" name="Group 14">
            <a:extLst>
              <a:ext uri="{FF2B5EF4-FFF2-40B4-BE49-F238E27FC236}">
                <a16:creationId xmlns:a16="http://schemas.microsoft.com/office/drawing/2014/main" id="{5A675EB2-31BF-462B-AAF6-136800CEB58B}"/>
              </a:ext>
            </a:extLst>
          </p:cNvPr>
          <p:cNvGrpSpPr/>
          <p:nvPr/>
        </p:nvGrpSpPr>
        <p:grpSpPr>
          <a:xfrm>
            <a:off x="7009061" y="3783333"/>
            <a:ext cx="2301904" cy="1056975"/>
            <a:chOff x="4175311" y="1135972"/>
            <a:chExt cx="2301904" cy="1056975"/>
          </a:xfrm>
        </p:grpSpPr>
        <p:sp>
          <p:nvSpPr>
            <p:cNvPr id="16" name="TextBox 15">
              <a:extLst>
                <a:ext uri="{FF2B5EF4-FFF2-40B4-BE49-F238E27FC236}">
                  <a16:creationId xmlns:a16="http://schemas.microsoft.com/office/drawing/2014/main" id="{F157F21F-FDBD-4C22-9E00-563127510BD0}"/>
                </a:ext>
              </a:extLst>
            </p:cNvPr>
            <p:cNvSpPr txBox="1"/>
            <p:nvPr/>
          </p:nvSpPr>
          <p:spPr>
            <a:xfrm>
              <a:off x="4175311" y="1885170"/>
              <a:ext cx="2301904" cy="307777"/>
            </a:xfrm>
            <a:prstGeom prst="rect">
              <a:avLst/>
            </a:prstGeom>
            <a:noFill/>
          </p:spPr>
          <p:txBody>
            <a:bodyPr wrap="square" rtlCol="0">
              <a:spAutoFit/>
            </a:bodyPr>
            <a:lstStyle/>
            <a:p>
              <a:pPr algn="ctr"/>
              <a:r>
                <a:rPr lang="en-US" sz="1400" dirty="0"/>
                <a:t>AWS Snowmobile</a:t>
              </a:r>
            </a:p>
          </p:txBody>
        </p:sp>
        <p:pic>
          <p:nvPicPr>
            <p:cNvPr id="17" name="Graphic 16">
              <a:extLst>
                <a:ext uri="{FF2B5EF4-FFF2-40B4-BE49-F238E27FC236}">
                  <a16:creationId xmlns:a16="http://schemas.microsoft.com/office/drawing/2014/main" id="{C6C2F16E-50F5-4154-B7EE-5B9A38C271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5817" y="1135972"/>
              <a:ext cx="711200" cy="711200"/>
            </a:xfrm>
            <a:prstGeom prst="rect">
              <a:avLst/>
            </a:prstGeom>
          </p:spPr>
        </p:pic>
      </p:grpSp>
      <p:sp>
        <p:nvSpPr>
          <p:cNvPr id="18" name="TextBox 17">
            <a:extLst>
              <a:ext uri="{FF2B5EF4-FFF2-40B4-BE49-F238E27FC236}">
                <a16:creationId xmlns:a16="http://schemas.microsoft.com/office/drawing/2014/main" id="{F2307BF6-2EEF-48BD-975F-590FF6DCAC48}"/>
              </a:ext>
            </a:extLst>
          </p:cNvPr>
          <p:cNvSpPr txBox="1"/>
          <p:nvPr/>
        </p:nvSpPr>
        <p:spPr>
          <a:xfrm>
            <a:off x="4572001" y="1483938"/>
            <a:ext cx="4077655" cy="738664"/>
          </a:xfrm>
          <a:prstGeom prst="rect">
            <a:avLst/>
          </a:prstGeom>
          <a:noFill/>
        </p:spPr>
        <p:txBody>
          <a:bodyPr wrap="none" rtlCol="0">
            <a:spAutoFit/>
          </a:bodyPr>
          <a:lstStyle/>
          <a:p>
            <a:r>
              <a:rPr lang="en-US" sz="1400" dirty="0">
                <a:solidFill>
                  <a:srgbClr val="0070C0"/>
                </a:solidFill>
                <a:latin typeface="Calibri" panose="020F0502020204030204" pitchFamily="34" charset="0"/>
                <a:cs typeface="Calibri" panose="020F0502020204030204" pitchFamily="34" charset="0"/>
              </a:rPr>
              <a:t>Petabyte scale data transport</a:t>
            </a:r>
          </a:p>
          <a:p>
            <a:r>
              <a:rPr lang="en-US" sz="1400" dirty="0">
                <a:solidFill>
                  <a:srgbClr val="0070C0"/>
                </a:solidFill>
                <a:latin typeface="Calibri" panose="020F0502020204030204" pitchFamily="34" charset="0"/>
                <a:cs typeface="Calibri" panose="020F0502020204030204" pitchFamily="34" charset="0"/>
              </a:rPr>
              <a:t>Appliance sent to premise for transferring data</a:t>
            </a:r>
          </a:p>
          <a:p>
            <a:r>
              <a:rPr lang="en-US" sz="1400" dirty="0">
                <a:solidFill>
                  <a:srgbClr val="0070C0"/>
                </a:solidFill>
                <a:latin typeface="Calibri" panose="020F0502020204030204" pitchFamily="34" charset="0"/>
                <a:cs typeface="Calibri" panose="020F0502020204030204" pitchFamily="34" charset="0"/>
              </a:rPr>
              <a:t>Shipped back to Amazon facility and transferred to S3</a:t>
            </a:r>
            <a:endParaRPr lang="en-GB" sz="1400" dirty="0">
              <a:solidFill>
                <a:srgbClr val="0070C0"/>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F70F7FD-A335-4657-AE18-8AEE5A6895B8}"/>
              </a:ext>
            </a:extLst>
          </p:cNvPr>
          <p:cNvSpPr txBox="1"/>
          <p:nvPr/>
        </p:nvSpPr>
        <p:spPr>
          <a:xfrm>
            <a:off x="2590801" y="3886201"/>
            <a:ext cx="4418261" cy="954107"/>
          </a:xfrm>
          <a:prstGeom prst="rect">
            <a:avLst/>
          </a:prstGeom>
          <a:noFill/>
        </p:spPr>
        <p:txBody>
          <a:bodyPr wrap="none" rtlCol="0">
            <a:spAutoFit/>
          </a:bodyPr>
          <a:lstStyle/>
          <a:p>
            <a:r>
              <a:rPr lang="en-US" sz="1400" dirty="0">
                <a:solidFill>
                  <a:srgbClr val="0070C0"/>
                </a:solidFill>
                <a:latin typeface="Calibri" panose="020F0502020204030204" pitchFamily="34" charset="0"/>
                <a:cs typeface="Calibri" panose="020F0502020204030204" pitchFamily="34" charset="0"/>
              </a:rPr>
              <a:t>Exabyte scale data transport</a:t>
            </a:r>
          </a:p>
          <a:p>
            <a:r>
              <a:rPr lang="en-US" sz="1400" dirty="0">
                <a:solidFill>
                  <a:srgbClr val="0070C0"/>
                </a:solidFill>
                <a:latin typeface="Calibri" panose="020F0502020204030204" pitchFamily="34" charset="0"/>
                <a:cs typeface="Calibri" panose="020F0502020204030204" pitchFamily="34" charset="0"/>
              </a:rPr>
              <a:t>45 ft shipping container pulled by a semi-</a:t>
            </a:r>
            <a:r>
              <a:rPr lang="en-US" sz="1400" dirty="0" err="1">
                <a:solidFill>
                  <a:srgbClr val="0070C0"/>
                </a:solidFill>
                <a:latin typeface="Calibri" panose="020F0502020204030204" pitchFamily="34" charset="0"/>
                <a:cs typeface="Calibri" panose="020F0502020204030204" pitchFamily="34" charset="0"/>
              </a:rPr>
              <a:t>trailor</a:t>
            </a:r>
            <a:endParaRPr lang="en-US" sz="1400" dirty="0">
              <a:solidFill>
                <a:srgbClr val="0070C0"/>
              </a:solidFill>
              <a:latin typeface="Calibri" panose="020F0502020204030204" pitchFamily="34" charset="0"/>
              <a:cs typeface="Calibri" panose="020F0502020204030204" pitchFamily="34" charset="0"/>
            </a:endParaRPr>
          </a:p>
          <a:p>
            <a:r>
              <a:rPr lang="en-US" sz="1400" dirty="0">
                <a:solidFill>
                  <a:srgbClr val="0070C0"/>
                </a:solidFill>
                <a:latin typeface="Calibri" panose="020F0502020204030204" pitchFamily="34" charset="0"/>
                <a:cs typeface="Calibri" panose="020F0502020204030204" pitchFamily="34" charset="0"/>
              </a:rPr>
              <a:t>100 PB per snowmobile</a:t>
            </a:r>
          </a:p>
          <a:p>
            <a:r>
              <a:rPr lang="en-US" sz="1400" dirty="0">
                <a:solidFill>
                  <a:srgbClr val="0070C0"/>
                </a:solidFill>
                <a:latin typeface="Calibri" panose="020F0502020204030204" pitchFamily="34" charset="0"/>
                <a:cs typeface="Calibri" panose="020F0502020204030204" pitchFamily="34" charset="0"/>
              </a:rPr>
              <a:t>High security – video surveillance, GPS, 256 bit encryption</a:t>
            </a:r>
            <a:endParaRPr lang="en-GB" sz="1400" dirty="0">
              <a:solidFill>
                <a:srgbClr val="0070C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1658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Block storage</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480862" y="1181100"/>
            <a:ext cx="9431438" cy="4495800"/>
          </a:xfrm>
        </p:spPr>
        <p:txBody>
          <a:bodyPr>
            <a:noAutofit/>
          </a:bodyPr>
          <a:lstStyle/>
          <a:p>
            <a:pPr marL="342900"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Instance store</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Disks physically attached to host computer</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Ephemeral storage - data stored is not persistent through instance stops, terminations, or hardware failures</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Ideal for temporary data like buffer, cache, data replicated across load balanced servers</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EBS (Elastic Block Storage)</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Durable detachable, block storage for EC2</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Consistent and Low latency performance</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Stored data is automatically replicated within the AZ</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Data persists through shut down</a:t>
            </a:r>
          </a:p>
          <a:p>
            <a:pPr marL="471958" lvl="1"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Recommended when data must be quickly accessible and requires long term persistence</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OS root volumes</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Database files</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Enterprise applications</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376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EBS Life-cycle</a:t>
            </a:r>
            <a:endParaRPr lang="en-GB" dirty="0"/>
          </a:p>
        </p:txBody>
      </p:sp>
      <p:graphicFrame>
        <p:nvGraphicFramePr>
          <p:cNvPr id="6" name="Diagram 5">
            <a:extLst>
              <a:ext uri="{FF2B5EF4-FFF2-40B4-BE49-F238E27FC236}">
                <a16:creationId xmlns:a16="http://schemas.microsoft.com/office/drawing/2014/main" id="{39F6B6FA-A59C-4FC9-8CF5-641576C2D0AB}"/>
              </a:ext>
            </a:extLst>
          </p:cNvPr>
          <p:cNvGraphicFramePr/>
          <p:nvPr/>
        </p:nvGraphicFramePr>
        <p:xfrm>
          <a:off x="2590800" y="1600201"/>
          <a:ext cx="6604000" cy="4402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05361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EBS types</a:t>
            </a:r>
            <a:endParaRPr lang="en-GB" dirty="0"/>
          </a:p>
        </p:txBody>
      </p:sp>
      <p:graphicFrame>
        <p:nvGraphicFramePr>
          <p:cNvPr id="4" name="Content Placeholder 3">
            <a:extLst>
              <a:ext uri="{FF2B5EF4-FFF2-40B4-BE49-F238E27FC236}">
                <a16:creationId xmlns:a16="http://schemas.microsoft.com/office/drawing/2014/main" id="{20E9AC6C-54DA-461A-AFEE-79538FD53A32}"/>
              </a:ext>
            </a:extLst>
          </p:cNvPr>
          <p:cNvGraphicFramePr>
            <a:graphicFrameLocks noGrp="1"/>
          </p:cNvGraphicFramePr>
          <p:nvPr>
            <p:ph idx="1"/>
          </p:nvPr>
        </p:nvGraphicFramePr>
        <p:xfrm>
          <a:off x="1466851" y="1322388"/>
          <a:ext cx="9259887" cy="2108200"/>
        </p:xfrm>
        <a:graphic>
          <a:graphicData uri="http://schemas.openxmlformats.org/drawingml/2006/table">
            <a:tbl>
              <a:tblPr firstRow="1" bandRow="1">
                <a:tableStyleId>{5C22544A-7EE6-4342-B048-85BDC9FD1C3A}</a:tableStyleId>
              </a:tblPr>
              <a:tblGrid>
                <a:gridCol w="3086629">
                  <a:extLst>
                    <a:ext uri="{9D8B030D-6E8A-4147-A177-3AD203B41FA5}">
                      <a16:colId xmlns:a16="http://schemas.microsoft.com/office/drawing/2014/main" val="1609790176"/>
                    </a:ext>
                  </a:extLst>
                </a:gridCol>
                <a:gridCol w="3086629">
                  <a:extLst>
                    <a:ext uri="{9D8B030D-6E8A-4147-A177-3AD203B41FA5}">
                      <a16:colId xmlns:a16="http://schemas.microsoft.com/office/drawing/2014/main" val="1849083603"/>
                    </a:ext>
                  </a:extLst>
                </a:gridCol>
                <a:gridCol w="3086629">
                  <a:extLst>
                    <a:ext uri="{9D8B030D-6E8A-4147-A177-3AD203B41FA5}">
                      <a16:colId xmlns:a16="http://schemas.microsoft.com/office/drawing/2014/main" val="3272296800"/>
                    </a:ext>
                  </a:extLst>
                </a:gridCol>
              </a:tblGrid>
              <a:tr h="370840">
                <a:tc>
                  <a:txBody>
                    <a:bodyPr/>
                    <a:lstStyle/>
                    <a:p>
                      <a:r>
                        <a:rPr lang="en-US" dirty="0">
                          <a:latin typeface="Calibri" panose="020F0502020204030204" pitchFamily="34" charset="0"/>
                          <a:cs typeface="Calibri" panose="020F0502020204030204" pitchFamily="34" charset="0"/>
                        </a:rPr>
                        <a:t>Type</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General Purpose SSD</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Provisioned IOPS SSD</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040808403"/>
                  </a:ext>
                </a:extLst>
              </a:tr>
              <a:tr h="370840">
                <a:tc>
                  <a:txBody>
                    <a:bodyPr/>
                    <a:lstStyle/>
                    <a:p>
                      <a:r>
                        <a:rPr lang="en-US" dirty="0">
                          <a:latin typeface="Calibri" panose="020F0502020204030204" pitchFamily="34" charset="0"/>
                          <a:cs typeface="Calibri" panose="020F0502020204030204" pitchFamily="34" charset="0"/>
                        </a:rPr>
                        <a:t>SSD Backed</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Balances price and performance for wide variety of workloads</a:t>
                      </a:r>
                    </a:p>
                    <a:p>
                      <a:r>
                        <a:rPr lang="en-US" dirty="0">
                          <a:latin typeface="Calibri" panose="020F0502020204030204" pitchFamily="34" charset="0"/>
                          <a:cs typeface="Calibri" panose="020F0502020204030204" pitchFamily="34" charset="0"/>
                        </a:rPr>
                        <a:t>(1 GB to 16 TB)</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High performance SSD for mission critical low latency / high throughput workloads (e.g. large databases)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4 GB to 16 TB)</a:t>
                      </a:r>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48380824"/>
                  </a:ext>
                </a:extLst>
              </a:tr>
            </a:tbl>
          </a:graphicData>
        </a:graphic>
      </p:graphicFrame>
      <p:graphicFrame>
        <p:nvGraphicFramePr>
          <p:cNvPr id="8" name="Content Placeholder 3">
            <a:extLst>
              <a:ext uri="{FF2B5EF4-FFF2-40B4-BE49-F238E27FC236}">
                <a16:creationId xmlns:a16="http://schemas.microsoft.com/office/drawing/2014/main" id="{557DAE2E-DDFF-45DC-B397-66952118CA3C}"/>
              </a:ext>
            </a:extLst>
          </p:cNvPr>
          <p:cNvGraphicFramePr>
            <a:graphicFrameLocks/>
          </p:cNvGraphicFramePr>
          <p:nvPr/>
        </p:nvGraphicFramePr>
        <p:xfrm>
          <a:off x="1466057" y="3606800"/>
          <a:ext cx="9259887" cy="2382520"/>
        </p:xfrm>
        <a:graphic>
          <a:graphicData uri="http://schemas.openxmlformats.org/drawingml/2006/table">
            <a:tbl>
              <a:tblPr firstRow="1" bandRow="1">
                <a:tableStyleId>{5C22544A-7EE6-4342-B048-85BDC9FD1C3A}</a:tableStyleId>
              </a:tblPr>
              <a:tblGrid>
                <a:gridCol w="3086629">
                  <a:extLst>
                    <a:ext uri="{9D8B030D-6E8A-4147-A177-3AD203B41FA5}">
                      <a16:colId xmlns:a16="http://schemas.microsoft.com/office/drawing/2014/main" val="1609790176"/>
                    </a:ext>
                  </a:extLst>
                </a:gridCol>
                <a:gridCol w="3086629">
                  <a:extLst>
                    <a:ext uri="{9D8B030D-6E8A-4147-A177-3AD203B41FA5}">
                      <a16:colId xmlns:a16="http://schemas.microsoft.com/office/drawing/2014/main" val="1849083603"/>
                    </a:ext>
                  </a:extLst>
                </a:gridCol>
                <a:gridCol w="3086629">
                  <a:extLst>
                    <a:ext uri="{9D8B030D-6E8A-4147-A177-3AD203B41FA5}">
                      <a16:colId xmlns:a16="http://schemas.microsoft.com/office/drawing/2014/main" val="3272296800"/>
                    </a:ext>
                  </a:extLst>
                </a:gridCol>
              </a:tblGrid>
              <a:tr h="370840">
                <a:tc>
                  <a:txBody>
                    <a:bodyPr/>
                    <a:lstStyle/>
                    <a:p>
                      <a:r>
                        <a:rPr lang="en-US" dirty="0">
                          <a:latin typeface="Calibri" panose="020F0502020204030204" pitchFamily="34" charset="0"/>
                          <a:cs typeface="Calibri" panose="020F0502020204030204" pitchFamily="34" charset="0"/>
                        </a:rPr>
                        <a:t>Type</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Throughput optimized HDD</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Cold HDD</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040808403"/>
                  </a:ext>
                </a:extLst>
              </a:tr>
              <a:tr h="370840">
                <a:tc>
                  <a:txBody>
                    <a:bodyPr/>
                    <a:lstStyle/>
                    <a:p>
                      <a:r>
                        <a:rPr lang="en-US" dirty="0">
                          <a:latin typeface="Calibri" panose="020F0502020204030204" pitchFamily="34" charset="0"/>
                          <a:cs typeface="Calibri" panose="020F0502020204030204" pitchFamily="34" charset="0"/>
                        </a:rPr>
                        <a:t>HDD Backed</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Low cost HDD designed for frequently accessed throughput intensive workloads</a:t>
                      </a:r>
                    </a:p>
                    <a:p>
                      <a:r>
                        <a:rPr lang="en-US" dirty="0">
                          <a:latin typeface="Calibri" panose="020F0502020204030204" pitchFamily="34" charset="0"/>
                          <a:cs typeface="Calibri" panose="020F0502020204030204" pitchFamily="34" charset="0"/>
                        </a:rPr>
                        <a:t>E.g. streaming, Big Data, log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500 GB to 16 TB)</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Lowest cost HDD designed for  less frequently accessed workloads</a:t>
                      </a:r>
                    </a:p>
                    <a:p>
                      <a:r>
                        <a:rPr lang="en-US" dirty="0">
                          <a:latin typeface="Calibri" panose="020F0502020204030204" pitchFamily="34" charset="0"/>
                          <a:cs typeface="Calibri" panose="020F0502020204030204" pitchFamily="34" charset="0"/>
                        </a:rPr>
                        <a:t>E.g. large volume of data accessed infrequently</a:t>
                      </a:r>
                    </a:p>
                    <a:p>
                      <a:endParaRPr lang="en-US"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cs typeface="Calibri" panose="020F0502020204030204" pitchFamily="34" charset="0"/>
                        </a:rPr>
                        <a:t>500 GB to 16 TB)</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48380824"/>
                  </a:ext>
                </a:extLst>
              </a:tr>
            </a:tbl>
          </a:graphicData>
        </a:graphic>
      </p:graphicFrame>
    </p:spTree>
    <p:extLst>
      <p:ext uri="{BB962C8B-B14F-4D97-AF65-F5344CB8AC3E}">
        <p14:creationId xmlns:p14="http://schemas.microsoft.com/office/powerpoint/2010/main" val="2220554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Amazon EFS (Elastic File System)</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480862" y="1181100"/>
            <a:ext cx="9431438" cy="4495800"/>
          </a:xfrm>
        </p:spPr>
        <p:txBody>
          <a:bodyPr>
            <a:noAutofit/>
          </a:body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Network File System for Linux</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Can be shared across EC2 instances in different AZ, regions, VPCs and accounts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Uses NFSv4 protocol</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Mounted to an EC2 instance </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Offers two storage classes (Standard and Infrequent access)</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err="1">
                <a:solidFill>
                  <a:schemeClr val="tx2"/>
                </a:solidFill>
                <a:latin typeface="Calibri" panose="020F0502020204030204" pitchFamily="34" charset="0"/>
                <a:cs typeface="Calibri" panose="020F0502020204030204" pitchFamily="34" charset="0"/>
              </a:rPr>
              <a:t>FSx</a:t>
            </a:r>
            <a:r>
              <a:rPr lang="en-US" sz="2000" dirty="0">
                <a:solidFill>
                  <a:schemeClr val="tx2"/>
                </a:solidFill>
                <a:latin typeface="Calibri" panose="020F0502020204030204" pitchFamily="34" charset="0"/>
                <a:cs typeface="Calibri" panose="020F0502020204030204" pitchFamily="34" charset="0"/>
              </a:rPr>
              <a:t> is the equivalent option for Windows</a:t>
            </a:r>
            <a:endParaRPr lang="en-US" dirty="0">
              <a:solidFill>
                <a:schemeClr val="tx2"/>
              </a:solidFill>
              <a:latin typeface="Calibri" panose="020F0502020204030204" pitchFamily="34" charset="0"/>
              <a:cs typeface="Calibri" panose="020F0502020204030204" pitchFamily="34" charset="0"/>
            </a:endParaRPr>
          </a:p>
          <a:p>
            <a:pPr marL="0" indent="0"/>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30056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Reboot vs Stop vs Terminate</a:t>
            </a:r>
            <a:endParaRPr lang="en-GB" dirty="0"/>
          </a:p>
        </p:txBody>
      </p:sp>
      <p:graphicFrame>
        <p:nvGraphicFramePr>
          <p:cNvPr id="4" name="Content Placeholder 3">
            <a:extLst>
              <a:ext uri="{FF2B5EF4-FFF2-40B4-BE49-F238E27FC236}">
                <a16:creationId xmlns:a16="http://schemas.microsoft.com/office/drawing/2014/main" id="{EBE819E6-D0F7-4281-8475-424E9FF9C5A6}"/>
              </a:ext>
            </a:extLst>
          </p:cNvPr>
          <p:cNvGraphicFramePr>
            <a:graphicFrameLocks noGrp="1"/>
          </p:cNvGraphicFramePr>
          <p:nvPr>
            <p:ph idx="1"/>
          </p:nvPr>
        </p:nvGraphicFramePr>
        <p:xfrm>
          <a:off x="1466850" y="1322388"/>
          <a:ext cx="9259888" cy="4602480"/>
        </p:xfrm>
        <a:graphic>
          <a:graphicData uri="http://schemas.openxmlformats.org/drawingml/2006/table">
            <a:tbl>
              <a:tblPr firstRow="1" bandRow="1">
                <a:tableStyleId>{5C22544A-7EE6-4342-B048-85BDC9FD1C3A}</a:tableStyleId>
              </a:tblPr>
              <a:tblGrid>
                <a:gridCol w="2314972">
                  <a:extLst>
                    <a:ext uri="{9D8B030D-6E8A-4147-A177-3AD203B41FA5}">
                      <a16:colId xmlns:a16="http://schemas.microsoft.com/office/drawing/2014/main" val="3208969977"/>
                    </a:ext>
                  </a:extLst>
                </a:gridCol>
                <a:gridCol w="2314972">
                  <a:extLst>
                    <a:ext uri="{9D8B030D-6E8A-4147-A177-3AD203B41FA5}">
                      <a16:colId xmlns:a16="http://schemas.microsoft.com/office/drawing/2014/main" val="1975260283"/>
                    </a:ext>
                  </a:extLst>
                </a:gridCol>
                <a:gridCol w="2314972">
                  <a:extLst>
                    <a:ext uri="{9D8B030D-6E8A-4147-A177-3AD203B41FA5}">
                      <a16:colId xmlns:a16="http://schemas.microsoft.com/office/drawing/2014/main" val="1486291215"/>
                    </a:ext>
                  </a:extLst>
                </a:gridCol>
                <a:gridCol w="2314972">
                  <a:extLst>
                    <a:ext uri="{9D8B030D-6E8A-4147-A177-3AD203B41FA5}">
                      <a16:colId xmlns:a16="http://schemas.microsoft.com/office/drawing/2014/main" val="752875812"/>
                    </a:ext>
                  </a:extLst>
                </a:gridCol>
              </a:tblGrid>
              <a:tr h="370840">
                <a:tc>
                  <a:txBody>
                    <a:bodyPr/>
                    <a:lstStyle/>
                    <a:p>
                      <a:r>
                        <a:rPr lang="en-US" sz="2000" dirty="0">
                          <a:latin typeface="Calibri" panose="020F0502020204030204" pitchFamily="34" charset="0"/>
                          <a:cs typeface="Calibri" panose="020F0502020204030204" pitchFamily="34" charset="0"/>
                        </a:rPr>
                        <a:t>Behavior</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Reboot</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Stop/Start</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Terminate</a:t>
                      </a:r>
                      <a:endParaRPr lang="en-GB"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47155713"/>
                  </a:ext>
                </a:extLst>
              </a:tr>
              <a:tr h="370840">
                <a:tc>
                  <a:txBody>
                    <a:bodyPr/>
                    <a:lstStyle/>
                    <a:p>
                      <a:r>
                        <a:rPr lang="en-US" sz="2000" dirty="0">
                          <a:latin typeface="Calibri" panose="020F0502020204030204" pitchFamily="34" charset="0"/>
                          <a:cs typeface="Calibri" panose="020F0502020204030204" pitchFamily="34" charset="0"/>
                        </a:rPr>
                        <a:t>Host computer</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Instances stays on same computer</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Instance runs on new computer</a:t>
                      </a:r>
                      <a:endParaRPr lang="en-GB" sz="2000" dirty="0">
                        <a:latin typeface="Calibri" panose="020F0502020204030204" pitchFamily="34" charset="0"/>
                        <a:cs typeface="Calibri" panose="020F0502020204030204" pitchFamily="34" charset="0"/>
                      </a:endParaRPr>
                    </a:p>
                  </a:txBody>
                  <a:tcPr/>
                </a:tc>
                <a:tc>
                  <a:txBody>
                    <a:bodyPr/>
                    <a:lstStyle/>
                    <a:p>
                      <a:endParaRPr lang="en-GB"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32597530"/>
                  </a:ext>
                </a:extLst>
              </a:tr>
              <a:tr h="370840">
                <a:tc>
                  <a:txBody>
                    <a:bodyPr/>
                    <a:lstStyle/>
                    <a:p>
                      <a:r>
                        <a:rPr lang="en-US" sz="2000" dirty="0">
                          <a:latin typeface="Calibri" panose="020F0502020204030204" pitchFamily="34" charset="0"/>
                          <a:cs typeface="Calibri" panose="020F0502020204030204" pitchFamily="34" charset="0"/>
                        </a:rPr>
                        <a:t>Public IP address</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No change</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New IP assigned</a:t>
                      </a:r>
                      <a:endParaRPr lang="en-GB" sz="2000" dirty="0">
                        <a:latin typeface="Calibri" panose="020F0502020204030204" pitchFamily="34" charset="0"/>
                        <a:cs typeface="Calibri" panose="020F0502020204030204" pitchFamily="34" charset="0"/>
                      </a:endParaRPr>
                    </a:p>
                  </a:txBody>
                  <a:tcPr/>
                </a:tc>
                <a:tc>
                  <a:txBody>
                    <a:bodyPr/>
                    <a:lstStyle/>
                    <a:p>
                      <a:endParaRPr lang="en-GB" sz="200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853122513"/>
                  </a:ext>
                </a:extLst>
              </a:tr>
              <a:tr h="370840">
                <a:tc>
                  <a:txBody>
                    <a:bodyPr/>
                    <a:lstStyle/>
                    <a:p>
                      <a:r>
                        <a:rPr lang="en-US" sz="2000" dirty="0">
                          <a:latin typeface="Calibri" panose="020F0502020204030204" pitchFamily="34" charset="0"/>
                          <a:cs typeface="Calibri" panose="020F0502020204030204" pitchFamily="34" charset="0"/>
                        </a:rPr>
                        <a:t>Elastic IP address</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EIP remains associated with instance</a:t>
                      </a:r>
                      <a:endParaRPr lang="en-GB" sz="20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EIP remains associated with instance</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EIP disassociated from instance</a:t>
                      </a:r>
                      <a:endParaRPr lang="en-GB"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889877338"/>
                  </a:ext>
                </a:extLst>
              </a:tr>
              <a:tr h="370840">
                <a:tc>
                  <a:txBody>
                    <a:bodyPr/>
                    <a:lstStyle/>
                    <a:p>
                      <a:r>
                        <a:rPr lang="en-US" sz="2000" dirty="0">
                          <a:latin typeface="Calibri" panose="020F0502020204030204" pitchFamily="34" charset="0"/>
                          <a:cs typeface="Calibri" panose="020F0502020204030204" pitchFamily="34" charset="0"/>
                        </a:rPr>
                        <a:t>Instance store volume</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Preserved</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Erased</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Erased</a:t>
                      </a:r>
                      <a:endParaRPr lang="en-GB"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34228289"/>
                  </a:ext>
                </a:extLst>
              </a:tr>
              <a:tr h="370840">
                <a:tc>
                  <a:txBody>
                    <a:bodyPr/>
                    <a:lstStyle/>
                    <a:p>
                      <a:r>
                        <a:rPr lang="en-US" sz="2000" dirty="0">
                          <a:latin typeface="Calibri" panose="020F0502020204030204" pitchFamily="34" charset="0"/>
                          <a:cs typeface="Calibri" panose="020F0502020204030204" pitchFamily="34" charset="0"/>
                        </a:rPr>
                        <a:t>EBS volume</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Preserved</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Preserved</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Boot volume deleted by default</a:t>
                      </a:r>
                      <a:endParaRPr lang="en-GB"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18836371"/>
                  </a:ext>
                </a:extLst>
              </a:tr>
              <a:tr h="370840">
                <a:tc>
                  <a:txBody>
                    <a:bodyPr/>
                    <a:lstStyle/>
                    <a:p>
                      <a:r>
                        <a:rPr lang="en-US" sz="2000" dirty="0">
                          <a:latin typeface="Calibri" panose="020F0502020204030204" pitchFamily="34" charset="0"/>
                          <a:cs typeface="Calibri" panose="020F0502020204030204" pitchFamily="34" charset="0"/>
                        </a:rPr>
                        <a:t>Billing</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Instance billing hour doesn’t change</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Stop incurring charges till Start</a:t>
                      </a:r>
                      <a:endParaRPr lang="en-GB" sz="2000" dirty="0">
                        <a:latin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cs typeface="Calibri" panose="020F0502020204030204" pitchFamily="34" charset="0"/>
                        </a:rPr>
                        <a:t>Stop incurring charges</a:t>
                      </a:r>
                      <a:endParaRPr lang="en-GB" sz="20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64593074"/>
                  </a:ext>
                </a:extLst>
              </a:tr>
            </a:tbl>
          </a:graphicData>
        </a:graphic>
      </p:graphicFrame>
    </p:spTree>
    <p:extLst>
      <p:ext uri="{BB962C8B-B14F-4D97-AF65-F5344CB8AC3E}">
        <p14:creationId xmlns:p14="http://schemas.microsoft.com/office/powerpoint/2010/main" val="1594992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850C-E0BB-437E-A177-997F054FEC7C}"/>
              </a:ext>
            </a:extLst>
          </p:cNvPr>
          <p:cNvSpPr>
            <a:spLocks noGrp="1"/>
          </p:cNvSpPr>
          <p:nvPr>
            <p:ph type="title"/>
          </p:nvPr>
        </p:nvSpPr>
        <p:spPr/>
        <p:txBody>
          <a:bodyPr/>
          <a:lstStyle/>
          <a:p>
            <a:r>
              <a:rPr lang="en-US" b="1" dirty="0">
                <a:solidFill>
                  <a:schemeClr val="tx2"/>
                </a:solidFill>
              </a:rPr>
              <a:t>Break time !!!</a:t>
            </a:r>
          </a:p>
        </p:txBody>
      </p:sp>
      <p:sp>
        <p:nvSpPr>
          <p:cNvPr id="7" name="TextBox 6">
            <a:extLst>
              <a:ext uri="{FF2B5EF4-FFF2-40B4-BE49-F238E27FC236}">
                <a16:creationId xmlns:a16="http://schemas.microsoft.com/office/drawing/2014/main" id="{104E6BEE-841B-4E11-B53F-A80F562A7A4E}"/>
              </a:ext>
            </a:extLst>
          </p:cNvPr>
          <p:cNvSpPr txBox="1"/>
          <p:nvPr/>
        </p:nvSpPr>
        <p:spPr>
          <a:xfrm>
            <a:off x="2590800" y="3395706"/>
            <a:ext cx="7620000" cy="429348"/>
          </a:xfrm>
          <a:prstGeom prst="rect">
            <a:avLst/>
          </a:prstGeom>
          <a:noFill/>
        </p:spPr>
        <p:txBody>
          <a:bodyPr wrap="square" rtlCol="0">
            <a:spAutoFit/>
          </a:bodyPr>
          <a:lstStyle/>
          <a:p>
            <a:pPr>
              <a:lnSpc>
                <a:spcPts val="2800"/>
              </a:lnSpc>
            </a:pPr>
            <a:r>
              <a:rPr lang="en-US" sz="2000" b="1" dirty="0">
                <a:solidFill>
                  <a:schemeClr val="tx2"/>
                </a:solidFill>
                <a:latin typeface="Calibri" panose="020F0502020204030204" pitchFamily="34" charset="0"/>
                <a:cs typeface="Calibri" panose="020F0502020204030204" pitchFamily="34" charset="0"/>
              </a:rPr>
              <a:t>Enjoy your break.  We shall resume at 11:00 AM IST (1:30 PM SG time)</a:t>
            </a:r>
            <a:endParaRPr lang="en-GB" sz="2000" b="1" dirty="0">
              <a:solidFill>
                <a:schemeClr val="tx2"/>
              </a:solidFill>
              <a:latin typeface="Calibri" panose="020F0502020204030204" pitchFamily="34" charset="0"/>
              <a:cs typeface="Calibri" panose="020F0502020204030204" pitchFamily="34" charset="0"/>
            </a:endParaRPr>
          </a:p>
        </p:txBody>
      </p:sp>
      <p:pic>
        <p:nvPicPr>
          <p:cNvPr id="4" name="Graphic 3" descr="Coffee">
            <a:extLst>
              <a:ext uri="{FF2B5EF4-FFF2-40B4-BE49-F238E27FC236}">
                <a16:creationId xmlns:a16="http://schemas.microsoft.com/office/drawing/2014/main" id="{3B4DA33E-8DE7-43AC-8B8E-3DD4016EB3A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9200" y="1478193"/>
            <a:ext cx="1295400" cy="1295400"/>
          </a:xfrm>
          <a:prstGeom prst="rect">
            <a:avLst/>
          </a:prstGeom>
        </p:spPr>
      </p:pic>
      <p:sp>
        <p:nvSpPr>
          <p:cNvPr id="6" name="TextBox 5">
            <a:extLst>
              <a:ext uri="{FF2B5EF4-FFF2-40B4-BE49-F238E27FC236}">
                <a16:creationId xmlns:a16="http://schemas.microsoft.com/office/drawing/2014/main" id="{AFB31E88-EFA5-420F-B8DC-F493B2D18766}"/>
              </a:ext>
            </a:extLst>
          </p:cNvPr>
          <p:cNvSpPr txBox="1"/>
          <p:nvPr/>
        </p:nvSpPr>
        <p:spPr>
          <a:xfrm>
            <a:off x="2590800" y="4376781"/>
            <a:ext cx="7239000" cy="429348"/>
          </a:xfrm>
          <a:prstGeom prst="rect">
            <a:avLst/>
          </a:prstGeom>
          <a:noFill/>
        </p:spPr>
        <p:txBody>
          <a:bodyPr wrap="square" rtlCol="0">
            <a:spAutoFit/>
          </a:bodyPr>
          <a:lstStyle/>
          <a:p>
            <a:pPr>
              <a:lnSpc>
                <a:spcPts val="2800"/>
              </a:lnSpc>
            </a:pPr>
            <a:r>
              <a:rPr lang="en-US" sz="2000" b="1" dirty="0">
                <a:solidFill>
                  <a:schemeClr val="tx2"/>
                </a:solidFill>
                <a:highlight>
                  <a:srgbClr val="FFFF00"/>
                </a:highlight>
                <a:latin typeface="Calibri" panose="020F0502020204030204" pitchFamily="34" charset="0"/>
                <a:cs typeface="Calibri" panose="020F0502020204030204" pitchFamily="34" charset="0"/>
              </a:rPr>
              <a:t>Upcoming session:  AWS EBS Demo</a:t>
            </a:r>
            <a:endParaRPr lang="en-GB" sz="2000" b="1" dirty="0">
              <a:solidFill>
                <a:schemeClr val="tx2"/>
              </a:solidFill>
              <a:highlight>
                <a:srgbClr val="FFFF00"/>
              </a:highligh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565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7"/>
                                        </p:tgtEl>
                                        <p:attrNameLst>
                                          <p:attrName>style.color</p:attrName>
                                        </p:attrNameLst>
                                      </p:cBhvr>
                                      <p:to>
                                        <a:schemeClr val="bg1"/>
                                      </p:to>
                                    </p:animClr>
                                    <p:animClr clrSpc="rgb" dir="cw">
                                      <p:cBhvr>
                                        <p:cTn id="7" dur="250" autoRev="1" fill="remove"/>
                                        <p:tgtEl>
                                          <p:spTgt spid="7"/>
                                        </p:tgtEl>
                                        <p:attrNameLst>
                                          <p:attrName>fillcolor</p:attrName>
                                        </p:attrNameLst>
                                      </p:cBhvr>
                                      <p:to>
                                        <a:schemeClr val="bg1"/>
                                      </p:to>
                                    </p:animClr>
                                    <p:set>
                                      <p:cBhvr>
                                        <p:cTn id="8" dur="250" autoRev="1" fill="remove"/>
                                        <p:tgtEl>
                                          <p:spTgt spid="7"/>
                                        </p:tgtEl>
                                        <p:attrNameLst>
                                          <p:attrName>fill.type</p:attrName>
                                        </p:attrNameLst>
                                      </p:cBhvr>
                                      <p:to>
                                        <p:strVal val="solid"/>
                                      </p:to>
                                    </p:set>
                                    <p:set>
                                      <p:cBhvr>
                                        <p:cTn id="9" dur="250" autoRev="1" fill="remove"/>
                                        <p:tgtEl>
                                          <p:spTgt spid="7"/>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grpId="0" nodeType="clickEffect">
                                  <p:stCondLst>
                                    <p:cond delay="0"/>
                                  </p:stCondLst>
                                  <p:childTnLst>
                                    <p:animClr clrSpc="rgb" dir="cw">
                                      <p:cBhvr override="childStyle">
                                        <p:cTn id="13" dur="250" autoRev="1" fill="remove"/>
                                        <p:tgtEl>
                                          <p:spTgt spid="6"/>
                                        </p:tgtEl>
                                        <p:attrNameLst>
                                          <p:attrName>style.color</p:attrName>
                                        </p:attrNameLst>
                                      </p:cBhvr>
                                      <p:to>
                                        <a:schemeClr val="bg1"/>
                                      </p:to>
                                    </p:animClr>
                                    <p:animClr clrSpc="rgb" dir="cw">
                                      <p:cBhvr>
                                        <p:cTn id="14" dur="250" autoRev="1" fill="remove"/>
                                        <p:tgtEl>
                                          <p:spTgt spid="6"/>
                                        </p:tgtEl>
                                        <p:attrNameLst>
                                          <p:attrName>fillcolor</p:attrName>
                                        </p:attrNameLst>
                                      </p:cBhvr>
                                      <p:to>
                                        <a:schemeClr val="bg1"/>
                                      </p:to>
                                    </p:animClr>
                                    <p:set>
                                      <p:cBhvr>
                                        <p:cTn id="15" dur="250" autoRev="1" fill="remove"/>
                                        <p:tgtEl>
                                          <p:spTgt spid="6"/>
                                        </p:tgtEl>
                                        <p:attrNameLst>
                                          <p:attrName>fill.type</p:attrName>
                                        </p:attrNameLst>
                                      </p:cBhvr>
                                      <p:to>
                                        <p:strVal val="solid"/>
                                      </p:to>
                                    </p:set>
                                    <p:set>
                                      <p:cBhvr>
                                        <p:cTn id="16"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524626" y="1434042"/>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13"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05659"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291689" y="3436230"/>
            <a:ext cx="813970" cy="813970"/>
          </a:xfrm>
          <a:prstGeom prst="rect">
            <a:avLst/>
          </a:prstGeom>
        </p:spPr>
      </p:pic>
    </p:spTree>
    <p:extLst>
      <p:ext uri="{BB962C8B-B14F-4D97-AF65-F5344CB8AC3E}">
        <p14:creationId xmlns:p14="http://schemas.microsoft.com/office/powerpoint/2010/main" val="21942244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Triad of services</a:t>
            </a:r>
            <a:endParaRPr lang="en-GB" dirty="0"/>
          </a:p>
        </p:txBody>
      </p:sp>
      <p:grpSp>
        <p:nvGrpSpPr>
          <p:cNvPr id="2" name="Group 1">
            <a:extLst>
              <a:ext uri="{FF2B5EF4-FFF2-40B4-BE49-F238E27FC236}">
                <a16:creationId xmlns:a16="http://schemas.microsoft.com/office/drawing/2014/main" id="{D8254558-D375-4DE3-8BDA-E8780ED069D2}"/>
              </a:ext>
            </a:extLst>
          </p:cNvPr>
          <p:cNvGrpSpPr/>
          <p:nvPr/>
        </p:nvGrpSpPr>
        <p:grpSpPr>
          <a:xfrm>
            <a:off x="1779545" y="4002474"/>
            <a:ext cx="2195945" cy="1135814"/>
            <a:chOff x="6218607" y="1258432"/>
            <a:chExt cx="1513305" cy="660930"/>
          </a:xfrm>
        </p:grpSpPr>
        <p:pic>
          <p:nvPicPr>
            <p:cNvPr id="32" name="Graphic 31">
              <a:extLst>
                <a:ext uri="{FF2B5EF4-FFF2-40B4-BE49-F238E27FC236}">
                  <a16:creationId xmlns:a16="http://schemas.microsoft.com/office/drawing/2014/main" id="{9776B1B1-9D6C-4BF9-8666-CA1723F7F5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8854" y="1258432"/>
              <a:ext cx="469900" cy="469900"/>
            </a:xfrm>
            <a:prstGeom prst="rect">
              <a:avLst/>
            </a:prstGeom>
          </p:spPr>
        </p:pic>
        <p:sp>
          <p:nvSpPr>
            <p:cNvPr id="33" name="TextBox 32">
              <a:extLst>
                <a:ext uri="{FF2B5EF4-FFF2-40B4-BE49-F238E27FC236}">
                  <a16:creationId xmlns:a16="http://schemas.microsoft.com/office/drawing/2014/main" id="{A1DF65C4-BD60-42C5-B7EB-7123928A274D}"/>
                </a:ext>
              </a:extLst>
            </p:cNvPr>
            <p:cNvSpPr txBox="1"/>
            <p:nvPr/>
          </p:nvSpPr>
          <p:spPr>
            <a:xfrm>
              <a:off x="6218607" y="1704448"/>
              <a:ext cx="1513305" cy="214914"/>
            </a:xfrm>
            <a:prstGeom prst="rect">
              <a:avLst/>
            </a:prstGeom>
            <a:noFill/>
          </p:spPr>
          <p:txBody>
            <a:bodyPr wrap="square" rtlCol="0">
              <a:spAutoFit/>
            </a:bodyPr>
            <a:lstStyle/>
            <a:p>
              <a:pPr algn="ctr"/>
              <a:r>
                <a:rPr lang="en-US" b="1" dirty="0">
                  <a:latin typeface="Calibri" panose="020F0502020204030204" pitchFamily="34" charset="0"/>
                  <a:cs typeface="Calibri" panose="020F0502020204030204" pitchFamily="34" charset="0"/>
                </a:rPr>
                <a:t>Auto Scaling</a:t>
              </a:r>
            </a:p>
          </p:txBody>
        </p:sp>
      </p:grpSp>
      <p:grpSp>
        <p:nvGrpSpPr>
          <p:cNvPr id="20" name="Group 19">
            <a:extLst>
              <a:ext uri="{FF2B5EF4-FFF2-40B4-BE49-F238E27FC236}">
                <a16:creationId xmlns:a16="http://schemas.microsoft.com/office/drawing/2014/main" id="{406D0692-D74F-4C46-9F11-49E8BBC49502}"/>
              </a:ext>
            </a:extLst>
          </p:cNvPr>
          <p:cNvGrpSpPr/>
          <p:nvPr/>
        </p:nvGrpSpPr>
        <p:grpSpPr>
          <a:xfrm>
            <a:off x="4742786" y="1447800"/>
            <a:ext cx="2301904" cy="1215534"/>
            <a:chOff x="9405195" y="2566518"/>
            <a:chExt cx="2301904" cy="1215534"/>
          </a:xfrm>
        </p:grpSpPr>
        <p:sp>
          <p:nvSpPr>
            <p:cNvPr id="34" name="TextBox 33">
              <a:extLst>
                <a:ext uri="{FF2B5EF4-FFF2-40B4-BE49-F238E27FC236}">
                  <a16:creationId xmlns:a16="http://schemas.microsoft.com/office/drawing/2014/main" id="{D281F93A-0E86-4AE6-9DBF-CF7C0573A377}"/>
                </a:ext>
              </a:extLst>
            </p:cNvPr>
            <p:cNvSpPr txBox="1"/>
            <p:nvPr/>
          </p:nvSpPr>
          <p:spPr>
            <a:xfrm>
              <a:off x="9405195" y="3412720"/>
              <a:ext cx="2301904" cy="369332"/>
            </a:xfrm>
            <a:prstGeom prst="rect">
              <a:avLst/>
            </a:prstGeom>
            <a:noFill/>
          </p:spPr>
          <p:txBody>
            <a:bodyPr wrap="square" rtlCol="0">
              <a:spAutoFit/>
            </a:bodyPr>
            <a:lstStyle/>
            <a:p>
              <a:pPr algn="ctr"/>
              <a:r>
                <a:rPr lang="en-US" b="1" dirty="0">
                  <a:latin typeface="Calibri" panose="020F0502020204030204" pitchFamily="34" charset="0"/>
                  <a:cs typeface="Calibri" panose="020F0502020204030204" pitchFamily="34" charset="0"/>
                </a:rPr>
                <a:t>Elastic Load Balancing</a:t>
              </a:r>
            </a:p>
          </p:txBody>
        </p:sp>
        <p:pic>
          <p:nvPicPr>
            <p:cNvPr id="35" name="Graphic 34">
              <a:extLst>
                <a:ext uri="{FF2B5EF4-FFF2-40B4-BE49-F238E27FC236}">
                  <a16:creationId xmlns:a16="http://schemas.microsoft.com/office/drawing/2014/main" id="{BCCB0DE7-F244-41E3-B947-4CD30E86CF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72732" y="2566518"/>
              <a:ext cx="711200" cy="711200"/>
            </a:xfrm>
            <a:prstGeom prst="rect">
              <a:avLst/>
            </a:prstGeom>
          </p:spPr>
        </p:pic>
      </p:grpSp>
      <p:grpSp>
        <p:nvGrpSpPr>
          <p:cNvPr id="36" name="Group 35">
            <a:extLst>
              <a:ext uri="{FF2B5EF4-FFF2-40B4-BE49-F238E27FC236}">
                <a16:creationId xmlns:a16="http://schemas.microsoft.com/office/drawing/2014/main" id="{5AC6CAB9-167E-478D-B798-9049F8EE621D}"/>
              </a:ext>
            </a:extLst>
          </p:cNvPr>
          <p:cNvGrpSpPr/>
          <p:nvPr/>
        </p:nvGrpSpPr>
        <p:grpSpPr>
          <a:xfrm>
            <a:off x="7772400" y="4002475"/>
            <a:ext cx="2301904" cy="1117660"/>
            <a:chOff x="1873406" y="1257143"/>
            <a:chExt cx="2301904" cy="1117660"/>
          </a:xfrm>
        </p:grpSpPr>
        <p:sp>
          <p:nvSpPr>
            <p:cNvPr id="37" name="TextBox 36">
              <a:extLst>
                <a:ext uri="{FF2B5EF4-FFF2-40B4-BE49-F238E27FC236}">
                  <a16:creationId xmlns:a16="http://schemas.microsoft.com/office/drawing/2014/main" id="{314745FB-1469-4B53-8672-B018457E06E3}"/>
                </a:ext>
              </a:extLst>
            </p:cNvPr>
            <p:cNvSpPr txBox="1"/>
            <p:nvPr/>
          </p:nvSpPr>
          <p:spPr>
            <a:xfrm>
              <a:off x="1873406" y="2005471"/>
              <a:ext cx="2301904" cy="369332"/>
            </a:xfrm>
            <a:prstGeom prst="rect">
              <a:avLst/>
            </a:prstGeom>
            <a:noFill/>
          </p:spPr>
          <p:txBody>
            <a:bodyPr wrap="square" rtlCol="0">
              <a:spAutoFit/>
            </a:bodyPr>
            <a:lstStyle/>
            <a:p>
              <a:pPr algn="ctr"/>
              <a:r>
                <a:rPr lang="en-US" b="1" dirty="0">
                  <a:latin typeface="Calibri" panose="020F0502020204030204" pitchFamily="34" charset="0"/>
                  <a:cs typeface="Calibri" panose="020F0502020204030204" pitchFamily="34" charset="0"/>
                </a:rPr>
                <a:t>Amazon CloudWatch</a:t>
              </a:r>
            </a:p>
          </p:txBody>
        </p:sp>
        <p:pic>
          <p:nvPicPr>
            <p:cNvPr id="38" name="Graphic 37">
              <a:extLst>
                <a:ext uri="{FF2B5EF4-FFF2-40B4-BE49-F238E27FC236}">
                  <a16:creationId xmlns:a16="http://schemas.microsoft.com/office/drawing/2014/main" id="{2CFC276E-301D-4FD1-9296-F9191590022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68758" y="1257143"/>
              <a:ext cx="711200" cy="711200"/>
            </a:xfrm>
            <a:prstGeom prst="rect">
              <a:avLst/>
            </a:prstGeom>
          </p:spPr>
        </p:pic>
      </p:grpSp>
      <p:sp>
        <p:nvSpPr>
          <p:cNvPr id="39" name="Rectangle: Rounded Corners 38">
            <a:extLst>
              <a:ext uri="{FF2B5EF4-FFF2-40B4-BE49-F238E27FC236}">
                <a16:creationId xmlns:a16="http://schemas.microsoft.com/office/drawing/2014/main" id="{4720AF3E-1D0C-4AF2-A03E-D5B8904C903D}"/>
              </a:ext>
            </a:extLst>
          </p:cNvPr>
          <p:cNvSpPr/>
          <p:nvPr/>
        </p:nvSpPr>
        <p:spPr>
          <a:xfrm>
            <a:off x="4495800" y="2906094"/>
            <a:ext cx="2590800" cy="1589707"/>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latin typeface="Calibri" panose="020F0502020204030204" pitchFamily="34" charset="0"/>
              <a:cs typeface="Calibri" panose="020F0502020204030204" pitchFamily="34" charset="0"/>
            </a:endParaRPr>
          </a:p>
          <a:p>
            <a:pPr algn="ctr"/>
            <a:endParaRPr lang="en-US" dirty="0">
              <a:solidFill>
                <a:schemeClr val="tx2"/>
              </a:solidFill>
              <a:latin typeface="Calibri" panose="020F0502020204030204" pitchFamily="34" charset="0"/>
              <a:cs typeface="Calibri" panose="020F0502020204030204" pitchFamily="34" charset="0"/>
            </a:endParaRPr>
          </a:p>
          <a:p>
            <a:pPr algn="ctr"/>
            <a:r>
              <a:rPr lang="en-US" dirty="0">
                <a:solidFill>
                  <a:schemeClr val="tx2"/>
                </a:solidFill>
                <a:latin typeface="Calibri" panose="020F0502020204030204" pitchFamily="34" charset="0"/>
                <a:cs typeface="Calibri" panose="020F0502020204030204" pitchFamily="34" charset="0"/>
              </a:rPr>
              <a:t>Auto Scaling group</a:t>
            </a:r>
            <a:endParaRPr lang="en-GB" dirty="0">
              <a:solidFill>
                <a:schemeClr val="tx2"/>
              </a:solidFill>
              <a:latin typeface="Calibri" panose="020F0502020204030204" pitchFamily="34" charset="0"/>
              <a:cs typeface="Calibri" panose="020F0502020204030204" pitchFamily="34" charset="0"/>
            </a:endParaRPr>
          </a:p>
        </p:txBody>
      </p:sp>
      <p:sp>
        <p:nvSpPr>
          <p:cNvPr id="40" name="Rectangle 39">
            <a:extLst>
              <a:ext uri="{FF2B5EF4-FFF2-40B4-BE49-F238E27FC236}">
                <a16:creationId xmlns:a16="http://schemas.microsoft.com/office/drawing/2014/main" id="{C3E1F1A0-24B8-4AC0-8DBF-8F220798CD6A}"/>
              </a:ext>
            </a:extLst>
          </p:cNvPr>
          <p:cNvSpPr/>
          <p:nvPr/>
        </p:nvSpPr>
        <p:spPr>
          <a:xfrm>
            <a:off x="6087392" y="3177170"/>
            <a:ext cx="379456" cy="404231"/>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BA5118B5-50FE-4273-B657-541173773D45}"/>
              </a:ext>
            </a:extLst>
          </p:cNvPr>
          <p:cNvSpPr/>
          <p:nvPr/>
        </p:nvSpPr>
        <p:spPr>
          <a:xfrm>
            <a:off x="5088184" y="3177170"/>
            <a:ext cx="379456" cy="404231"/>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BFF36959-7D9E-4D12-AC0E-77B794152433}"/>
              </a:ext>
            </a:extLst>
          </p:cNvPr>
          <p:cNvCxnSpPr>
            <a:cxnSpLocks/>
          </p:cNvCxnSpPr>
          <p:nvPr/>
        </p:nvCxnSpPr>
        <p:spPr>
          <a:xfrm flipV="1">
            <a:off x="5791200" y="2133600"/>
            <a:ext cx="0" cy="899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3F6FA04-9EC7-4F28-AE60-D473BEA3DB4E}"/>
              </a:ext>
            </a:extLst>
          </p:cNvPr>
          <p:cNvCxnSpPr/>
          <p:nvPr/>
        </p:nvCxnSpPr>
        <p:spPr>
          <a:xfrm flipH="1">
            <a:off x="5277912" y="3048000"/>
            <a:ext cx="513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D9475C4-6F2C-4F44-8019-A67904E0E550}"/>
              </a:ext>
            </a:extLst>
          </p:cNvPr>
          <p:cNvCxnSpPr/>
          <p:nvPr/>
        </p:nvCxnSpPr>
        <p:spPr>
          <a:xfrm flipH="1">
            <a:off x="5811312" y="3048000"/>
            <a:ext cx="513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1DC2DED-1AF5-47C4-935D-D3FC35667B02}"/>
              </a:ext>
            </a:extLst>
          </p:cNvPr>
          <p:cNvCxnSpPr/>
          <p:nvPr/>
        </p:nvCxnSpPr>
        <p:spPr>
          <a:xfrm>
            <a:off x="5277912" y="3048001"/>
            <a:ext cx="0" cy="129169"/>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3669F7D-DEF3-46F8-B328-BF98B447A287}"/>
              </a:ext>
            </a:extLst>
          </p:cNvPr>
          <p:cNvCxnSpPr/>
          <p:nvPr/>
        </p:nvCxnSpPr>
        <p:spPr>
          <a:xfrm>
            <a:off x="6324600" y="3033249"/>
            <a:ext cx="0" cy="14392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8D3AFB9-5834-4227-90A3-C44B8D6BF050}"/>
              </a:ext>
            </a:extLst>
          </p:cNvPr>
          <p:cNvCxnSpPr/>
          <p:nvPr/>
        </p:nvCxnSpPr>
        <p:spPr>
          <a:xfrm flipV="1">
            <a:off x="3276601" y="2159000"/>
            <a:ext cx="1752600" cy="1567346"/>
          </a:xfrm>
          <a:prstGeom prst="straightConnector1">
            <a:avLst/>
          </a:prstGeom>
          <a:ln w="38100">
            <a:solidFill>
              <a:srgbClr val="FF99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022DF2C-D852-4323-8D83-F5776D114B21}"/>
              </a:ext>
            </a:extLst>
          </p:cNvPr>
          <p:cNvCxnSpPr>
            <a:cxnSpLocks/>
          </p:cNvCxnSpPr>
          <p:nvPr/>
        </p:nvCxnSpPr>
        <p:spPr>
          <a:xfrm>
            <a:off x="3810000" y="4810002"/>
            <a:ext cx="4114800" cy="0"/>
          </a:xfrm>
          <a:prstGeom prst="straightConnector1">
            <a:avLst/>
          </a:prstGeom>
          <a:ln w="38100">
            <a:solidFill>
              <a:schemeClr val="accent2"/>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3C28781-C1EE-48C3-A3F6-F9FEDC9EA93E}"/>
              </a:ext>
            </a:extLst>
          </p:cNvPr>
          <p:cNvCxnSpPr>
            <a:cxnSpLocks/>
          </p:cNvCxnSpPr>
          <p:nvPr/>
        </p:nvCxnSpPr>
        <p:spPr>
          <a:xfrm>
            <a:off x="6466848" y="2057400"/>
            <a:ext cx="1915152" cy="1520486"/>
          </a:xfrm>
          <a:prstGeom prst="straightConnector1">
            <a:avLst/>
          </a:prstGeom>
          <a:ln w="38100">
            <a:solidFill>
              <a:schemeClr val="accent4">
                <a:lumMod val="75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EBA0615-9560-432A-9BF8-2F71A6F88380}"/>
              </a:ext>
            </a:extLst>
          </p:cNvPr>
          <p:cNvSpPr txBox="1"/>
          <p:nvPr/>
        </p:nvSpPr>
        <p:spPr>
          <a:xfrm>
            <a:off x="4846948" y="4988711"/>
            <a:ext cx="2017860" cy="338554"/>
          </a:xfrm>
          <a:prstGeom prst="rect">
            <a:avLst/>
          </a:prstGeom>
          <a:noFill/>
        </p:spPr>
        <p:txBody>
          <a:bodyPr wrap="none" rtlCol="0">
            <a:spAutoFit/>
          </a:bodyPr>
          <a:lstStyle/>
          <a:p>
            <a:r>
              <a:rPr lang="en-US" sz="1600" b="1" dirty="0">
                <a:solidFill>
                  <a:schemeClr val="tx2"/>
                </a:solidFill>
                <a:latin typeface="Calibri" panose="020F0502020204030204" pitchFamily="34" charset="0"/>
                <a:cs typeface="Calibri" panose="020F0502020204030204" pitchFamily="34" charset="0"/>
              </a:rPr>
              <a:t>Execute scaling policy</a:t>
            </a:r>
            <a:endParaRPr lang="en-GB" sz="1600" b="1" dirty="0">
              <a:solidFill>
                <a:schemeClr val="tx2"/>
              </a:solidFill>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1794A6DB-4FD1-43FD-B728-74E89DB78B50}"/>
              </a:ext>
            </a:extLst>
          </p:cNvPr>
          <p:cNvSpPr txBox="1"/>
          <p:nvPr/>
        </p:nvSpPr>
        <p:spPr>
          <a:xfrm>
            <a:off x="7373213" y="2479039"/>
            <a:ext cx="835870" cy="338554"/>
          </a:xfrm>
          <a:prstGeom prst="rect">
            <a:avLst/>
          </a:prstGeom>
          <a:noFill/>
        </p:spPr>
        <p:txBody>
          <a:bodyPr wrap="none" rtlCol="0">
            <a:spAutoFit/>
          </a:bodyPr>
          <a:lstStyle/>
          <a:p>
            <a:r>
              <a:rPr lang="en-US" sz="1600" b="1" dirty="0">
                <a:solidFill>
                  <a:schemeClr val="tx2"/>
                </a:solidFill>
                <a:latin typeface="Calibri" panose="020F0502020204030204" pitchFamily="34" charset="0"/>
                <a:cs typeface="Calibri" panose="020F0502020204030204" pitchFamily="34" charset="0"/>
              </a:rPr>
              <a:t>Latency</a:t>
            </a:r>
            <a:endParaRPr lang="en-GB" sz="1600" b="1" dirty="0">
              <a:solidFill>
                <a:schemeClr val="tx2"/>
              </a:solidFill>
              <a:latin typeface="Calibri" panose="020F0502020204030204" pitchFamily="34" charset="0"/>
              <a:cs typeface="Calibri" panose="020F0502020204030204" pitchFamily="34" charset="0"/>
            </a:endParaRPr>
          </a:p>
        </p:txBody>
      </p:sp>
      <p:cxnSp>
        <p:nvCxnSpPr>
          <p:cNvPr id="64" name="Straight Arrow Connector 63">
            <a:extLst>
              <a:ext uri="{FF2B5EF4-FFF2-40B4-BE49-F238E27FC236}">
                <a16:creationId xmlns:a16="http://schemas.microsoft.com/office/drawing/2014/main" id="{5DDD7EAF-1CBC-436F-A769-8D1EB4A11EEF}"/>
              </a:ext>
            </a:extLst>
          </p:cNvPr>
          <p:cNvCxnSpPr/>
          <p:nvPr/>
        </p:nvCxnSpPr>
        <p:spPr>
          <a:xfrm>
            <a:off x="6565409" y="3379284"/>
            <a:ext cx="1730239" cy="60116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1180822-E10B-4E65-A400-E5AFF557FD84}"/>
              </a:ext>
            </a:extLst>
          </p:cNvPr>
          <p:cNvCxnSpPr>
            <a:cxnSpLocks/>
          </p:cNvCxnSpPr>
          <p:nvPr/>
        </p:nvCxnSpPr>
        <p:spPr>
          <a:xfrm>
            <a:off x="5611916" y="3595723"/>
            <a:ext cx="2676805" cy="53593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E7B52AE5-41BF-4691-A56C-9C529C4A9563}"/>
              </a:ext>
            </a:extLst>
          </p:cNvPr>
          <p:cNvSpPr txBox="1"/>
          <p:nvPr/>
        </p:nvSpPr>
        <p:spPr>
          <a:xfrm>
            <a:off x="6549117" y="3541680"/>
            <a:ext cx="1058560" cy="338554"/>
          </a:xfrm>
          <a:prstGeom prst="rect">
            <a:avLst/>
          </a:prstGeom>
          <a:noFill/>
        </p:spPr>
        <p:txBody>
          <a:bodyPr wrap="none" rtlCol="0">
            <a:spAutoFit/>
          </a:bodyPr>
          <a:lstStyle/>
          <a:p>
            <a:r>
              <a:rPr lang="en-US" sz="1600" b="1" dirty="0">
                <a:solidFill>
                  <a:schemeClr val="tx2"/>
                </a:solidFill>
                <a:latin typeface="Calibri" panose="020F0502020204030204" pitchFamily="34" charset="0"/>
                <a:cs typeface="Calibri" panose="020F0502020204030204" pitchFamily="34" charset="0"/>
              </a:rPr>
              <a:t>Utilization</a:t>
            </a:r>
            <a:endParaRPr lang="en-GB" sz="16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42098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Elastic Load Balancer</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465163" y="1143001"/>
            <a:ext cx="9259747" cy="5410200"/>
          </a:xfrm>
        </p:spPr>
        <p:txBody>
          <a:bodyPr>
            <a:noAutofit/>
          </a:bodyPr>
          <a:lstStyle/>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Distributes traffic across multiple EC2 instances and across AZ</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Supports health checks to detect unhealthy instances</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Supports routing and balancing of HTTP, HTTPS, TCP traffic</a:t>
            </a:r>
          </a:p>
          <a:p>
            <a:pPr>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Three variants:</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Classic load balancer</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Application load balancer</a:t>
            </a:r>
          </a:p>
          <a:p>
            <a:pPr lvl="1">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 Network load balancer</a:t>
            </a: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1509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Classic Load Balancer</a:t>
            </a:r>
            <a:endParaRPr lang="en-GB" dirty="0"/>
          </a:p>
        </p:txBody>
      </p:sp>
      <p:sp>
        <p:nvSpPr>
          <p:cNvPr id="3" name="Rectangle: Rounded Corners 2">
            <a:extLst>
              <a:ext uri="{FF2B5EF4-FFF2-40B4-BE49-F238E27FC236}">
                <a16:creationId xmlns:a16="http://schemas.microsoft.com/office/drawing/2014/main" id="{4800201C-F1B0-49A6-B088-9CF99B758E29}"/>
              </a:ext>
            </a:extLst>
          </p:cNvPr>
          <p:cNvSpPr/>
          <p:nvPr/>
        </p:nvSpPr>
        <p:spPr>
          <a:xfrm>
            <a:off x="3810000" y="2590800"/>
            <a:ext cx="4572000" cy="762000"/>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solidFill>
                <a:latin typeface="Calibri" panose="020F0502020204030204" pitchFamily="34" charset="0"/>
                <a:cs typeface="Calibri" panose="020F0502020204030204" pitchFamily="34" charset="0"/>
              </a:rPr>
              <a:t>Load Balancer</a:t>
            </a:r>
            <a:endParaRPr lang="en-GB" sz="2400" dirty="0">
              <a:solidFill>
                <a:schemeClr val="tx2"/>
              </a:solidFill>
              <a:latin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F5B6039A-FD11-44EF-AC56-B41865EBC64D}"/>
              </a:ext>
            </a:extLst>
          </p:cNvPr>
          <p:cNvSpPr/>
          <p:nvPr/>
        </p:nvSpPr>
        <p:spPr>
          <a:xfrm>
            <a:off x="3810000" y="2133600"/>
            <a:ext cx="2209800" cy="381000"/>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Listener Config 1</a:t>
            </a:r>
            <a:endParaRPr lang="en-GB" dirty="0">
              <a:solidFill>
                <a:schemeClr val="tx2"/>
              </a:solidFill>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F8BCFA87-89AA-4440-90A2-106B63C33BF7}"/>
              </a:ext>
            </a:extLst>
          </p:cNvPr>
          <p:cNvSpPr/>
          <p:nvPr/>
        </p:nvSpPr>
        <p:spPr>
          <a:xfrm>
            <a:off x="6096000" y="2133600"/>
            <a:ext cx="2209800" cy="381000"/>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Listener Config 2</a:t>
            </a:r>
            <a:endParaRPr lang="en-GB" dirty="0">
              <a:solidFill>
                <a:schemeClr val="tx2"/>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0A423C-770F-4423-93D0-38E97839A9A6}"/>
              </a:ext>
            </a:extLst>
          </p:cNvPr>
          <p:cNvSpPr/>
          <p:nvPr/>
        </p:nvSpPr>
        <p:spPr>
          <a:xfrm>
            <a:off x="3886200" y="4114800"/>
            <a:ext cx="9144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FD993FF-A2B1-45F6-84CB-E77DB527F655}"/>
              </a:ext>
            </a:extLst>
          </p:cNvPr>
          <p:cNvSpPr/>
          <p:nvPr/>
        </p:nvSpPr>
        <p:spPr>
          <a:xfrm>
            <a:off x="4457700" y="4305300"/>
            <a:ext cx="9144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9CCA923D-4F45-4020-948A-BF194F1D9898}"/>
              </a:ext>
            </a:extLst>
          </p:cNvPr>
          <p:cNvSpPr/>
          <p:nvPr/>
        </p:nvSpPr>
        <p:spPr>
          <a:xfrm>
            <a:off x="4977765" y="4495800"/>
            <a:ext cx="9144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2"/>
                </a:solidFill>
                <a:latin typeface="Calibri" panose="020F0502020204030204" pitchFamily="34" charset="0"/>
                <a:cs typeface="Calibri" panose="020F0502020204030204" pitchFamily="34" charset="0"/>
              </a:rPr>
              <a:t>EC2</a:t>
            </a:r>
          </a:p>
          <a:p>
            <a:pPr algn="ctr"/>
            <a:r>
              <a:rPr lang="en-US" sz="1000" dirty="0">
                <a:solidFill>
                  <a:schemeClr val="tx2"/>
                </a:solidFill>
                <a:latin typeface="Calibri" panose="020F0502020204030204" pitchFamily="34" charset="0"/>
                <a:cs typeface="Calibri" panose="020F0502020204030204" pitchFamily="34" charset="0"/>
              </a:rPr>
              <a:t>instances</a:t>
            </a:r>
            <a:endParaRPr lang="en-GB" sz="1000" dirty="0">
              <a:solidFill>
                <a:schemeClr val="tx2"/>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EC482534-7012-43FA-ACD5-ED173C332384}"/>
              </a:ext>
            </a:extLst>
          </p:cNvPr>
          <p:cNvSpPr/>
          <p:nvPr/>
        </p:nvSpPr>
        <p:spPr>
          <a:xfrm>
            <a:off x="6477000" y="4114800"/>
            <a:ext cx="9144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9649282-B059-41D7-8B6C-939461CC9EDF}"/>
              </a:ext>
            </a:extLst>
          </p:cNvPr>
          <p:cNvSpPr/>
          <p:nvPr/>
        </p:nvSpPr>
        <p:spPr>
          <a:xfrm>
            <a:off x="7048500" y="4305300"/>
            <a:ext cx="9144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94A85C90-E51A-4FE1-A083-4537E9F19F2B}"/>
              </a:ext>
            </a:extLst>
          </p:cNvPr>
          <p:cNvSpPr/>
          <p:nvPr/>
        </p:nvSpPr>
        <p:spPr>
          <a:xfrm>
            <a:off x="7606665" y="4495800"/>
            <a:ext cx="9144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000" dirty="0">
                <a:solidFill>
                  <a:srgbClr val="000F46"/>
                </a:solidFill>
                <a:latin typeface="Calibri" panose="020F0502020204030204" pitchFamily="34" charset="0"/>
                <a:cs typeface="Calibri" panose="020F0502020204030204" pitchFamily="34" charset="0"/>
              </a:rPr>
              <a:t>EC2</a:t>
            </a:r>
          </a:p>
          <a:p>
            <a:pPr lvl="0" algn="ctr"/>
            <a:r>
              <a:rPr lang="en-US" sz="1000" dirty="0">
                <a:solidFill>
                  <a:srgbClr val="000F46"/>
                </a:solidFill>
                <a:latin typeface="Calibri" panose="020F0502020204030204" pitchFamily="34" charset="0"/>
                <a:cs typeface="Calibri" panose="020F0502020204030204" pitchFamily="34" charset="0"/>
              </a:rPr>
              <a:t>instances</a:t>
            </a:r>
            <a:endParaRPr lang="en-GB" sz="1000" dirty="0">
              <a:solidFill>
                <a:srgbClr val="000F46"/>
              </a:solidFill>
              <a:latin typeface="Calibri" panose="020F0502020204030204" pitchFamily="34" charset="0"/>
              <a:cs typeface="Calibri" panose="020F0502020204030204" pitchFamily="34" charset="0"/>
            </a:endParaRPr>
          </a:p>
        </p:txBody>
      </p:sp>
      <p:cxnSp>
        <p:nvCxnSpPr>
          <p:cNvPr id="15" name="Straight Arrow Connector 14">
            <a:extLst>
              <a:ext uri="{FF2B5EF4-FFF2-40B4-BE49-F238E27FC236}">
                <a16:creationId xmlns:a16="http://schemas.microsoft.com/office/drawing/2014/main" id="{FE83A55A-5171-4828-8A8B-9F5FAB0E16A8}"/>
              </a:ext>
            </a:extLst>
          </p:cNvPr>
          <p:cNvCxnSpPr>
            <a:cxnSpLocks/>
            <a:endCxn id="6" idx="0"/>
          </p:cNvCxnSpPr>
          <p:nvPr/>
        </p:nvCxnSpPr>
        <p:spPr>
          <a:xfrm>
            <a:off x="4343400" y="3352800"/>
            <a:ext cx="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EDBEB97-D7B6-4D57-A435-2828A0B54AFF}"/>
              </a:ext>
            </a:extLst>
          </p:cNvPr>
          <p:cNvCxnSpPr>
            <a:cxnSpLocks/>
          </p:cNvCxnSpPr>
          <p:nvPr/>
        </p:nvCxnSpPr>
        <p:spPr>
          <a:xfrm>
            <a:off x="4876800" y="3352800"/>
            <a:ext cx="0" cy="952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26DF6E-721B-46B7-BE14-8F5DB3C296EB}"/>
              </a:ext>
            </a:extLst>
          </p:cNvPr>
          <p:cNvCxnSpPr>
            <a:cxnSpLocks/>
          </p:cNvCxnSpPr>
          <p:nvPr/>
        </p:nvCxnSpPr>
        <p:spPr>
          <a:xfrm>
            <a:off x="5398770" y="3352800"/>
            <a:ext cx="0" cy="114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5C6EE40-65FF-4641-86E5-769892415222}"/>
              </a:ext>
            </a:extLst>
          </p:cNvPr>
          <p:cNvCxnSpPr>
            <a:cxnSpLocks/>
          </p:cNvCxnSpPr>
          <p:nvPr/>
        </p:nvCxnSpPr>
        <p:spPr>
          <a:xfrm>
            <a:off x="6972300" y="3356610"/>
            <a:ext cx="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3F37D81-313A-411E-B449-85494279D9B9}"/>
              </a:ext>
            </a:extLst>
          </p:cNvPr>
          <p:cNvCxnSpPr>
            <a:cxnSpLocks/>
          </p:cNvCxnSpPr>
          <p:nvPr/>
        </p:nvCxnSpPr>
        <p:spPr>
          <a:xfrm>
            <a:off x="7505700" y="3356610"/>
            <a:ext cx="0" cy="952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FC68A47-96CD-4249-9A93-FA459373A079}"/>
              </a:ext>
            </a:extLst>
          </p:cNvPr>
          <p:cNvCxnSpPr>
            <a:cxnSpLocks/>
          </p:cNvCxnSpPr>
          <p:nvPr/>
        </p:nvCxnSpPr>
        <p:spPr>
          <a:xfrm>
            <a:off x="8027670" y="3356610"/>
            <a:ext cx="0" cy="114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8917A51F-81AB-471C-873C-954C0ACF0386}"/>
              </a:ext>
            </a:extLst>
          </p:cNvPr>
          <p:cNvSpPr/>
          <p:nvPr/>
        </p:nvSpPr>
        <p:spPr>
          <a:xfrm>
            <a:off x="6217921" y="3681630"/>
            <a:ext cx="2303144" cy="220980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FF1EBC74-E46D-441D-A2C3-B02970797A86}"/>
              </a:ext>
            </a:extLst>
          </p:cNvPr>
          <p:cNvSpPr/>
          <p:nvPr/>
        </p:nvSpPr>
        <p:spPr>
          <a:xfrm>
            <a:off x="3886201" y="3657600"/>
            <a:ext cx="2205991" cy="220980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Arrow Connector 27">
            <a:extLst>
              <a:ext uri="{FF2B5EF4-FFF2-40B4-BE49-F238E27FC236}">
                <a16:creationId xmlns:a16="http://schemas.microsoft.com/office/drawing/2014/main" id="{D3AE5CC9-ECA4-4D93-959D-687198D2BBB2}"/>
              </a:ext>
            </a:extLst>
          </p:cNvPr>
          <p:cNvCxnSpPr>
            <a:cxnSpLocks/>
            <a:endCxn id="5" idx="0"/>
          </p:cNvCxnSpPr>
          <p:nvPr/>
        </p:nvCxnSpPr>
        <p:spPr>
          <a:xfrm>
            <a:off x="4914900" y="1291590"/>
            <a:ext cx="0" cy="842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EF8EFD5-9341-4888-9D9F-76BCDF1FD79F}"/>
              </a:ext>
            </a:extLst>
          </p:cNvPr>
          <p:cNvCxnSpPr>
            <a:cxnSpLocks/>
          </p:cNvCxnSpPr>
          <p:nvPr/>
        </p:nvCxnSpPr>
        <p:spPr>
          <a:xfrm>
            <a:off x="7078980" y="1291590"/>
            <a:ext cx="0" cy="842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ight Brace 32">
            <a:extLst>
              <a:ext uri="{FF2B5EF4-FFF2-40B4-BE49-F238E27FC236}">
                <a16:creationId xmlns:a16="http://schemas.microsoft.com/office/drawing/2014/main" id="{B379B009-DE92-4901-BED4-4A56D5F938AC}"/>
              </a:ext>
            </a:extLst>
          </p:cNvPr>
          <p:cNvSpPr/>
          <p:nvPr/>
        </p:nvSpPr>
        <p:spPr>
          <a:xfrm>
            <a:off x="8763000" y="3681630"/>
            <a:ext cx="512444" cy="21857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4" name="TextBox 33">
            <a:extLst>
              <a:ext uri="{FF2B5EF4-FFF2-40B4-BE49-F238E27FC236}">
                <a16:creationId xmlns:a16="http://schemas.microsoft.com/office/drawing/2014/main" id="{F5A6BAFE-5051-4377-8BC1-6AAAA50CC43F}"/>
              </a:ext>
            </a:extLst>
          </p:cNvPr>
          <p:cNvSpPr txBox="1"/>
          <p:nvPr/>
        </p:nvSpPr>
        <p:spPr>
          <a:xfrm>
            <a:off x="9275445" y="4577834"/>
            <a:ext cx="1713739"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Target instances</a:t>
            </a:r>
            <a:endParaRPr lang="en-GB" b="1" dirty="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C0D7B318-3E5E-43D4-96C7-CAEBBCCCA9BF}"/>
              </a:ext>
            </a:extLst>
          </p:cNvPr>
          <p:cNvSpPr txBox="1"/>
          <p:nvPr/>
        </p:nvSpPr>
        <p:spPr>
          <a:xfrm>
            <a:off x="8548664" y="2751951"/>
            <a:ext cx="1529265"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Health Checks</a:t>
            </a:r>
            <a:endParaRPr lang="en-GB" b="1" dirty="0">
              <a:latin typeface="Calibri" panose="020F0502020204030204" pitchFamily="34" charset="0"/>
              <a:cs typeface="Calibri" panose="020F0502020204030204" pitchFamily="34" charset="0"/>
            </a:endParaRPr>
          </a:p>
        </p:txBody>
      </p:sp>
      <p:sp>
        <p:nvSpPr>
          <p:cNvPr id="38" name="Callout: Line with No Border 37">
            <a:extLst>
              <a:ext uri="{FF2B5EF4-FFF2-40B4-BE49-F238E27FC236}">
                <a16:creationId xmlns:a16="http://schemas.microsoft.com/office/drawing/2014/main" id="{94616BA4-0778-498A-B181-FE823E309075}"/>
              </a:ext>
            </a:extLst>
          </p:cNvPr>
          <p:cNvSpPr/>
          <p:nvPr/>
        </p:nvSpPr>
        <p:spPr>
          <a:xfrm>
            <a:off x="8839200" y="1550343"/>
            <a:ext cx="1529262" cy="523706"/>
          </a:xfrm>
          <a:prstGeom prst="callout1">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2"/>
                </a:solidFill>
                <a:latin typeface="Calibri" panose="020F0502020204030204" pitchFamily="34" charset="0"/>
                <a:cs typeface="Calibri" panose="020F0502020204030204" pitchFamily="34" charset="0"/>
              </a:rPr>
              <a:t>Protocol</a:t>
            </a:r>
          </a:p>
          <a:p>
            <a:r>
              <a:rPr lang="en-US" dirty="0">
                <a:solidFill>
                  <a:schemeClr val="tx2"/>
                </a:solidFill>
                <a:latin typeface="Calibri" panose="020F0502020204030204" pitchFamily="34" charset="0"/>
                <a:cs typeface="Calibri" panose="020F0502020204030204" pitchFamily="34" charset="0"/>
              </a:rPr>
              <a:t>Port</a:t>
            </a:r>
            <a:endParaRPr lang="en-GB"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9B8B817C-5A43-4F4A-9951-A602A2728EA4}"/>
              </a:ext>
            </a:extLst>
          </p:cNvPr>
          <p:cNvSpPr txBox="1"/>
          <p:nvPr/>
        </p:nvSpPr>
        <p:spPr>
          <a:xfrm>
            <a:off x="1198546" y="5847547"/>
            <a:ext cx="3903633" cy="954107"/>
          </a:xfrm>
          <a:prstGeom prst="rect">
            <a:avLst/>
          </a:prstGeom>
          <a:noFill/>
        </p:spPr>
        <p:txBody>
          <a:bodyPr wrap="none" rtlCol="0">
            <a:spAutoFit/>
          </a:bodyPr>
          <a:lstStyle/>
          <a:p>
            <a:pPr marL="285750" indent="-285750">
              <a:buFont typeface="Arial" panose="020B0604020202020204" pitchFamily="34" charset="0"/>
              <a:buChar char="•"/>
            </a:pPr>
            <a:r>
              <a:rPr lang="en-US" sz="1400" b="1" dirty="0">
                <a:solidFill>
                  <a:schemeClr val="tx2"/>
                </a:solidFill>
                <a:latin typeface="Calibri" panose="020F0502020204030204" pitchFamily="34" charset="0"/>
                <a:cs typeface="Calibri" panose="020F0502020204030204" pitchFamily="34" charset="0"/>
              </a:rPr>
              <a:t>Support for TCP, SSL, HTTP, HTTPS</a:t>
            </a:r>
          </a:p>
          <a:p>
            <a:pPr marL="285750" indent="-285750">
              <a:buFont typeface="Arial" panose="020B0604020202020204" pitchFamily="34" charset="0"/>
              <a:buChar char="•"/>
            </a:pPr>
            <a:r>
              <a:rPr lang="en-US" sz="1400" b="1" dirty="0">
                <a:solidFill>
                  <a:schemeClr val="tx2"/>
                </a:solidFill>
                <a:latin typeface="Calibri" panose="020F0502020204030204" pitchFamily="34" charset="0"/>
                <a:cs typeface="Calibri" panose="020F0502020204030204" pitchFamily="34" charset="0"/>
              </a:rPr>
              <a:t>By default evenly distributes load among AZ</a:t>
            </a:r>
          </a:p>
          <a:p>
            <a:pPr marL="285750" indent="-285750">
              <a:buFont typeface="Arial" panose="020B0604020202020204" pitchFamily="34" charset="0"/>
              <a:buChar char="•"/>
            </a:pPr>
            <a:r>
              <a:rPr lang="en-US" sz="1400" b="1" dirty="0">
                <a:solidFill>
                  <a:schemeClr val="tx2"/>
                </a:solidFill>
                <a:latin typeface="Calibri" panose="020F0502020204030204" pitchFamily="34" charset="0"/>
                <a:cs typeface="Calibri" panose="020F0502020204030204" pitchFamily="34" charset="0"/>
              </a:rPr>
              <a:t>Cross zone load balancing overrides the above</a:t>
            </a:r>
          </a:p>
          <a:p>
            <a:pPr marL="285750" indent="-285750">
              <a:buFont typeface="Arial" panose="020B0604020202020204" pitchFamily="34" charset="0"/>
              <a:buChar char="•"/>
            </a:pPr>
            <a:r>
              <a:rPr lang="en-US" sz="1400" b="1" dirty="0">
                <a:solidFill>
                  <a:schemeClr val="tx2"/>
                </a:solidFill>
                <a:latin typeface="Calibri" panose="020F0502020204030204" pitchFamily="34" charset="0"/>
                <a:cs typeface="Calibri" panose="020F0502020204030204" pitchFamily="34" charset="0"/>
              </a:rPr>
              <a:t>Mostly used for EC2 classic instances</a:t>
            </a:r>
            <a:endParaRPr lang="en-GB" sz="14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8225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Application Load Balancer</a:t>
            </a:r>
            <a:endParaRPr lang="en-GB" dirty="0"/>
          </a:p>
        </p:txBody>
      </p:sp>
      <p:sp>
        <p:nvSpPr>
          <p:cNvPr id="3" name="Rectangle: Rounded Corners 2">
            <a:extLst>
              <a:ext uri="{FF2B5EF4-FFF2-40B4-BE49-F238E27FC236}">
                <a16:creationId xmlns:a16="http://schemas.microsoft.com/office/drawing/2014/main" id="{4800201C-F1B0-49A6-B088-9CF99B758E29}"/>
              </a:ext>
            </a:extLst>
          </p:cNvPr>
          <p:cNvSpPr/>
          <p:nvPr/>
        </p:nvSpPr>
        <p:spPr>
          <a:xfrm>
            <a:off x="3048000" y="1393700"/>
            <a:ext cx="4572000" cy="587500"/>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solidFill>
                <a:latin typeface="Calibri" panose="020F0502020204030204" pitchFamily="34" charset="0"/>
                <a:cs typeface="Calibri" panose="020F0502020204030204" pitchFamily="34" charset="0"/>
              </a:rPr>
              <a:t>Load Balancer</a:t>
            </a:r>
            <a:endParaRPr lang="en-GB" sz="2400" dirty="0">
              <a:solidFill>
                <a:schemeClr val="tx2"/>
              </a:solidFill>
              <a:latin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F5B6039A-FD11-44EF-AC56-B41865EBC64D}"/>
              </a:ext>
            </a:extLst>
          </p:cNvPr>
          <p:cNvSpPr/>
          <p:nvPr/>
        </p:nvSpPr>
        <p:spPr>
          <a:xfrm>
            <a:off x="1447800" y="2273290"/>
            <a:ext cx="2819400" cy="491262"/>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Listener </a:t>
            </a:r>
            <a:endParaRPr lang="en-GB" dirty="0">
              <a:solidFill>
                <a:schemeClr val="tx2"/>
              </a:solidFill>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F8BCFA87-89AA-4440-90A2-106B63C33BF7}"/>
              </a:ext>
            </a:extLst>
          </p:cNvPr>
          <p:cNvSpPr/>
          <p:nvPr/>
        </p:nvSpPr>
        <p:spPr>
          <a:xfrm>
            <a:off x="6137912" y="2273290"/>
            <a:ext cx="2964176" cy="482511"/>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Listener  </a:t>
            </a:r>
            <a:endParaRPr lang="en-GB"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9B8B817C-5A43-4F4A-9951-A602A2728EA4}"/>
              </a:ext>
            </a:extLst>
          </p:cNvPr>
          <p:cNvSpPr txBox="1"/>
          <p:nvPr/>
        </p:nvSpPr>
        <p:spPr>
          <a:xfrm>
            <a:off x="1314692" y="4740289"/>
            <a:ext cx="9487159"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Functions at the application layer of OSI stack. Makes routing decisions based on content of application traffic</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Listeners checks connection request based on protocol and port</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Rules are defined for each listener. Each rule specifies conditions, priority and target group</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Each target group routes requests to one or more targets (EC2 instances / lambda function)</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Health checks defined at target group level</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One instance can belong to multiple target groups</a:t>
            </a:r>
          </a:p>
          <a:p>
            <a:pPr marL="285750" indent="-285750">
              <a:buFont typeface="Arial" panose="020B0604020202020204" pitchFamily="34" charset="0"/>
              <a:buChar char="•"/>
            </a:pPr>
            <a:endParaRPr lang="en-GB" sz="1600" dirty="0">
              <a:solidFill>
                <a:schemeClr val="tx2"/>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92907A94-3D7F-4E58-80D5-BB4C3813A4F6}"/>
              </a:ext>
            </a:extLst>
          </p:cNvPr>
          <p:cNvSpPr/>
          <p:nvPr/>
        </p:nvSpPr>
        <p:spPr>
          <a:xfrm>
            <a:off x="1619728" y="2412900"/>
            <a:ext cx="762000" cy="266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Rule</a:t>
            </a:r>
            <a:endParaRPr lang="en-GB" sz="1200" dirty="0">
              <a:latin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CD60654F-A0E2-4140-B10B-66702A1E8382}"/>
              </a:ext>
            </a:extLst>
          </p:cNvPr>
          <p:cNvSpPr/>
          <p:nvPr/>
        </p:nvSpPr>
        <p:spPr>
          <a:xfrm>
            <a:off x="6345558" y="2381194"/>
            <a:ext cx="762000" cy="266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Rule</a:t>
            </a:r>
            <a:endParaRPr lang="en-GB" sz="1200" dirty="0">
              <a:latin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0314AF36-E2DA-4D73-833C-75E9A12B3EE9}"/>
              </a:ext>
            </a:extLst>
          </p:cNvPr>
          <p:cNvSpPr/>
          <p:nvPr/>
        </p:nvSpPr>
        <p:spPr>
          <a:xfrm>
            <a:off x="8197455" y="2366842"/>
            <a:ext cx="762000" cy="266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Rule</a:t>
            </a:r>
            <a:endParaRPr lang="en-GB" sz="1200" dirty="0">
              <a:latin typeface="Calibri" panose="020F0502020204030204" pitchFamily="34" charset="0"/>
              <a:cs typeface="Calibri" panose="020F0502020204030204" pitchFamily="34" charset="0"/>
            </a:endParaRPr>
          </a:p>
        </p:txBody>
      </p:sp>
      <p:sp>
        <p:nvSpPr>
          <p:cNvPr id="32" name="Rectangle: Rounded Corners 31">
            <a:extLst>
              <a:ext uri="{FF2B5EF4-FFF2-40B4-BE49-F238E27FC236}">
                <a16:creationId xmlns:a16="http://schemas.microsoft.com/office/drawing/2014/main" id="{66E82873-E5AB-4328-B101-848F0882DDC3}"/>
              </a:ext>
            </a:extLst>
          </p:cNvPr>
          <p:cNvSpPr/>
          <p:nvPr/>
        </p:nvSpPr>
        <p:spPr>
          <a:xfrm>
            <a:off x="2867053" y="3555046"/>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35" name="Rectangle: Rounded Corners 34">
            <a:extLst>
              <a:ext uri="{FF2B5EF4-FFF2-40B4-BE49-F238E27FC236}">
                <a16:creationId xmlns:a16="http://schemas.microsoft.com/office/drawing/2014/main" id="{E2EFB3DE-E8CA-4B47-AF9E-C65D8581CDBC}"/>
              </a:ext>
            </a:extLst>
          </p:cNvPr>
          <p:cNvSpPr/>
          <p:nvPr/>
        </p:nvSpPr>
        <p:spPr>
          <a:xfrm>
            <a:off x="1603988" y="3555045"/>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37" name="Rectangle: Rounded Corners 36">
            <a:extLst>
              <a:ext uri="{FF2B5EF4-FFF2-40B4-BE49-F238E27FC236}">
                <a16:creationId xmlns:a16="http://schemas.microsoft.com/office/drawing/2014/main" id="{E81B5A4B-453E-4DCC-99FC-5B5B90C9F80E}"/>
              </a:ext>
            </a:extLst>
          </p:cNvPr>
          <p:cNvSpPr/>
          <p:nvPr/>
        </p:nvSpPr>
        <p:spPr>
          <a:xfrm>
            <a:off x="4433433" y="3544043"/>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40" name="Rectangle: Rounded Corners 39">
            <a:extLst>
              <a:ext uri="{FF2B5EF4-FFF2-40B4-BE49-F238E27FC236}">
                <a16:creationId xmlns:a16="http://schemas.microsoft.com/office/drawing/2014/main" id="{D61C67F9-A6EE-4F66-A1C2-7675365B4CBB}"/>
              </a:ext>
            </a:extLst>
          </p:cNvPr>
          <p:cNvSpPr/>
          <p:nvPr/>
        </p:nvSpPr>
        <p:spPr>
          <a:xfrm>
            <a:off x="5722619" y="3544043"/>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41" name="Rectangle: Rounded Corners 40">
            <a:extLst>
              <a:ext uri="{FF2B5EF4-FFF2-40B4-BE49-F238E27FC236}">
                <a16:creationId xmlns:a16="http://schemas.microsoft.com/office/drawing/2014/main" id="{9E430333-C760-45D1-AE65-C5CB3B762B4D}"/>
              </a:ext>
            </a:extLst>
          </p:cNvPr>
          <p:cNvSpPr/>
          <p:nvPr/>
        </p:nvSpPr>
        <p:spPr>
          <a:xfrm>
            <a:off x="9630274" y="3544043"/>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42" name="Rectangle: Rounded Corners 41">
            <a:extLst>
              <a:ext uri="{FF2B5EF4-FFF2-40B4-BE49-F238E27FC236}">
                <a16:creationId xmlns:a16="http://schemas.microsoft.com/office/drawing/2014/main" id="{DD808959-2834-4A41-9319-B4E1312CAC25}"/>
              </a:ext>
            </a:extLst>
          </p:cNvPr>
          <p:cNvSpPr/>
          <p:nvPr/>
        </p:nvSpPr>
        <p:spPr>
          <a:xfrm>
            <a:off x="7050405" y="3544044"/>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43" name="Rectangle: Rounded Corners 42">
            <a:extLst>
              <a:ext uri="{FF2B5EF4-FFF2-40B4-BE49-F238E27FC236}">
                <a16:creationId xmlns:a16="http://schemas.microsoft.com/office/drawing/2014/main" id="{82DFA495-0D79-41D9-A961-9E3F6D71EC36}"/>
              </a:ext>
            </a:extLst>
          </p:cNvPr>
          <p:cNvSpPr/>
          <p:nvPr/>
        </p:nvSpPr>
        <p:spPr>
          <a:xfrm>
            <a:off x="8359142" y="3544044"/>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id="{6A039508-B799-47F5-B015-89E8330B9BB4}"/>
              </a:ext>
            </a:extLst>
          </p:cNvPr>
          <p:cNvCxnSpPr/>
          <p:nvPr/>
        </p:nvCxnSpPr>
        <p:spPr>
          <a:xfrm>
            <a:off x="5105400" y="3136800"/>
            <a:ext cx="5029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106EDE7-983D-4F83-B77F-B524563B306A}"/>
              </a:ext>
            </a:extLst>
          </p:cNvPr>
          <p:cNvCxnSpPr/>
          <p:nvPr/>
        </p:nvCxnSpPr>
        <p:spPr>
          <a:xfrm>
            <a:off x="5105400" y="3136800"/>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BC8BB03-487A-49DD-8E41-D8AA4ABDB88E}"/>
              </a:ext>
            </a:extLst>
          </p:cNvPr>
          <p:cNvCxnSpPr/>
          <p:nvPr/>
        </p:nvCxnSpPr>
        <p:spPr>
          <a:xfrm>
            <a:off x="6324600" y="3147802"/>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6329D87-94EC-43B7-83CA-857864CBBF42}"/>
              </a:ext>
            </a:extLst>
          </p:cNvPr>
          <p:cNvCxnSpPr/>
          <p:nvPr/>
        </p:nvCxnSpPr>
        <p:spPr>
          <a:xfrm>
            <a:off x="7620000" y="3136800"/>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5AE76CF-5812-4496-A071-DD2D912422D4}"/>
              </a:ext>
            </a:extLst>
          </p:cNvPr>
          <p:cNvCxnSpPr/>
          <p:nvPr/>
        </p:nvCxnSpPr>
        <p:spPr>
          <a:xfrm>
            <a:off x="8915400" y="3136800"/>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068B73C-D03C-443A-BE32-6E2F7C647B3D}"/>
              </a:ext>
            </a:extLst>
          </p:cNvPr>
          <p:cNvCxnSpPr/>
          <p:nvPr/>
        </p:nvCxnSpPr>
        <p:spPr>
          <a:xfrm>
            <a:off x="10134600" y="3147802"/>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6755FD8-049B-4959-BEE2-3922F5A58B26}"/>
              </a:ext>
            </a:extLst>
          </p:cNvPr>
          <p:cNvCxnSpPr>
            <a:stCxn id="8" idx="2"/>
          </p:cNvCxnSpPr>
          <p:nvPr/>
        </p:nvCxnSpPr>
        <p:spPr>
          <a:xfrm>
            <a:off x="7620000" y="2755801"/>
            <a:ext cx="0" cy="355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42B73B8-EE59-464B-BC3E-515D8080B93B}"/>
              </a:ext>
            </a:extLst>
          </p:cNvPr>
          <p:cNvCxnSpPr>
            <a:cxnSpLocks/>
          </p:cNvCxnSpPr>
          <p:nvPr/>
        </p:nvCxnSpPr>
        <p:spPr>
          <a:xfrm>
            <a:off x="2209800" y="3136800"/>
            <a:ext cx="1219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4B25F83-B480-4FBF-A752-A3098FFD58F2}"/>
              </a:ext>
            </a:extLst>
          </p:cNvPr>
          <p:cNvCxnSpPr/>
          <p:nvPr/>
        </p:nvCxnSpPr>
        <p:spPr>
          <a:xfrm>
            <a:off x="2209800" y="3147802"/>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2C8D9D5-027B-4FC1-8EB0-7B0BC0402CD7}"/>
              </a:ext>
            </a:extLst>
          </p:cNvPr>
          <p:cNvCxnSpPr/>
          <p:nvPr/>
        </p:nvCxnSpPr>
        <p:spPr>
          <a:xfrm>
            <a:off x="3429000" y="3136800"/>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89768ED-9B41-4E7C-A4EF-83DA722B180C}"/>
              </a:ext>
            </a:extLst>
          </p:cNvPr>
          <p:cNvCxnSpPr>
            <a:cxnSpLocks/>
          </p:cNvCxnSpPr>
          <p:nvPr/>
        </p:nvCxnSpPr>
        <p:spPr>
          <a:xfrm>
            <a:off x="2813664" y="2781112"/>
            <a:ext cx="0" cy="366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079D659-E045-463E-BD0B-281717E27807}"/>
              </a:ext>
            </a:extLst>
          </p:cNvPr>
          <p:cNvCxnSpPr>
            <a:cxnSpLocks/>
            <a:stCxn id="5" idx="3"/>
            <a:endCxn id="8" idx="1"/>
          </p:cNvCxnSpPr>
          <p:nvPr/>
        </p:nvCxnSpPr>
        <p:spPr>
          <a:xfrm flipV="1">
            <a:off x="4267200" y="2514545"/>
            <a:ext cx="1870712" cy="4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23DC319-89D3-4BCD-9741-A8093DBFD0BB}"/>
              </a:ext>
            </a:extLst>
          </p:cNvPr>
          <p:cNvCxnSpPr>
            <a:cxnSpLocks/>
            <a:stCxn id="3" idx="2"/>
          </p:cNvCxnSpPr>
          <p:nvPr/>
        </p:nvCxnSpPr>
        <p:spPr>
          <a:xfrm>
            <a:off x="5334000" y="1981201"/>
            <a:ext cx="0" cy="537721"/>
          </a:xfrm>
          <a:prstGeom prst="line">
            <a:avLst/>
          </a:prstGeom>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98E1FA35-5599-4AF2-AE38-4915A532C667}"/>
              </a:ext>
            </a:extLst>
          </p:cNvPr>
          <p:cNvSpPr/>
          <p:nvPr/>
        </p:nvSpPr>
        <p:spPr>
          <a:xfrm>
            <a:off x="1314691" y="3289200"/>
            <a:ext cx="2942970" cy="121694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dirty="0">
                <a:solidFill>
                  <a:schemeClr val="tx2"/>
                </a:solidFill>
                <a:latin typeface="Calibri" panose="020F0502020204030204" pitchFamily="34" charset="0"/>
                <a:cs typeface="Calibri" panose="020F0502020204030204" pitchFamily="34" charset="0"/>
              </a:rPr>
              <a:t>Target Group</a:t>
            </a:r>
            <a:endParaRPr lang="en-GB" sz="1400" dirty="0">
              <a:solidFill>
                <a:schemeClr val="tx2"/>
              </a:solidFill>
              <a:latin typeface="Calibri" panose="020F0502020204030204" pitchFamily="34" charset="0"/>
              <a:cs typeface="Calibri" panose="020F0502020204030204" pitchFamily="34" charset="0"/>
            </a:endParaRPr>
          </a:p>
        </p:txBody>
      </p:sp>
      <p:sp>
        <p:nvSpPr>
          <p:cNvPr id="67" name="Rectangle: Rounded Corners 66">
            <a:extLst>
              <a:ext uri="{FF2B5EF4-FFF2-40B4-BE49-F238E27FC236}">
                <a16:creationId xmlns:a16="http://schemas.microsoft.com/office/drawing/2014/main" id="{1B3431CC-8346-40E3-A658-63C6F74C2F19}"/>
              </a:ext>
            </a:extLst>
          </p:cNvPr>
          <p:cNvSpPr/>
          <p:nvPr/>
        </p:nvSpPr>
        <p:spPr>
          <a:xfrm>
            <a:off x="4392916" y="3289200"/>
            <a:ext cx="3227080" cy="119624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r>
              <a:rPr lang="en-US" sz="1400" dirty="0">
                <a:solidFill>
                  <a:schemeClr val="tx2"/>
                </a:solidFill>
                <a:latin typeface="Calibri" panose="020F0502020204030204" pitchFamily="34" charset="0"/>
                <a:cs typeface="Calibri" panose="020F0502020204030204" pitchFamily="34" charset="0"/>
              </a:rPr>
              <a:t>Target Group  /</a:t>
            </a:r>
            <a:r>
              <a:rPr lang="en-US" sz="1400" dirty="0" err="1">
                <a:solidFill>
                  <a:schemeClr val="tx2"/>
                </a:solidFill>
                <a:latin typeface="Calibri" panose="020F0502020204030204" pitchFamily="34" charset="0"/>
                <a:cs typeface="Calibri" panose="020F0502020204030204" pitchFamily="34" charset="0"/>
              </a:rPr>
              <a:t>api</a:t>
            </a:r>
            <a:endParaRPr lang="en-GB" sz="1400" dirty="0">
              <a:solidFill>
                <a:schemeClr val="tx2"/>
              </a:solidFill>
              <a:latin typeface="Calibri" panose="020F0502020204030204" pitchFamily="34" charset="0"/>
              <a:cs typeface="Calibri" panose="020F0502020204030204" pitchFamily="34" charset="0"/>
            </a:endParaRPr>
          </a:p>
        </p:txBody>
      </p:sp>
      <p:sp>
        <p:nvSpPr>
          <p:cNvPr id="68" name="Rectangle: Rounded Corners 67">
            <a:extLst>
              <a:ext uri="{FF2B5EF4-FFF2-40B4-BE49-F238E27FC236}">
                <a16:creationId xmlns:a16="http://schemas.microsoft.com/office/drawing/2014/main" id="{46161CC5-D086-422D-9EE8-A4F349289636}"/>
              </a:ext>
            </a:extLst>
          </p:cNvPr>
          <p:cNvSpPr/>
          <p:nvPr/>
        </p:nvSpPr>
        <p:spPr>
          <a:xfrm>
            <a:off x="7630033" y="3284340"/>
            <a:ext cx="3227080" cy="119624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r>
              <a:rPr lang="en-US" sz="1400" dirty="0">
                <a:solidFill>
                  <a:schemeClr val="tx2"/>
                </a:solidFill>
                <a:latin typeface="Calibri" panose="020F0502020204030204" pitchFamily="34" charset="0"/>
                <a:cs typeface="Calibri" panose="020F0502020204030204" pitchFamily="34" charset="0"/>
              </a:rPr>
              <a:t>Target Group   /mobile</a:t>
            </a:r>
            <a:endParaRPr lang="en-GB" sz="14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6999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Network Load Balancer</a:t>
            </a:r>
            <a:endParaRPr lang="en-GB" dirty="0"/>
          </a:p>
        </p:txBody>
      </p:sp>
      <p:sp>
        <p:nvSpPr>
          <p:cNvPr id="3" name="Rectangle: Rounded Corners 2">
            <a:extLst>
              <a:ext uri="{FF2B5EF4-FFF2-40B4-BE49-F238E27FC236}">
                <a16:creationId xmlns:a16="http://schemas.microsoft.com/office/drawing/2014/main" id="{4800201C-F1B0-49A6-B088-9CF99B758E29}"/>
              </a:ext>
            </a:extLst>
          </p:cNvPr>
          <p:cNvSpPr/>
          <p:nvPr/>
        </p:nvSpPr>
        <p:spPr>
          <a:xfrm>
            <a:off x="3924299" y="1393700"/>
            <a:ext cx="2819401" cy="587500"/>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solidFill>
                <a:latin typeface="Calibri" panose="020F0502020204030204" pitchFamily="34" charset="0"/>
                <a:cs typeface="Calibri" panose="020F0502020204030204" pitchFamily="34" charset="0"/>
              </a:rPr>
              <a:t>Load Balancer</a:t>
            </a:r>
            <a:endParaRPr lang="en-GB" sz="2400" dirty="0">
              <a:solidFill>
                <a:schemeClr val="tx2"/>
              </a:solidFill>
              <a:latin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F5B6039A-FD11-44EF-AC56-B41865EBC64D}"/>
              </a:ext>
            </a:extLst>
          </p:cNvPr>
          <p:cNvSpPr/>
          <p:nvPr/>
        </p:nvSpPr>
        <p:spPr>
          <a:xfrm>
            <a:off x="3924300" y="2362200"/>
            <a:ext cx="2819400" cy="491262"/>
          </a:xfrm>
          <a:prstGeom prst="round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latin typeface="Calibri" panose="020F0502020204030204" pitchFamily="34" charset="0"/>
                <a:cs typeface="Calibri" panose="020F0502020204030204" pitchFamily="34" charset="0"/>
              </a:rPr>
              <a:t>Listener </a:t>
            </a:r>
            <a:endParaRPr lang="en-GB"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9B8B817C-5A43-4F4A-9951-A602A2728EA4}"/>
              </a:ext>
            </a:extLst>
          </p:cNvPr>
          <p:cNvSpPr txBox="1"/>
          <p:nvPr/>
        </p:nvSpPr>
        <p:spPr>
          <a:xfrm>
            <a:off x="1314692" y="5001162"/>
            <a:ext cx="9487159"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Functions at the transport layer (TCP) of the OSI stack</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Connection request received by listener. Target selected from target group configured and TCP connection opened on the specified port</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Cross zone load balancing can be configured</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Health checks at target group level</a:t>
            </a:r>
            <a:endParaRPr lang="en-GB" sz="1600" dirty="0">
              <a:solidFill>
                <a:schemeClr val="tx2"/>
              </a:solidFill>
              <a:latin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92907A94-3D7F-4E58-80D5-BB4C3813A4F6}"/>
              </a:ext>
            </a:extLst>
          </p:cNvPr>
          <p:cNvSpPr/>
          <p:nvPr/>
        </p:nvSpPr>
        <p:spPr>
          <a:xfrm>
            <a:off x="4096228" y="2501810"/>
            <a:ext cx="762000" cy="266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Rule</a:t>
            </a:r>
            <a:endParaRPr lang="en-GB" sz="1200" dirty="0">
              <a:latin typeface="Calibri" panose="020F0502020204030204" pitchFamily="34" charset="0"/>
              <a:cs typeface="Calibri" panose="020F0502020204030204" pitchFamily="34" charset="0"/>
            </a:endParaRPr>
          </a:p>
        </p:txBody>
      </p:sp>
      <p:sp>
        <p:nvSpPr>
          <p:cNvPr id="32" name="Rectangle: Rounded Corners 31">
            <a:extLst>
              <a:ext uri="{FF2B5EF4-FFF2-40B4-BE49-F238E27FC236}">
                <a16:creationId xmlns:a16="http://schemas.microsoft.com/office/drawing/2014/main" id="{66E82873-E5AB-4328-B101-848F0882DDC3}"/>
              </a:ext>
            </a:extLst>
          </p:cNvPr>
          <p:cNvSpPr/>
          <p:nvPr/>
        </p:nvSpPr>
        <p:spPr>
          <a:xfrm>
            <a:off x="5414877" y="3620919"/>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sp>
        <p:nvSpPr>
          <p:cNvPr id="35" name="Rectangle: Rounded Corners 34">
            <a:extLst>
              <a:ext uri="{FF2B5EF4-FFF2-40B4-BE49-F238E27FC236}">
                <a16:creationId xmlns:a16="http://schemas.microsoft.com/office/drawing/2014/main" id="{E2EFB3DE-E8CA-4B47-AF9E-C65D8581CDBC}"/>
              </a:ext>
            </a:extLst>
          </p:cNvPr>
          <p:cNvSpPr/>
          <p:nvPr/>
        </p:nvSpPr>
        <p:spPr>
          <a:xfrm>
            <a:off x="4151812" y="3620918"/>
            <a:ext cx="1171576" cy="465951"/>
          </a:xfrm>
          <a:prstGeom prst="round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latin typeface="Calibri" panose="020F0502020204030204" pitchFamily="34" charset="0"/>
                <a:cs typeface="Calibri" panose="020F0502020204030204" pitchFamily="34" charset="0"/>
              </a:rPr>
              <a:t>Target</a:t>
            </a:r>
            <a:endParaRPr lang="en-GB" b="1" dirty="0">
              <a:solidFill>
                <a:schemeClr val="tx2"/>
              </a:solidFill>
              <a:latin typeface="Calibri" panose="020F0502020204030204" pitchFamily="34" charset="0"/>
              <a:cs typeface="Calibri" panose="020F0502020204030204" pitchFamily="34" charset="0"/>
            </a:endParaRPr>
          </a:p>
        </p:txBody>
      </p:sp>
      <p:cxnSp>
        <p:nvCxnSpPr>
          <p:cNvPr id="48" name="Straight Connector 47">
            <a:extLst>
              <a:ext uri="{FF2B5EF4-FFF2-40B4-BE49-F238E27FC236}">
                <a16:creationId xmlns:a16="http://schemas.microsoft.com/office/drawing/2014/main" id="{942B73B8-EE59-464B-BC3E-515D8080B93B}"/>
              </a:ext>
            </a:extLst>
          </p:cNvPr>
          <p:cNvCxnSpPr>
            <a:cxnSpLocks/>
          </p:cNvCxnSpPr>
          <p:nvPr/>
        </p:nvCxnSpPr>
        <p:spPr>
          <a:xfrm>
            <a:off x="4757624" y="3202673"/>
            <a:ext cx="1219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4B25F83-B480-4FBF-A752-A3098FFD58F2}"/>
              </a:ext>
            </a:extLst>
          </p:cNvPr>
          <p:cNvCxnSpPr/>
          <p:nvPr/>
        </p:nvCxnSpPr>
        <p:spPr>
          <a:xfrm>
            <a:off x="4757624" y="3213675"/>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2C8D9D5-027B-4FC1-8EB0-7B0BC0402CD7}"/>
              </a:ext>
            </a:extLst>
          </p:cNvPr>
          <p:cNvCxnSpPr/>
          <p:nvPr/>
        </p:nvCxnSpPr>
        <p:spPr>
          <a:xfrm>
            <a:off x="5976824" y="3202673"/>
            <a:ext cx="0" cy="40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89768ED-9B41-4E7C-A4EF-83DA722B180C}"/>
              </a:ext>
            </a:extLst>
          </p:cNvPr>
          <p:cNvCxnSpPr>
            <a:cxnSpLocks/>
          </p:cNvCxnSpPr>
          <p:nvPr/>
        </p:nvCxnSpPr>
        <p:spPr>
          <a:xfrm>
            <a:off x="5361488" y="2846985"/>
            <a:ext cx="0" cy="366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23DC319-89D3-4BCD-9741-A8093DBFD0BB}"/>
              </a:ext>
            </a:extLst>
          </p:cNvPr>
          <p:cNvCxnSpPr>
            <a:cxnSpLocks/>
            <a:stCxn id="3" idx="2"/>
            <a:endCxn id="5" idx="0"/>
          </p:cNvCxnSpPr>
          <p:nvPr/>
        </p:nvCxnSpPr>
        <p:spPr>
          <a:xfrm>
            <a:off x="5334000" y="1981200"/>
            <a:ext cx="1" cy="381000"/>
          </a:xfrm>
          <a:prstGeom prst="line">
            <a:avLst/>
          </a:prstGeom>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98E1FA35-5599-4AF2-AE38-4915A532C667}"/>
              </a:ext>
            </a:extLst>
          </p:cNvPr>
          <p:cNvSpPr/>
          <p:nvPr/>
        </p:nvSpPr>
        <p:spPr>
          <a:xfrm>
            <a:off x="3862515" y="3355073"/>
            <a:ext cx="2942970" cy="121694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dirty="0">
                <a:solidFill>
                  <a:schemeClr val="tx2"/>
                </a:solidFill>
                <a:latin typeface="Calibri" panose="020F0502020204030204" pitchFamily="34" charset="0"/>
                <a:cs typeface="Calibri" panose="020F0502020204030204" pitchFamily="34" charset="0"/>
              </a:rPr>
              <a:t>Target Group</a:t>
            </a:r>
            <a:endParaRPr lang="en-GB" sz="14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804597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Load balancer comparison</a:t>
            </a:r>
            <a:endParaRPr lang="en-GB" dirty="0"/>
          </a:p>
        </p:txBody>
      </p:sp>
      <p:graphicFrame>
        <p:nvGraphicFramePr>
          <p:cNvPr id="6" name="Content Placeholder 5">
            <a:extLst>
              <a:ext uri="{FF2B5EF4-FFF2-40B4-BE49-F238E27FC236}">
                <a16:creationId xmlns:a16="http://schemas.microsoft.com/office/drawing/2014/main" id="{5371DB9C-B00D-4C1E-A544-724EBBC55D5C}"/>
              </a:ext>
            </a:extLst>
          </p:cNvPr>
          <p:cNvGraphicFramePr>
            <a:graphicFrameLocks noGrp="1"/>
          </p:cNvGraphicFramePr>
          <p:nvPr>
            <p:ph idx="1"/>
          </p:nvPr>
        </p:nvGraphicFramePr>
        <p:xfrm>
          <a:off x="1466850" y="1322388"/>
          <a:ext cx="9259888" cy="4389120"/>
        </p:xfrm>
        <a:graphic>
          <a:graphicData uri="http://schemas.openxmlformats.org/drawingml/2006/table">
            <a:tbl>
              <a:tblPr firstRow="1" bandRow="1">
                <a:tableStyleId>{00A15C55-8517-42AA-B614-E9B94910E393}</a:tableStyleId>
              </a:tblPr>
              <a:tblGrid>
                <a:gridCol w="2314972">
                  <a:extLst>
                    <a:ext uri="{9D8B030D-6E8A-4147-A177-3AD203B41FA5}">
                      <a16:colId xmlns:a16="http://schemas.microsoft.com/office/drawing/2014/main" val="3685186687"/>
                    </a:ext>
                  </a:extLst>
                </a:gridCol>
                <a:gridCol w="2314972">
                  <a:extLst>
                    <a:ext uri="{9D8B030D-6E8A-4147-A177-3AD203B41FA5}">
                      <a16:colId xmlns:a16="http://schemas.microsoft.com/office/drawing/2014/main" val="88192363"/>
                    </a:ext>
                  </a:extLst>
                </a:gridCol>
                <a:gridCol w="2314972">
                  <a:extLst>
                    <a:ext uri="{9D8B030D-6E8A-4147-A177-3AD203B41FA5}">
                      <a16:colId xmlns:a16="http://schemas.microsoft.com/office/drawing/2014/main" val="1570784340"/>
                    </a:ext>
                  </a:extLst>
                </a:gridCol>
                <a:gridCol w="2314972">
                  <a:extLst>
                    <a:ext uri="{9D8B030D-6E8A-4147-A177-3AD203B41FA5}">
                      <a16:colId xmlns:a16="http://schemas.microsoft.com/office/drawing/2014/main" val="812547422"/>
                    </a:ext>
                  </a:extLst>
                </a:gridCol>
              </a:tblGrid>
              <a:tr h="370840">
                <a:tc>
                  <a:txBody>
                    <a:bodyPr/>
                    <a:lstStyle/>
                    <a:p>
                      <a:r>
                        <a:rPr lang="en-US" sz="2400" dirty="0">
                          <a:latin typeface="Calibri" panose="020F0502020204030204" pitchFamily="34" charset="0"/>
                          <a:cs typeface="Calibri" panose="020F0502020204030204" pitchFamily="34" charset="0"/>
                        </a:rPr>
                        <a:t>Features</a:t>
                      </a:r>
                      <a:endParaRPr lang="en-GB" sz="2400" dirty="0">
                        <a:latin typeface="Calibri" panose="020F0502020204030204" pitchFamily="34" charset="0"/>
                        <a:cs typeface="Calibri" panose="020F0502020204030204" pitchFamily="34" charset="0"/>
                      </a:endParaRPr>
                    </a:p>
                  </a:txBody>
                  <a:tcPr/>
                </a:tc>
                <a:tc>
                  <a:txBody>
                    <a:bodyPr/>
                    <a:lstStyle/>
                    <a:p>
                      <a:r>
                        <a:rPr lang="en-US" sz="2400" dirty="0">
                          <a:latin typeface="Calibri" panose="020F0502020204030204" pitchFamily="34" charset="0"/>
                          <a:cs typeface="Calibri" panose="020F0502020204030204" pitchFamily="34" charset="0"/>
                        </a:rPr>
                        <a:t>Classic LB</a:t>
                      </a:r>
                      <a:endParaRPr lang="en-GB" sz="2400" dirty="0">
                        <a:latin typeface="Calibri" panose="020F0502020204030204" pitchFamily="34" charset="0"/>
                        <a:cs typeface="Calibri" panose="020F0502020204030204" pitchFamily="34" charset="0"/>
                      </a:endParaRPr>
                    </a:p>
                  </a:txBody>
                  <a:tcPr/>
                </a:tc>
                <a:tc>
                  <a:txBody>
                    <a:bodyPr/>
                    <a:lstStyle/>
                    <a:p>
                      <a:r>
                        <a:rPr lang="en-US" sz="2400" dirty="0">
                          <a:latin typeface="Calibri" panose="020F0502020204030204" pitchFamily="34" charset="0"/>
                          <a:cs typeface="Calibri" panose="020F0502020204030204" pitchFamily="34" charset="0"/>
                        </a:rPr>
                        <a:t>Application LB</a:t>
                      </a:r>
                      <a:endParaRPr lang="en-GB" sz="2400" dirty="0">
                        <a:latin typeface="Calibri" panose="020F0502020204030204" pitchFamily="34" charset="0"/>
                        <a:cs typeface="Calibri" panose="020F0502020204030204" pitchFamily="34" charset="0"/>
                      </a:endParaRPr>
                    </a:p>
                  </a:txBody>
                  <a:tcPr/>
                </a:tc>
                <a:tc>
                  <a:txBody>
                    <a:bodyPr/>
                    <a:lstStyle/>
                    <a:p>
                      <a:r>
                        <a:rPr lang="en-US" sz="2400" dirty="0">
                          <a:latin typeface="Calibri" panose="020F0502020204030204" pitchFamily="34" charset="0"/>
                          <a:cs typeface="Calibri" panose="020F0502020204030204" pitchFamily="34" charset="0"/>
                        </a:rPr>
                        <a:t>Network LB</a:t>
                      </a:r>
                      <a:endParaRPr lang="en-GB" sz="2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3102450"/>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Protocols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TCP, SSL, HTTP, HTTPS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HTTP, HTTPS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TCP</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69543508"/>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Platforms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EC2 Classic, VPC</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VPC</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VPC</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81035138"/>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Cross zone LB</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60726837"/>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Logging</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71202415"/>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Path based routing</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No</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No</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51801388"/>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Sticky sessions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No</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No</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25442470"/>
                  </a:ext>
                </a:extLst>
              </a:tr>
              <a:tr h="370840">
                <a:tc>
                  <a:txBody>
                    <a:bodyPr/>
                    <a:lstStyle/>
                    <a:p>
                      <a:r>
                        <a:rPr lang="en-US" sz="2400" dirty="0">
                          <a:solidFill>
                            <a:schemeClr val="tx2"/>
                          </a:solidFill>
                          <a:latin typeface="Calibri" panose="020F0502020204030204" pitchFamily="34" charset="0"/>
                          <a:cs typeface="Calibri" panose="020F0502020204030204" pitchFamily="34" charset="0"/>
                        </a:rPr>
                        <a:t>Static IP support</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No</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No</a:t>
                      </a:r>
                      <a:endParaRPr lang="en-GB" sz="2400" dirty="0">
                        <a:solidFill>
                          <a:schemeClr val="tx2"/>
                        </a:solidFill>
                        <a:latin typeface="Calibri" panose="020F0502020204030204" pitchFamily="34" charset="0"/>
                        <a:cs typeface="Calibri" panose="020F0502020204030204" pitchFamily="34" charset="0"/>
                      </a:endParaRPr>
                    </a:p>
                  </a:txBody>
                  <a:tcPr/>
                </a:tc>
                <a:tc>
                  <a:txBody>
                    <a:bodyPr/>
                    <a:lstStyle/>
                    <a:p>
                      <a:r>
                        <a:rPr lang="en-US" sz="2400" dirty="0">
                          <a:solidFill>
                            <a:schemeClr val="tx2"/>
                          </a:solidFill>
                          <a:latin typeface="Calibri" panose="020F0502020204030204" pitchFamily="34" charset="0"/>
                          <a:cs typeface="Calibri" panose="020F0502020204030204" pitchFamily="34" charset="0"/>
                        </a:rPr>
                        <a:t>Yes</a:t>
                      </a:r>
                      <a:endParaRPr lang="en-GB" sz="2400" dirty="0">
                        <a:solidFill>
                          <a:schemeClr val="tx2"/>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31942212"/>
                  </a:ext>
                </a:extLst>
              </a:tr>
            </a:tbl>
          </a:graphicData>
        </a:graphic>
      </p:graphicFrame>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86167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Amazon CloudWatch</a:t>
            </a:r>
            <a:endParaRPr lang="en-GB" dirty="0"/>
          </a:p>
        </p:txBody>
      </p:sp>
      <p:sp>
        <p:nvSpPr>
          <p:cNvPr id="39" name="TextBox 38">
            <a:extLst>
              <a:ext uri="{FF2B5EF4-FFF2-40B4-BE49-F238E27FC236}">
                <a16:creationId xmlns:a16="http://schemas.microsoft.com/office/drawing/2014/main" id="{9B8B817C-5A43-4F4A-9951-A602A2728EA4}"/>
              </a:ext>
            </a:extLst>
          </p:cNvPr>
          <p:cNvSpPr txBox="1"/>
          <p:nvPr/>
        </p:nvSpPr>
        <p:spPr>
          <a:xfrm>
            <a:off x="1239680" y="5593844"/>
            <a:ext cx="9487159"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Monitoring service for AWS cloud resources and applications being run</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Visibility into resource utilization, operational performance and demand patterns</a:t>
            </a:r>
          </a:p>
          <a:p>
            <a:pPr marL="285750" indent="-285750">
              <a:buFont typeface="Arial" panose="020B0604020202020204" pitchFamily="34" charset="0"/>
              <a:buChar char="•"/>
            </a:pPr>
            <a:r>
              <a:rPr lang="en-US" sz="1600" dirty="0">
                <a:solidFill>
                  <a:schemeClr val="tx2"/>
                </a:solidFill>
                <a:latin typeface="Calibri" panose="020F0502020204030204" pitchFamily="34" charset="0"/>
                <a:cs typeface="Calibri" panose="020F0502020204030204" pitchFamily="34" charset="0"/>
              </a:rPr>
              <a:t>Can define custom metrics and can set alarms</a:t>
            </a:r>
          </a:p>
        </p:txBody>
      </p:sp>
      <p:sp>
        <p:nvSpPr>
          <p:cNvPr id="4" name="Rectangle: Rounded Corners 3">
            <a:extLst>
              <a:ext uri="{FF2B5EF4-FFF2-40B4-BE49-F238E27FC236}">
                <a16:creationId xmlns:a16="http://schemas.microsoft.com/office/drawing/2014/main" id="{E8974886-C43B-4396-8690-02BC4066188C}"/>
              </a:ext>
            </a:extLst>
          </p:cNvPr>
          <p:cNvSpPr/>
          <p:nvPr/>
        </p:nvSpPr>
        <p:spPr>
          <a:xfrm>
            <a:off x="3048000" y="1447800"/>
            <a:ext cx="5410200" cy="3013346"/>
          </a:xfrm>
          <a:prstGeom prst="round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BC108E4-D74B-4778-98BA-CD9A1342C39D}"/>
              </a:ext>
            </a:extLst>
          </p:cNvPr>
          <p:cNvSpPr/>
          <p:nvPr/>
        </p:nvSpPr>
        <p:spPr>
          <a:xfrm>
            <a:off x="3505200" y="1905000"/>
            <a:ext cx="2590800" cy="2248369"/>
          </a:xfrm>
          <a:prstGeom prst="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tx2"/>
                </a:solidFill>
                <a:latin typeface="Calibri" panose="020F0502020204030204" pitchFamily="34" charset="0"/>
                <a:cs typeface="Calibri" panose="020F0502020204030204" pitchFamily="34" charset="0"/>
              </a:rPr>
              <a:t>Cloud watch metrics</a:t>
            </a:r>
            <a:endParaRPr lang="en-GB" sz="1400" b="1" dirty="0">
              <a:solidFill>
                <a:schemeClr val="tx2"/>
              </a:solidFill>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7717CFFB-F7AA-4936-8450-8B4AA7D49DAB}"/>
              </a:ext>
            </a:extLst>
          </p:cNvPr>
          <p:cNvGrpSpPr/>
          <p:nvPr/>
        </p:nvGrpSpPr>
        <p:grpSpPr>
          <a:xfrm>
            <a:off x="3352800" y="1078111"/>
            <a:ext cx="1600200" cy="703451"/>
            <a:chOff x="1873406" y="2602110"/>
            <a:chExt cx="2944935" cy="1259939"/>
          </a:xfrm>
        </p:grpSpPr>
        <p:sp>
          <p:nvSpPr>
            <p:cNvPr id="17" name="TextBox 16">
              <a:extLst>
                <a:ext uri="{FF2B5EF4-FFF2-40B4-BE49-F238E27FC236}">
                  <a16:creationId xmlns:a16="http://schemas.microsoft.com/office/drawing/2014/main" id="{C40A39B1-E3F6-4FF9-B121-0014CB207D55}"/>
                </a:ext>
              </a:extLst>
            </p:cNvPr>
            <p:cNvSpPr txBox="1"/>
            <p:nvPr/>
          </p:nvSpPr>
          <p:spPr>
            <a:xfrm>
              <a:off x="1873406" y="3365921"/>
              <a:ext cx="2944935" cy="496128"/>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Amazon CloudWatch</a:t>
              </a:r>
            </a:p>
          </p:txBody>
        </p:sp>
        <p:pic>
          <p:nvPicPr>
            <p:cNvPr id="18" name="Graphic 17">
              <a:extLst>
                <a:ext uri="{FF2B5EF4-FFF2-40B4-BE49-F238E27FC236}">
                  <a16:creationId xmlns:a16="http://schemas.microsoft.com/office/drawing/2014/main" id="{E2C32FAC-CF8F-4A85-9429-822B3ABAA5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8758" y="2602110"/>
              <a:ext cx="711200" cy="711200"/>
            </a:xfrm>
            <a:prstGeom prst="rect">
              <a:avLst/>
            </a:prstGeom>
          </p:spPr>
        </p:pic>
      </p:grpSp>
      <p:sp>
        <p:nvSpPr>
          <p:cNvPr id="20" name="TextBox 19">
            <a:extLst>
              <a:ext uri="{FF2B5EF4-FFF2-40B4-BE49-F238E27FC236}">
                <a16:creationId xmlns:a16="http://schemas.microsoft.com/office/drawing/2014/main" id="{32D795BE-E66F-4232-92BC-955053989AF3}"/>
              </a:ext>
            </a:extLst>
          </p:cNvPr>
          <p:cNvSpPr txBox="1"/>
          <p:nvPr/>
        </p:nvSpPr>
        <p:spPr>
          <a:xfrm>
            <a:off x="6150219" y="2673067"/>
            <a:ext cx="1317379"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CloudWatch Alarms</a:t>
            </a:r>
          </a:p>
        </p:txBody>
      </p:sp>
      <p:pic>
        <p:nvPicPr>
          <p:cNvPr id="21" name="Graphic 20">
            <a:extLst>
              <a:ext uri="{FF2B5EF4-FFF2-40B4-BE49-F238E27FC236}">
                <a16:creationId xmlns:a16="http://schemas.microsoft.com/office/drawing/2014/main" id="{27F9A569-DD18-4F56-B2D5-7393EFF7A9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74536" y="2122595"/>
            <a:ext cx="469900" cy="469900"/>
          </a:xfrm>
          <a:prstGeom prst="rect">
            <a:avLst/>
          </a:prstGeom>
        </p:spPr>
      </p:pic>
      <p:pic>
        <p:nvPicPr>
          <p:cNvPr id="9" name="Picture 8">
            <a:extLst>
              <a:ext uri="{FF2B5EF4-FFF2-40B4-BE49-F238E27FC236}">
                <a16:creationId xmlns:a16="http://schemas.microsoft.com/office/drawing/2014/main" id="{6A9B7C4D-A134-41A3-9A4C-F38C86C0368D}"/>
              </a:ext>
            </a:extLst>
          </p:cNvPr>
          <p:cNvPicPr>
            <a:picLocks noChangeAspect="1"/>
          </p:cNvPicPr>
          <p:nvPr/>
        </p:nvPicPr>
        <p:blipFill>
          <a:blip r:embed="rId7"/>
          <a:stretch>
            <a:fillRect/>
          </a:stretch>
        </p:blipFill>
        <p:spPr>
          <a:xfrm>
            <a:off x="6394083" y="3444546"/>
            <a:ext cx="968024" cy="614455"/>
          </a:xfrm>
          <a:prstGeom prst="rect">
            <a:avLst/>
          </a:prstGeom>
        </p:spPr>
      </p:pic>
      <p:sp>
        <p:nvSpPr>
          <p:cNvPr id="10" name="TextBox 9">
            <a:extLst>
              <a:ext uri="{FF2B5EF4-FFF2-40B4-BE49-F238E27FC236}">
                <a16:creationId xmlns:a16="http://schemas.microsoft.com/office/drawing/2014/main" id="{9C130DA5-E794-4F32-B443-45FC25629A9D}"/>
              </a:ext>
            </a:extLst>
          </p:cNvPr>
          <p:cNvSpPr txBox="1"/>
          <p:nvPr/>
        </p:nvSpPr>
        <p:spPr>
          <a:xfrm>
            <a:off x="6463270" y="4153370"/>
            <a:ext cx="829651" cy="307777"/>
          </a:xfrm>
          <a:prstGeom prst="rect">
            <a:avLst/>
          </a:prstGeom>
          <a:noFill/>
        </p:spPr>
        <p:txBody>
          <a:bodyPr wrap="none" rtlCol="0">
            <a:spAutoFit/>
          </a:bodyPr>
          <a:lstStyle/>
          <a:p>
            <a:r>
              <a:rPr lang="en-US" sz="1400" dirty="0">
                <a:latin typeface="Calibri" panose="020F0502020204030204" pitchFamily="34" charset="0"/>
                <a:cs typeface="Calibri" panose="020F0502020204030204" pitchFamily="34" charset="0"/>
              </a:rPr>
              <a:t>Statistics</a:t>
            </a:r>
            <a:endParaRPr lang="en-GB" sz="1400" dirty="0">
              <a:latin typeface="Calibri" panose="020F0502020204030204" pitchFamily="34" charset="0"/>
              <a:cs typeface="Calibri" panose="020F0502020204030204" pitchFamily="34" charset="0"/>
            </a:endParaRPr>
          </a:p>
        </p:txBody>
      </p:sp>
      <p:sp>
        <p:nvSpPr>
          <p:cNvPr id="11" name="Flowchart: Internal Storage 10">
            <a:extLst>
              <a:ext uri="{FF2B5EF4-FFF2-40B4-BE49-F238E27FC236}">
                <a16:creationId xmlns:a16="http://schemas.microsoft.com/office/drawing/2014/main" id="{30AEA1D0-CB3E-41A4-A9A3-5E563A1C8F7E}"/>
              </a:ext>
            </a:extLst>
          </p:cNvPr>
          <p:cNvSpPr/>
          <p:nvPr/>
        </p:nvSpPr>
        <p:spPr>
          <a:xfrm>
            <a:off x="3886200" y="2122595"/>
            <a:ext cx="1143000" cy="469900"/>
          </a:xfrm>
          <a:prstGeom prst="flowChartInternalStora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Calibri" panose="020F0502020204030204" pitchFamily="34" charset="0"/>
                <a:cs typeface="Calibri" panose="020F0502020204030204" pitchFamily="34" charset="0"/>
              </a:rPr>
              <a:t>CPU utilization</a:t>
            </a:r>
            <a:endParaRPr lang="en-GB" sz="1200" dirty="0">
              <a:solidFill>
                <a:schemeClr val="tx2"/>
              </a:solidFill>
              <a:latin typeface="Calibri" panose="020F0502020204030204" pitchFamily="34" charset="0"/>
              <a:cs typeface="Calibri" panose="020F0502020204030204" pitchFamily="34" charset="0"/>
            </a:endParaRPr>
          </a:p>
        </p:txBody>
      </p:sp>
      <p:sp>
        <p:nvSpPr>
          <p:cNvPr id="25" name="Flowchart: Internal Storage 24">
            <a:extLst>
              <a:ext uri="{FF2B5EF4-FFF2-40B4-BE49-F238E27FC236}">
                <a16:creationId xmlns:a16="http://schemas.microsoft.com/office/drawing/2014/main" id="{4BC4D6F7-6856-493C-99CF-1C962BB3769D}"/>
              </a:ext>
            </a:extLst>
          </p:cNvPr>
          <p:cNvSpPr/>
          <p:nvPr/>
        </p:nvSpPr>
        <p:spPr>
          <a:xfrm>
            <a:off x="3886200" y="2699727"/>
            <a:ext cx="1143000" cy="469900"/>
          </a:xfrm>
          <a:prstGeom prst="flowChartInternalStora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Calibri" panose="020F0502020204030204" pitchFamily="34" charset="0"/>
                <a:cs typeface="Calibri" panose="020F0502020204030204" pitchFamily="34" charset="0"/>
              </a:rPr>
              <a:t>Status Check failed</a:t>
            </a:r>
            <a:endParaRPr lang="en-GB" sz="1200" dirty="0">
              <a:solidFill>
                <a:schemeClr val="tx2"/>
              </a:solidFill>
              <a:latin typeface="Calibri" panose="020F0502020204030204" pitchFamily="34" charset="0"/>
              <a:cs typeface="Calibri" panose="020F0502020204030204" pitchFamily="34" charset="0"/>
            </a:endParaRPr>
          </a:p>
        </p:txBody>
      </p:sp>
      <p:sp>
        <p:nvSpPr>
          <p:cNvPr id="26" name="Flowchart: Internal Storage 25">
            <a:extLst>
              <a:ext uri="{FF2B5EF4-FFF2-40B4-BE49-F238E27FC236}">
                <a16:creationId xmlns:a16="http://schemas.microsoft.com/office/drawing/2014/main" id="{D1A77744-089C-4E5D-97D2-13CE3C57567D}"/>
              </a:ext>
            </a:extLst>
          </p:cNvPr>
          <p:cNvSpPr/>
          <p:nvPr/>
        </p:nvSpPr>
        <p:spPr>
          <a:xfrm>
            <a:off x="3886200" y="3281872"/>
            <a:ext cx="1143000" cy="469900"/>
          </a:xfrm>
          <a:prstGeom prst="flowChartInternalStorag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2"/>
                </a:solidFill>
                <a:latin typeface="Calibri" panose="020F0502020204030204" pitchFamily="34" charset="0"/>
                <a:cs typeface="Calibri" panose="020F0502020204030204" pitchFamily="34" charset="0"/>
              </a:rPr>
              <a:t>Hrs</a:t>
            </a:r>
            <a:r>
              <a:rPr lang="en-US" sz="1200" dirty="0">
                <a:solidFill>
                  <a:schemeClr val="tx2"/>
                </a:solidFill>
                <a:latin typeface="Calibri" panose="020F0502020204030204" pitchFamily="34" charset="0"/>
                <a:cs typeface="Calibri" panose="020F0502020204030204" pitchFamily="34" charset="0"/>
              </a:rPr>
              <a:t>/week</a:t>
            </a:r>
            <a:endParaRPr lang="en-GB" sz="1200" dirty="0">
              <a:solidFill>
                <a:schemeClr val="tx2"/>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E8A20DB-0037-4763-8FA2-801680C96CE6}"/>
              </a:ext>
            </a:extLst>
          </p:cNvPr>
          <p:cNvSpPr/>
          <p:nvPr/>
        </p:nvSpPr>
        <p:spPr>
          <a:xfrm>
            <a:off x="1314691" y="2257923"/>
            <a:ext cx="1282826" cy="5504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Calibri" panose="020F0502020204030204" pitchFamily="34" charset="0"/>
                <a:cs typeface="Calibri" panose="020F0502020204030204" pitchFamily="34" charset="0"/>
              </a:rPr>
              <a:t>Resources that use CloudWatch</a:t>
            </a:r>
            <a:endParaRPr lang="en-GB" sz="1200" dirty="0">
              <a:solidFill>
                <a:schemeClr val="tx2"/>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1F19D15-119F-48CC-A521-592FFDF84411}"/>
              </a:ext>
            </a:extLst>
          </p:cNvPr>
          <p:cNvSpPr/>
          <p:nvPr/>
        </p:nvSpPr>
        <p:spPr>
          <a:xfrm>
            <a:off x="1295400" y="3259528"/>
            <a:ext cx="1282826" cy="5504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solidFill>
                <a:latin typeface="Calibri" panose="020F0502020204030204" pitchFamily="34" charset="0"/>
                <a:cs typeface="Calibri" panose="020F0502020204030204" pitchFamily="34" charset="0"/>
              </a:rPr>
              <a:t>Custom Data</a:t>
            </a:r>
            <a:endParaRPr lang="en-GB" sz="1200" dirty="0">
              <a:solidFill>
                <a:schemeClr val="tx2"/>
              </a:solidFill>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id="{84A92BE0-F493-4FEE-9F66-540DC962761E}"/>
              </a:ext>
            </a:extLst>
          </p:cNvPr>
          <p:cNvCxnSpPr>
            <a:cxnSpLocks/>
            <a:stCxn id="12" idx="3"/>
          </p:cNvCxnSpPr>
          <p:nvPr/>
        </p:nvCxnSpPr>
        <p:spPr>
          <a:xfrm>
            <a:off x="2597518" y="2533159"/>
            <a:ext cx="2980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19415E-1D9A-4E11-8100-E33645BA833A}"/>
              </a:ext>
            </a:extLst>
          </p:cNvPr>
          <p:cNvCxnSpPr>
            <a:cxnSpLocks/>
            <a:stCxn id="28" idx="3"/>
          </p:cNvCxnSpPr>
          <p:nvPr/>
        </p:nvCxnSpPr>
        <p:spPr>
          <a:xfrm>
            <a:off x="2578226" y="3534764"/>
            <a:ext cx="3173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A63A160-1A77-4EC5-A5BA-5B4ADF179EAF}"/>
              </a:ext>
            </a:extLst>
          </p:cNvPr>
          <p:cNvCxnSpPr/>
          <p:nvPr/>
        </p:nvCxnSpPr>
        <p:spPr>
          <a:xfrm>
            <a:off x="2895600" y="2533160"/>
            <a:ext cx="0" cy="1001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3F28FFD-C5CB-46B7-BA2A-94E927E2832B}"/>
              </a:ext>
            </a:extLst>
          </p:cNvPr>
          <p:cNvCxnSpPr/>
          <p:nvPr/>
        </p:nvCxnSpPr>
        <p:spPr>
          <a:xfrm>
            <a:off x="2895600" y="29718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Graphic 40">
            <a:extLst>
              <a:ext uri="{FF2B5EF4-FFF2-40B4-BE49-F238E27FC236}">
                <a16:creationId xmlns:a16="http://schemas.microsoft.com/office/drawing/2014/main" id="{D5B9488A-4DCD-4C10-B9A6-A28982F57CC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01991" y="1944623"/>
            <a:ext cx="330200" cy="330200"/>
          </a:xfrm>
          <a:prstGeom prst="rect">
            <a:avLst/>
          </a:prstGeom>
        </p:spPr>
      </p:pic>
      <p:cxnSp>
        <p:nvCxnSpPr>
          <p:cNvPr id="34" name="Straight Arrow Connector 33">
            <a:extLst>
              <a:ext uri="{FF2B5EF4-FFF2-40B4-BE49-F238E27FC236}">
                <a16:creationId xmlns:a16="http://schemas.microsoft.com/office/drawing/2014/main" id="{CD7B33A9-4151-4BFB-BC11-B89A0DF024C9}"/>
              </a:ext>
            </a:extLst>
          </p:cNvPr>
          <p:cNvCxnSpPr>
            <a:stCxn id="20" idx="3"/>
          </p:cNvCxnSpPr>
          <p:nvPr/>
        </p:nvCxnSpPr>
        <p:spPr>
          <a:xfrm>
            <a:off x="7467598" y="2934677"/>
            <a:ext cx="12954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9B79BC2-AA19-496F-A7D2-70B4139D31E5}"/>
              </a:ext>
            </a:extLst>
          </p:cNvPr>
          <p:cNvCxnSpPr>
            <a:cxnSpLocks/>
          </p:cNvCxnSpPr>
          <p:nvPr/>
        </p:nvCxnSpPr>
        <p:spPr>
          <a:xfrm>
            <a:off x="8001000" y="2934678"/>
            <a:ext cx="0" cy="785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EFA9B1B-421E-4F17-9FE3-459DF49F1EEF}"/>
              </a:ext>
            </a:extLst>
          </p:cNvPr>
          <p:cNvCxnSpPr>
            <a:cxnSpLocks/>
          </p:cNvCxnSpPr>
          <p:nvPr/>
        </p:nvCxnSpPr>
        <p:spPr>
          <a:xfrm>
            <a:off x="8001000" y="3720376"/>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EC90F69-AF56-458D-919E-88A6C5E29267}"/>
              </a:ext>
            </a:extLst>
          </p:cNvPr>
          <p:cNvSpPr txBox="1"/>
          <p:nvPr/>
        </p:nvSpPr>
        <p:spPr>
          <a:xfrm>
            <a:off x="8586215" y="2968061"/>
            <a:ext cx="1897098" cy="307777"/>
          </a:xfrm>
          <a:prstGeom prst="rect">
            <a:avLst/>
          </a:prstGeom>
          <a:noFill/>
        </p:spPr>
        <p:txBody>
          <a:bodyPr wrap="square" rtlCol="0">
            <a:spAutoFit/>
          </a:bodyPr>
          <a:lstStyle/>
          <a:p>
            <a:pPr algn="ctr"/>
            <a:r>
              <a:rPr lang="en-US" sz="1400" dirty="0">
                <a:latin typeface="Calibri" panose="020F0502020204030204" pitchFamily="34" charset="0"/>
                <a:ea typeface="Amazon Ember" panose="020B0603020204020204" pitchFamily="34" charset="0"/>
                <a:cs typeface="Calibri" panose="020F0502020204030204" pitchFamily="34" charset="0"/>
              </a:rPr>
              <a:t>Email notification</a:t>
            </a:r>
          </a:p>
        </p:txBody>
      </p:sp>
      <p:sp>
        <p:nvSpPr>
          <p:cNvPr id="52" name="TextBox 51">
            <a:extLst>
              <a:ext uri="{FF2B5EF4-FFF2-40B4-BE49-F238E27FC236}">
                <a16:creationId xmlns:a16="http://schemas.microsoft.com/office/drawing/2014/main" id="{C21A798E-F77C-4890-A1B4-5BCE90E46ADE}"/>
              </a:ext>
            </a:extLst>
          </p:cNvPr>
          <p:cNvSpPr txBox="1"/>
          <p:nvPr/>
        </p:nvSpPr>
        <p:spPr>
          <a:xfrm>
            <a:off x="9486406" y="2981207"/>
            <a:ext cx="2217871" cy="307777"/>
          </a:xfrm>
          <a:prstGeom prst="rect">
            <a:avLst/>
          </a:prstGeom>
          <a:noFill/>
        </p:spPr>
        <p:txBody>
          <a:bodyPr wrap="square" rtlCol="0">
            <a:spAutoFit/>
          </a:bodyPr>
          <a:lstStyle/>
          <a:p>
            <a:pPr algn="ctr"/>
            <a:r>
              <a:rPr lang="en-US" sz="1400" dirty="0">
                <a:latin typeface="Calibri" panose="020F0502020204030204" pitchFamily="34" charset="0"/>
                <a:ea typeface="Amazon Ember" panose="020B0603020204020204" pitchFamily="34" charset="0"/>
                <a:cs typeface="Calibri" panose="020F0502020204030204" pitchFamily="34" charset="0"/>
              </a:rPr>
              <a:t>Message</a:t>
            </a:r>
          </a:p>
        </p:txBody>
      </p:sp>
      <p:pic>
        <p:nvPicPr>
          <p:cNvPr id="54" name="Graphic 53">
            <a:extLst>
              <a:ext uri="{FF2B5EF4-FFF2-40B4-BE49-F238E27FC236}">
                <a16:creationId xmlns:a16="http://schemas.microsoft.com/office/drawing/2014/main" id="{77DD88CA-2A2E-4924-8960-643D5B4DCC0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62730" y="2418038"/>
            <a:ext cx="469900" cy="469900"/>
          </a:xfrm>
          <a:prstGeom prst="rect">
            <a:avLst/>
          </a:prstGeom>
        </p:spPr>
      </p:pic>
      <p:pic>
        <p:nvPicPr>
          <p:cNvPr id="55" name="Graphic 54">
            <a:extLst>
              <a:ext uri="{FF2B5EF4-FFF2-40B4-BE49-F238E27FC236}">
                <a16:creationId xmlns:a16="http://schemas.microsoft.com/office/drawing/2014/main" id="{04666623-CA0D-40B7-A37E-A2272BE6BB8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23306" y="2414990"/>
            <a:ext cx="469900" cy="469900"/>
          </a:xfrm>
          <a:prstGeom prst="rect">
            <a:avLst/>
          </a:prstGeom>
        </p:spPr>
      </p:pic>
      <p:grpSp>
        <p:nvGrpSpPr>
          <p:cNvPr id="56" name="Group 55">
            <a:extLst>
              <a:ext uri="{FF2B5EF4-FFF2-40B4-BE49-F238E27FC236}">
                <a16:creationId xmlns:a16="http://schemas.microsoft.com/office/drawing/2014/main" id="{38963495-372A-41BD-8891-FC7DA8700C53}"/>
              </a:ext>
            </a:extLst>
          </p:cNvPr>
          <p:cNvGrpSpPr/>
          <p:nvPr/>
        </p:nvGrpSpPr>
        <p:grpSpPr>
          <a:xfrm>
            <a:off x="8828869" y="3372153"/>
            <a:ext cx="1315073" cy="837782"/>
            <a:chOff x="6218607" y="1258432"/>
            <a:chExt cx="1513305" cy="666326"/>
          </a:xfrm>
        </p:grpSpPr>
        <p:pic>
          <p:nvPicPr>
            <p:cNvPr id="57" name="Graphic 56">
              <a:extLst>
                <a:ext uri="{FF2B5EF4-FFF2-40B4-BE49-F238E27FC236}">
                  <a16:creationId xmlns:a16="http://schemas.microsoft.com/office/drawing/2014/main" id="{36E169F5-D1A6-420A-8A40-E769F76A493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738854" y="1258432"/>
              <a:ext cx="469900" cy="469900"/>
            </a:xfrm>
            <a:prstGeom prst="rect">
              <a:avLst/>
            </a:prstGeom>
          </p:spPr>
        </p:pic>
        <p:sp>
          <p:nvSpPr>
            <p:cNvPr id="58" name="TextBox 57">
              <a:extLst>
                <a:ext uri="{FF2B5EF4-FFF2-40B4-BE49-F238E27FC236}">
                  <a16:creationId xmlns:a16="http://schemas.microsoft.com/office/drawing/2014/main" id="{DA6054DD-A034-427C-A799-C8E1999885A8}"/>
                </a:ext>
              </a:extLst>
            </p:cNvPr>
            <p:cNvSpPr txBox="1"/>
            <p:nvPr/>
          </p:nvSpPr>
          <p:spPr>
            <a:xfrm>
              <a:off x="6218607" y="1704448"/>
              <a:ext cx="1513305" cy="220310"/>
            </a:xfrm>
            <a:prstGeom prst="rect">
              <a:avLst/>
            </a:prstGeom>
            <a:noFill/>
          </p:spPr>
          <p:txBody>
            <a:bodyPr wrap="square" rtlCol="0">
              <a:spAutoFit/>
            </a:bodyPr>
            <a:lstStyle/>
            <a:p>
              <a:pPr algn="ctr"/>
              <a:r>
                <a:rPr lang="en-US" sz="1200" b="1" dirty="0">
                  <a:latin typeface="Calibri" panose="020F0502020204030204" pitchFamily="34" charset="0"/>
                  <a:cs typeface="Calibri" panose="020F0502020204030204" pitchFamily="34" charset="0"/>
                </a:rPr>
                <a:t>Auto Scaling</a:t>
              </a:r>
            </a:p>
          </p:txBody>
        </p:sp>
      </p:grpSp>
      <p:sp>
        <p:nvSpPr>
          <p:cNvPr id="46" name="Arrow: Down 45">
            <a:extLst>
              <a:ext uri="{FF2B5EF4-FFF2-40B4-BE49-F238E27FC236}">
                <a16:creationId xmlns:a16="http://schemas.microsoft.com/office/drawing/2014/main" id="{2EDBB867-1842-4C93-93F4-B3F757588BE9}"/>
              </a:ext>
            </a:extLst>
          </p:cNvPr>
          <p:cNvSpPr/>
          <p:nvPr/>
        </p:nvSpPr>
        <p:spPr>
          <a:xfrm>
            <a:off x="6705600" y="4461147"/>
            <a:ext cx="338836" cy="3353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7" name="Picture 46">
            <a:extLst>
              <a:ext uri="{FF2B5EF4-FFF2-40B4-BE49-F238E27FC236}">
                <a16:creationId xmlns:a16="http://schemas.microsoft.com/office/drawing/2014/main" id="{6B270564-C29E-4142-BE5D-E04EED36A613}"/>
              </a:ext>
            </a:extLst>
          </p:cNvPr>
          <p:cNvPicPr>
            <a:picLocks noChangeAspect="1"/>
          </p:cNvPicPr>
          <p:nvPr/>
        </p:nvPicPr>
        <p:blipFill>
          <a:blip r:embed="rId16"/>
          <a:stretch>
            <a:fillRect/>
          </a:stretch>
        </p:blipFill>
        <p:spPr>
          <a:xfrm>
            <a:off x="6463270" y="4796488"/>
            <a:ext cx="804731" cy="643785"/>
          </a:xfrm>
          <a:prstGeom prst="rect">
            <a:avLst/>
          </a:prstGeom>
        </p:spPr>
      </p:pic>
      <p:sp>
        <p:nvSpPr>
          <p:cNvPr id="59" name="TextBox 58">
            <a:extLst>
              <a:ext uri="{FF2B5EF4-FFF2-40B4-BE49-F238E27FC236}">
                <a16:creationId xmlns:a16="http://schemas.microsoft.com/office/drawing/2014/main" id="{66B7A157-F320-4683-8AAD-2CBFF531B8D8}"/>
              </a:ext>
            </a:extLst>
          </p:cNvPr>
          <p:cNvSpPr txBox="1"/>
          <p:nvPr/>
        </p:nvSpPr>
        <p:spPr>
          <a:xfrm>
            <a:off x="7268000" y="4897885"/>
            <a:ext cx="2374240" cy="276999"/>
          </a:xfrm>
          <a:prstGeom prst="rect">
            <a:avLst/>
          </a:prstGeom>
          <a:noFill/>
        </p:spPr>
        <p:txBody>
          <a:bodyPr wrap="none" rtlCol="0">
            <a:spAutoFit/>
          </a:bodyPr>
          <a:lstStyle/>
          <a:p>
            <a:r>
              <a:rPr lang="en-US" sz="1200" b="1" dirty="0">
                <a:latin typeface="Calibri" panose="020F0502020204030204" pitchFamily="34" charset="0"/>
                <a:cs typeface="Calibri" panose="020F0502020204030204" pitchFamily="34" charset="0"/>
              </a:rPr>
              <a:t>Statistics consumer / AWS console</a:t>
            </a:r>
            <a:endParaRPr lang="en-GB"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74482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Auto Scaling</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380281" y="990600"/>
            <a:ext cx="9431438" cy="4495800"/>
          </a:xfrm>
        </p:spPr>
        <p:txBody>
          <a:bodyPr>
            <a:noAutofit/>
          </a:body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Scales EC2 capacity automatically</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Ideal for applications that have variability in usage</a:t>
            </a:r>
          </a:p>
          <a:p>
            <a:pPr marL="342900"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Benefits</a:t>
            </a:r>
            <a:r>
              <a:rPr lang="en-US" sz="2000" dirty="0">
                <a:solidFill>
                  <a:schemeClr val="tx2"/>
                </a:solidFill>
                <a:latin typeface="Calibri" panose="020F0502020204030204" pitchFamily="34" charset="0"/>
                <a:cs typeface="Calibri" panose="020F0502020204030204" pitchFamily="34" charset="0"/>
              </a:rPr>
              <a:t>:</a:t>
            </a:r>
          </a:p>
          <a:p>
            <a:pPr marL="800100" lvl="1" indent="-342900">
              <a:buFont typeface="Wingdings" panose="05000000000000000000" pitchFamily="2" charset="2"/>
              <a:buChar char="ü"/>
            </a:pPr>
            <a:r>
              <a:rPr lang="en-US" sz="1800" dirty="0">
                <a:solidFill>
                  <a:schemeClr val="tx2"/>
                </a:solidFill>
                <a:latin typeface="Calibri" panose="020F0502020204030204" pitchFamily="34" charset="0"/>
                <a:cs typeface="Calibri" panose="020F0502020204030204" pitchFamily="34" charset="0"/>
              </a:rPr>
              <a:t>Fault tolerance :- unhealthy instances replaced by new ones. Can also launch in other AZ</a:t>
            </a:r>
          </a:p>
          <a:p>
            <a:pPr marL="742950" lvl="1" indent="-285750">
              <a:buFont typeface="Wingdings" panose="05000000000000000000" pitchFamily="2" charset="2"/>
              <a:buChar char="ü"/>
            </a:pPr>
            <a:r>
              <a:rPr lang="en-US" sz="1800" b="1" dirty="0">
                <a:solidFill>
                  <a:schemeClr val="tx2"/>
                </a:solidFill>
                <a:latin typeface="Calibri" panose="020F0502020204030204" pitchFamily="34" charset="0"/>
                <a:cs typeface="Calibri" panose="020F0502020204030204" pitchFamily="34" charset="0"/>
              </a:rPr>
              <a:t> </a:t>
            </a:r>
            <a:r>
              <a:rPr lang="en-US" sz="1800" dirty="0">
                <a:solidFill>
                  <a:schemeClr val="tx2"/>
                </a:solidFill>
                <a:latin typeface="Calibri" panose="020F0502020204030204" pitchFamily="34" charset="0"/>
                <a:cs typeface="Calibri" panose="020F0502020204030204" pitchFamily="34" charset="0"/>
              </a:rPr>
              <a:t>Availability :- Ensures right capacity to handle load</a:t>
            </a:r>
          </a:p>
          <a:p>
            <a:pPr marL="742950" lvl="1" indent="-285750">
              <a:buFont typeface="Wingdings" panose="05000000000000000000" pitchFamily="2" charset="2"/>
              <a:buChar char="ü"/>
            </a:pPr>
            <a:r>
              <a:rPr lang="en-US" sz="1800" dirty="0">
                <a:solidFill>
                  <a:schemeClr val="tx2"/>
                </a:solidFill>
                <a:latin typeface="Calibri" panose="020F0502020204030204" pitchFamily="34" charset="0"/>
                <a:cs typeface="Calibri" panose="020F0502020204030204" pitchFamily="34" charset="0"/>
              </a:rPr>
              <a:t> Cost management :- Pay only for real capacity</a:t>
            </a:r>
          </a:p>
          <a:p>
            <a:pPr marL="342900"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Launch Configuration</a:t>
            </a:r>
            <a:r>
              <a:rPr lang="en-US" sz="2000" dirty="0">
                <a:solidFill>
                  <a:schemeClr val="tx2"/>
                </a:solidFill>
                <a:latin typeface="Calibri" panose="020F0502020204030204" pitchFamily="34" charset="0"/>
                <a:cs typeface="Calibri" panose="020F0502020204030204" pitchFamily="34" charset="0"/>
              </a:rPr>
              <a:t>: Template used to launch EC2 instances. Specifies:-</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AMI ID</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Instance Type</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Key pair</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Security groups</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User data</a:t>
            </a:r>
          </a:p>
          <a:p>
            <a:pPr marL="929158" lvl="2" indent="-342900">
              <a:buFont typeface="Arial" panose="020B0604020202020204" pitchFamily="34" charset="0"/>
              <a:buChar char="•"/>
            </a:pPr>
            <a:r>
              <a:rPr lang="en-US" sz="1700" dirty="0">
                <a:solidFill>
                  <a:schemeClr val="tx2"/>
                </a:solidFill>
                <a:latin typeface="Calibri" panose="020F0502020204030204" pitchFamily="34" charset="0"/>
                <a:cs typeface="Calibri" panose="020F0502020204030204" pitchFamily="34" charset="0"/>
              </a:rPr>
              <a:t>Block device mapping </a:t>
            </a:r>
          </a:p>
          <a:p>
            <a:pPr marL="471958" lvl="1" indent="-342900">
              <a:buFont typeface="Arial" panose="020B0604020202020204" pitchFamily="34" charset="0"/>
              <a:buChar char="•"/>
            </a:pPr>
            <a:r>
              <a:rPr lang="en-US" sz="2000" b="1" dirty="0">
                <a:solidFill>
                  <a:schemeClr val="tx2"/>
                </a:solidFill>
                <a:latin typeface="Calibri" panose="020F0502020204030204" pitchFamily="34" charset="0"/>
                <a:cs typeface="Calibri" panose="020F0502020204030204" pitchFamily="34" charset="0"/>
              </a:rPr>
              <a:t>Scaling policy </a:t>
            </a:r>
            <a:r>
              <a:rPr lang="en-US" sz="2000" dirty="0">
                <a:solidFill>
                  <a:schemeClr val="tx2"/>
                </a:solidFill>
                <a:latin typeface="Calibri" panose="020F0502020204030204" pitchFamily="34" charset="0"/>
                <a:cs typeface="Calibri" panose="020F0502020204030204" pitchFamily="34" charset="0"/>
              </a:rPr>
              <a:t>using CloudWatch alarms</a:t>
            </a:r>
          </a:p>
          <a:p>
            <a:pPr marL="929158" lvl="2" indent="-342900">
              <a:buFont typeface="Arial" panose="020B0604020202020204" pitchFamily="34" charset="0"/>
              <a:buChar char="•"/>
            </a:pPr>
            <a:r>
              <a:rPr lang="en-US" sz="1800" dirty="0">
                <a:solidFill>
                  <a:schemeClr val="tx2"/>
                </a:solidFill>
                <a:latin typeface="Calibri" panose="020F0502020204030204" pitchFamily="34" charset="0"/>
                <a:cs typeface="Calibri" panose="020F0502020204030204" pitchFamily="34" charset="0"/>
              </a:rPr>
              <a:t>When to scale in and scale out</a:t>
            </a: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293473" y="1219200"/>
            <a:ext cx="943143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3C9CA56E-6623-4854-94A9-1EBB97BCA24D}"/>
              </a:ext>
            </a:extLst>
          </p:cNvPr>
          <p:cNvGrpSpPr/>
          <p:nvPr/>
        </p:nvGrpSpPr>
        <p:grpSpPr>
          <a:xfrm>
            <a:off x="6716130" y="4062884"/>
            <a:ext cx="4052185" cy="2003326"/>
            <a:chOff x="5573129" y="4062884"/>
            <a:chExt cx="4052185" cy="2003326"/>
          </a:xfrm>
        </p:grpSpPr>
        <p:sp>
          <p:nvSpPr>
            <p:cNvPr id="13" name="Left Brace 12">
              <a:extLst>
                <a:ext uri="{FF2B5EF4-FFF2-40B4-BE49-F238E27FC236}">
                  <a16:creationId xmlns:a16="http://schemas.microsoft.com/office/drawing/2014/main" id="{7AB455FC-3F8C-4F35-8558-432023884D53}"/>
                </a:ext>
              </a:extLst>
            </p:cNvPr>
            <p:cNvSpPr/>
            <p:nvPr/>
          </p:nvSpPr>
          <p:spPr>
            <a:xfrm rot="16200000">
              <a:off x="6430581" y="5025735"/>
              <a:ext cx="228601" cy="13487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21" name="Group 20">
              <a:extLst>
                <a:ext uri="{FF2B5EF4-FFF2-40B4-BE49-F238E27FC236}">
                  <a16:creationId xmlns:a16="http://schemas.microsoft.com/office/drawing/2014/main" id="{4F344400-9EDD-40A2-995A-1E5D7A82E00E}"/>
                </a:ext>
              </a:extLst>
            </p:cNvPr>
            <p:cNvGrpSpPr/>
            <p:nvPr/>
          </p:nvGrpSpPr>
          <p:grpSpPr>
            <a:xfrm>
              <a:off x="5573129" y="4062884"/>
              <a:ext cx="4052185" cy="2003326"/>
              <a:chOff x="4038600" y="4778472"/>
              <a:chExt cx="4052185" cy="2003326"/>
            </a:xfrm>
          </p:grpSpPr>
          <p:sp>
            <p:nvSpPr>
              <p:cNvPr id="3" name="Rectangle 2">
                <a:extLst>
                  <a:ext uri="{FF2B5EF4-FFF2-40B4-BE49-F238E27FC236}">
                    <a16:creationId xmlns:a16="http://schemas.microsoft.com/office/drawing/2014/main" id="{3C5B4C7E-01ED-40F3-9FEE-DCDA368ECFED}"/>
                  </a:ext>
                </a:extLst>
              </p:cNvPr>
              <p:cNvSpPr/>
              <p:nvPr/>
            </p:nvSpPr>
            <p:spPr>
              <a:xfrm>
                <a:off x="4038600" y="5105400"/>
                <a:ext cx="3886200" cy="8382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ACE5CACE-6271-4BA0-A428-C0104B6FBC0A}"/>
                  </a:ext>
                </a:extLst>
              </p:cNvPr>
              <p:cNvSpPr/>
              <p:nvPr/>
            </p:nvSpPr>
            <p:spPr>
              <a:xfrm>
                <a:off x="4267200" y="5257800"/>
                <a:ext cx="685800" cy="533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7C468592-0296-4BEC-B85B-2DED540D0848}"/>
                  </a:ext>
                </a:extLst>
              </p:cNvPr>
              <p:cNvSpPr/>
              <p:nvPr/>
            </p:nvSpPr>
            <p:spPr>
              <a:xfrm>
                <a:off x="5133854" y="5257800"/>
                <a:ext cx="685800" cy="533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99103EFA-D393-4100-B092-2EE9DE98F2F9}"/>
                  </a:ext>
                </a:extLst>
              </p:cNvPr>
              <p:cNvSpPr/>
              <p:nvPr/>
            </p:nvSpPr>
            <p:spPr>
              <a:xfrm>
                <a:off x="6000508" y="5257800"/>
                <a:ext cx="685800" cy="533400"/>
              </a:xfrm>
              <a:prstGeom prst="roundRect">
                <a:avLst/>
              </a:prstGeom>
              <a:solidFill>
                <a:srgbClr val="FFC000"/>
              </a:solid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EEEACFA0-EC68-42D7-856F-A8E8603E3DC7}"/>
                  </a:ext>
                </a:extLst>
              </p:cNvPr>
              <p:cNvSpPr/>
              <p:nvPr/>
            </p:nvSpPr>
            <p:spPr>
              <a:xfrm>
                <a:off x="6868976" y="5257800"/>
                <a:ext cx="685800" cy="533400"/>
              </a:xfrm>
              <a:prstGeom prst="roundRect">
                <a:avLst/>
              </a:prstGeom>
              <a:solidFill>
                <a:srgbClr val="FFC000"/>
              </a:solid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Left Brace 10">
                <a:extLst>
                  <a:ext uri="{FF2B5EF4-FFF2-40B4-BE49-F238E27FC236}">
                    <a16:creationId xmlns:a16="http://schemas.microsoft.com/office/drawing/2014/main" id="{17629E8A-9C7B-4B7A-933E-A0474ACD6F55}"/>
                  </a:ext>
                </a:extLst>
              </p:cNvPr>
              <p:cNvSpPr/>
              <p:nvPr/>
            </p:nvSpPr>
            <p:spPr>
              <a:xfrm rot="16200000">
                <a:off x="4476046" y="5867400"/>
                <a:ext cx="228600" cy="533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Left Brace 13">
                <a:extLst>
                  <a:ext uri="{FF2B5EF4-FFF2-40B4-BE49-F238E27FC236}">
                    <a16:creationId xmlns:a16="http://schemas.microsoft.com/office/drawing/2014/main" id="{EC978BD3-8F5A-4501-B54A-CD7963D24427}"/>
                  </a:ext>
                </a:extLst>
              </p:cNvPr>
              <p:cNvSpPr/>
              <p:nvPr/>
            </p:nvSpPr>
            <p:spPr>
              <a:xfrm rot="16200000">
                <a:off x="5878831" y="5269227"/>
                <a:ext cx="152400" cy="28727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Left Brace 14">
                <a:extLst>
                  <a:ext uri="{FF2B5EF4-FFF2-40B4-BE49-F238E27FC236}">
                    <a16:creationId xmlns:a16="http://schemas.microsoft.com/office/drawing/2014/main" id="{0B014C3B-C68C-4338-AE26-4B3588CEC470}"/>
                  </a:ext>
                </a:extLst>
              </p:cNvPr>
              <p:cNvSpPr/>
              <p:nvPr/>
            </p:nvSpPr>
            <p:spPr>
              <a:xfrm rot="16200000">
                <a:off x="6657596" y="5413174"/>
                <a:ext cx="228601" cy="13487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TextBox 15">
                <a:extLst>
                  <a:ext uri="{FF2B5EF4-FFF2-40B4-BE49-F238E27FC236}">
                    <a16:creationId xmlns:a16="http://schemas.microsoft.com/office/drawing/2014/main" id="{AB7D4EF1-8204-4058-9E83-5823C79042AC}"/>
                  </a:ext>
                </a:extLst>
              </p:cNvPr>
              <p:cNvSpPr txBox="1"/>
              <p:nvPr/>
            </p:nvSpPr>
            <p:spPr>
              <a:xfrm>
                <a:off x="4590346" y="6151054"/>
                <a:ext cx="622286" cy="246221"/>
              </a:xfrm>
              <a:prstGeom prst="rect">
                <a:avLst/>
              </a:prstGeom>
              <a:noFill/>
            </p:spPr>
            <p:txBody>
              <a:bodyPr wrap="none" rtlCol="0">
                <a:spAutoFit/>
              </a:bodyPr>
              <a:lstStyle/>
              <a:p>
                <a:r>
                  <a:rPr lang="en-US" sz="1000" dirty="0">
                    <a:solidFill>
                      <a:schemeClr val="tx2"/>
                    </a:solidFill>
                    <a:latin typeface="Calibri" panose="020F0502020204030204" pitchFamily="34" charset="0"/>
                    <a:cs typeface="Calibri" panose="020F0502020204030204" pitchFamily="34" charset="0"/>
                  </a:rPr>
                  <a:t>Min Size</a:t>
                </a:r>
                <a:endParaRPr lang="en-GB" sz="1000" dirty="0">
                  <a:solidFill>
                    <a:schemeClr val="tx2"/>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98AB4893-2A47-4A10-B705-AEF3487B5CEE}"/>
                  </a:ext>
                </a:extLst>
              </p:cNvPr>
              <p:cNvSpPr txBox="1"/>
              <p:nvPr/>
            </p:nvSpPr>
            <p:spPr>
              <a:xfrm>
                <a:off x="5157909" y="6422324"/>
                <a:ext cx="814647" cy="246221"/>
              </a:xfrm>
              <a:prstGeom prst="rect">
                <a:avLst/>
              </a:prstGeom>
              <a:noFill/>
            </p:spPr>
            <p:txBody>
              <a:bodyPr wrap="none" rtlCol="0">
                <a:spAutoFit/>
              </a:bodyPr>
              <a:lstStyle/>
              <a:p>
                <a:r>
                  <a:rPr lang="en-US" sz="1000" dirty="0">
                    <a:solidFill>
                      <a:schemeClr val="tx2"/>
                    </a:solidFill>
                    <a:latin typeface="Calibri" panose="020F0502020204030204" pitchFamily="34" charset="0"/>
                    <a:cs typeface="Calibri" panose="020F0502020204030204" pitchFamily="34" charset="0"/>
                  </a:rPr>
                  <a:t>Desired Size</a:t>
                </a:r>
                <a:endParaRPr lang="en-GB" sz="1000" dirty="0">
                  <a:solidFill>
                    <a:schemeClr val="tx2"/>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83F7392-88DC-4BF0-9F26-EC44A34E9E6B}"/>
                  </a:ext>
                </a:extLst>
              </p:cNvPr>
              <p:cNvSpPr txBox="1"/>
              <p:nvPr/>
            </p:nvSpPr>
            <p:spPr>
              <a:xfrm>
                <a:off x="6568751" y="6501738"/>
                <a:ext cx="643125" cy="246221"/>
              </a:xfrm>
              <a:prstGeom prst="rect">
                <a:avLst/>
              </a:prstGeom>
              <a:noFill/>
            </p:spPr>
            <p:txBody>
              <a:bodyPr wrap="none" rtlCol="0">
                <a:spAutoFit/>
              </a:bodyPr>
              <a:lstStyle/>
              <a:p>
                <a:r>
                  <a:rPr lang="en-US" sz="1000" dirty="0">
                    <a:solidFill>
                      <a:schemeClr val="tx2"/>
                    </a:solidFill>
                    <a:latin typeface="Calibri" panose="020F0502020204030204" pitchFamily="34" charset="0"/>
                    <a:cs typeface="Calibri" panose="020F0502020204030204" pitchFamily="34" charset="0"/>
                  </a:rPr>
                  <a:t>Max Size</a:t>
                </a:r>
                <a:endParaRPr lang="en-GB" sz="1000" dirty="0">
                  <a:solidFill>
                    <a:schemeClr val="tx2"/>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DF9A902B-CAA6-4BE3-9AB1-B9D4C1042186}"/>
                  </a:ext>
                </a:extLst>
              </p:cNvPr>
              <p:cNvSpPr txBox="1"/>
              <p:nvPr/>
            </p:nvSpPr>
            <p:spPr>
              <a:xfrm>
                <a:off x="6868976" y="6105570"/>
                <a:ext cx="1221809" cy="246221"/>
              </a:xfrm>
              <a:prstGeom prst="rect">
                <a:avLst/>
              </a:prstGeom>
              <a:noFill/>
            </p:spPr>
            <p:txBody>
              <a:bodyPr wrap="none" rtlCol="0">
                <a:spAutoFit/>
              </a:bodyPr>
              <a:lstStyle/>
              <a:p>
                <a:r>
                  <a:rPr lang="en-US" sz="1000" dirty="0">
                    <a:solidFill>
                      <a:schemeClr val="tx2"/>
                    </a:solidFill>
                    <a:latin typeface="Calibri" panose="020F0502020204030204" pitchFamily="34" charset="0"/>
                    <a:cs typeface="Calibri" panose="020F0502020204030204" pitchFamily="34" charset="0"/>
                  </a:rPr>
                  <a:t>Scale out as needed</a:t>
                </a:r>
                <a:endParaRPr lang="en-GB" sz="1000" dirty="0">
                  <a:solidFill>
                    <a:schemeClr val="tx2"/>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27B90E94-4238-4019-9B0B-1637C1317654}"/>
                  </a:ext>
                </a:extLst>
              </p:cNvPr>
              <p:cNvSpPr txBox="1"/>
              <p:nvPr/>
            </p:nvSpPr>
            <p:spPr>
              <a:xfrm>
                <a:off x="5354049" y="4778472"/>
                <a:ext cx="1292918" cy="276999"/>
              </a:xfrm>
              <a:prstGeom prst="rect">
                <a:avLst/>
              </a:prstGeom>
              <a:noFill/>
            </p:spPr>
            <p:txBody>
              <a:bodyPr wrap="none" rtlCol="0">
                <a:spAutoFit/>
              </a:bodyPr>
              <a:lstStyle/>
              <a:p>
                <a:r>
                  <a:rPr lang="en-US" sz="1200" b="1" dirty="0">
                    <a:solidFill>
                      <a:schemeClr val="tx2"/>
                    </a:solidFill>
                    <a:latin typeface="Calibri" panose="020F0502020204030204" pitchFamily="34" charset="0"/>
                    <a:cs typeface="Calibri" panose="020F0502020204030204" pitchFamily="34" charset="0"/>
                  </a:rPr>
                  <a:t>Auto Scale Group</a:t>
                </a:r>
                <a:endParaRPr lang="en-GB" sz="1200" b="1" dirty="0">
                  <a:solidFill>
                    <a:schemeClr val="tx2"/>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2745720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524626" y="1434042"/>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13"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05659"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272640" y="3958915"/>
            <a:ext cx="813970" cy="813970"/>
          </a:xfrm>
          <a:prstGeom prst="rect">
            <a:avLst/>
          </a:prstGeom>
        </p:spPr>
      </p:pic>
    </p:spTree>
    <p:extLst>
      <p:ext uri="{BB962C8B-B14F-4D97-AF65-F5344CB8AC3E}">
        <p14:creationId xmlns:p14="http://schemas.microsoft.com/office/powerpoint/2010/main" val="12234059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a:xfrm>
            <a:off x="1546185" y="1943283"/>
            <a:ext cx="9259747" cy="702000"/>
          </a:xfrm>
        </p:spPr>
        <p:txBody>
          <a:bodyPr>
            <a:normAutofit/>
          </a:bodyPr>
          <a:lstStyle/>
          <a:p>
            <a:r>
              <a:rPr lang="en-US" sz="2600" b="1" dirty="0">
                <a:solidFill>
                  <a:schemeClr val="tx2">
                    <a:lumMod val="50000"/>
                    <a:lumOff val="50000"/>
                  </a:schemeClr>
                </a:solidFill>
              </a:rPr>
              <a:t>Lab 3: Introduction to Amazon EC2 Auto Scaling</a:t>
            </a:r>
            <a:endParaRPr lang="en-GB" sz="2600" dirty="0">
              <a:solidFill>
                <a:schemeClr val="tx2">
                  <a:lumMod val="50000"/>
                  <a:lumOff val="50000"/>
                </a:schemeClr>
              </a:solidFill>
            </a:endParaRPr>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546184" y="3048000"/>
            <a:ext cx="8740816" cy="1917700"/>
          </a:xfrm>
        </p:spPr>
        <p:txBody>
          <a:bodyPr>
            <a:noAutofit/>
          </a:bodyPr>
          <a:lstStyle/>
          <a:p>
            <a:pPr>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Key takeaways from lab:</a:t>
            </a:r>
          </a:p>
          <a:p>
            <a:pPr lvl="1">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 </a:t>
            </a:r>
            <a:r>
              <a:rPr lang="en-US" sz="2000" dirty="0">
                <a:solidFill>
                  <a:schemeClr val="tx2"/>
                </a:solidFill>
                <a:latin typeface="Calibri" panose="020F0502020204030204" pitchFamily="34" charset="0"/>
                <a:cs typeface="Calibri" panose="020F0502020204030204" pitchFamily="34" charset="0"/>
              </a:rPr>
              <a:t>Create launch configuration and auto scale group</a:t>
            </a:r>
          </a:p>
          <a:p>
            <a:pPr lvl="1">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 Test auto scaling by terminating instance</a:t>
            </a:r>
          </a:p>
          <a:p>
            <a:pPr marL="0" indent="0"/>
            <a:endParaRPr lang="en-US" sz="2400" dirty="0">
              <a:solidFill>
                <a:schemeClr val="tx2"/>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75917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850C-E0BB-437E-A177-997F054FEC7C}"/>
              </a:ext>
            </a:extLst>
          </p:cNvPr>
          <p:cNvSpPr>
            <a:spLocks noGrp="1"/>
          </p:cNvSpPr>
          <p:nvPr>
            <p:ph type="title"/>
          </p:nvPr>
        </p:nvSpPr>
        <p:spPr/>
        <p:txBody>
          <a:bodyPr/>
          <a:lstStyle/>
          <a:p>
            <a:r>
              <a:rPr lang="en-US" b="1" dirty="0">
                <a:solidFill>
                  <a:schemeClr val="tx2"/>
                </a:solidFill>
              </a:rPr>
              <a:t>Break time !!!</a:t>
            </a:r>
          </a:p>
        </p:txBody>
      </p:sp>
      <p:sp>
        <p:nvSpPr>
          <p:cNvPr id="7" name="TextBox 6">
            <a:extLst>
              <a:ext uri="{FF2B5EF4-FFF2-40B4-BE49-F238E27FC236}">
                <a16:creationId xmlns:a16="http://schemas.microsoft.com/office/drawing/2014/main" id="{104E6BEE-841B-4E11-B53F-A80F562A7A4E}"/>
              </a:ext>
            </a:extLst>
          </p:cNvPr>
          <p:cNvSpPr txBox="1"/>
          <p:nvPr/>
        </p:nvSpPr>
        <p:spPr>
          <a:xfrm>
            <a:off x="2590800" y="3395706"/>
            <a:ext cx="7620000" cy="429348"/>
          </a:xfrm>
          <a:prstGeom prst="rect">
            <a:avLst/>
          </a:prstGeom>
          <a:noFill/>
        </p:spPr>
        <p:txBody>
          <a:bodyPr wrap="square" rtlCol="0">
            <a:spAutoFit/>
          </a:bodyPr>
          <a:lstStyle/>
          <a:p>
            <a:pPr>
              <a:lnSpc>
                <a:spcPts val="2800"/>
              </a:lnSpc>
            </a:pPr>
            <a:r>
              <a:rPr lang="en-US" sz="2000" b="1" dirty="0">
                <a:solidFill>
                  <a:schemeClr val="tx2"/>
                </a:solidFill>
                <a:latin typeface="Calibri" panose="020F0502020204030204" pitchFamily="34" charset="0"/>
                <a:cs typeface="Calibri" panose="020F0502020204030204" pitchFamily="34" charset="0"/>
              </a:rPr>
              <a:t>Enjoy your break.  We shall resume at 1:30 PM IST (4:00 PM SG time)</a:t>
            </a:r>
            <a:endParaRPr lang="en-GB" sz="2000" b="1" dirty="0">
              <a:solidFill>
                <a:schemeClr val="tx2"/>
              </a:solidFill>
              <a:latin typeface="Calibri" panose="020F0502020204030204" pitchFamily="34" charset="0"/>
              <a:cs typeface="Calibri" panose="020F0502020204030204" pitchFamily="34" charset="0"/>
            </a:endParaRPr>
          </a:p>
        </p:txBody>
      </p:sp>
      <p:pic>
        <p:nvPicPr>
          <p:cNvPr id="4" name="Graphic 3" descr="Coffee">
            <a:extLst>
              <a:ext uri="{FF2B5EF4-FFF2-40B4-BE49-F238E27FC236}">
                <a16:creationId xmlns:a16="http://schemas.microsoft.com/office/drawing/2014/main" id="{3B4DA33E-8DE7-43AC-8B8E-3DD4016EB3A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9200" y="1478193"/>
            <a:ext cx="1295400" cy="1295400"/>
          </a:xfrm>
          <a:prstGeom prst="rect">
            <a:avLst/>
          </a:prstGeom>
        </p:spPr>
      </p:pic>
      <p:sp>
        <p:nvSpPr>
          <p:cNvPr id="6" name="TextBox 5">
            <a:extLst>
              <a:ext uri="{FF2B5EF4-FFF2-40B4-BE49-F238E27FC236}">
                <a16:creationId xmlns:a16="http://schemas.microsoft.com/office/drawing/2014/main" id="{AFB31E88-EFA5-420F-B8DC-F493B2D18766}"/>
              </a:ext>
            </a:extLst>
          </p:cNvPr>
          <p:cNvSpPr txBox="1"/>
          <p:nvPr/>
        </p:nvSpPr>
        <p:spPr>
          <a:xfrm>
            <a:off x="2590800" y="4376781"/>
            <a:ext cx="7239000" cy="429348"/>
          </a:xfrm>
          <a:prstGeom prst="rect">
            <a:avLst/>
          </a:prstGeom>
          <a:noFill/>
        </p:spPr>
        <p:txBody>
          <a:bodyPr wrap="square" rtlCol="0">
            <a:spAutoFit/>
          </a:bodyPr>
          <a:lstStyle/>
          <a:p>
            <a:pPr>
              <a:lnSpc>
                <a:spcPts val="2800"/>
              </a:lnSpc>
            </a:pPr>
            <a:r>
              <a:rPr lang="en-US" sz="2000" b="1" dirty="0">
                <a:solidFill>
                  <a:schemeClr val="tx2"/>
                </a:solidFill>
                <a:highlight>
                  <a:srgbClr val="FFFF00"/>
                </a:highlight>
                <a:latin typeface="Calibri" panose="020F0502020204030204" pitchFamily="34" charset="0"/>
                <a:cs typeface="Calibri" panose="020F0502020204030204" pitchFamily="34" charset="0"/>
              </a:rPr>
              <a:t>Upcoming session:  AWS Security &amp; IAM</a:t>
            </a:r>
            <a:endParaRPr lang="en-GB" sz="2000" b="1" dirty="0">
              <a:solidFill>
                <a:schemeClr val="tx2"/>
              </a:solidFill>
              <a:highlight>
                <a:srgbClr val="FFFF00"/>
              </a:highligh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095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7"/>
                                        </p:tgtEl>
                                        <p:attrNameLst>
                                          <p:attrName>style.color</p:attrName>
                                        </p:attrNameLst>
                                      </p:cBhvr>
                                      <p:to>
                                        <a:schemeClr val="bg1"/>
                                      </p:to>
                                    </p:animClr>
                                    <p:animClr clrSpc="rgb" dir="cw">
                                      <p:cBhvr>
                                        <p:cTn id="7" dur="250" autoRev="1" fill="remove"/>
                                        <p:tgtEl>
                                          <p:spTgt spid="7"/>
                                        </p:tgtEl>
                                        <p:attrNameLst>
                                          <p:attrName>fillcolor</p:attrName>
                                        </p:attrNameLst>
                                      </p:cBhvr>
                                      <p:to>
                                        <a:schemeClr val="bg1"/>
                                      </p:to>
                                    </p:animClr>
                                    <p:set>
                                      <p:cBhvr>
                                        <p:cTn id="8" dur="250" autoRev="1" fill="remove"/>
                                        <p:tgtEl>
                                          <p:spTgt spid="7"/>
                                        </p:tgtEl>
                                        <p:attrNameLst>
                                          <p:attrName>fill.type</p:attrName>
                                        </p:attrNameLst>
                                      </p:cBhvr>
                                      <p:to>
                                        <p:strVal val="solid"/>
                                      </p:to>
                                    </p:set>
                                    <p:set>
                                      <p:cBhvr>
                                        <p:cTn id="9" dur="250" autoRev="1" fill="remove"/>
                                        <p:tgtEl>
                                          <p:spTgt spid="7"/>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grpId="0" nodeType="clickEffect">
                                  <p:stCondLst>
                                    <p:cond delay="0"/>
                                  </p:stCondLst>
                                  <p:childTnLst>
                                    <p:animClr clrSpc="rgb" dir="cw">
                                      <p:cBhvr override="childStyle">
                                        <p:cTn id="13" dur="250" autoRev="1" fill="remove"/>
                                        <p:tgtEl>
                                          <p:spTgt spid="6"/>
                                        </p:tgtEl>
                                        <p:attrNameLst>
                                          <p:attrName>style.color</p:attrName>
                                        </p:attrNameLst>
                                      </p:cBhvr>
                                      <p:to>
                                        <a:schemeClr val="bg1"/>
                                      </p:to>
                                    </p:animClr>
                                    <p:animClr clrSpc="rgb" dir="cw">
                                      <p:cBhvr>
                                        <p:cTn id="14" dur="250" autoRev="1" fill="remove"/>
                                        <p:tgtEl>
                                          <p:spTgt spid="6"/>
                                        </p:tgtEl>
                                        <p:attrNameLst>
                                          <p:attrName>fillcolor</p:attrName>
                                        </p:attrNameLst>
                                      </p:cBhvr>
                                      <p:to>
                                        <a:schemeClr val="bg1"/>
                                      </p:to>
                                    </p:animClr>
                                    <p:set>
                                      <p:cBhvr>
                                        <p:cTn id="15" dur="250" autoRev="1" fill="remove"/>
                                        <p:tgtEl>
                                          <p:spTgt spid="6"/>
                                        </p:tgtEl>
                                        <p:attrNameLst>
                                          <p:attrName>fill.type</p:attrName>
                                        </p:attrNameLst>
                                      </p:cBhvr>
                                      <p:to>
                                        <p:strVal val="solid"/>
                                      </p:to>
                                    </p:set>
                                    <p:set>
                                      <p:cBhvr>
                                        <p:cTn id="16"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524626" y="1434042"/>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13"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05659"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71628" y="4626242"/>
            <a:ext cx="813970" cy="813970"/>
          </a:xfrm>
          <a:prstGeom prst="rect">
            <a:avLst/>
          </a:prstGeom>
        </p:spPr>
      </p:pic>
    </p:spTree>
    <p:extLst>
      <p:ext uri="{BB962C8B-B14F-4D97-AF65-F5344CB8AC3E}">
        <p14:creationId xmlns:p14="http://schemas.microsoft.com/office/powerpoint/2010/main" val="22966110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Shared Responsibility Model</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467091" y="1295400"/>
            <a:ext cx="9431438" cy="4495800"/>
          </a:xfrm>
        </p:spPr>
        <p:txBody>
          <a:bodyPr>
            <a:noAutofit/>
          </a:bodyPr>
          <a:lstStyle/>
          <a:p>
            <a:pPr marL="342900" indent="-342900">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AWS</a:t>
            </a:r>
            <a:r>
              <a:rPr lang="en-US" sz="2400" dirty="0">
                <a:solidFill>
                  <a:schemeClr val="tx2"/>
                </a:solidFill>
                <a:latin typeface="Calibri" panose="020F0502020204030204" pitchFamily="34" charset="0"/>
                <a:cs typeface="Calibri" panose="020F0502020204030204" pitchFamily="34" charset="0"/>
              </a:rPr>
              <a:t> is responsible for the </a:t>
            </a:r>
            <a:r>
              <a:rPr lang="en-US" sz="2400" u="sng" dirty="0">
                <a:solidFill>
                  <a:schemeClr val="tx2"/>
                </a:solidFill>
                <a:latin typeface="Calibri" panose="020F0502020204030204" pitchFamily="34" charset="0"/>
                <a:cs typeface="Calibri" panose="020F0502020204030204" pitchFamily="34" charset="0"/>
              </a:rPr>
              <a:t>security OF the cloud</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Facilities – Regions, </a:t>
            </a:r>
            <a:r>
              <a:rPr lang="en-US" sz="2000" dirty="0" err="1">
                <a:solidFill>
                  <a:schemeClr val="tx2"/>
                </a:solidFill>
                <a:latin typeface="Calibri" panose="020F0502020204030204" pitchFamily="34" charset="0"/>
                <a:cs typeface="Calibri" panose="020F0502020204030204" pitchFamily="34" charset="0"/>
              </a:rPr>
              <a:t>Azs</a:t>
            </a:r>
            <a:r>
              <a:rPr lang="en-US" sz="2000" dirty="0">
                <a:solidFill>
                  <a:schemeClr val="tx2"/>
                </a:solidFill>
                <a:latin typeface="Calibri" panose="020F0502020204030204" pitchFamily="34" charset="0"/>
                <a:cs typeface="Calibri" panose="020F0502020204030204" pitchFamily="34" charset="0"/>
              </a:rPr>
              <a:t>, Edge locations</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Platform hardware and software, Networking, Storage</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For managed services, updates and patching of OS, Database etc.</a:t>
            </a:r>
          </a:p>
          <a:p>
            <a:pPr marL="342900" indent="-342900">
              <a:buFont typeface="Arial" panose="020B0604020202020204" pitchFamily="34" charset="0"/>
              <a:buChar char="•"/>
            </a:pPr>
            <a:r>
              <a:rPr lang="en-US" sz="2400" b="1" dirty="0">
                <a:solidFill>
                  <a:schemeClr val="tx2"/>
                </a:solidFill>
                <a:latin typeface="Calibri" panose="020F0502020204030204" pitchFamily="34" charset="0"/>
                <a:cs typeface="Calibri" panose="020F0502020204030204" pitchFamily="34" charset="0"/>
              </a:rPr>
              <a:t>Customers</a:t>
            </a:r>
            <a:r>
              <a:rPr lang="en-US" sz="2400" dirty="0">
                <a:solidFill>
                  <a:schemeClr val="tx2"/>
                </a:solidFill>
                <a:latin typeface="Calibri" panose="020F0502020204030204" pitchFamily="34" charset="0"/>
                <a:cs typeface="Calibri" panose="020F0502020204030204" pitchFamily="34" charset="0"/>
              </a:rPr>
              <a:t> are responsible for </a:t>
            </a:r>
            <a:r>
              <a:rPr lang="en-US" sz="2400" u="sng" dirty="0">
                <a:solidFill>
                  <a:schemeClr val="tx2"/>
                </a:solidFill>
                <a:latin typeface="Calibri" panose="020F0502020204030204" pitchFamily="34" charset="0"/>
                <a:cs typeface="Calibri" panose="020F0502020204030204" pitchFamily="34" charset="0"/>
              </a:rPr>
              <a:t>security IN the cloud</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Application identity and access management</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Operating system security (updates and patches)</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Network and Firewall configurations</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Client and server side encryption</a:t>
            </a:r>
          </a:p>
          <a:p>
            <a:pPr marL="471958" lvl="1"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User activity logging</a:t>
            </a: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6094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AWS Security</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371600" y="1600200"/>
            <a:ext cx="3429000" cy="2286000"/>
          </a:xfrm>
          <a:ln>
            <a:solidFill>
              <a:srgbClr val="FFC000"/>
            </a:solidFill>
          </a:ln>
        </p:spPr>
        <p:txBody>
          <a:bodyPr>
            <a:noAutofit/>
          </a:body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Data centers in nondescript and undisclosed facilities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24/7 trained security staff</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Two factor authentication for authorized staff</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D4E64BE-1CA5-4D18-B934-88DD7AEBCE48}"/>
              </a:ext>
            </a:extLst>
          </p:cNvPr>
          <p:cNvSpPr/>
          <p:nvPr/>
        </p:nvSpPr>
        <p:spPr>
          <a:xfrm>
            <a:off x="1371600" y="1211484"/>
            <a:ext cx="34290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Calibri" panose="020F0502020204030204" pitchFamily="34" charset="0"/>
                <a:cs typeface="Calibri" panose="020F0502020204030204" pitchFamily="34" charset="0"/>
              </a:rPr>
              <a:t>Physical Security</a:t>
            </a:r>
            <a:endParaRPr lang="en-GB" sz="2000" b="1" dirty="0">
              <a:solidFill>
                <a:schemeClr val="tx2"/>
              </a:solidFill>
              <a:latin typeface="Calibri" panose="020F0502020204030204" pitchFamily="34" charset="0"/>
              <a:cs typeface="Calibri" panose="020F0502020204030204" pitchFamily="34" charset="0"/>
            </a:endParaRPr>
          </a:p>
        </p:txBody>
      </p:sp>
      <p:sp>
        <p:nvSpPr>
          <p:cNvPr id="5" name="Content Placeholder 1">
            <a:extLst>
              <a:ext uri="{FF2B5EF4-FFF2-40B4-BE49-F238E27FC236}">
                <a16:creationId xmlns:a16="http://schemas.microsoft.com/office/drawing/2014/main" id="{E01B3DD5-7F84-49C8-BBF2-86A11DE57130}"/>
              </a:ext>
            </a:extLst>
          </p:cNvPr>
          <p:cNvSpPr txBox="1">
            <a:spLocks/>
          </p:cNvSpPr>
          <p:nvPr/>
        </p:nvSpPr>
        <p:spPr>
          <a:xfrm>
            <a:off x="4876800" y="1600200"/>
            <a:ext cx="3519664" cy="2286000"/>
          </a:xfrm>
          <a:prstGeom prst="rect">
            <a:avLst/>
          </a:prstGeom>
          <a:ln>
            <a:solidFill>
              <a:srgbClr val="FFC000"/>
            </a:solidFill>
          </a:ln>
        </p:spPr>
        <p:txBody>
          <a:bodyPr vert="horz" lIns="0" tIns="72000" rIns="0" bIns="0" rtlCol="0">
            <a:no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Automated change control</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Bastion servers that record all access attempts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Firewalls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Monitoring tools</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19C65EB8-4E22-4FC2-9D8C-90BBF3FBD79B}"/>
              </a:ext>
            </a:extLst>
          </p:cNvPr>
          <p:cNvSpPr/>
          <p:nvPr/>
        </p:nvSpPr>
        <p:spPr>
          <a:xfrm>
            <a:off x="4876800" y="1219200"/>
            <a:ext cx="3519664"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Calibri" panose="020F0502020204030204" pitchFamily="34" charset="0"/>
                <a:cs typeface="Calibri" panose="020F0502020204030204" pitchFamily="34" charset="0"/>
              </a:rPr>
              <a:t>H/W, S/W and Network</a:t>
            </a:r>
            <a:endParaRPr lang="en-GB" sz="2000" b="1" dirty="0">
              <a:solidFill>
                <a:schemeClr val="tx2"/>
              </a:solidFill>
              <a:latin typeface="Calibri" panose="020F0502020204030204" pitchFamily="34" charset="0"/>
              <a:cs typeface="Calibri" panose="020F0502020204030204" pitchFamily="34" charset="0"/>
            </a:endParaRPr>
          </a:p>
        </p:txBody>
      </p:sp>
      <p:sp>
        <p:nvSpPr>
          <p:cNvPr id="8" name="Content Placeholder 1">
            <a:extLst>
              <a:ext uri="{FF2B5EF4-FFF2-40B4-BE49-F238E27FC236}">
                <a16:creationId xmlns:a16="http://schemas.microsoft.com/office/drawing/2014/main" id="{F1F84B5B-80AF-402A-AC6E-2FA6F39846C0}"/>
              </a:ext>
            </a:extLst>
          </p:cNvPr>
          <p:cNvSpPr txBox="1">
            <a:spLocks/>
          </p:cNvSpPr>
          <p:nvPr/>
        </p:nvSpPr>
        <p:spPr>
          <a:xfrm>
            <a:off x="1339770" y="4384739"/>
            <a:ext cx="3156030" cy="2286000"/>
          </a:xfrm>
          <a:prstGeom prst="rect">
            <a:avLst/>
          </a:prstGeom>
          <a:ln>
            <a:solidFill>
              <a:srgbClr val="FFC000"/>
            </a:solidFill>
          </a:ln>
        </p:spPr>
        <p:txBody>
          <a:bodyPr vert="horz" lIns="0" tIns="72000" rIns="0" bIns="0" rtlCol="0">
            <a:no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Use SSL and TLS endpoints for secure communication with AWS services</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8304C4B3-49AC-4B6F-8A77-73A015DB892A}"/>
              </a:ext>
            </a:extLst>
          </p:cNvPr>
          <p:cNvSpPr/>
          <p:nvPr/>
        </p:nvSpPr>
        <p:spPr>
          <a:xfrm>
            <a:off x="1339770" y="4003739"/>
            <a:ext cx="3156030" cy="381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Calibri" panose="020F0502020204030204" pitchFamily="34" charset="0"/>
                <a:cs typeface="Calibri" panose="020F0502020204030204" pitchFamily="34" charset="0"/>
              </a:rPr>
              <a:t>SSL Endpoints</a:t>
            </a:r>
            <a:endParaRPr lang="en-GB" sz="2000" b="1" dirty="0">
              <a:solidFill>
                <a:schemeClr val="tx2"/>
              </a:solidFill>
              <a:latin typeface="Calibri" panose="020F0502020204030204" pitchFamily="34" charset="0"/>
              <a:cs typeface="Calibri" panose="020F0502020204030204" pitchFamily="34" charset="0"/>
            </a:endParaRPr>
          </a:p>
        </p:txBody>
      </p:sp>
      <p:sp>
        <p:nvSpPr>
          <p:cNvPr id="13" name="Content Placeholder 1">
            <a:extLst>
              <a:ext uri="{FF2B5EF4-FFF2-40B4-BE49-F238E27FC236}">
                <a16:creationId xmlns:a16="http://schemas.microsoft.com/office/drawing/2014/main" id="{7CAF4814-4CB4-4847-AD57-AD9EEDC1CBDB}"/>
              </a:ext>
            </a:extLst>
          </p:cNvPr>
          <p:cNvSpPr txBox="1">
            <a:spLocks/>
          </p:cNvSpPr>
          <p:nvPr/>
        </p:nvSpPr>
        <p:spPr>
          <a:xfrm>
            <a:off x="4540172" y="4380881"/>
            <a:ext cx="3156030" cy="2286000"/>
          </a:xfrm>
          <a:prstGeom prst="rect">
            <a:avLst/>
          </a:prstGeom>
          <a:ln>
            <a:solidFill>
              <a:srgbClr val="FFC000"/>
            </a:solidFill>
          </a:ln>
        </p:spPr>
        <p:txBody>
          <a:bodyPr vert="horz" lIns="0" tIns="72000" rIns="0" bIns="0" rtlCol="0">
            <a:no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Use security groups for configuring Firewall rules for instances</a:t>
            </a:r>
          </a:p>
        </p:txBody>
      </p:sp>
      <p:sp>
        <p:nvSpPr>
          <p:cNvPr id="14" name="Rectangle 13">
            <a:extLst>
              <a:ext uri="{FF2B5EF4-FFF2-40B4-BE49-F238E27FC236}">
                <a16:creationId xmlns:a16="http://schemas.microsoft.com/office/drawing/2014/main" id="{A6FAC88B-7488-4BCC-9F95-F9DD23738D22}"/>
              </a:ext>
            </a:extLst>
          </p:cNvPr>
          <p:cNvSpPr/>
          <p:nvPr/>
        </p:nvSpPr>
        <p:spPr>
          <a:xfrm>
            <a:off x="4540172" y="3999881"/>
            <a:ext cx="3156030" cy="381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Calibri" panose="020F0502020204030204" pitchFamily="34" charset="0"/>
                <a:cs typeface="Calibri" panose="020F0502020204030204" pitchFamily="34" charset="0"/>
              </a:rPr>
              <a:t>Security Groups</a:t>
            </a:r>
            <a:endParaRPr lang="en-GB" sz="2000" b="1" dirty="0">
              <a:solidFill>
                <a:schemeClr val="tx2"/>
              </a:solidFill>
              <a:latin typeface="Calibri" panose="020F0502020204030204" pitchFamily="34" charset="0"/>
              <a:cs typeface="Calibri" panose="020F0502020204030204" pitchFamily="34" charset="0"/>
            </a:endParaRPr>
          </a:p>
        </p:txBody>
      </p:sp>
      <p:sp>
        <p:nvSpPr>
          <p:cNvPr id="15" name="Content Placeholder 1">
            <a:extLst>
              <a:ext uri="{FF2B5EF4-FFF2-40B4-BE49-F238E27FC236}">
                <a16:creationId xmlns:a16="http://schemas.microsoft.com/office/drawing/2014/main" id="{E63D521E-58DC-4679-9202-FD94A3737830}"/>
              </a:ext>
            </a:extLst>
          </p:cNvPr>
          <p:cNvSpPr txBox="1">
            <a:spLocks/>
          </p:cNvSpPr>
          <p:nvPr/>
        </p:nvSpPr>
        <p:spPr>
          <a:xfrm>
            <a:off x="7740574" y="4380881"/>
            <a:ext cx="3156030" cy="2286000"/>
          </a:xfrm>
          <a:prstGeom prst="rect">
            <a:avLst/>
          </a:prstGeom>
          <a:ln>
            <a:solidFill>
              <a:srgbClr val="FFC000"/>
            </a:solidFill>
          </a:ln>
        </p:spPr>
        <p:txBody>
          <a:bodyPr vert="horz" lIns="0" tIns="72000" rIns="0" bIns="0" rtlCol="0">
            <a:no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Use public and private subnets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Use NACL, NAT , route tables, VPN to manage networking constraints</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2AD0E4B0-C56E-4CD0-982B-86DEB4E40558}"/>
              </a:ext>
            </a:extLst>
          </p:cNvPr>
          <p:cNvSpPr/>
          <p:nvPr/>
        </p:nvSpPr>
        <p:spPr>
          <a:xfrm>
            <a:off x="7740574" y="3999881"/>
            <a:ext cx="3156030" cy="381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Calibri" panose="020F0502020204030204" pitchFamily="34" charset="0"/>
                <a:cs typeface="Calibri" panose="020F0502020204030204" pitchFamily="34" charset="0"/>
              </a:rPr>
              <a:t>VPC</a:t>
            </a:r>
            <a:endParaRPr lang="en-GB" sz="2000" b="1" dirty="0">
              <a:solidFill>
                <a:schemeClr val="tx2"/>
              </a:solidFill>
              <a:latin typeface="Calibri" panose="020F0502020204030204" pitchFamily="34" charset="0"/>
              <a:cs typeface="Calibri" panose="020F0502020204030204" pitchFamily="34" charset="0"/>
            </a:endParaRPr>
          </a:p>
        </p:txBody>
      </p:sp>
      <p:sp>
        <p:nvSpPr>
          <p:cNvPr id="17" name="Content Placeholder 1">
            <a:extLst>
              <a:ext uri="{FF2B5EF4-FFF2-40B4-BE49-F238E27FC236}">
                <a16:creationId xmlns:a16="http://schemas.microsoft.com/office/drawing/2014/main" id="{FEBE261F-7BE3-4826-BC03-D4CF64B70741}"/>
              </a:ext>
            </a:extLst>
          </p:cNvPr>
          <p:cNvSpPr txBox="1">
            <a:spLocks/>
          </p:cNvSpPr>
          <p:nvPr/>
        </p:nvSpPr>
        <p:spPr>
          <a:xfrm>
            <a:off x="8472664" y="1597789"/>
            <a:ext cx="2423940" cy="2286000"/>
          </a:xfrm>
          <a:prstGeom prst="rect">
            <a:avLst/>
          </a:prstGeom>
          <a:ln>
            <a:solidFill>
              <a:srgbClr val="FFC000"/>
            </a:solidFill>
          </a:ln>
        </p:spPr>
        <p:txBody>
          <a:bodyPr vert="horz" lIns="0" tIns="72000" rIns="0" bIns="0" rtlCol="0">
            <a:no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Audits, attestations, certifications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ISO, SOC, HIPPA etc.</a:t>
            </a:r>
          </a:p>
        </p:txBody>
      </p:sp>
      <p:sp>
        <p:nvSpPr>
          <p:cNvPr id="18" name="Rectangle 17">
            <a:extLst>
              <a:ext uri="{FF2B5EF4-FFF2-40B4-BE49-F238E27FC236}">
                <a16:creationId xmlns:a16="http://schemas.microsoft.com/office/drawing/2014/main" id="{111CA06C-5092-480C-BBA5-F51DEAFB7996}"/>
              </a:ext>
            </a:extLst>
          </p:cNvPr>
          <p:cNvSpPr/>
          <p:nvPr/>
        </p:nvSpPr>
        <p:spPr>
          <a:xfrm>
            <a:off x="8472664" y="1209073"/>
            <a:ext cx="242394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latin typeface="Calibri" panose="020F0502020204030204" pitchFamily="34" charset="0"/>
                <a:cs typeface="Calibri" panose="020F0502020204030204" pitchFamily="34" charset="0"/>
              </a:rPr>
              <a:t>Assurance</a:t>
            </a:r>
            <a:endParaRPr lang="en-GB"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50942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69D191-085E-45EA-AB0C-E22C0E74AB88}"/>
              </a:ext>
            </a:extLst>
          </p:cNvPr>
          <p:cNvSpPr>
            <a:spLocks noGrp="1"/>
          </p:cNvSpPr>
          <p:nvPr>
            <p:ph type="title"/>
          </p:nvPr>
        </p:nvSpPr>
        <p:spPr/>
        <p:txBody>
          <a:bodyPr/>
          <a:lstStyle/>
          <a:p>
            <a:r>
              <a:rPr lang="en-US" b="1" dirty="0">
                <a:solidFill>
                  <a:schemeClr val="tx2"/>
                </a:solidFill>
              </a:rPr>
              <a:t>IAM Core Concepts</a:t>
            </a:r>
            <a:endParaRPr lang="en-GB" dirty="0"/>
          </a:p>
        </p:txBody>
      </p:sp>
      <p:sp>
        <p:nvSpPr>
          <p:cNvPr id="28" name="Content Placeholder 1">
            <a:extLst>
              <a:ext uri="{FF2B5EF4-FFF2-40B4-BE49-F238E27FC236}">
                <a16:creationId xmlns:a16="http://schemas.microsoft.com/office/drawing/2014/main" id="{8FA2EBDE-41D1-4078-AE4B-77A88BAFD38A}"/>
              </a:ext>
            </a:extLst>
          </p:cNvPr>
          <p:cNvSpPr>
            <a:spLocks noGrp="1"/>
          </p:cNvSpPr>
          <p:nvPr>
            <p:ph idx="1"/>
          </p:nvPr>
        </p:nvSpPr>
        <p:spPr>
          <a:xfrm>
            <a:off x="1467091" y="1062684"/>
            <a:ext cx="9431438" cy="1833295"/>
          </a:xfrm>
        </p:spPr>
        <p:txBody>
          <a:bodyPr>
            <a:noAutofit/>
          </a:bodyPr>
          <a:lstStyle/>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IAM users and groups are created for managing access to AWS resources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Can use federated identities using corporate Directory servers</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Role is similar to a user but has no credentials assigned. Role is assumed by a user or service and access keys dynamically created by AWS </a:t>
            </a:r>
          </a:p>
          <a:p>
            <a:pPr marL="342900" indent="-342900">
              <a:buFont typeface="Arial" panose="020B0604020202020204" pitchFamily="34" charset="0"/>
              <a:buChar char="•"/>
            </a:pPr>
            <a:r>
              <a:rPr lang="en-US" sz="2000" dirty="0">
                <a:solidFill>
                  <a:schemeClr val="tx2"/>
                </a:solidFill>
                <a:latin typeface="Calibri" panose="020F0502020204030204" pitchFamily="34" charset="0"/>
                <a:cs typeface="Calibri" panose="020F0502020204030204" pitchFamily="34" charset="0"/>
              </a:rPr>
              <a:t>Policies define set of permissions and can be attached to user/group/role</a:t>
            </a: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83F86496-5142-439F-8791-A018636BA422}"/>
              </a:ext>
            </a:extLst>
          </p:cNvPr>
          <p:cNvGrpSpPr/>
          <p:nvPr/>
        </p:nvGrpSpPr>
        <p:grpSpPr>
          <a:xfrm>
            <a:off x="2438401" y="3406816"/>
            <a:ext cx="6048525" cy="3161019"/>
            <a:chOff x="1812750" y="2514600"/>
            <a:chExt cx="6048525" cy="3161019"/>
          </a:xfrm>
        </p:grpSpPr>
        <p:grpSp>
          <p:nvGrpSpPr>
            <p:cNvPr id="23" name="Group 22">
              <a:extLst>
                <a:ext uri="{FF2B5EF4-FFF2-40B4-BE49-F238E27FC236}">
                  <a16:creationId xmlns:a16="http://schemas.microsoft.com/office/drawing/2014/main" id="{EBEB31F4-9AE2-4299-8CD4-2824F0A6579E}"/>
                </a:ext>
              </a:extLst>
            </p:cNvPr>
            <p:cNvGrpSpPr/>
            <p:nvPr/>
          </p:nvGrpSpPr>
          <p:grpSpPr>
            <a:xfrm>
              <a:off x="3867992" y="4874859"/>
              <a:ext cx="1571025" cy="721773"/>
              <a:chOff x="3900788" y="4591050"/>
              <a:chExt cx="1571025" cy="721773"/>
            </a:xfrm>
          </p:grpSpPr>
          <p:sp>
            <p:nvSpPr>
              <p:cNvPr id="5" name="TextBox 4">
                <a:extLst>
                  <a:ext uri="{FF2B5EF4-FFF2-40B4-BE49-F238E27FC236}">
                    <a16:creationId xmlns:a16="http://schemas.microsoft.com/office/drawing/2014/main" id="{24220C1D-21EE-4824-8003-5953C88C8D0B}"/>
                  </a:ext>
                </a:extLst>
              </p:cNvPr>
              <p:cNvSpPr txBox="1"/>
              <p:nvPr/>
            </p:nvSpPr>
            <p:spPr>
              <a:xfrm>
                <a:off x="3900788" y="5005046"/>
                <a:ext cx="1571025" cy="307777"/>
              </a:xfrm>
              <a:prstGeom prst="rect">
                <a:avLst/>
              </a:prstGeom>
              <a:noFill/>
            </p:spPr>
            <p:txBody>
              <a:bodyPr wrap="square" rtlCol="0">
                <a:spAutoFit/>
              </a:bodyPr>
              <a:lstStyle/>
              <a:p>
                <a:pPr algn="ctr"/>
                <a:r>
                  <a:rPr lang="en-US" sz="1400" b="1" dirty="0">
                    <a:solidFill>
                      <a:schemeClr val="tx2"/>
                    </a:solidFill>
                    <a:latin typeface="Calibri" panose="020F0502020204030204" pitchFamily="34" charset="0"/>
                    <a:cs typeface="Calibri" panose="020F0502020204030204" pitchFamily="34" charset="0"/>
                  </a:rPr>
                  <a:t>IAM Role</a:t>
                </a:r>
              </a:p>
            </p:txBody>
          </p:sp>
          <p:pic>
            <p:nvPicPr>
              <p:cNvPr id="6" name="Graphic 5">
                <a:extLst>
                  <a:ext uri="{FF2B5EF4-FFF2-40B4-BE49-F238E27FC236}">
                    <a16:creationId xmlns:a16="http://schemas.microsoft.com/office/drawing/2014/main" id="{2CABD3FA-DA59-4365-9FFA-8EF52928B5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51350" y="4591050"/>
                <a:ext cx="469900" cy="469900"/>
              </a:xfrm>
              <a:prstGeom prst="rect">
                <a:avLst/>
              </a:prstGeom>
            </p:spPr>
          </p:pic>
        </p:grpSp>
        <p:pic>
          <p:nvPicPr>
            <p:cNvPr id="8" name="Graphic 7">
              <a:extLst>
                <a:ext uri="{FF2B5EF4-FFF2-40B4-BE49-F238E27FC236}">
                  <a16:creationId xmlns:a16="http://schemas.microsoft.com/office/drawing/2014/main" id="{602D8522-A6A6-4264-9383-B790A6D638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6946900" y="2796794"/>
              <a:ext cx="483586" cy="469900"/>
            </a:xfrm>
            <a:prstGeom prst="rect">
              <a:avLst/>
            </a:prstGeom>
          </p:spPr>
        </p:pic>
        <p:grpSp>
          <p:nvGrpSpPr>
            <p:cNvPr id="20" name="Group 19">
              <a:extLst>
                <a:ext uri="{FF2B5EF4-FFF2-40B4-BE49-F238E27FC236}">
                  <a16:creationId xmlns:a16="http://schemas.microsoft.com/office/drawing/2014/main" id="{E0736E12-5E6D-4F42-8A70-0EC88D9655EF}"/>
                </a:ext>
              </a:extLst>
            </p:cNvPr>
            <p:cNvGrpSpPr/>
            <p:nvPr/>
          </p:nvGrpSpPr>
          <p:grpSpPr>
            <a:xfrm>
              <a:off x="1812750" y="4795873"/>
              <a:ext cx="1072750" cy="879746"/>
              <a:chOff x="2331477" y="4172673"/>
              <a:chExt cx="1072750" cy="879746"/>
            </a:xfrm>
          </p:grpSpPr>
          <p:pic>
            <p:nvPicPr>
              <p:cNvPr id="7" name="Graphic 6">
                <a:extLst>
                  <a:ext uri="{FF2B5EF4-FFF2-40B4-BE49-F238E27FC236}">
                    <a16:creationId xmlns:a16="http://schemas.microsoft.com/office/drawing/2014/main" id="{1B08BDDE-B608-43B2-BC16-B15FD27B846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32902" y="4172673"/>
                <a:ext cx="469900" cy="469900"/>
              </a:xfrm>
              <a:prstGeom prst="rect">
                <a:avLst/>
              </a:prstGeom>
            </p:spPr>
          </p:pic>
          <p:sp>
            <p:nvSpPr>
              <p:cNvPr id="9" name="TextBox 8">
                <a:extLst>
                  <a:ext uri="{FF2B5EF4-FFF2-40B4-BE49-F238E27FC236}">
                    <a16:creationId xmlns:a16="http://schemas.microsoft.com/office/drawing/2014/main" id="{B56E3E0F-5511-47A0-A608-C4ACDE66AFE3}"/>
                  </a:ext>
                </a:extLst>
              </p:cNvPr>
              <p:cNvSpPr txBox="1"/>
              <p:nvPr/>
            </p:nvSpPr>
            <p:spPr>
              <a:xfrm>
                <a:off x="2331477" y="4744642"/>
                <a:ext cx="1072750" cy="307777"/>
              </a:xfrm>
              <a:prstGeom prst="rect">
                <a:avLst/>
              </a:prstGeom>
              <a:noFill/>
            </p:spPr>
            <p:txBody>
              <a:bodyPr wrap="square" rtlCol="0">
                <a:spAutoFit/>
              </a:bodyPr>
              <a:lstStyle/>
              <a:p>
                <a:pPr algn="ctr"/>
                <a:r>
                  <a:rPr lang="en-US" sz="1400" b="1" dirty="0">
                    <a:solidFill>
                      <a:srgbClr val="232F3E"/>
                    </a:solidFill>
                    <a:latin typeface="Calibri" panose="020F0502020204030204" pitchFamily="34" charset="0"/>
                    <a:cs typeface="Calibri" panose="020F0502020204030204" pitchFamily="34" charset="0"/>
                  </a:rPr>
                  <a:t>IAM User</a:t>
                </a:r>
              </a:p>
            </p:txBody>
          </p:sp>
        </p:grpSp>
        <p:sp>
          <p:nvSpPr>
            <p:cNvPr id="10" name="TextBox 9">
              <a:extLst>
                <a:ext uri="{FF2B5EF4-FFF2-40B4-BE49-F238E27FC236}">
                  <a16:creationId xmlns:a16="http://schemas.microsoft.com/office/drawing/2014/main" id="{0B84EA8F-27AC-4489-A86C-C3DF74549573}"/>
                </a:ext>
              </a:extLst>
            </p:cNvPr>
            <p:cNvSpPr txBox="1"/>
            <p:nvPr/>
          </p:nvSpPr>
          <p:spPr>
            <a:xfrm>
              <a:off x="6729011" y="3318784"/>
              <a:ext cx="1072750" cy="307777"/>
            </a:xfrm>
            <a:prstGeom prst="rect">
              <a:avLst/>
            </a:prstGeom>
            <a:noFill/>
          </p:spPr>
          <p:txBody>
            <a:bodyPr wrap="square" rtlCol="0">
              <a:spAutoFit/>
            </a:bodyPr>
            <a:lstStyle/>
            <a:p>
              <a:pPr algn="ctr"/>
              <a:r>
                <a:rPr lang="en-US" sz="1400" b="1" dirty="0">
                  <a:solidFill>
                    <a:srgbClr val="232F3E"/>
                  </a:solidFill>
                  <a:latin typeface="Calibri" panose="020F0502020204030204" pitchFamily="34" charset="0"/>
                  <a:cs typeface="Calibri" panose="020F0502020204030204" pitchFamily="34" charset="0"/>
                </a:rPr>
                <a:t>IAM Group</a:t>
              </a:r>
            </a:p>
          </p:txBody>
        </p:sp>
        <p:pic>
          <p:nvPicPr>
            <p:cNvPr id="11" name="Graphic 10">
              <a:extLst>
                <a:ext uri="{FF2B5EF4-FFF2-40B4-BE49-F238E27FC236}">
                  <a16:creationId xmlns:a16="http://schemas.microsoft.com/office/drawing/2014/main" id="{1FDC9DAE-1EFA-4F1C-95CA-59F9BDB5B88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74977" y="2833823"/>
              <a:ext cx="469900" cy="469900"/>
            </a:xfrm>
            <a:prstGeom prst="rect">
              <a:avLst/>
            </a:prstGeom>
          </p:spPr>
        </p:pic>
        <p:sp>
          <p:nvSpPr>
            <p:cNvPr id="12" name="TextBox 11">
              <a:extLst>
                <a:ext uri="{FF2B5EF4-FFF2-40B4-BE49-F238E27FC236}">
                  <a16:creationId xmlns:a16="http://schemas.microsoft.com/office/drawing/2014/main" id="{A12BF170-DB2F-4CC4-8F27-48C69B668723}"/>
                </a:ext>
              </a:extLst>
            </p:cNvPr>
            <p:cNvSpPr txBox="1"/>
            <p:nvPr/>
          </p:nvSpPr>
          <p:spPr>
            <a:xfrm>
              <a:off x="1873552" y="3405792"/>
              <a:ext cx="1072750" cy="307777"/>
            </a:xfrm>
            <a:prstGeom prst="rect">
              <a:avLst/>
            </a:prstGeom>
            <a:noFill/>
          </p:spPr>
          <p:txBody>
            <a:bodyPr wrap="square" rtlCol="0">
              <a:spAutoFit/>
            </a:bodyPr>
            <a:lstStyle/>
            <a:p>
              <a:pPr algn="ctr"/>
              <a:r>
                <a:rPr lang="en-US" sz="1400" b="1" dirty="0">
                  <a:solidFill>
                    <a:srgbClr val="232F3E"/>
                  </a:solidFill>
                  <a:latin typeface="Calibri" panose="020F0502020204030204" pitchFamily="34" charset="0"/>
                  <a:cs typeface="Calibri" panose="020F0502020204030204" pitchFamily="34" charset="0"/>
                </a:rPr>
                <a:t>IAM User</a:t>
              </a:r>
            </a:p>
          </p:txBody>
        </p:sp>
        <p:sp>
          <p:nvSpPr>
            <p:cNvPr id="14" name="Rectangle: Rounded Corners 13">
              <a:extLst>
                <a:ext uri="{FF2B5EF4-FFF2-40B4-BE49-F238E27FC236}">
                  <a16:creationId xmlns:a16="http://schemas.microsoft.com/office/drawing/2014/main" id="{40F2A3AB-CB55-43CE-A900-34D956083BC0}"/>
                </a:ext>
              </a:extLst>
            </p:cNvPr>
            <p:cNvSpPr/>
            <p:nvPr/>
          </p:nvSpPr>
          <p:spPr>
            <a:xfrm>
              <a:off x="4267200" y="2514600"/>
              <a:ext cx="838200" cy="110834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pic>
          <p:nvPicPr>
            <p:cNvPr id="1026" name="Picture 2" descr="Image result for tick mark icon free">
              <a:extLst>
                <a:ext uri="{FF2B5EF4-FFF2-40B4-BE49-F238E27FC236}">
                  <a16:creationId xmlns:a16="http://schemas.microsoft.com/office/drawing/2014/main" id="{B1A9B735-F857-4EE7-98AB-31AE0EC6A5E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332935" y="2678379"/>
              <a:ext cx="706730" cy="706730"/>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A3BB3AA0-E637-48D3-AA52-57037D0F4998}"/>
                </a:ext>
              </a:extLst>
            </p:cNvPr>
            <p:cNvGrpSpPr/>
            <p:nvPr/>
          </p:nvGrpSpPr>
          <p:grpSpPr>
            <a:xfrm>
              <a:off x="6788525" y="4752349"/>
              <a:ext cx="1072750" cy="923270"/>
              <a:chOff x="6514314" y="4260850"/>
              <a:chExt cx="1072750" cy="923270"/>
            </a:xfrm>
          </p:grpSpPr>
          <p:pic>
            <p:nvPicPr>
              <p:cNvPr id="13" name="Graphic 12">
                <a:extLst>
                  <a:ext uri="{FF2B5EF4-FFF2-40B4-BE49-F238E27FC236}">
                    <a16:creationId xmlns:a16="http://schemas.microsoft.com/office/drawing/2014/main" id="{CE4E711A-74DC-447D-953B-A924AFCBDB9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58493" y="4260850"/>
                <a:ext cx="330200" cy="330200"/>
              </a:xfrm>
              <a:prstGeom prst="rect">
                <a:avLst/>
              </a:prstGeom>
            </p:spPr>
          </p:pic>
          <p:sp>
            <p:nvSpPr>
              <p:cNvPr id="16" name="TextBox 15">
                <a:extLst>
                  <a:ext uri="{FF2B5EF4-FFF2-40B4-BE49-F238E27FC236}">
                    <a16:creationId xmlns:a16="http://schemas.microsoft.com/office/drawing/2014/main" id="{AEBE7607-5ED2-4B74-B4DB-17DDF75E946B}"/>
                  </a:ext>
                </a:extLst>
              </p:cNvPr>
              <p:cNvSpPr txBox="1"/>
              <p:nvPr/>
            </p:nvSpPr>
            <p:spPr>
              <a:xfrm>
                <a:off x="6514314" y="4660900"/>
                <a:ext cx="1072750" cy="523220"/>
              </a:xfrm>
              <a:prstGeom prst="rect">
                <a:avLst/>
              </a:prstGeom>
              <a:noFill/>
            </p:spPr>
            <p:txBody>
              <a:bodyPr wrap="square" rtlCol="0">
                <a:spAutoFit/>
              </a:bodyPr>
              <a:lstStyle/>
              <a:p>
                <a:pPr algn="ctr"/>
                <a:r>
                  <a:rPr lang="en-US" sz="1400" b="1" dirty="0">
                    <a:solidFill>
                      <a:srgbClr val="232F3E"/>
                    </a:solidFill>
                    <a:latin typeface="Calibri" panose="020F0502020204030204" pitchFamily="34" charset="0"/>
                    <a:cs typeface="Calibri" panose="020F0502020204030204" pitchFamily="34" charset="0"/>
                  </a:rPr>
                  <a:t>AWS Resources</a:t>
                </a:r>
              </a:p>
            </p:txBody>
          </p:sp>
        </p:grpSp>
        <p:sp>
          <p:nvSpPr>
            <p:cNvPr id="17" name="TextBox 16">
              <a:extLst>
                <a:ext uri="{FF2B5EF4-FFF2-40B4-BE49-F238E27FC236}">
                  <a16:creationId xmlns:a16="http://schemas.microsoft.com/office/drawing/2014/main" id="{42531548-8979-4132-9236-1C7595B73641}"/>
                </a:ext>
              </a:extLst>
            </p:cNvPr>
            <p:cNvSpPr txBox="1"/>
            <p:nvPr/>
          </p:nvSpPr>
          <p:spPr>
            <a:xfrm>
              <a:off x="4149925" y="3729165"/>
              <a:ext cx="1072750" cy="307777"/>
            </a:xfrm>
            <a:prstGeom prst="rect">
              <a:avLst/>
            </a:prstGeom>
            <a:noFill/>
          </p:spPr>
          <p:txBody>
            <a:bodyPr wrap="square" rtlCol="0">
              <a:spAutoFit/>
            </a:bodyPr>
            <a:lstStyle/>
            <a:p>
              <a:pPr algn="ctr"/>
              <a:r>
                <a:rPr lang="en-US" sz="1400" b="1" dirty="0">
                  <a:solidFill>
                    <a:srgbClr val="232F3E"/>
                  </a:solidFill>
                  <a:latin typeface="Calibri" panose="020F0502020204030204" pitchFamily="34" charset="0"/>
                  <a:cs typeface="Calibri" panose="020F0502020204030204" pitchFamily="34" charset="0"/>
                </a:rPr>
                <a:t>IAM Policy</a:t>
              </a:r>
            </a:p>
          </p:txBody>
        </p:sp>
        <p:sp>
          <p:nvSpPr>
            <p:cNvPr id="15" name="Arrow: Right 14">
              <a:extLst>
                <a:ext uri="{FF2B5EF4-FFF2-40B4-BE49-F238E27FC236}">
                  <a16:creationId xmlns:a16="http://schemas.microsoft.com/office/drawing/2014/main" id="{A23A275D-694E-4B07-9E51-C4A537B09999}"/>
                </a:ext>
              </a:extLst>
            </p:cNvPr>
            <p:cNvSpPr/>
            <p:nvPr/>
          </p:nvSpPr>
          <p:spPr>
            <a:xfrm>
              <a:off x="5286745" y="2911595"/>
              <a:ext cx="1226995" cy="5270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Assigned</a:t>
              </a:r>
              <a:endParaRPr lang="en-GB" sz="1200" dirty="0">
                <a:solidFill>
                  <a:schemeClr val="bg1"/>
                </a:solidFill>
                <a:latin typeface="Calibri" panose="020F0502020204030204" pitchFamily="34" charset="0"/>
                <a:cs typeface="Calibri" panose="020F0502020204030204" pitchFamily="34" charset="0"/>
              </a:endParaRPr>
            </a:p>
          </p:txBody>
        </p:sp>
        <p:sp>
          <p:nvSpPr>
            <p:cNvPr id="18" name="Arrow: Left 17">
              <a:extLst>
                <a:ext uri="{FF2B5EF4-FFF2-40B4-BE49-F238E27FC236}">
                  <a16:creationId xmlns:a16="http://schemas.microsoft.com/office/drawing/2014/main" id="{DEF42324-927D-4E72-849C-722B3A0B1EC6}"/>
                </a:ext>
              </a:extLst>
            </p:cNvPr>
            <p:cNvSpPr/>
            <p:nvPr/>
          </p:nvSpPr>
          <p:spPr>
            <a:xfrm>
              <a:off x="2975757" y="2924274"/>
              <a:ext cx="1110098" cy="51437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Assigned</a:t>
              </a:r>
              <a:endParaRPr lang="en-GB" sz="1200" dirty="0">
                <a:latin typeface="Calibri" panose="020F0502020204030204" pitchFamily="34" charset="0"/>
                <a:cs typeface="Calibri" panose="020F0502020204030204" pitchFamily="34" charset="0"/>
              </a:endParaRPr>
            </a:p>
          </p:txBody>
        </p:sp>
        <p:sp>
          <p:nvSpPr>
            <p:cNvPr id="22" name="Arrow: Down 21">
              <a:extLst>
                <a:ext uri="{FF2B5EF4-FFF2-40B4-BE49-F238E27FC236}">
                  <a16:creationId xmlns:a16="http://schemas.microsoft.com/office/drawing/2014/main" id="{A602846C-143E-4E8E-AC10-A88C14DA7CE8}"/>
                </a:ext>
              </a:extLst>
            </p:cNvPr>
            <p:cNvSpPr/>
            <p:nvPr/>
          </p:nvSpPr>
          <p:spPr>
            <a:xfrm>
              <a:off x="4451350" y="4036941"/>
              <a:ext cx="469900" cy="81917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200" dirty="0">
                  <a:latin typeface="Calibri" panose="020F0502020204030204" pitchFamily="34" charset="0"/>
                  <a:cs typeface="Calibri" panose="020F0502020204030204" pitchFamily="34" charset="0"/>
                </a:rPr>
                <a:t>Assigned</a:t>
              </a:r>
              <a:endParaRPr lang="en-GB" sz="1200" dirty="0">
                <a:latin typeface="Calibri" panose="020F0502020204030204" pitchFamily="34" charset="0"/>
                <a:cs typeface="Calibri" panose="020F0502020204030204" pitchFamily="34" charset="0"/>
              </a:endParaRPr>
            </a:p>
          </p:txBody>
        </p:sp>
        <p:sp>
          <p:nvSpPr>
            <p:cNvPr id="25" name="Arrow: Right 24">
              <a:extLst>
                <a:ext uri="{FF2B5EF4-FFF2-40B4-BE49-F238E27FC236}">
                  <a16:creationId xmlns:a16="http://schemas.microsoft.com/office/drawing/2014/main" id="{623BD23B-1E3E-4C42-8B20-6D3093BB6A1F}"/>
                </a:ext>
              </a:extLst>
            </p:cNvPr>
            <p:cNvSpPr/>
            <p:nvPr/>
          </p:nvSpPr>
          <p:spPr>
            <a:xfrm>
              <a:off x="5286745" y="4808960"/>
              <a:ext cx="1226995" cy="5270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Assumed</a:t>
              </a:r>
              <a:endParaRPr lang="en-GB" sz="1200" dirty="0">
                <a:solidFill>
                  <a:schemeClr val="bg1"/>
                </a:solidFill>
                <a:latin typeface="Calibri" panose="020F0502020204030204" pitchFamily="34" charset="0"/>
                <a:cs typeface="Calibri" panose="020F0502020204030204" pitchFamily="34" charset="0"/>
              </a:endParaRPr>
            </a:p>
          </p:txBody>
        </p:sp>
        <p:sp>
          <p:nvSpPr>
            <p:cNvPr id="26" name="Arrow: Left 25">
              <a:extLst>
                <a:ext uri="{FF2B5EF4-FFF2-40B4-BE49-F238E27FC236}">
                  <a16:creationId xmlns:a16="http://schemas.microsoft.com/office/drawing/2014/main" id="{7A51BC78-0CA3-426D-97C7-A1BFBE4F70F5}"/>
                </a:ext>
              </a:extLst>
            </p:cNvPr>
            <p:cNvSpPr/>
            <p:nvPr/>
          </p:nvSpPr>
          <p:spPr>
            <a:xfrm>
              <a:off x="2975757" y="4821639"/>
              <a:ext cx="1110098" cy="51437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Assumed</a:t>
              </a:r>
              <a:endParaRPr lang="en-GB" sz="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9591541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IAM Policies</a:t>
            </a:r>
            <a:endParaRPr lang="en-GB" dirty="0"/>
          </a:p>
        </p:txBody>
      </p:sp>
      <p:sp>
        <p:nvSpPr>
          <p:cNvPr id="9" name="Content Placeholder 1">
            <a:extLst>
              <a:ext uri="{FF2B5EF4-FFF2-40B4-BE49-F238E27FC236}">
                <a16:creationId xmlns:a16="http://schemas.microsoft.com/office/drawing/2014/main" id="{0DA44994-6E41-4EFB-8925-997A6B39C604}"/>
              </a:ext>
            </a:extLst>
          </p:cNvPr>
          <p:cNvSpPr>
            <a:spLocks noGrp="1"/>
          </p:cNvSpPr>
          <p:nvPr>
            <p:ph idx="1"/>
          </p:nvPr>
        </p:nvSpPr>
        <p:spPr>
          <a:xfrm>
            <a:off x="1467091" y="1295400"/>
            <a:ext cx="9431438" cy="4495800"/>
          </a:xfrm>
        </p:spPr>
        <p:txBody>
          <a:bodyPr>
            <a:noAutofit/>
          </a:bodyPr>
          <a:lstStyle/>
          <a:p>
            <a:pPr marL="342900" indent="-342900">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Documents created using JSON that describes a set of permissions</a:t>
            </a:r>
          </a:p>
          <a:p>
            <a:pPr marL="342900" indent="-342900">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Are attached to identity / group / role </a:t>
            </a:r>
          </a:p>
          <a:p>
            <a:pPr marL="342900" indent="-342900">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Evaluated at run time when request is made</a:t>
            </a:r>
          </a:p>
          <a:p>
            <a:pPr marL="342900" indent="-342900">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Can be inline or Managed (AWS managed / Customer managed)</a:t>
            </a:r>
          </a:p>
          <a:p>
            <a:pPr marL="342900" indent="-342900">
              <a:buFont typeface="Arial" panose="020B0604020202020204" pitchFamily="34" charset="0"/>
              <a:buChar char="•"/>
            </a:pPr>
            <a:r>
              <a:rPr lang="en-US" sz="2400" dirty="0">
                <a:solidFill>
                  <a:schemeClr val="tx2"/>
                </a:solidFill>
                <a:latin typeface="Calibri" panose="020F0502020204030204" pitchFamily="34" charset="0"/>
                <a:cs typeface="Calibri" panose="020F0502020204030204" pitchFamily="34" charset="0"/>
              </a:rPr>
              <a:t>Usually define 3 aspects –</a:t>
            </a:r>
          </a:p>
          <a:p>
            <a:pPr marL="471958" lvl="1" indent="-342900">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Action performed</a:t>
            </a:r>
          </a:p>
          <a:p>
            <a:pPr marL="471958" lvl="1" indent="-342900">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Target resources</a:t>
            </a:r>
          </a:p>
          <a:p>
            <a:pPr marL="471958" lvl="1" indent="-342900">
              <a:buFont typeface="Arial" panose="020B0604020202020204" pitchFamily="34" charset="0"/>
              <a:buChar char="•"/>
            </a:pPr>
            <a:r>
              <a:rPr lang="en-US" sz="2200" dirty="0">
                <a:solidFill>
                  <a:schemeClr val="tx2"/>
                </a:solidFill>
                <a:latin typeface="Calibri" panose="020F0502020204030204" pitchFamily="34" charset="0"/>
                <a:cs typeface="Calibri" panose="020F0502020204030204" pitchFamily="34" charset="0"/>
              </a:rPr>
              <a:t>Conditions under which action is performed</a:t>
            </a:r>
          </a:p>
          <a:p>
            <a:pPr marL="342900" indent="-342900">
              <a:buFont typeface="Arial" panose="020B0604020202020204" pitchFamily="34" charset="0"/>
              <a:buChar char="•"/>
            </a:pPr>
            <a:endParaRPr lang="en-US" sz="2000" dirty="0">
              <a:solidFill>
                <a:schemeClr val="tx2"/>
              </a:solidFill>
              <a:latin typeface="Calibri" panose="020F0502020204030204" pitchFamily="34" charset="0"/>
              <a:cs typeface="Calibri" panose="020F0502020204030204" pitchFamily="34" charset="0"/>
            </a:endParaRP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34658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b="1" dirty="0">
                <a:solidFill>
                  <a:schemeClr val="tx2"/>
                </a:solidFill>
              </a:rPr>
              <a:t>Policy example</a:t>
            </a:r>
            <a:endParaRPr lang="en-GB" dirty="0"/>
          </a:p>
        </p:txBody>
      </p:sp>
      <p:sp>
        <p:nvSpPr>
          <p:cNvPr id="8" name="Content Placeholder 1">
            <a:extLst>
              <a:ext uri="{FF2B5EF4-FFF2-40B4-BE49-F238E27FC236}">
                <a16:creationId xmlns:a16="http://schemas.microsoft.com/office/drawing/2014/main" id="{468A4F17-C9C6-4B13-A7C0-B67716D7FEE3}"/>
              </a:ext>
            </a:extLst>
          </p:cNvPr>
          <p:cNvSpPr>
            <a:spLocks noGrp="1"/>
          </p:cNvSpPr>
          <p:nvPr>
            <p:ph idx="1"/>
          </p:nvPr>
        </p:nvSpPr>
        <p:spPr>
          <a:xfrm>
            <a:off x="5872224" y="1371600"/>
            <a:ext cx="5162309" cy="1066800"/>
          </a:xfrm>
        </p:spPr>
        <p:txBody>
          <a:bodyPr>
            <a:noAutofit/>
          </a:bodyPr>
          <a:lstStyle/>
          <a:p>
            <a:pPr marL="0" indent="0"/>
            <a:r>
              <a:rPr lang="en-US" sz="2000" dirty="0">
                <a:solidFill>
                  <a:schemeClr val="tx2"/>
                </a:solidFill>
                <a:latin typeface="Calibri" panose="020F0502020204030204" pitchFamily="34" charset="0"/>
                <a:cs typeface="Calibri" panose="020F0502020204030204" pitchFamily="34" charset="0"/>
              </a:rPr>
              <a:t>This policy is granting permission to List and Describe information about EC2, ELB, Cloud Watch and Auto Scaling</a:t>
            </a:r>
          </a:p>
          <a:p>
            <a:pPr marL="0" indent="0"/>
            <a:endParaRPr lang="en-US" dirty="0">
              <a:solidFill>
                <a:schemeClr val="tx2"/>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solidFill>
                <a:schemeClr val="tx2"/>
              </a:solidFill>
              <a:latin typeface="Calibri" panose="020F0502020204030204" pitchFamily="34" charset="0"/>
              <a:cs typeface="Calibri" panose="020F0502020204030204" pitchFamily="34" charset="0"/>
            </a:endParaRPr>
          </a:p>
          <a:p>
            <a:pPr lvl="1"/>
            <a:r>
              <a:rPr lang="en-US" sz="2200" dirty="0">
                <a:solidFill>
                  <a:schemeClr val="tx2"/>
                </a:solidFill>
                <a:latin typeface="Calibri" panose="020F0502020204030204" pitchFamily="34" charset="0"/>
                <a:cs typeface="Calibri" panose="020F0502020204030204" pitchFamily="34" charset="0"/>
              </a:rPr>
              <a:t>			</a:t>
            </a:r>
            <a:endParaRPr lang="en-US" sz="2000" dirty="0">
              <a:solidFill>
                <a:schemeClr val="tx2"/>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151534F-0CEB-4483-BC0A-86C63C6E517E}"/>
              </a:ext>
            </a:extLst>
          </p:cNvPr>
          <p:cNvPicPr>
            <a:picLocks noChangeAspect="1"/>
          </p:cNvPicPr>
          <p:nvPr/>
        </p:nvPicPr>
        <p:blipFill>
          <a:blip r:embed="rId3"/>
          <a:stretch>
            <a:fillRect/>
          </a:stretch>
        </p:blipFill>
        <p:spPr>
          <a:xfrm>
            <a:off x="1467091" y="1066801"/>
            <a:ext cx="4919662" cy="5419967"/>
          </a:xfrm>
          <a:prstGeom prst="rect">
            <a:avLst/>
          </a:prstGeom>
        </p:spPr>
      </p:pic>
    </p:spTree>
    <p:extLst>
      <p:ext uri="{BB962C8B-B14F-4D97-AF65-F5344CB8AC3E}">
        <p14:creationId xmlns:p14="http://schemas.microsoft.com/office/powerpoint/2010/main" val="25847686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tx2"/>
                </a:solidFill>
              </a:rPr>
              <a:t>Course contents</a:t>
            </a:r>
          </a:p>
        </p:txBody>
      </p:sp>
      <p:graphicFrame>
        <p:nvGraphicFramePr>
          <p:cNvPr id="9" name="Diagram 8">
            <a:extLst>
              <a:ext uri="{FF2B5EF4-FFF2-40B4-BE49-F238E27FC236}">
                <a16:creationId xmlns:a16="http://schemas.microsoft.com/office/drawing/2014/main" id="{0E2F8482-01D1-4691-ACB9-8349CAADA81E}"/>
              </a:ext>
            </a:extLst>
          </p:cNvPr>
          <p:cNvGraphicFramePr/>
          <p:nvPr/>
        </p:nvGraphicFramePr>
        <p:xfrm>
          <a:off x="398882" y="1462617"/>
          <a:ext cx="5340350" cy="465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5AAE4013-F1A1-42C6-94D3-E0EEF199AC74}"/>
              </a:ext>
            </a:extLst>
          </p:cNvPr>
          <p:cNvGraphicFramePr/>
          <p:nvPr/>
        </p:nvGraphicFramePr>
        <p:xfrm>
          <a:off x="6524626" y="1434042"/>
          <a:ext cx="5340350" cy="465243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 name="TextBox 9">
            <a:extLst>
              <a:ext uri="{FF2B5EF4-FFF2-40B4-BE49-F238E27FC236}">
                <a16:creationId xmlns:a16="http://schemas.microsoft.com/office/drawing/2014/main" id="{A8F8BE4E-2024-4531-923A-7027B0462996}"/>
              </a:ext>
            </a:extLst>
          </p:cNvPr>
          <p:cNvSpPr txBox="1"/>
          <p:nvPr/>
        </p:nvSpPr>
        <p:spPr>
          <a:xfrm>
            <a:off x="2668947" y="6288868"/>
            <a:ext cx="800219" cy="369332"/>
          </a:xfrm>
          <a:prstGeom prst="rect">
            <a:avLst/>
          </a:prstGeom>
          <a:noFill/>
        </p:spPr>
        <p:txBody>
          <a:bodyPr wrap="none" rtlCol="0">
            <a:spAutoFit/>
          </a:bodyPr>
          <a:lstStyle/>
          <a:p>
            <a:r>
              <a:rPr lang="en-US" b="1" dirty="0">
                <a:solidFill>
                  <a:schemeClr val="tx2"/>
                </a:solidFill>
              </a:rPr>
              <a:t>Day 1</a:t>
            </a:r>
            <a:endParaRPr lang="en-GB" b="1" dirty="0">
              <a:solidFill>
                <a:schemeClr val="tx2"/>
              </a:solidFill>
            </a:endParaRPr>
          </a:p>
        </p:txBody>
      </p:sp>
      <p:sp>
        <p:nvSpPr>
          <p:cNvPr id="13" name="TextBox 12">
            <a:extLst>
              <a:ext uri="{FF2B5EF4-FFF2-40B4-BE49-F238E27FC236}">
                <a16:creationId xmlns:a16="http://schemas.microsoft.com/office/drawing/2014/main" id="{0E6AFCE9-63A5-400C-A5C6-1D937936801B}"/>
              </a:ext>
            </a:extLst>
          </p:cNvPr>
          <p:cNvSpPr txBox="1"/>
          <p:nvPr/>
        </p:nvSpPr>
        <p:spPr>
          <a:xfrm>
            <a:off x="8222022" y="6148361"/>
            <a:ext cx="800219" cy="369332"/>
          </a:xfrm>
          <a:prstGeom prst="rect">
            <a:avLst/>
          </a:prstGeom>
          <a:noFill/>
        </p:spPr>
        <p:txBody>
          <a:bodyPr wrap="none" rtlCol="0">
            <a:spAutoFit/>
          </a:bodyPr>
          <a:lstStyle/>
          <a:p>
            <a:r>
              <a:rPr lang="en-US" b="1" dirty="0">
                <a:solidFill>
                  <a:schemeClr val="tx2"/>
                </a:solidFill>
              </a:rPr>
              <a:t>Day 2</a:t>
            </a:r>
            <a:endParaRPr lang="en-GB" b="1" dirty="0">
              <a:solidFill>
                <a:schemeClr val="tx2"/>
              </a:solidFill>
            </a:endParaRPr>
          </a:p>
        </p:txBody>
      </p:sp>
      <p:pic>
        <p:nvPicPr>
          <p:cNvPr id="14" name="Graphic 13" descr="Flask">
            <a:extLst>
              <a:ext uri="{FF2B5EF4-FFF2-40B4-BE49-F238E27FC236}">
                <a16:creationId xmlns:a16="http://schemas.microsoft.com/office/drawing/2014/main" id="{2897903E-683A-4837-9C28-A07B45933E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7090" y="4706083"/>
            <a:ext cx="541337" cy="541337"/>
          </a:xfrm>
          <a:prstGeom prst="rect">
            <a:avLst/>
          </a:prstGeom>
        </p:spPr>
      </p:pic>
      <p:pic>
        <p:nvPicPr>
          <p:cNvPr id="16" name="Graphic 15" descr="Flask">
            <a:extLst>
              <a:ext uri="{FF2B5EF4-FFF2-40B4-BE49-F238E27FC236}">
                <a16:creationId xmlns:a16="http://schemas.microsoft.com/office/drawing/2014/main" id="{7C85DD89-0BC6-4325-93C8-EE0421BBE0E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78613" y="1543779"/>
            <a:ext cx="541337" cy="541337"/>
          </a:xfrm>
          <a:prstGeom prst="rect">
            <a:avLst/>
          </a:prstGeom>
        </p:spPr>
      </p:pic>
      <p:pic>
        <p:nvPicPr>
          <p:cNvPr id="17" name="Graphic 16" descr="Flask">
            <a:extLst>
              <a:ext uri="{FF2B5EF4-FFF2-40B4-BE49-F238E27FC236}">
                <a16:creationId xmlns:a16="http://schemas.microsoft.com/office/drawing/2014/main" id="{C94C5AC1-BA82-46D1-AEDF-992BB83FA6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05659" y="4084905"/>
            <a:ext cx="541337" cy="541337"/>
          </a:xfrm>
          <a:prstGeom prst="rect">
            <a:avLst/>
          </a:prstGeom>
        </p:spPr>
      </p:pic>
      <p:pic>
        <p:nvPicPr>
          <p:cNvPr id="4" name="Graphic 3" descr="Right pointing backhand index">
            <a:extLst>
              <a:ext uri="{FF2B5EF4-FFF2-40B4-BE49-F238E27FC236}">
                <a16:creationId xmlns:a16="http://schemas.microsoft.com/office/drawing/2014/main" id="{B6657B31-AB13-4B29-A3DB-0F58DA565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00166" y="5334391"/>
            <a:ext cx="813970" cy="813970"/>
          </a:xfrm>
          <a:prstGeom prst="rect">
            <a:avLst/>
          </a:prstGeom>
        </p:spPr>
      </p:pic>
    </p:spTree>
    <p:extLst>
      <p:ext uri="{BB962C8B-B14F-4D97-AF65-F5344CB8AC3E}">
        <p14:creationId xmlns:p14="http://schemas.microsoft.com/office/powerpoint/2010/main" val="40540142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a:xfrm>
            <a:off x="2286001" y="2514600"/>
            <a:ext cx="9259747" cy="702000"/>
          </a:xfrm>
        </p:spPr>
        <p:txBody>
          <a:bodyPr>
            <a:normAutofit/>
          </a:bodyPr>
          <a:lstStyle/>
          <a:p>
            <a:r>
              <a:rPr lang="en-US" sz="2600" b="1" dirty="0">
                <a:solidFill>
                  <a:schemeClr val="tx2">
                    <a:lumMod val="50000"/>
                    <a:lumOff val="50000"/>
                  </a:schemeClr>
                </a:solidFill>
              </a:rPr>
              <a:t>Appendix A : Comparison of Cloud Providers</a:t>
            </a:r>
            <a:endParaRPr lang="en-GB" sz="2600" dirty="0">
              <a:solidFill>
                <a:schemeClr val="tx2">
                  <a:lumMod val="50000"/>
                  <a:lumOff val="50000"/>
                </a:schemeClr>
              </a:solidFill>
            </a:endParaRPr>
          </a:p>
        </p:txBody>
      </p:sp>
      <p:sp>
        <p:nvSpPr>
          <p:cNvPr id="4" name="Content Placeholder 3">
            <a:extLst>
              <a:ext uri="{FF2B5EF4-FFF2-40B4-BE49-F238E27FC236}">
                <a16:creationId xmlns:a16="http://schemas.microsoft.com/office/drawing/2014/main" id="{3A3576F7-2806-44E4-91B6-131AFADC655D}"/>
              </a:ext>
            </a:extLst>
          </p:cNvPr>
          <p:cNvSpPr txBox="1">
            <a:spLocks/>
          </p:cNvSpPr>
          <p:nvPr/>
        </p:nvSpPr>
        <p:spPr>
          <a:xfrm>
            <a:off x="1465163" y="1219200"/>
            <a:ext cx="9259747"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a:lnSpc>
                <a:spcPct val="200000"/>
              </a:lnSpc>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45051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normAutofit/>
          </a:bodyPr>
          <a:lstStyle/>
          <a:p>
            <a:r>
              <a:rPr lang="en-US" b="1" dirty="0">
                <a:solidFill>
                  <a:schemeClr val="tx2"/>
                </a:solidFill>
              </a:rPr>
              <a:t>Comparison of Cloud providers</a:t>
            </a:r>
            <a:endParaRPr lang="en-GB" dirty="0"/>
          </a:p>
        </p:txBody>
      </p:sp>
      <p:graphicFrame>
        <p:nvGraphicFramePr>
          <p:cNvPr id="4" name="Content Placeholder 3">
            <a:extLst>
              <a:ext uri="{FF2B5EF4-FFF2-40B4-BE49-F238E27FC236}">
                <a16:creationId xmlns:a16="http://schemas.microsoft.com/office/drawing/2014/main" id="{9976C8B5-A43D-47CF-93CA-4DC34743B261}"/>
              </a:ext>
            </a:extLst>
          </p:cNvPr>
          <p:cNvGraphicFramePr>
            <a:graphicFrameLocks noGrp="1"/>
          </p:cNvGraphicFramePr>
          <p:nvPr>
            <p:ph idx="1"/>
          </p:nvPr>
        </p:nvGraphicFramePr>
        <p:xfrm>
          <a:off x="1340252" y="1143000"/>
          <a:ext cx="9556348" cy="4480560"/>
        </p:xfrm>
        <a:graphic>
          <a:graphicData uri="http://schemas.openxmlformats.org/drawingml/2006/table">
            <a:tbl>
              <a:tblPr firstRow="1" bandRow="1">
                <a:tableStyleId>{5C22544A-7EE6-4342-B048-85BDC9FD1C3A}</a:tableStyleId>
              </a:tblPr>
              <a:tblGrid>
                <a:gridCol w="2056183">
                  <a:extLst>
                    <a:ext uri="{9D8B030D-6E8A-4147-A177-3AD203B41FA5}">
                      <a16:colId xmlns:a16="http://schemas.microsoft.com/office/drawing/2014/main" val="1331540179"/>
                    </a:ext>
                  </a:extLst>
                </a:gridCol>
                <a:gridCol w="4528365">
                  <a:extLst>
                    <a:ext uri="{9D8B030D-6E8A-4147-A177-3AD203B41FA5}">
                      <a16:colId xmlns:a16="http://schemas.microsoft.com/office/drawing/2014/main" val="1485606657"/>
                    </a:ext>
                  </a:extLst>
                </a:gridCol>
                <a:gridCol w="2971800">
                  <a:extLst>
                    <a:ext uri="{9D8B030D-6E8A-4147-A177-3AD203B41FA5}">
                      <a16:colId xmlns:a16="http://schemas.microsoft.com/office/drawing/2014/main" val="1163273731"/>
                    </a:ext>
                  </a:extLst>
                </a:gridCol>
              </a:tblGrid>
              <a:tr h="298053">
                <a:tc>
                  <a:txBody>
                    <a:bodyPr/>
                    <a:lstStyle/>
                    <a:p>
                      <a:r>
                        <a:rPr lang="en-US" dirty="0">
                          <a:latin typeface="Calibri" panose="020F0502020204030204" pitchFamily="34" charset="0"/>
                          <a:cs typeface="Calibri" panose="020F0502020204030204" pitchFamily="34" charset="0"/>
                        </a:rPr>
                        <a:t>Vendor</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Strengths</a:t>
                      </a:r>
                      <a:endParaRPr lang="en-GB" dirty="0">
                        <a:latin typeface="Calibri" panose="020F0502020204030204" pitchFamily="34" charset="0"/>
                        <a:cs typeface="Calibri" panose="020F0502020204030204" pitchFamily="34" charset="0"/>
                      </a:endParaRPr>
                    </a:p>
                  </a:txBody>
                  <a:tcPr/>
                </a:tc>
                <a:tc>
                  <a:txBody>
                    <a:bodyPr/>
                    <a:lstStyle/>
                    <a:p>
                      <a:r>
                        <a:rPr lang="en-US" dirty="0">
                          <a:latin typeface="Calibri" panose="020F0502020204030204" pitchFamily="34" charset="0"/>
                          <a:cs typeface="Calibri" panose="020F0502020204030204" pitchFamily="34" charset="0"/>
                        </a:rPr>
                        <a:t>Weaknesses</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665585800"/>
                  </a:ext>
                </a:extLst>
              </a:tr>
              <a:tr h="298053">
                <a:tc>
                  <a:txBody>
                    <a:bodyPr/>
                    <a:lstStyle/>
                    <a:p>
                      <a:r>
                        <a:rPr lang="en-US" dirty="0">
                          <a:latin typeface="Calibri" panose="020F0502020204030204" pitchFamily="34" charset="0"/>
                          <a:cs typeface="Calibri" panose="020F0502020204030204" pitchFamily="34" charset="0"/>
                        </a:rPr>
                        <a:t>AWS</a:t>
                      </a:r>
                      <a:endParaRPr lang="en-GB" dirty="0">
                        <a:latin typeface="Calibri" panose="020F0502020204030204" pitchFamily="34" charset="0"/>
                        <a:cs typeface="Calibri" panose="020F0502020204030204" pitchFamily="34" charset="0"/>
                      </a:endParaRPr>
                    </a:p>
                  </a:txBody>
                  <a:tcPr/>
                </a:tc>
                <a:tc>
                  <a:txBody>
                    <a:bodyPr/>
                    <a:lstStyle/>
                    <a:p>
                      <a:r>
                        <a:rPr lang="en-US" sz="1800" b="0" i="0" kern="1200" dirty="0">
                          <a:solidFill>
                            <a:schemeClr val="dk1"/>
                          </a:solidFill>
                          <a:effectLst/>
                          <a:latin typeface="Calibri" panose="020F0502020204030204" pitchFamily="34" charset="0"/>
                          <a:ea typeface="+mn-ea"/>
                          <a:cs typeface="Calibri" panose="020F0502020204030204" pitchFamily="34" charset="0"/>
                        </a:rPr>
                        <a:t>• Dominant market position</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Extensive, mature offerings</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Support for large organizations</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Extensive training</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Global reach</a:t>
                      </a:r>
                      <a:endParaRPr lang="en-GB" dirty="0">
                        <a:latin typeface="Calibri" panose="020F0502020204030204" pitchFamily="34" charset="0"/>
                        <a:cs typeface="Calibri" panose="020F0502020204030204" pitchFamily="34" charset="0"/>
                      </a:endParaRPr>
                    </a:p>
                  </a:txBody>
                  <a:tcPr/>
                </a:tc>
                <a:tc>
                  <a:txBody>
                    <a:bodyPr/>
                    <a:lstStyle/>
                    <a:p>
                      <a:r>
                        <a:rPr lang="en-US" sz="1800" b="0" i="0" kern="1200" dirty="0">
                          <a:solidFill>
                            <a:schemeClr val="dk1"/>
                          </a:solidFill>
                          <a:effectLst/>
                          <a:latin typeface="Calibri" panose="020F0502020204030204" pitchFamily="34" charset="0"/>
                          <a:ea typeface="+mn-ea"/>
                          <a:cs typeface="Calibri" panose="020F0502020204030204" pitchFamily="34" charset="0"/>
                        </a:rPr>
                        <a:t>• Difficult to use</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Cost management</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Overwhelming options</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893979"/>
                  </a:ext>
                </a:extLst>
              </a:tr>
              <a:tr h="298053">
                <a:tc>
                  <a:txBody>
                    <a:bodyPr/>
                    <a:lstStyle/>
                    <a:p>
                      <a:r>
                        <a:rPr lang="en-US" dirty="0">
                          <a:latin typeface="Calibri" panose="020F0502020204030204" pitchFamily="34" charset="0"/>
                          <a:cs typeface="Calibri" panose="020F0502020204030204" pitchFamily="34" charset="0"/>
                        </a:rPr>
                        <a:t>Azure</a:t>
                      </a:r>
                      <a:endParaRPr lang="en-GB" dirty="0">
                        <a:latin typeface="Calibri" panose="020F0502020204030204" pitchFamily="34" charset="0"/>
                        <a:cs typeface="Calibri" panose="020F0502020204030204" pitchFamily="34" charset="0"/>
                      </a:endParaRPr>
                    </a:p>
                  </a:txBody>
                  <a:tcPr/>
                </a:tc>
                <a:tc>
                  <a:txBody>
                    <a:bodyPr/>
                    <a:lstStyle/>
                    <a:p>
                      <a:r>
                        <a:rPr lang="en-US" sz="1800" b="0" i="0" kern="1200" dirty="0">
                          <a:solidFill>
                            <a:schemeClr val="dk1"/>
                          </a:solidFill>
                          <a:effectLst/>
                          <a:latin typeface="Calibri" panose="020F0502020204030204" pitchFamily="34" charset="0"/>
                          <a:ea typeface="+mn-ea"/>
                          <a:cs typeface="Calibri" panose="020F0502020204030204" pitchFamily="34" charset="0"/>
                        </a:rPr>
                        <a:t>• Second largest provider</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Integration with MS tools and software</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Broad feature set</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Hybrid cloud</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Support for open source</a:t>
                      </a:r>
                      <a:endParaRPr lang="en-GB" dirty="0">
                        <a:latin typeface="Calibri" panose="020F0502020204030204" pitchFamily="34" charset="0"/>
                        <a:cs typeface="Calibri" panose="020F0502020204030204" pitchFamily="34" charset="0"/>
                      </a:endParaRPr>
                    </a:p>
                  </a:txBody>
                  <a:tcPr/>
                </a:tc>
                <a:tc>
                  <a:txBody>
                    <a:bodyPr/>
                    <a:lstStyle/>
                    <a:p>
                      <a:r>
                        <a:rPr lang="en-US" sz="1800" b="0" i="0" kern="1200" dirty="0">
                          <a:solidFill>
                            <a:schemeClr val="dk1"/>
                          </a:solidFill>
                          <a:effectLst/>
                          <a:latin typeface="Calibri" panose="020F0502020204030204" pitchFamily="34" charset="0"/>
                          <a:ea typeface="+mn-ea"/>
                          <a:cs typeface="Calibri" panose="020F0502020204030204" pitchFamily="34" charset="0"/>
                        </a:rPr>
                        <a:t>• Issues with documentation</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Incomplete </a:t>
                      </a:r>
                      <a:r>
                        <a:rPr lang="en-US" sz="1800" b="0" i="0" kern="1200" dirty="0" err="1">
                          <a:solidFill>
                            <a:schemeClr val="dk1"/>
                          </a:solidFill>
                          <a:effectLst/>
                          <a:latin typeface="Calibri" panose="020F0502020204030204" pitchFamily="34" charset="0"/>
                          <a:ea typeface="+mn-ea"/>
                          <a:cs typeface="Calibri" panose="020F0502020204030204" pitchFamily="34" charset="0"/>
                        </a:rPr>
                        <a:t>mgmt</a:t>
                      </a:r>
                      <a:r>
                        <a:rPr lang="en-US" sz="1800" b="0" i="0" kern="1200" dirty="0">
                          <a:solidFill>
                            <a:schemeClr val="dk1"/>
                          </a:solidFill>
                          <a:effectLst/>
                          <a:latin typeface="Calibri" panose="020F0502020204030204" pitchFamily="34" charset="0"/>
                          <a:ea typeface="+mn-ea"/>
                          <a:cs typeface="Calibri" panose="020F0502020204030204" pitchFamily="34" charset="0"/>
                        </a:rPr>
                        <a:t> tooling</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88952075"/>
                  </a:ext>
                </a:extLst>
              </a:tr>
              <a:tr h="298053">
                <a:tc>
                  <a:txBody>
                    <a:bodyPr/>
                    <a:lstStyle/>
                    <a:p>
                      <a:r>
                        <a:rPr lang="en-US" dirty="0">
                          <a:latin typeface="Calibri" panose="020F0502020204030204" pitchFamily="34" charset="0"/>
                          <a:cs typeface="Calibri" panose="020F0502020204030204" pitchFamily="34" charset="0"/>
                        </a:rPr>
                        <a:t>Google Cloud</a:t>
                      </a:r>
                      <a:endParaRPr lang="en-GB" dirty="0">
                        <a:latin typeface="Calibri" panose="020F0502020204030204" pitchFamily="34" charset="0"/>
                        <a:cs typeface="Calibri" panose="020F0502020204030204" pitchFamily="34" charset="0"/>
                      </a:endParaRPr>
                    </a:p>
                  </a:txBody>
                  <a:tcPr/>
                </a:tc>
                <a:tc>
                  <a:txBody>
                    <a:bodyPr/>
                    <a:lstStyle/>
                    <a:p>
                      <a:r>
                        <a:rPr lang="en-US" sz="1800" b="0" i="0" kern="1200" dirty="0">
                          <a:solidFill>
                            <a:schemeClr val="dk1"/>
                          </a:solidFill>
                          <a:effectLst/>
                          <a:latin typeface="Calibri" panose="020F0502020204030204" pitchFamily="34" charset="0"/>
                          <a:ea typeface="+mn-ea"/>
                          <a:cs typeface="Calibri" panose="020F0502020204030204" pitchFamily="34" charset="0"/>
                        </a:rPr>
                        <a:t>• Designed for cloud-native businesses</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Commitment to open source and portability</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Deep discounts and flexible contracts</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DevOps expertise</a:t>
                      </a:r>
                      <a:endParaRPr lang="en-GB" dirty="0">
                        <a:latin typeface="Calibri" panose="020F0502020204030204" pitchFamily="34" charset="0"/>
                        <a:cs typeface="Calibri" panose="020F0502020204030204" pitchFamily="34" charset="0"/>
                      </a:endParaRPr>
                    </a:p>
                  </a:txBody>
                  <a:tcPr/>
                </a:tc>
                <a:tc>
                  <a:txBody>
                    <a:bodyPr/>
                    <a:lstStyle/>
                    <a:p>
                      <a:r>
                        <a:rPr lang="en-US" sz="1800" b="0" i="0" kern="1200" dirty="0">
                          <a:solidFill>
                            <a:schemeClr val="dk1"/>
                          </a:solidFill>
                          <a:effectLst/>
                          <a:latin typeface="Calibri" panose="020F0502020204030204" pitchFamily="34" charset="0"/>
                          <a:ea typeface="+mn-ea"/>
                          <a:cs typeface="Calibri" panose="020F0502020204030204" pitchFamily="34" charset="0"/>
                        </a:rPr>
                        <a:t>• Late entrant to IaaS market</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Fewer features and services</a:t>
                      </a:r>
                      <a:br>
                        <a:rPr lang="en-US" dirty="0">
                          <a:latin typeface="Calibri" panose="020F0502020204030204" pitchFamily="34" charset="0"/>
                          <a:cs typeface="Calibri" panose="020F0502020204030204" pitchFamily="34" charset="0"/>
                        </a:rPr>
                      </a:br>
                      <a:r>
                        <a:rPr lang="en-US" sz="1800" b="0" i="0" kern="1200" dirty="0">
                          <a:solidFill>
                            <a:schemeClr val="dk1"/>
                          </a:solidFill>
                          <a:effectLst/>
                          <a:latin typeface="Calibri" panose="020F0502020204030204" pitchFamily="34" charset="0"/>
                          <a:ea typeface="+mn-ea"/>
                          <a:cs typeface="Calibri" panose="020F0502020204030204" pitchFamily="34" charset="0"/>
                        </a:rPr>
                        <a:t>• Historically not very enterprise focused</a:t>
                      </a:r>
                      <a:endParaRPr lang="en-GB"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37606555"/>
                  </a:ext>
                </a:extLst>
              </a:tr>
            </a:tbl>
          </a:graphicData>
        </a:graphic>
      </p:graphicFrame>
      <p:graphicFrame>
        <p:nvGraphicFramePr>
          <p:cNvPr id="2" name="Object 1">
            <a:extLst>
              <a:ext uri="{FF2B5EF4-FFF2-40B4-BE49-F238E27FC236}">
                <a16:creationId xmlns:a16="http://schemas.microsoft.com/office/drawing/2014/main" id="{F722AC48-8AC7-4822-93A6-A6E7AC9B3AED}"/>
              </a:ext>
            </a:extLst>
          </p:cNvPr>
          <p:cNvGraphicFramePr>
            <a:graphicFrameLocks noChangeAspect="1"/>
          </p:cNvGraphicFramePr>
          <p:nvPr/>
        </p:nvGraphicFramePr>
        <p:xfrm>
          <a:off x="1676400" y="5864760"/>
          <a:ext cx="1143000" cy="1008063"/>
        </p:xfrm>
        <a:graphic>
          <a:graphicData uri="http://schemas.openxmlformats.org/presentationml/2006/ole">
            <mc:AlternateContent xmlns:mc="http://schemas.openxmlformats.org/markup-compatibility/2006">
              <mc:Choice xmlns:v="urn:schemas-microsoft-com:vml" Requires="v">
                <p:oleObj name="Worksheet" showAsIcon="1" r:id="rId3" imgW="914400" imgH="806400" progId="Excel.Sheet.12">
                  <p:embed/>
                </p:oleObj>
              </mc:Choice>
              <mc:Fallback>
                <p:oleObj name="Worksheet" showAsIcon="1" r:id="rId3" imgW="914400" imgH="806400" progId="Excel.Sheet.12">
                  <p:embed/>
                  <p:pic>
                    <p:nvPicPr>
                      <p:cNvPr id="2" name="Object 1">
                        <a:extLst>
                          <a:ext uri="{FF2B5EF4-FFF2-40B4-BE49-F238E27FC236}">
                            <a16:creationId xmlns:a16="http://schemas.microsoft.com/office/drawing/2014/main" id="{F722AC48-8AC7-4822-93A6-A6E7AC9B3AED}"/>
                          </a:ext>
                        </a:extLst>
                      </p:cNvPr>
                      <p:cNvPicPr/>
                      <p:nvPr/>
                    </p:nvPicPr>
                    <p:blipFill>
                      <a:blip r:embed="rId4"/>
                      <a:stretch>
                        <a:fillRect/>
                      </a:stretch>
                    </p:blipFill>
                    <p:spPr>
                      <a:xfrm>
                        <a:off x="1676400" y="5864760"/>
                        <a:ext cx="1143000" cy="1008063"/>
                      </a:xfrm>
                      <a:prstGeom prst="rect">
                        <a:avLst/>
                      </a:prstGeom>
                    </p:spPr>
                  </p:pic>
                </p:oleObj>
              </mc:Fallback>
            </mc:AlternateContent>
          </a:graphicData>
        </a:graphic>
      </p:graphicFrame>
    </p:spTree>
    <p:extLst>
      <p:ext uri="{BB962C8B-B14F-4D97-AF65-F5344CB8AC3E}">
        <p14:creationId xmlns:p14="http://schemas.microsoft.com/office/powerpoint/2010/main" val="3875675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6941</Words>
  <Application>Microsoft Office PowerPoint</Application>
  <PresentationFormat>Widescreen</PresentationFormat>
  <Paragraphs>1275</Paragraphs>
  <Slides>72</Slides>
  <Notes>71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72</vt:i4>
      </vt:variant>
    </vt:vector>
  </HeadingPairs>
  <TitlesOfParts>
    <vt:vector size="79" baseType="lpstr">
      <vt:lpstr>Arial</vt:lpstr>
      <vt:lpstr>Calibri</vt:lpstr>
      <vt:lpstr>Calibri Light</vt:lpstr>
      <vt:lpstr>Courier New</vt:lpstr>
      <vt:lpstr>Wingdings</vt:lpstr>
      <vt:lpstr>Office Theme</vt:lpstr>
      <vt:lpstr>Worksheet</vt:lpstr>
      <vt:lpstr>AWS Essentials</vt:lpstr>
      <vt:lpstr>Course contents</vt:lpstr>
      <vt:lpstr>Course contents</vt:lpstr>
      <vt:lpstr>PowerPoint Presentation</vt:lpstr>
      <vt:lpstr>What is AWS</vt:lpstr>
      <vt:lpstr>Benefits of AWS</vt:lpstr>
      <vt:lpstr>AWS Cloud Computing</vt:lpstr>
      <vt:lpstr>AWS Global Infrastructure </vt:lpstr>
      <vt:lpstr>AWS Global Infrastructure (contd) </vt:lpstr>
      <vt:lpstr>AWS vocabulary</vt:lpstr>
      <vt:lpstr>Course contents</vt:lpstr>
      <vt:lpstr>Course contents</vt:lpstr>
      <vt:lpstr>What is a VPC</vt:lpstr>
      <vt:lpstr>Typical VPC architecture and components</vt:lpstr>
      <vt:lpstr>Key components of a VPC</vt:lpstr>
      <vt:lpstr>Understanding IPV4</vt:lpstr>
      <vt:lpstr>CIDR Blocks (Classless inter domain routing)</vt:lpstr>
      <vt:lpstr>Routing in AWS</vt:lpstr>
      <vt:lpstr>Connecting to Corporate Network</vt:lpstr>
      <vt:lpstr>Security in VPC</vt:lpstr>
      <vt:lpstr>Course contents</vt:lpstr>
      <vt:lpstr>EC2 overview</vt:lpstr>
      <vt:lpstr>EC2 instance families</vt:lpstr>
      <vt:lpstr>Steps in creating an EC2 instance</vt:lpstr>
      <vt:lpstr>AMI (Amazon Machine Image)</vt:lpstr>
      <vt:lpstr>EC2 Instance life-cycle</vt:lpstr>
      <vt:lpstr>Instance meta-data and user data</vt:lpstr>
      <vt:lpstr>EC2 purchase options</vt:lpstr>
      <vt:lpstr>AWS marketplace</vt:lpstr>
      <vt:lpstr>Course contents</vt:lpstr>
      <vt:lpstr>Lab 2: Introduction to Amazon EC2</vt:lpstr>
      <vt:lpstr>Course contents</vt:lpstr>
      <vt:lpstr>AWS Database options</vt:lpstr>
      <vt:lpstr>Amazon RDS (Relational Database Service)</vt:lpstr>
      <vt:lpstr>Amazon RDS – Additional facts</vt:lpstr>
      <vt:lpstr>Typical RDS deployment</vt:lpstr>
      <vt:lpstr>Course contents</vt:lpstr>
      <vt:lpstr>Lab 2: Introduction to Amazon RDS (Linux)</vt:lpstr>
      <vt:lpstr>Course contents</vt:lpstr>
      <vt:lpstr>AWS Storage options</vt:lpstr>
      <vt:lpstr>Amazon S3 (Simple Storage Service)</vt:lpstr>
      <vt:lpstr>S3 Concepts</vt:lpstr>
      <vt:lpstr>S3 Storage Classes</vt:lpstr>
      <vt:lpstr>Transferring files to S3 and typical use cases for S3</vt:lpstr>
      <vt:lpstr>Transferring large data</vt:lpstr>
      <vt:lpstr>Block storage</vt:lpstr>
      <vt:lpstr>EBS Life-cycle</vt:lpstr>
      <vt:lpstr>EBS types</vt:lpstr>
      <vt:lpstr>Amazon EFS (Elastic File System)</vt:lpstr>
      <vt:lpstr>Reboot vs Stop vs Terminate</vt:lpstr>
      <vt:lpstr>Break time !!!</vt:lpstr>
      <vt:lpstr>Course contents</vt:lpstr>
      <vt:lpstr>Triad of services</vt:lpstr>
      <vt:lpstr>Elastic Load Balancer</vt:lpstr>
      <vt:lpstr>Classic Load Balancer</vt:lpstr>
      <vt:lpstr>Application Load Balancer</vt:lpstr>
      <vt:lpstr>Network Load Balancer</vt:lpstr>
      <vt:lpstr>Load balancer comparison</vt:lpstr>
      <vt:lpstr>Amazon CloudWatch</vt:lpstr>
      <vt:lpstr>Auto Scaling</vt:lpstr>
      <vt:lpstr>Course contents</vt:lpstr>
      <vt:lpstr>Lab 3: Introduction to Amazon EC2 Auto Scaling</vt:lpstr>
      <vt:lpstr>Break time !!!</vt:lpstr>
      <vt:lpstr>Course contents</vt:lpstr>
      <vt:lpstr>AWS Shared Responsibility Model</vt:lpstr>
      <vt:lpstr>AWS Security</vt:lpstr>
      <vt:lpstr>IAM Core Concepts</vt:lpstr>
      <vt:lpstr>IAM Policies</vt:lpstr>
      <vt:lpstr>Policy example</vt:lpstr>
      <vt:lpstr>Course contents</vt:lpstr>
      <vt:lpstr>Appendix A : Comparison of Cloud Providers</vt:lpstr>
      <vt:lpstr>Comparison of Cloud providers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 rudra</dc:creator>
  <cp:lastModifiedBy>vishwa rudra</cp:lastModifiedBy>
  <cp:revision>1</cp:revision>
  <dcterms:created xsi:type="dcterms:W3CDTF">2025-09-27T08:46:29Z</dcterms:created>
  <dcterms:modified xsi:type="dcterms:W3CDTF">2025-11-29T12:03:31Z</dcterms:modified>
</cp:coreProperties>
</file>